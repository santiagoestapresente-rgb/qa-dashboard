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DiDi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CX Quality Analyst  · 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Deliverable 2 —</a:t>
            </a:r>
            <a:br/>
            <a:r>
              <a:t>Weekly 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May 2026   ·   Market All   ·   Official control totals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Period  W19–W22  (4–29 May 2026)</a:t>
            </a:r>
            <a:br/>
            <a:r>
              <a:t>QA  =  mean audit score          CSAT  =  (4-star + 5-star) / Feedback CNT</a:t>
            </a:r>
            <a:br/>
            <a:r>
              <a:t>Recontact  =  Σ Recontact Volume / Σ Contacts     (ratio of sums, 12-channel mix)</a:t>
            </a:r>
            <a:br/>
            <a:r>
              <a:t>Snapshot  2,460 QA evaluations  ·  77,266 surveys  ·  994,591 contacts</a:t>
            </a:r>
            <a:br/>
            <a:r>
              <a:t>Briefing date  20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E0C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Page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DiDi | CX Quality Analyst — Weekly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FCFCF"/>
                </a:solidFill>
                <a:latin typeface="Segoe UI"/>
              </a:defRPr>
            </a:pPr>
            <a:r>
              <a:t>May 2026  ·  Market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5303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Segoe UI"/>
              </a:defRPr>
            </a:pPr>
            <a:r>
              <a:t>01   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6528816"/>
            <a:ext cx="11567160" cy="137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5C5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A1A1A"/>
                </a:solidFill>
                <a:latin typeface="Segoe UI"/>
              </a:defRPr>
            </a:pPr>
            <a:r>
              <a:t>Page 2 of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" y="868680"/>
            <a:ext cx="3730752" cy="1170432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" y="868680"/>
            <a:ext cx="64008" cy="1170432"/>
          </a:xfrm>
          <a:prstGeom prst="rect">
            <a:avLst/>
          </a:prstGeom>
          <a:solidFill>
            <a:srgbClr val="2E9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9144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A8A"/>
                </a:solidFill>
                <a:latin typeface="Segoe UI"/>
              </a:defRPr>
            </a:pPr>
            <a:r>
              <a:t>QA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9144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2E9B57"/>
                </a:solidFill>
                <a:latin typeface="Segoe UI"/>
              </a:defRPr>
            </a:pPr>
            <a:r>
              <a:t>AT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972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Segoe UI"/>
              </a:defRPr>
            </a:pPr>
            <a:r>
              <a:t>94.14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9961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5C5C"/>
                </a:solidFill>
                <a:latin typeface="Segoe UI"/>
              </a:defRPr>
            </a:pPr>
            <a:r>
              <a:t>Goal 85  ·  +9.14 pp</a:t>
            </a:r>
            <a:br/>
            <a:r>
              <a:t>2,460 evaluations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9663" y="868680"/>
            <a:ext cx="3730752" cy="1170432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9663" y="868680"/>
            <a:ext cx="64008" cy="1170432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7" y="9144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A8A"/>
                </a:solidFill>
                <a:latin typeface="Segoe UI"/>
              </a:defRPr>
            </a:pPr>
            <a:r>
              <a:t>CSAT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3" y="9144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D64545"/>
                </a:solidFill>
                <a:latin typeface="Segoe UI"/>
              </a:defRPr>
            </a:pPr>
            <a:r>
              <a:t>OFF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7" y="10972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Segoe UI"/>
              </a:defRPr>
            </a:pPr>
            <a:r>
              <a:t>79.95%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7" y="149961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5C5C"/>
                </a:solidFill>
                <a:latin typeface="Segoe UI"/>
              </a:defRPr>
            </a:pPr>
            <a:r>
              <a:t>Goal 85%  ·  −5.05 pp</a:t>
            </a:r>
            <a:br/>
            <a:r>
              <a:t>77,266 surveys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868680"/>
            <a:ext cx="3730752" cy="1170432"/>
          </a:xfrm>
          <a:prstGeom prst="roundRect">
            <a:avLst/>
          </a:prstGeom>
          <a:solidFill>
            <a:srgbClr val="F7F7F7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868680"/>
            <a:ext cx="64008" cy="117043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4735" y="9144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8A8A"/>
                </a:solidFill>
                <a:latin typeface="Segoe UI"/>
              </a:defRPr>
            </a:pPr>
            <a:r>
              <a:t>RECONTACT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7271" y="9144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F2A900"/>
                </a:solidFill>
                <a:latin typeface="Segoe UI"/>
              </a:defRPr>
            </a:pPr>
            <a:r>
              <a:t>WITHIN 5pp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5" y="10972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Segoe UI"/>
              </a:defRPr>
            </a:pPr>
            <a:r>
              <a:t>5.83%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5" y="149961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5C5C"/>
                </a:solidFill>
                <a:latin typeface="Segoe UI"/>
              </a:defRPr>
            </a:pPr>
            <a:r>
              <a:t>Goal ≤5.44%  ·  +0.39 pp</a:t>
            </a:r>
            <a:br/>
            <a:r>
              <a:t>994,591 contacts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" y="2194560"/>
            <a:ext cx="7360920" cy="2148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267712"/>
            <a:ext cx="7132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600"/>
                </a:solidFill>
                <a:latin typeface="Segoe UI"/>
              </a:defRPr>
            </a:pPr>
            <a:r>
              <a:t>MOST CRITICAL FINDING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2523744"/>
            <a:ext cx="7132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CSAT is the miss to manage: 79.95% vs 85% (RED, −5.05 pp) on 77,266 surveys. Live Chat is 72% of feedback at 77.55% CSAT (RED) while Phone is 86.26% (GREEN). Official recontact 5.83% is only AMBER because Self Help is 67% of contacts at 1.22% — excluding it the rate is 15.19%, and Phone+Chat is 15.56%. Dissatisfaction concentrates in order status/delay, cancellation charge/debt, and refund.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" y="4434840"/>
            <a:ext cx="7360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5C5C"/>
                </a:solidFill>
                <a:latin typeface="Segoe UI"/>
              </a:defRPr>
            </a:pPr>
            <a:r>
              <a:t>GREEN  at/above goal     AMBER  within 5 pp     RED  more than 5 pp off     Recontact is lower-is-better. FCR has no target.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194560"/>
            <a:ext cx="4069080" cy="4114800"/>
          </a:xfrm>
          <a:prstGeom prst="rect">
            <a:avLst/>
          </a:prstGeom>
          <a:solidFill>
            <a:srgbClr val="FFF6F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2194560"/>
            <a:ext cx="54864" cy="4114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64424" y="2267712"/>
            <a:ext cx="3849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00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4424" y="2542032"/>
            <a:ext cx="3813048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Global QA 94.14 (GREEN, +9.14 vs 85) is not the operating picture. Phone is 83.04 (AMBER) on 355 evaluations; Live Chat 96.01 (GREEN) on 2,105.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Do not celebrate derived FCR of 94.17% (100 − recontact). There is no FCR target, and the official mix is diluted by Self Help.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QA sample is Delivery LOB only. Action plans run by Business Type (Food, Full Service, Market Place). Pickup n=35 is excluded.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Priority: Chat outcome on status/money CRs + Phone coaching. Raising audit score will not close the CSAT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DiDi | CX Quality Analyst — Weekly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FCFCF"/>
                </a:solidFill>
                <a:latin typeface="Segoe UI"/>
              </a:defRPr>
            </a:pPr>
            <a:r>
              <a:t>May 2026  ·  Market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5303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Segoe UI"/>
              </a:defRPr>
            </a:pPr>
            <a:r>
              <a:t>02   QA by Channel — Phone vs Live 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6528816"/>
            <a:ext cx="11567160" cy="137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5C5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A1A1A"/>
                </a:solidFill>
                <a:latin typeface="Segoe UI"/>
              </a:defRPr>
            </a:pPr>
            <a:r>
              <a:t>Page 3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0896" y="868680"/>
          <a:ext cx="736092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QA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 evals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vs 85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CSAT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 surveys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83.04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−1.96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86.26%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21,304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2A90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Live Chat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96.01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2,105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+11.01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77.55%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55,962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94.14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2,460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+9.14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79.95%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77,266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10896" y="1965960"/>
          <a:ext cx="736092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  <a:gridCol w="1472184"/>
                <a:gridCol w="1472184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Fail rate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Share of fails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Time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Phone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Complete and correct information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7.9%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13.5%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Live Chat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Greeting and identification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30.9%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Live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Service attitude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Live Chat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Service availability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14.8%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10896" y="4160520"/>
          <a:ext cx="7360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230"/>
                <a:gridCol w="1840230"/>
                <a:gridCol w="1840230"/>
                <a:gridCol w="184023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Lowest Phone CR Lv4 (n≥10)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QA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Order is active but customer already rece…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65.83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Order appears as completed but customer h…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68.16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Refund status and conditions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76.40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disagrees with cancellation charge/d…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80.00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2A900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818120" y="868680"/>
            <a:ext cx="4069080" cy="5440680"/>
          </a:xfrm>
          <a:prstGeom prst="rect">
            <a:avLst/>
          </a:prstGeom>
          <a:solidFill>
            <a:srgbClr val="FFF6F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868680"/>
            <a:ext cx="54864" cy="5440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64424" y="941832"/>
            <a:ext cx="3849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00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1216152"/>
            <a:ext cx="3813048" cy="500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Phone fail pattern is operational: Time management 37.5% of audits, then Complete and correct information (critical, 7.9%) which zeros the score, then User name 4.2%.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Chat fail pattern is protocol: Greeting 4.6%, Service attitude 3.3%, Service availability (critical, 2.2%). Score stays high because most fails are non-critical.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Hypothesis: Phone AHT pressure trades completeness for speed. Chat agents pass the script while customers wait on order/money outcomes the agent cannot close.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Do not average the two channels. Report Phone and Live Chat separately every 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DiDi | CX Quality Analyst — Weekly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FCFCF"/>
                </a:solidFill>
                <a:latin typeface="Segoe UI"/>
              </a:defRPr>
            </a:pPr>
            <a:r>
              <a:t>May 2026  ·  Market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5303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Segoe UI"/>
              </a:defRPr>
            </a:pPr>
            <a:r>
              <a:t>03   QA by CR Lv4 — ranked underperformers (n ≥ 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6528816"/>
            <a:ext cx="11567160" cy="137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5C5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A1A1A"/>
                </a:solidFill>
                <a:latin typeface="Segoe UI"/>
              </a:defRPr>
            </a:pPr>
            <a:r>
              <a:t>Page 4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0896" y="868680"/>
          <a:ext cx="73609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  <a:gridCol w="1472184"/>
                <a:gridCol w="1472184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 Lv4 (detail)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QA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 evals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vs 85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Order is active but customer already received 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65.83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−19.17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Order appears as completed but customer haven't…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68.16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−16.84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Refund status and conditions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76.40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−8.60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Wrong order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81.00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−4.00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2A90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don't want the order anymore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87.37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+2.37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delivery verification code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88.15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+3.15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Damaged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+4.00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didi pay balance &amp; top up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89.68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+4.68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Cancel the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cannot use my coupon (under antifraud review)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90.00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+5.00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868680"/>
            <a:ext cx="4069080" cy="5440680"/>
          </a:xfrm>
          <a:prstGeom prst="rect">
            <a:avLst/>
          </a:prstGeom>
          <a:solidFill>
            <a:srgbClr val="FFF6F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868680"/>
            <a:ext cx="54864" cy="5440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4" y="941832"/>
            <a:ext cx="3849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00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4424" y="1216152"/>
            <a:ext cx="3813048" cy="500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Every QA underperformer with n≥10 is Phone-heavy (delivery not received, already received, refund). Live Chat CRs with n≥8 all sit at or above 85.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Coaching queue: order completed not received — FS (68.16, n=49) and order active but already received (65.83, n=12).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Refund status at 76.40 (n=25) is the money-path QA miss — same family as the CSAT/recontact cluster, but here QA actually fails.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N is the evaluation count. Do not read a weighted gap (gap × n) as audits.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DiDi | CX Quality Analyst — Weekly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FCFCF"/>
                </a:solidFill>
                <a:latin typeface="Segoe UI"/>
              </a:defRPr>
            </a:pPr>
            <a:r>
              <a:t>May 2026  ·  Market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5303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Segoe UI"/>
              </a:defRPr>
            </a:pPr>
            <a:r>
              <a:t>04   CSAT / VOC — inversion vs QA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6528816"/>
            <a:ext cx="11567160" cy="137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5C5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A1A1A"/>
                </a:solidFill>
                <a:latin typeface="Segoe UI"/>
              </a:defRPr>
            </a:pPr>
            <a:r>
              <a:t>Page 5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0896" y="868680"/>
          <a:ext cx="7360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  <a:gridCol w="1472184"/>
                <a:gridCol w="1472184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Business Type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CSAT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Surveys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vs 85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80.74%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46,071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−4.26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2A90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Full Service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79.67%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27,113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−5.33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Market Place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80.34%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3,489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−4.66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2A90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Other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26.52%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−58.48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10896" y="2331720"/>
          <a:ext cx="736092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  <a:gridCol w="1472184"/>
                <a:gridCol w="1472184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 Lv4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CSAT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Unsat.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Surveys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request order status or delay info…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3,189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9,918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disagrees with cancellation charge…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67.4%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1,951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5,992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order status &amp; delays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5,096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don't want the order anymore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1,229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10,518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refund status and conditions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1,181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3,582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incomplete order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89.4%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874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8,227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csat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4617720"/>
            <a:ext cx="2103120" cy="2103120"/>
          </a:xfrm>
          <a:prstGeom prst="rect">
            <a:avLst/>
          </a:prstGeom>
        </p:spPr>
      </p:pic>
      <p:pic>
        <p:nvPicPr>
          <p:cNvPr id="14" name="Picture 13" descr="csat_b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4617720"/>
            <a:ext cx="5120640" cy="201662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818120" y="868680"/>
            <a:ext cx="4069080" cy="5440680"/>
          </a:xfrm>
          <a:prstGeom prst="rect">
            <a:avLst/>
          </a:prstGeom>
          <a:solidFill>
            <a:srgbClr val="FFF6F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54864" cy="5440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4424" y="941832"/>
            <a:ext cx="3849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00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1216152"/>
            <a:ext cx="3813048" cy="500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Star mix: 75.7% five-star but 16.5% one-star. The 1-star block is large enough to keep CSAT RED.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Food 80.74% (AMBER, 46,071) and Full Service 79.67% (RED, 27,113) carry the miss. Market Place 80.34% AMBER. Other 26.52% on 558 surveys is a catch-all CR, not a LOB program.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Unsatisfied volume concentrates in order status, cancellation charge/debt, and refund — not in damaged/wrong order, where CSAT is already GREEN.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VOC on 1-3 star comments: refund/compensation not received and no solution provided dominate tagged mentions. Outcome, not greeting.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DiDi | CX Quality Analyst — Weekly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FCFCF"/>
                </a:solidFill>
                <a:latin typeface="Segoe UI"/>
              </a:defRPr>
            </a:pPr>
            <a:r>
              <a:t>May 2026  ·  Market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5303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Segoe UI"/>
              </a:defRPr>
            </a:pPr>
            <a:r>
              <a:t>05   Recontact — official mix vs live channels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6528816"/>
            <a:ext cx="11567160" cy="137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5C5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A1A1A"/>
                </a:solidFill>
                <a:latin typeface="Segoe UI"/>
              </a:defRPr>
            </a:pPr>
            <a:r>
              <a:t>Page 6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0896" y="868680"/>
          <a:ext cx="736092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  <a:gridCol w="1472184"/>
                <a:gridCol w="1472184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Scope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Rate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Contacts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vs 5.44%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All 12 channels (official)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5.83%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994,591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AMBER</a:t>
                      </a:r>
                    </a:p>
                  </a:txBody>
                  <a:tcPr anchor="ctr">
                    <a:solidFill>
                      <a:srgbClr val="F2A900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Excluding Self Help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15.19%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327,941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+9.75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Phone + Live Chat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15.56%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293,300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+10.12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10896" y="1965960"/>
          <a:ext cx="73609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820"/>
                <a:gridCol w="1226820"/>
                <a:gridCol w="1226820"/>
                <a:gridCol w="1226820"/>
                <a:gridCol w="1226820"/>
                <a:gridCol w="122682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 Lv4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Recontacts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Contacts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Share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Rate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request order status or delay 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13,014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76,911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16.92%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order status &amp; delays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7,680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39,706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13.2%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19.34%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disagrees with cancellation ch…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6,599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50,902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12.96%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RED</a:t>
                      </a:r>
                    </a:p>
                  </a:txBody>
                  <a:tcPr anchor="ctr">
                    <a:solidFill>
                      <a:srgbClr val="D64545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don't want the order anymore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6,216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282,543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10.7%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2.20%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incomplete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4,110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128,724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cancel the order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3,786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136,897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2.77%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inedible 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2,985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57,682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5.17%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GREEN</a:t>
                      </a:r>
                    </a:p>
                  </a:txBody>
                  <a:tcPr anchor="ctr">
                    <a:solidFill>
                      <a:srgbClr val="2E9B57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rc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4709160"/>
            <a:ext cx="7315200" cy="338997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18120" y="868680"/>
            <a:ext cx="4069080" cy="5440680"/>
          </a:xfrm>
          <a:prstGeom prst="rect">
            <a:avLst/>
          </a:prstGeom>
          <a:solidFill>
            <a:srgbClr val="FFF6F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868680"/>
            <a:ext cx="54864" cy="5440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64424" y="941832"/>
            <a:ext cx="3849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00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4424" y="1216152"/>
            <a:ext cx="3813048" cy="500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Official 5.83% (AMBER, +0.39 pp) is the 12-channel ratio of sums. It is not the live-agent rate.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Excluding Self Help: 15.19% on 327,941 contacts (RED). Phone+Chat: 15.56% on 293,300 (RED).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Volume leaders: user request order status (22.4% of recontacts, rate 16.92%), order status &amp; delays (19.34%), cancellation charge (12.96%).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“User don't want the order anymore” is 10.7% of recontact volume at only 2.20% rate — volume without a rate problem. Do not treat it like status/money.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DiDi | CX Quality Analyst — Weekly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FCFCF"/>
                </a:solidFill>
                <a:latin typeface="Segoe UI"/>
              </a:defRPr>
            </a:pPr>
            <a:r>
              <a:t>May 2026  ·  Market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5303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Segoe UI"/>
              </a:defRPr>
            </a:pPr>
            <a:r>
              <a:t>06   Combined operational story — 2+ KPI fail CRs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6528816"/>
            <a:ext cx="11567160" cy="137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5C5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A1A1A"/>
                </a:solidFill>
                <a:latin typeface="Segoe UI"/>
              </a:defRPr>
            </a:pPr>
            <a:r>
              <a:t>Page 7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0896" y="868680"/>
          <a:ext cx="7360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184"/>
                <a:gridCol w="1472184"/>
                <a:gridCol w="1472184"/>
                <a:gridCol w="1472184"/>
                <a:gridCol w="1472184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CR Lv4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QA (n)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CSAT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Recontact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Pattern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order status &amp; delays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97.3 (45)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19.34%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High QA + Low CSAT + High RC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disagrees with cancellation charge…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91.4 (59)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67.4%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12.96%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High QA + Low CSAT + High RC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refund status and conditions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90.6 (70)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15.69%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High QA + Low CSAT + High RC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user request order status or delay info…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95.6 (25)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67.8%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16.92%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High QA + Low CSAT + High RC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10896" y="2606040"/>
            <a:ext cx="7360920" cy="3566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600"/>
                </a:solidFill>
                <a:latin typeface="Segoe UI"/>
              </a:defRPr>
            </a:pPr>
            <a:r>
              <a:t>PROCESS vs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7040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On the four status/money CRs, QA is GREEN (91–98) while CSAT is 64–68% and recontact is 13–19%. The audit confirms the script; the customer still comes back. That is not a coaching miss on greeting. It is a resolution-path miss (tracking, compensation, cancellation policy). Official recontact 5.83% understates live-channel repeat work because Self Help dilutes the denominator. Manage the cluster, not the global average.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868680"/>
            <a:ext cx="4069080" cy="5440680"/>
          </a:xfrm>
          <a:prstGeom prst="rect">
            <a:avLst/>
          </a:prstGeom>
          <a:solidFill>
            <a:srgbClr val="FFF6F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54864" cy="5440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4424" y="941832"/>
            <a:ext cx="3849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00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4424" y="1216152"/>
            <a:ext cx="3813048" cy="500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The status/money cluster shows HIGH QA + LOW CSAT + HIGH recontact. Agents pass the audit; the customer does not get a closed outcome.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This is process (script) versus outcome (resolution). Greeting/attitude coaching will not move CSAT on these CRs.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Fix tracking visibility, compensation/refund path, and first-contact close. Measure CSAT and recontact on these four CRs weekly.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Derived FCR 94.17% is 100 − official recontact. Do not put it on the exec scorecard.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DiDi | CX Quality Analyst — Weekly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FCFCF"/>
                </a:solidFill>
                <a:latin typeface="Segoe UI"/>
              </a:defRPr>
            </a:pPr>
            <a:r>
              <a:t>May 2026  ·  Market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5303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Segoe UI"/>
              </a:defRPr>
            </a:pPr>
            <a:r>
              <a:t>07   Action plans by LOB / Business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6528816"/>
            <a:ext cx="11567160" cy="137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5C5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A1A1A"/>
                </a:solidFill>
                <a:latin typeface="Segoe UI"/>
              </a:defRPr>
            </a:pPr>
            <a:r>
              <a:t>Page 8 of 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868680"/>
          <a:ext cx="822960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LOB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Finding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Who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When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80.74% AMBER  n=46,071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Phone coaching: Time management + Complete and correct information (critical). Expand Phone audit coverage.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QA Lead + 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20 Aug – 3 Sep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Full Service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79.67% RED  n=27,113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Status/tracking macros in Live Chat; compensation path for order-not-received (QA 68.16, n=49).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Ops + QA Content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27 Aug – 17 Sep 2026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Market Place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80.34% AMBER  n=3,489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Separate marketplace vs full-service scripts. Train store vs platform ownership.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LOB Lead + 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27 Aug – 10 Sep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Other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26.52% RED  n=558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Reclassify the Other catch-all (CSAT 26.52%, n=558). Not a LOB program until taxonomy is clean.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Analytics + Ops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27 Aug – 3 Sep 2026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All channels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RC 5.83% AMBER; ex-SH 15.19% 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Weekly war room on top 3 recontact CRs until official rate ≤5.44%. Publish Phone+Chat rate beside official.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Director, Service Ops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From 20 Aug 2026, weekly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QA / BI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Global 94.14 hides Phone 83.04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Publish QA by channel on the exec view — never the average alone.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QA Analyst + BI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t>20–26 Aug 2026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595360" y="868680"/>
            <a:ext cx="3291840" cy="5440680"/>
          </a:xfrm>
          <a:prstGeom prst="rect">
            <a:avLst/>
          </a:prstGeom>
          <a:solidFill>
            <a:srgbClr val="FFF6F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95360" y="868680"/>
            <a:ext cx="54864" cy="54406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41664" y="941832"/>
            <a:ext cx="3072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600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1216152"/>
            <a:ext cx="3035808" cy="500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Sequence: (1) war room on status/money CRs from 20 Aug, (2) Phone attribute coaching by 3 Sep, (3) reclassify Other tickets.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30-day success: Chat CSAT on status/money CRs moving toward 85%; Phone QA ≥85; Phone+Chat recontact published next to official 5.83%.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QA staying at 94 is not a 30-day objective — it is already GREEN. Do not trade Chat CSAT work for more script audits.</a:t>
            </a:r>
          </a:p>
          <a:p>
            <a:pPr>
              <a:spcAft>
                <a:spcPts val="800"/>
              </a:spcAft>
              <a:defRPr sz="1000">
                <a:solidFill>
                  <a:srgbClr val="1A1A1A"/>
                </a:solidFill>
                <a:latin typeface="Segoe UI"/>
              </a:defRPr>
            </a:pPr>
            <a:r>
              <a:t>•  Pickup (n=35 surveys) is out of scope. QA LOB is Delivery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"/>
            <a:ext cx="12191695" cy="5029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0896" y="9144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DiDi | CX Quality Analyst — Weekly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109728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FCFCF"/>
                </a:solidFill>
                <a:latin typeface="Segoe UI"/>
              </a:defRPr>
            </a:pPr>
            <a:r>
              <a:t>May 2026  ·  Market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" y="53035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600"/>
                </a:solidFill>
                <a:latin typeface="Segoe UI"/>
              </a:defRPr>
            </a:pPr>
            <a:r>
              <a:t>08   Definitions, status rules, and source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" y="6528816"/>
            <a:ext cx="11567160" cy="1371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65653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6565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C5C5C"/>
                </a:solidFill>
                <a:latin typeface="Segoe UI"/>
              </a:defRPr>
            </a:pPr>
            <a:r>
              <a:t>DiDi Global — CX Service Operations |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5653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1A1A1A"/>
                </a:solidFill>
                <a:latin typeface="Segoe UI"/>
              </a:defRPr>
            </a:pPr>
            <a:r>
              <a:t>Page 9 of 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868680"/>
            <a:ext cx="11567160" cy="11155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9418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Segoe UI"/>
              </a:defRPr>
            </a:pPr>
            <a:r>
              <a:t>Official formulas (do not substitute)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21615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Segoe UI"/>
              </a:defRPr>
            </a:pPr>
            <a:r>
              <a:t>QA = mean Score_Pct on 2,460 Delivery evaluations. CSAT = (4-star+5-star)/Feedback CNT on 77,266 surveys. Recontact = Σ Recontact Volume / Σ Contacts on 994,591 contacts. FCR = 100 − recontact; no FCR target.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" y="2103120"/>
            <a:ext cx="11567160" cy="11155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762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Segoe UI"/>
              </a:defRPr>
            </a:pPr>
            <a:r>
              <a:t>Traffic-light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50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Segoe UI"/>
              </a:defRPr>
            </a:pPr>
            <a:r>
              <a:t>GREEN = at/above goal. AMBER = within 5 pp. RED = more than 5 pp off. Recontact is lower-is-better.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3337560"/>
            <a:ext cx="11567160" cy="11155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1071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Segoe UI"/>
              </a:defRPr>
            </a:pPr>
            <a:r>
              <a:t>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8503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Segoe UI"/>
              </a:defRPr>
            </a:pPr>
            <a:r>
              <a:t>QA is Delivery LOB only, May 2026 W19–W22 (4–29 May). Pickup n=35 omitted from action plans. Control totals match the Business Case snapshot: QA 94.14 · CSAT 79.95% · Recontact 5.83%.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" y="4572000"/>
            <a:ext cx="11567160" cy="111556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4515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600"/>
                </a:solidFill>
                <a:latin typeface="Segoe UI"/>
              </a:defRPr>
            </a:pPr>
            <a:r>
              <a:t>Self Help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947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Segoe UI"/>
              </a:defRPr>
            </a:pPr>
            <a:r>
              <a:t>Self Help is 67% of contacts at 1.22%. Ex-SH 15.19% and Phone+Chat 15.56% are diagnostic.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