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871" y="1636776"/>
            <a:ext cx="566928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58103" y="1636776"/>
            <a:ext cx="11887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42032"/>
            <a:ext cx="112772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Inter"/>
              </a:rPr>
              <a:t>[Presentation title goes here]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19272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C9CCD1"/>
                </a:solidFill>
                <a:latin typeface="Inter"/>
              </a:rPr>
              <a:t>[Business case subtitle goes here]</a:t>
            </a:r>
          </a:p>
        </p:txBody>
      </p:sp>
      <p:sp>
        <p:nvSpPr>
          <p:cNvPr id="7" name="Rectangle 6"/>
          <p:cNvSpPr/>
          <p:nvPr/>
        </p:nvSpPr>
        <p:spPr>
          <a:xfrm>
            <a:off x="5638647" y="3913632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95447" y="5184648"/>
            <a:ext cx="457200" cy="393192"/>
          </a:xfrm>
          <a:prstGeom prst="roundRect">
            <a:avLst>
              <a:gd name="adj" fmla="val 16279"/>
            </a:avLst>
          </a:prstGeom>
          <a:noFill/>
          <a:ln w="1587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13735" y="5202936"/>
            <a:ext cx="420624" cy="6858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03346" y="5102352"/>
            <a:ext cx="40233" cy="82296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4514" y="5102352"/>
            <a:ext cx="40233" cy="82296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7062" y="5358384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03930" y="5358384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90798" y="5358384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062" y="5486400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03930" y="5486400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90798" y="5486400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52447" y="57790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A8ACB3"/>
                </a:solidFill>
                <a:latin typeface="Inter"/>
              </a:rPr>
              <a:t>[Date range]</a:t>
            </a:r>
          </a:p>
        </p:txBody>
      </p:sp>
      <p:sp>
        <p:nvSpPr>
          <p:cNvPr id="19" name="Oval 18"/>
          <p:cNvSpPr/>
          <p:nvPr/>
        </p:nvSpPr>
        <p:spPr>
          <a:xfrm>
            <a:off x="5867247" y="5120640"/>
            <a:ext cx="457200" cy="457200"/>
          </a:xfrm>
          <a:prstGeom prst="ellipse">
            <a:avLst/>
          </a:prstGeom>
          <a:noFill/>
          <a:ln w="1587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99835" y="5120640"/>
            <a:ext cx="192024" cy="457200"/>
          </a:xfrm>
          <a:prstGeom prst="ellipse">
            <a:avLst/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867247" y="5349240"/>
            <a:ext cx="457200" cy="0"/>
          </a:xfrm>
          <a:prstGeom prst="line">
            <a:avLst/>
          </a:prstGeom>
          <a:ln w="12700">
            <a:solidFill>
              <a:srgbClr val="FF66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890107" y="5248655"/>
            <a:ext cx="411480" cy="0"/>
          </a:xfrm>
          <a:prstGeom prst="line">
            <a:avLst/>
          </a:prstGeom>
          <a:ln w="12700">
            <a:solidFill>
              <a:srgbClr val="FF66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724247" y="57790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A8ACB3"/>
                </a:solidFill>
                <a:latin typeface="Inter"/>
              </a:rPr>
              <a:t>[Geography / Region]</a:t>
            </a:r>
          </a:p>
        </p:txBody>
      </p:sp>
      <p:sp>
        <p:nvSpPr>
          <p:cNvPr id="24" name="Oval 23"/>
          <p:cNvSpPr/>
          <p:nvPr/>
        </p:nvSpPr>
        <p:spPr>
          <a:xfrm>
            <a:off x="8989923" y="5138927"/>
            <a:ext cx="155448" cy="155448"/>
          </a:xfrm>
          <a:prstGeom prst="ellipse">
            <a:avLst/>
          </a:prstGeom>
          <a:noFill/>
          <a:ln w="1587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30487" y="5340096"/>
            <a:ext cx="274320" cy="164592"/>
          </a:xfrm>
          <a:prstGeom prst="roundRect">
            <a:avLst>
              <a:gd name="adj" fmla="val 47222"/>
            </a:avLst>
          </a:prstGeom>
          <a:noFill/>
          <a:ln w="1587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843619" y="5184648"/>
            <a:ext cx="118872" cy="118872"/>
          </a:xfrm>
          <a:prstGeom prst="ellipse">
            <a:avLst/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02471" y="5367527"/>
            <a:ext cx="146304" cy="128016"/>
          </a:xfrm>
          <a:prstGeom prst="roundRect">
            <a:avLst>
              <a:gd name="adj" fmla="val 46428"/>
            </a:avLst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72803" y="5184648"/>
            <a:ext cx="118872" cy="118872"/>
          </a:xfrm>
          <a:prstGeom prst="ellipse">
            <a:avLst/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6519" y="5367527"/>
            <a:ext cx="146304" cy="128016"/>
          </a:xfrm>
          <a:prstGeom prst="roundRect">
            <a:avLst>
              <a:gd name="adj" fmla="val 46428"/>
            </a:avLst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96047" y="57790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A8ACB3"/>
                </a:solidFill>
                <a:latin typeface="Inter"/>
              </a:rPr>
              <a:t>[Prepared for]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63040" y="219456"/>
            <a:ext cx="0" cy="429768"/>
          </a:xfrm>
          <a:prstGeom prst="line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45920" y="20116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[Executive summary]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CA3AF"/>
                </a:solidFill>
                <a:latin typeface="Inter"/>
              </a:rPr>
              <a:t>[Section subtitle or date range]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61872"/>
            <a:ext cx="362498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26463"/>
            <a:ext cx="280202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Inter"/>
              </a:rPr>
              <a:t>[KPI label]</a:t>
            </a:r>
          </a:p>
        </p:txBody>
      </p:sp>
      <p:sp>
        <p:nvSpPr>
          <p:cNvPr id="11" name="Oval 10"/>
          <p:cNvSpPr/>
          <p:nvPr/>
        </p:nvSpPr>
        <p:spPr>
          <a:xfrm>
            <a:off x="3570122" y="138074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 rot="18900000">
            <a:off x="3678387" y="1493123"/>
            <a:ext cx="134599" cy="50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 rot="2700000">
            <a:off x="3646200" y="1528236"/>
            <a:ext cx="76078" cy="50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682495"/>
            <a:ext cx="325922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1A1A"/>
                </a:solidFill>
                <a:latin typeface="Inter"/>
              </a:rPr>
              <a:t>XX.X%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653796" y="2226564"/>
            <a:ext cx="100584" cy="100584"/>
          </a:xfrm>
          <a:prstGeom prst="triangl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176272"/>
            <a:ext cx="30763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6A34A"/>
                </a:solidFill>
                <a:latin typeface="Inter"/>
              </a:rPr>
              <a:t>+X.X% </a:t>
            </a:r>
            <a:r>
              <a:rPr sz="950" b="0">
                <a:solidFill>
                  <a:srgbClr val="6B7280"/>
                </a:solidFill>
                <a:latin typeface="Inter"/>
              </a:rPr>
              <a:t>vs [target or prior]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478024"/>
            <a:ext cx="853912" cy="27432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2564891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478024"/>
            <a:ext cx="5430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16A34A"/>
                </a:solidFill>
                <a:latin typeface="Inter"/>
              </a:rPr>
              <a:t>On goal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3354" y="1261872"/>
            <a:ext cx="362498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4522" y="1426463"/>
            <a:ext cx="280202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Inter"/>
              </a:rPr>
              <a:t>[KPI label]</a:t>
            </a:r>
          </a:p>
        </p:txBody>
      </p:sp>
      <p:sp>
        <p:nvSpPr>
          <p:cNvPr id="22" name="Oval 21"/>
          <p:cNvSpPr/>
          <p:nvPr/>
        </p:nvSpPr>
        <p:spPr>
          <a:xfrm>
            <a:off x="7396276" y="1380744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72354" y="1501901"/>
            <a:ext cx="140451" cy="50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6234" y="1682495"/>
            <a:ext cx="325922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1A1A"/>
                </a:solidFill>
                <a:latin typeface="Inter"/>
              </a:rPr>
              <a:t>XX.X%</a:t>
            </a:r>
          </a:p>
        </p:txBody>
      </p:sp>
      <p:sp>
        <p:nvSpPr>
          <p:cNvPr id="25" name="Isosceles Triangle 24"/>
          <p:cNvSpPr/>
          <p:nvPr/>
        </p:nvSpPr>
        <p:spPr>
          <a:xfrm>
            <a:off x="4479950" y="2226564"/>
            <a:ext cx="100584" cy="100584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9114" y="2176272"/>
            <a:ext cx="30763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59E0B"/>
                </a:solidFill>
                <a:latin typeface="Inter"/>
              </a:rPr>
              <a:t>+X.X% </a:t>
            </a:r>
            <a:r>
              <a:rPr sz="950" b="0">
                <a:solidFill>
                  <a:srgbClr val="6B7280"/>
                </a:solidFill>
                <a:latin typeface="Inter"/>
              </a:rPr>
              <a:t>vs [target or prior]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66234" y="2478024"/>
            <a:ext cx="1369999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5962" y="2564891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0554" y="2478024"/>
            <a:ext cx="105910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F59E0B"/>
                </a:solidFill>
                <a:latin typeface="Inter"/>
              </a:rPr>
              <a:t>Within 5 points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9508" y="1261872"/>
            <a:ext cx="362498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E11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10676" y="1426463"/>
            <a:ext cx="280202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Inter"/>
              </a:rPr>
              <a:t>[KPI label]</a:t>
            </a:r>
          </a:p>
        </p:txBody>
      </p:sp>
      <p:sp>
        <p:nvSpPr>
          <p:cNvPr id="32" name="Oval 31"/>
          <p:cNvSpPr/>
          <p:nvPr/>
        </p:nvSpPr>
        <p:spPr>
          <a:xfrm>
            <a:off x="11222431" y="1380744"/>
            <a:ext cx="292608" cy="292608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own Arrow 32"/>
          <p:cNvSpPr/>
          <p:nvPr/>
        </p:nvSpPr>
        <p:spPr>
          <a:xfrm>
            <a:off x="11310213" y="1448043"/>
            <a:ext cx="117043" cy="158008"/>
          </a:xfrm>
          <a:prstGeom prst="downArrow">
            <a:avLst>
              <a:gd name="adj1" fmla="val 42000"/>
              <a:gd name="adj2" fmla="val 4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2388" y="1682495"/>
            <a:ext cx="325922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1A1A"/>
                </a:solidFill>
                <a:latin typeface="Inter"/>
              </a:rPr>
              <a:t>XX.X%</a:t>
            </a:r>
          </a:p>
        </p:txBody>
      </p:sp>
      <p:sp>
        <p:nvSpPr>
          <p:cNvPr id="35" name="Isosceles Triangle 34"/>
          <p:cNvSpPr/>
          <p:nvPr/>
        </p:nvSpPr>
        <p:spPr>
          <a:xfrm rot="10800000">
            <a:off x="8306104" y="2226564"/>
            <a:ext cx="100584" cy="100584"/>
          </a:xfrm>
          <a:prstGeom prst="triangl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75268" y="2176272"/>
            <a:ext cx="307634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E11D2E"/>
                </a:solidFill>
                <a:latin typeface="Inter"/>
              </a:rPr>
              <a:t>-X.X% </a:t>
            </a:r>
            <a:r>
              <a:rPr sz="950" b="0">
                <a:solidFill>
                  <a:srgbClr val="6B7280"/>
                </a:solidFill>
                <a:latin typeface="Inter"/>
              </a:rPr>
              <a:t>vs [target or prior]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92388" y="2478024"/>
            <a:ext cx="1821576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02116" y="2564891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66708" y="2478024"/>
            <a:ext cx="1510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E11D2E"/>
                </a:solidFill>
                <a:latin typeface="Inter"/>
              </a:rPr>
              <a:t>More than 5 points off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017520"/>
            <a:ext cx="8588959" cy="3310128"/>
          </a:xfrm>
          <a:prstGeom prst="roundRect">
            <a:avLst>
              <a:gd name="adj" fmla="val 220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" y="3200400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Inter"/>
              </a:rPr>
              <a:t>[Chart title goes here]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800039" y="3310127"/>
            <a:ext cx="310896" cy="0"/>
          </a:xfrm>
          <a:prstGeom prst="line">
            <a:avLst/>
          </a:prstGeom>
          <a:ln w="19050">
            <a:solidFill>
              <a:srgbClr val="FF66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184087" y="320954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Inter"/>
              </a:rPr>
              <a:t>Series 1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879031" y="3310127"/>
            <a:ext cx="310896" cy="0"/>
          </a:xfrm>
          <a:prstGeom prst="line">
            <a:avLst/>
          </a:prstGeom>
          <a:ln w="1905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263079" y="320954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Inter"/>
              </a:rPr>
              <a:t>Series 2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958023" y="3310127"/>
            <a:ext cx="310896" cy="0"/>
          </a:xfrm>
          <a:prstGeom prst="line">
            <a:avLst/>
          </a:prstGeom>
          <a:ln w="19050">
            <a:solidFill>
              <a:srgbClr val="9AA0A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342071" y="320954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Inter"/>
              </a:rPr>
              <a:t>Series 3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170432" y="3675887"/>
            <a:ext cx="7619695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21792" y="3584447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9CA3AF"/>
                </a:solidFill>
                <a:latin typeface="Inter"/>
              </a:rPr>
              <a:t>100%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170432" y="4197096"/>
            <a:ext cx="7619695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21792" y="4105656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9CA3AF"/>
                </a:solidFill>
                <a:latin typeface="Inter"/>
              </a:rPr>
              <a:t>75%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170432" y="4718304"/>
            <a:ext cx="7619695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21792" y="462686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9CA3AF"/>
                </a:solidFill>
                <a:latin typeface="Inter"/>
              </a:rPr>
              <a:t>50%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170432" y="5239512"/>
            <a:ext cx="7619695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21792" y="5148072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9CA3AF"/>
                </a:solidFill>
                <a:latin typeface="Inter"/>
              </a:rPr>
              <a:t>25%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170432" y="5760720"/>
            <a:ext cx="7619695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21792" y="5669280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9CA3AF"/>
                </a:solidFill>
                <a:latin typeface="Inter"/>
              </a:rPr>
              <a:t>0%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1170432" y="4301337"/>
            <a:ext cx="1088527" cy="166787"/>
          </a:xfrm>
          <a:prstGeom prst="line">
            <a:avLst/>
          </a:prstGeom>
          <a:ln w="25400">
            <a:solidFill>
              <a:srgbClr val="FF66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258959" y="4301337"/>
            <a:ext cx="1088528" cy="83393"/>
          </a:xfrm>
          <a:prstGeom prst="line">
            <a:avLst/>
          </a:prstGeom>
          <a:ln w="25400">
            <a:solidFill>
              <a:srgbClr val="FF66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347487" y="4217944"/>
            <a:ext cx="1088528" cy="166786"/>
          </a:xfrm>
          <a:prstGeom prst="line">
            <a:avLst/>
          </a:prstGeom>
          <a:ln w="25400">
            <a:solidFill>
              <a:srgbClr val="FF66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436015" y="4217944"/>
            <a:ext cx="1088528" cy="125090"/>
          </a:xfrm>
          <a:prstGeom prst="line">
            <a:avLst/>
          </a:prstGeom>
          <a:ln w="25400">
            <a:solidFill>
              <a:srgbClr val="FF66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524543" y="4134551"/>
            <a:ext cx="1088528" cy="208483"/>
          </a:xfrm>
          <a:prstGeom prst="line">
            <a:avLst/>
          </a:prstGeom>
          <a:ln w="25400">
            <a:solidFill>
              <a:srgbClr val="FF66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613071" y="4134551"/>
            <a:ext cx="1088528" cy="125089"/>
          </a:xfrm>
          <a:prstGeom prst="line">
            <a:avLst/>
          </a:prstGeom>
          <a:ln w="25400">
            <a:solidFill>
              <a:srgbClr val="FF66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701599" y="4092854"/>
            <a:ext cx="1088528" cy="166786"/>
          </a:xfrm>
          <a:prstGeom prst="line">
            <a:avLst/>
          </a:prstGeom>
          <a:ln w="25400">
            <a:solidFill>
              <a:srgbClr val="FF66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170432" y="4676607"/>
            <a:ext cx="1088527" cy="83393"/>
          </a:xfrm>
          <a:prstGeom prst="line">
            <a:avLst/>
          </a:prstGeom>
          <a:ln w="1587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258959" y="4676607"/>
            <a:ext cx="1088528" cy="41697"/>
          </a:xfrm>
          <a:prstGeom prst="line">
            <a:avLst/>
          </a:prstGeom>
          <a:ln w="1587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347487" y="4718304"/>
            <a:ext cx="1088528" cy="83393"/>
          </a:xfrm>
          <a:prstGeom prst="line">
            <a:avLst/>
          </a:prstGeom>
          <a:ln w="1587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436015" y="4634910"/>
            <a:ext cx="1088528" cy="166787"/>
          </a:xfrm>
          <a:prstGeom prst="line">
            <a:avLst/>
          </a:prstGeom>
          <a:ln w="1587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524543" y="4634910"/>
            <a:ext cx="1088528" cy="208483"/>
          </a:xfrm>
          <a:prstGeom prst="line">
            <a:avLst/>
          </a:prstGeom>
          <a:ln w="1587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13071" y="4718304"/>
            <a:ext cx="1088528" cy="125089"/>
          </a:xfrm>
          <a:prstGeom prst="line">
            <a:avLst/>
          </a:prstGeom>
          <a:ln w="1587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7701599" y="4676607"/>
            <a:ext cx="1088528" cy="41697"/>
          </a:xfrm>
          <a:prstGeom prst="line">
            <a:avLst/>
          </a:prstGeom>
          <a:ln w="1587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170432" y="5031028"/>
            <a:ext cx="1088527" cy="62545"/>
          </a:xfrm>
          <a:prstGeom prst="line">
            <a:avLst/>
          </a:prstGeom>
          <a:ln w="15875">
            <a:solidFill>
              <a:srgbClr val="9AA0A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2258959" y="4968483"/>
            <a:ext cx="1088528" cy="125090"/>
          </a:xfrm>
          <a:prstGeom prst="line">
            <a:avLst/>
          </a:prstGeom>
          <a:ln w="15875">
            <a:solidFill>
              <a:srgbClr val="9AA0A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347487" y="4968483"/>
            <a:ext cx="1088528" cy="166787"/>
          </a:xfrm>
          <a:prstGeom prst="line">
            <a:avLst/>
          </a:prstGeom>
          <a:ln w="15875">
            <a:solidFill>
              <a:srgbClr val="9AA0A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436015" y="5010180"/>
            <a:ext cx="1088528" cy="125090"/>
          </a:xfrm>
          <a:prstGeom prst="line">
            <a:avLst/>
          </a:prstGeom>
          <a:ln w="15875">
            <a:solidFill>
              <a:srgbClr val="9AA0A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524543" y="5010180"/>
            <a:ext cx="1088528" cy="166787"/>
          </a:xfrm>
          <a:prstGeom prst="line">
            <a:avLst/>
          </a:prstGeom>
          <a:ln w="15875">
            <a:solidFill>
              <a:srgbClr val="9AA0A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6613071" y="5051877"/>
            <a:ext cx="1088528" cy="125090"/>
          </a:xfrm>
          <a:prstGeom prst="line">
            <a:avLst/>
          </a:prstGeom>
          <a:ln w="15875">
            <a:solidFill>
              <a:srgbClr val="9AA0A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01599" y="5051877"/>
            <a:ext cx="1088528" cy="83393"/>
          </a:xfrm>
          <a:prstGeom prst="line">
            <a:avLst/>
          </a:prstGeom>
          <a:ln w="15875">
            <a:solidFill>
              <a:srgbClr val="9AA0A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768096" y="5907024"/>
            <a:ext cx="804672" cy="23774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68096" y="59070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>
                <a:solidFill>
                  <a:srgbClr val="6B7280"/>
                </a:solidFill>
                <a:latin typeface="Inter"/>
              </a:rPr>
              <a:t>[Period 1]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856623" y="5907024"/>
            <a:ext cx="804672" cy="23774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856623" y="59070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>
                <a:solidFill>
                  <a:srgbClr val="6B7280"/>
                </a:solidFill>
                <a:latin typeface="Inter"/>
              </a:rPr>
              <a:t>[Period 2]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945151" y="5907024"/>
            <a:ext cx="804672" cy="23774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945151" y="59070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>
                <a:solidFill>
                  <a:srgbClr val="6B7280"/>
                </a:solidFill>
                <a:latin typeface="Inter"/>
              </a:rPr>
              <a:t>[Period 3]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033679" y="5907024"/>
            <a:ext cx="804672" cy="23774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033679" y="59070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>
                <a:solidFill>
                  <a:srgbClr val="6B7280"/>
                </a:solidFill>
                <a:latin typeface="Inter"/>
              </a:rPr>
              <a:t>[Period 4]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122207" y="5907024"/>
            <a:ext cx="804672" cy="23774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122207" y="59070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>
                <a:solidFill>
                  <a:srgbClr val="6B7280"/>
                </a:solidFill>
                <a:latin typeface="Inter"/>
              </a:rPr>
              <a:t>[Period 5]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210735" y="5907024"/>
            <a:ext cx="804672" cy="23774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10735" y="59070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>
                <a:solidFill>
                  <a:srgbClr val="6B7280"/>
                </a:solidFill>
                <a:latin typeface="Inter"/>
              </a:rPr>
              <a:t>[Period 6]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299263" y="5907024"/>
            <a:ext cx="804672" cy="23774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299263" y="59070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>
                <a:solidFill>
                  <a:srgbClr val="6B7280"/>
                </a:solidFill>
                <a:latin typeface="Inter"/>
              </a:rPr>
              <a:t>[Period 7]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387791" y="5907024"/>
            <a:ext cx="804672" cy="23774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387791" y="59070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>
                <a:solidFill>
                  <a:srgbClr val="6B7280"/>
                </a:solidFill>
                <a:latin typeface="Inter"/>
              </a:rPr>
              <a:t>[Period 8]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247327" y="3017520"/>
            <a:ext cx="2487168" cy="331012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448495" y="320040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Inter"/>
              </a:rPr>
              <a:t>[Key metrics]</a:t>
            </a:r>
          </a:p>
        </p:txBody>
      </p:sp>
      <p:sp>
        <p:nvSpPr>
          <p:cNvPr id="97" name="Oval 96"/>
          <p:cNvSpPr/>
          <p:nvPr/>
        </p:nvSpPr>
        <p:spPr>
          <a:xfrm>
            <a:off x="9448495" y="3675887"/>
            <a:ext cx="493776" cy="493776"/>
          </a:xfrm>
          <a:prstGeom prst="ellipse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603211" y="3917655"/>
            <a:ext cx="51206" cy="107533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682581" y="3845966"/>
            <a:ext cx="51206" cy="179222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9761951" y="3781958"/>
            <a:ext cx="51206" cy="243230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070287" y="3694175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Inter"/>
              </a:rPr>
              <a:t>[Metric label]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070287" y="38587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A1A"/>
                </a:solidFill>
                <a:latin typeface="Inter"/>
              </a:rPr>
              <a:t>XX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070287" y="413308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9CA3AF"/>
                </a:solidFill>
                <a:latin typeface="Inter"/>
              </a:rPr>
              <a:t>[vs prior]</a:t>
            </a:r>
          </a:p>
        </p:txBody>
      </p:sp>
      <p:sp>
        <p:nvSpPr>
          <p:cNvPr id="104" name="Oval 103"/>
          <p:cNvSpPr/>
          <p:nvPr/>
        </p:nvSpPr>
        <p:spPr>
          <a:xfrm>
            <a:off x="9448495" y="4553712"/>
            <a:ext cx="493776" cy="493776"/>
          </a:xfrm>
          <a:prstGeom prst="ellipse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9567367" y="4672584"/>
            <a:ext cx="256032" cy="256032"/>
          </a:xfrm>
          <a:prstGeom prst="ellipse">
            <a:avLst/>
          </a:prstGeom>
          <a:noFill/>
          <a:ln w="1905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9656978" y="4762195"/>
            <a:ext cx="76809" cy="76809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070287" y="4571999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Inter"/>
              </a:rPr>
              <a:t>[Metric label]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70287" y="47365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A1A"/>
                </a:solidFill>
                <a:latin typeface="Inter"/>
              </a:rPr>
              <a:t>XX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70287" y="501091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9CA3AF"/>
                </a:solidFill>
                <a:latin typeface="Inter"/>
              </a:rPr>
              <a:t>[vs prior]</a:t>
            </a:r>
          </a:p>
        </p:txBody>
      </p:sp>
      <p:sp>
        <p:nvSpPr>
          <p:cNvPr id="110" name="Oval 109"/>
          <p:cNvSpPr/>
          <p:nvPr/>
        </p:nvSpPr>
        <p:spPr>
          <a:xfrm>
            <a:off x="9448495" y="5431536"/>
            <a:ext cx="493776" cy="493776"/>
          </a:xfrm>
          <a:prstGeom prst="ellipse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 flipV="1">
            <a:off x="9580168" y="5652820"/>
            <a:ext cx="84491" cy="81931"/>
          </a:xfrm>
          <a:prstGeom prst="line">
            <a:avLst/>
          </a:prstGeom>
          <a:ln w="19050">
            <a:solidFill>
              <a:srgbClr val="FF66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664659" y="5652820"/>
            <a:ext cx="56327" cy="46086"/>
          </a:xfrm>
          <a:prstGeom prst="line">
            <a:avLst/>
          </a:prstGeom>
          <a:ln w="19050">
            <a:solidFill>
              <a:srgbClr val="FF66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720986" y="5596493"/>
            <a:ext cx="81930" cy="102413"/>
          </a:xfrm>
          <a:prstGeom prst="line">
            <a:avLst/>
          </a:prstGeom>
          <a:ln w="19050">
            <a:solidFill>
              <a:srgbClr val="FF66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9782434" y="5576011"/>
            <a:ext cx="40965" cy="40965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070287" y="5449823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Inter"/>
              </a:rPr>
              <a:t>[Metric label]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070287" y="561441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A1A"/>
                </a:solidFill>
                <a:latin typeface="Inter"/>
              </a:rPr>
              <a:t>XX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070287" y="588873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9CA3AF"/>
                </a:solidFill>
                <a:latin typeface="Inter"/>
              </a:rPr>
              <a:t>[vs prior]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63040" y="219456"/>
            <a:ext cx="0" cy="429768"/>
          </a:xfrm>
          <a:prstGeom prst="line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45920" y="20116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[Data overview]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CA3AF"/>
                </a:solidFill>
                <a:latin typeface="Inter"/>
              </a:rPr>
              <a:t>[Section subtitle or date range]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11277295" cy="4023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325880"/>
            <a:ext cx="186537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[Column 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6352" y="1325880"/>
            <a:ext cx="186537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[Column 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1325880"/>
            <a:ext cx="186537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[Column 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1" y="1325880"/>
            <a:ext cx="186537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[Column 4]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1325880"/>
            <a:ext cx="216987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[Status]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28216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[Item 1]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1728216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[Placeholder]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1728216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[Placeholder]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471" y="1728216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[Placeholder]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892807"/>
            <a:ext cx="827349" cy="27432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09759" y="1979675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74352" y="1892807"/>
            <a:ext cx="51645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6A34A"/>
                </a:solidFill>
                <a:latin typeface="Inter"/>
              </a:rPr>
              <a:t>On goal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2331720"/>
            <a:ext cx="11277295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57200" y="2331720"/>
            <a:ext cx="11277295" cy="60350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331720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[Item 2]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16352" y="2331720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[Placeholder]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0912" y="2331720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[Placeholder]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1" y="2331720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[Placeholder]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00032" y="2496312"/>
            <a:ext cx="1313078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09759" y="2583179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74352" y="2496312"/>
            <a:ext cx="100218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59E0B"/>
                </a:solidFill>
                <a:latin typeface="Inter"/>
              </a:rPr>
              <a:t>Within 5 points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2935224"/>
            <a:ext cx="11277295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21792" y="2935224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[Item 3]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16352" y="2935224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[Placeholder]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10912" y="2935224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[Placeholder]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5471" y="2935224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[Placeholder]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00032" y="3099816"/>
            <a:ext cx="1738091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509759" y="3186684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74352" y="3099816"/>
            <a:ext cx="14271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E11D2E"/>
                </a:solidFill>
                <a:latin typeface="Inter"/>
              </a:rPr>
              <a:t>More than 5 points off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7200" y="3538728"/>
            <a:ext cx="11277295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457200" y="3538728"/>
            <a:ext cx="11277295" cy="60350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" y="3538728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[Item 4]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16352" y="3538728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[Placeholder]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10912" y="3538728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[Placeholder]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05471" y="3538728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[Placeholder]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00032" y="3703320"/>
            <a:ext cx="827349" cy="27432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509759" y="3790188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74352" y="3703320"/>
            <a:ext cx="51645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6A34A"/>
                </a:solidFill>
                <a:latin typeface="Inter"/>
              </a:rPr>
              <a:t>On goal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57200" y="4142232"/>
            <a:ext cx="11277295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21792" y="4142232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[Item 5]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16352" y="4142232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[Placeholder]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10912" y="4142232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[Placeholder]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05471" y="4142232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[Placeholder]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00032" y="4306824"/>
            <a:ext cx="1313078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509759" y="4393692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74352" y="4306824"/>
            <a:ext cx="100218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59E0B"/>
                </a:solidFill>
                <a:latin typeface="Inter"/>
              </a:rPr>
              <a:t>Within 5 points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57200" y="4745736"/>
            <a:ext cx="11277295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457200" y="4745736"/>
            <a:ext cx="11277295" cy="60350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" y="4745736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[Item 6]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16352" y="4745736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[Placeholder]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10912" y="4745736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[Placeholder]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05471" y="4745736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[Placeholder]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400032" y="4910328"/>
            <a:ext cx="1738091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509759" y="4997196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74352" y="4910328"/>
            <a:ext cx="14271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E11D2E"/>
                </a:solidFill>
                <a:latin typeface="Inter"/>
              </a:rPr>
              <a:t>More than 5 points off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457200" y="5349240"/>
            <a:ext cx="11277295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21792" y="5349240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[Item 7]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16352" y="5349240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[Placeholder]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10912" y="5349240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[Placeholder]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05471" y="5349240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[Placeholder]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400032" y="5513832"/>
            <a:ext cx="827349" cy="27432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509759" y="5600700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74352" y="5513832"/>
            <a:ext cx="51645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6A34A"/>
                </a:solidFill>
                <a:latin typeface="Inter"/>
              </a:rPr>
              <a:t>On goal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457200" y="5952744"/>
            <a:ext cx="11277295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63040" y="219456"/>
            <a:ext cx="0" cy="429768"/>
          </a:xfrm>
          <a:prstGeom prst="line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45920" y="20116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[Key insight]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CA3AF"/>
                </a:solidFill>
                <a:latin typeface="Inter"/>
              </a:rPr>
              <a:t>[Section subtitle or date range]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691640"/>
            <a:ext cx="10180015" cy="402336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1691640"/>
            <a:ext cx="38404" cy="402336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77340" y="2994660"/>
            <a:ext cx="1417320" cy="1417320"/>
          </a:xfrm>
          <a:prstGeom prst="ellipse">
            <a:avLst/>
          </a:prstGeom>
          <a:solidFill>
            <a:srgbClr val="FDF1E8"/>
          </a:solidFill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5055" y="3293714"/>
            <a:ext cx="481888" cy="481888"/>
          </a:xfrm>
          <a:prstGeom prst="ellipse">
            <a:avLst/>
          </a:prstGeom>
          <a:noFill/>
          <a:ln w="1905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89622" y="3790059"/>
            <a:ext cx="192755" cy="144566"/>
          </a:xfrm>
          <a:prstGeom prst="roundRect">
            <a:avLst>
              <a:gd name="adj" fmla="val 26666"/>
            </a:avLst>
          </a:prstGeom>
          <a:noFill/>
          <a:ln w="1905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2208897" y="3982815"/>
            <a:ext cx="154205" cy="0"/>
          </a:xfrm>
          <a:prstGeom prst="line">
            <a:avLst/>
          </a:prstGeom>
          <a:ln w="19050">
            <a:solidFill>
              <a:srgbClr val="FF66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520440" y="3172968"/>
            <a:ext cx="69796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A1A1A"/>
                </a:solidFill>
                <a:latin typeface="Inter"/>
              </a:rPr>
              <a:t>[Insight headline goes here]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794760"/>
            <a:ext cx="69796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B7280"/>
                </a:solidFill>
                <a:latin typeface="Inter"/>
              </a:rPr>
              <a:t>[Key takeaway or conclusion goes here in one or two lines as a placeholder for the final insight.]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63040" y="219456"/>
            <a:ext cx="0" cy="429768"/>
          </a:xfrm>
          <a:prstGeom prst="line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45920" y="20116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[Action plan]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CA3AF"/>
                </a:solidFill>
                <a:latin typeface="Inter"/>
              </a:rPr>
              <a:t>[Section subtitle or date range]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11277295" cy="4023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554480"/>
            <a:ext cx="387705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[What]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1" y="1554480"/>
            <a:ext cx="232257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[Who]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9792" y="1554480"/>
            <a:ext cx="204825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[When]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57232" y="1554480"/>
            <a:ext cx="171267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[Status]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1956816"/>
            <a:ext cx="387705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[Action item placeholder]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1" y="1956816"/>
            <a:ext cx="232257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[Owner placeholder]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1956816"/>
            <a:ext cx="204825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[Due date placeholder]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57232" y="2208276"/>
            <a:ext cx="888065" cy="27432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66959" y="2295144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31552" y="2208276"/>
            <a:ext cx="57716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6A34A"/>
                </a:solidFill>
                <a:latin typeface="Inter"/>
              </a:rPr>
              <a:t>On track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2734056"/>
            <a:ext cx="11277295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57200" y="2734056"/>
            <a:ext cx="11277295" cy="77724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734056"/>
            <a:ext cx="387705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[Action item placeholder]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1" y="2734056"/>
            <a:ext cx="232257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[Owner placeholder]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9792" y="2734056"/>
            <a:ext cx="204825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[Due date placeholder]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57232" y="2985516"/>
            <a:ext cx="827349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66959" y="307238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31552" y="2985516"/>
            <a:ext cx="51645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59E0B"/>
                </a:solidFill>
                <a:latin typeface="Inter"/>
              </a:rPr>
              <a:t>At risk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" y="3511296"/>
            <a:ext cx="11277295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" y="3511296"/>
            <a:ext cx="387705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[Action item placeholder]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1" y="3511296"/>
            <a:ext cx="232257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[Owner placeholder]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511296"/>
            <a:ext cx="204825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[Due date placeholder]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57232" y="3762756"/>
            <a:ext cx="948781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66959" y="3849624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31552" y="3762756"/>
            <a:ext cx="63788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E11D2E"/>
                </a:solidFill>
                <a:latin typeface="Inter"/>
              </a:rPr>
              <a:t>Off track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7200" y="4288536"/>
            <a:ext cx="11277295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457200" y="4288536"/>
            <a:ext cx="11277295" cy="77724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" y="4288536"/>
            <a:ext cx="387705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[Action item placeholder]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8031" y="4288536"/>
            <a:ext cx="232257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[Owner placeholder]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79792" y="4288536"/>
            <a:ext cx="204825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[Due date placeholder]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57232" y="4539996"/>
            <a:ext cx="888065" cy="27432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966959" y="4626864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31552" y="4539996"/>
            <a:ext cx="57716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6A34A"/>
                </a:solidFill>
                <a:latin typeface="Inter"/>
              </a:rPr>
              <a:t>On track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7200" y="5065776"/>
            <a:ext cx="11277295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21792" y="5065776"/>
            <a:ext cx="387705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[Action item placeholder]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28031" y="5065776"/>
            <a:ext cx="232257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[Owner placeholder]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79792" y="5065776"/>
            <a:ext cx="204825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B5563"/>
                </a:solidFill>
                <a:latin typeface="Inter"/>
              </a:rPr>
              <a:t>[Due date placeholder]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57232" y="5317236"/>
            <a:ext cx="827349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966959" y="540410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31552" y="5317236"/>
            <a:ext cx="51645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59E0B"/>
                </a:solidFill>
                <a:latin typeface="Inter"/>
              </a:rPr>
              <a:t>At risk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57200" y="5843016"/>
            <a:ext cx="11277295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