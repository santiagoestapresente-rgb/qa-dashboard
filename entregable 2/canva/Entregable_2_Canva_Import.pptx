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787878"/>
                </a:solidFill>
              </a:defRPr>
            </a:pPr>
            <a:r>
              <a:t>DiDi Global — CX Service Operations</a:t>
            </a:r>
          </a:p>
          <a:p>
            <a:pPr>
              <a:defRPr sz="4000" b="1">
                <a:solidFill>
                  <a:srgbClr val="FF6600"/>
                </a:solidFill>
              </a:defRPr>
            </a:pPr>
            <a:r>
              <a:t>Weekly Performance Report</a:t>
            </a:r>
          </a:p>
          <a:p>
            <a:pPr>
              <a:defRPr sz="1600">
                <a:solidFill>
                  <a:srgbClr val="1A1A1A"/>
                </a:solidFill>
              </a:defRPr>
            </a:pPr>
            <a:r>
              <a:t>Semana W19  |  Entregable 2  |  CONFIDENCIAL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600"/>
                </a:solidFill>
              </a:defRPr>
            </a:pPr>
            <a:r>
              <a:t>Executive Summary — KPIs vs Meta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3474720" cy="2011680"/>
          </a:xfrm>
          <a:prstGeom prst="rect">
            <a:avLst/>
          </a:prstGeom>
          <a:solidFill>
            <a:srgbClr val="F8F8F8"/>
          </a:solidFill>
          <a:ln w="381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31089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7878"/>
                </a:solidFill>
              </a:defRPr>
            </a:pPr>
            <a:r>
              <a:t>QA Score</a:t>
            </a:r>
          </a:p>
          <a:p>
            <a:pPr>
              <a:defRPr sz="3200" b="1">
                <a:solidFill>
                  <a:srgbClr val="1A1A1A"/>
                </a:solidFill>
              </a:defRPr>
            </a:pPr>
            <a:r>
              <a:t>94.14</a:t>
            </a:r>
          </a:p>
          <a:p>
            <a:pPr>
              <a:defRPr sz="1200" b="1">
                <a:solidFill>
                  <a:srgbClr val="28A745"/>
                </a:solidFill>
              </a:defRPr>
            </a:pPr>
            <a:r>
              <a:t>VERDE — Meta 85 (+9.14)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828800"/>
            <a:ext cx="3474720" cy="2011680"/>
          </a:xfrm>
          <a:prstGeom prst="rect">
            <a:avLst/>
          </a:prstGeom>
          <a:solidFill>
            <a:srgbClr val="F8F8F8"/>
          </a:solidFill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2057400"/>
            <a:ext cx="31089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7878"/>
                </a:solidFill>
              </a:defRPr>
            </a:pPr>
            <a:r>
              <a:t>CSAT</a:t>
            </a:r>
          </a:p>
          <a:p>
            <a:pPr>
              <a:defRPr sz="3200" b="1">
                <a:solidFill>
                  <a:srgbClr val="1A1A1A"/>
                </a:solidFill>
              </a:defRPr>
            </a:pPr>
            <a:r>
              <a:t>79.95%</a:t>
            </a:r>
          </a:p>
          <a:p>
            <a:pPr>
              <a:defRPr sz="1200" b="1">
                <a:solidFill>
                  <a:srgbClr val="DC3545"/>
                </a:solidFill>
              </a:defRPr>
            </a:pPr>
            <a:r>
              <a:t>ROJO — Meta 85% (-5.05pp)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828800"/>
            <a:ext cx="3474720" cy="2011680"/>
          </a:xfrm>
          <a:prstGeom prst="rect">
            <a:avLst/>
          </a:prstGeom>
          <a:solidFill>
            <a:srgbClr val="F8F8F8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057400"/>
            <a:ext cx="31089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7878"/>
                </a:solidFill>
              </a:defRPr>
            </a:pPr>
            <a:r>
              <a:t>Recontact Rate</a:t>
            </a:r>
          </a:p>
          <a:p>
            <a:pPr>
              <a:defRPr sz="3200" b="1">
                <a:solidFill>
                  <a:srgbClr val="1A1A1A"/>
                </a:solidFill>
              </a:defRPr>
            </a:pPr>
            <a:r>
              <a:t>5.83%</a:t>
            </a:r>
          </a:p>
          <a:p>
            <a:pPr>
              <a:defRPr sz="1200" b="1">
                <a:solidFill>
                  <a:srgbClr val="FFC107"/>
                </a:solidFill>
              </a:defRPr>
            </a:pPr>
            <a:r>
              <a:t>ÁMBAR — Meta 5.44% (+0.39pp)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062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Volumen: 2,460 auditorías QA  |  77,266 encuestas CSAT  |  994,591 contactos</a:t>
            </a:r>
          </a:p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Código: Verde = en meta  |  Ámbar = dentro de 5pp  |  Rojo = &gt;5pp bajo meta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600"/>
                </a:solidFill>
              </a:defRPr>
            </a:pPr>
            <a:r>
              <a:t>Executive Summary — Hallazgo Crítico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</a:defRPr>
            </a:pPr>
            <a:r>
              <a:t>QA global supera meta (94.14), impulsado por Live Chat (96.01). Phone queda en ámbar (83.04).</a:t>
            </a:r>
          </a:p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</a:defRPr>
            </a:pPr>
            <a:r>
              <a:t>CSAT global en rojo (79.95%). Live Chat —72% del feedback — arrastra con 77.55% vs Phone 86.26%.</a:t>
            </a:r>
          </a:p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</a:defRPr>
            </a:pPr>
            <a:r>
              <a:t>HALLAZGO #1 PARA LIDERAZGO:</a:t>
            </a:r>
          </a:p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</a:defRPr>
            </a:pPr>
            <a:r>
              <a:t>Cluster Order Status &amp; Delays: ~42% de recontactos, CSAT 64–68%, QA verde en chat.</a:t>
            </a:r>
          </a:p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</a:defRPr>
            </a:pPr>
            <a:r>
              <a:t>Problema de FCR/resolución, no de cumplimiento de script auditado.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600"/>
                </a:solidFill>
              </a:defRPr>
            </a:pPr>
            <a:r>
              <a:t>QA Analysis — by Channel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Canal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QA Score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Audits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Critical Fails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Estado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83.04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ÁMBAR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Live 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96.01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2,105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VERDE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Global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94.14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2,460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VERDE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29260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Phone: Manejo del Tiempo 37.5% fail rate — presión AHT compromete calidad.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600"/>
                </a:solidFill>
              </a:defRPr>
            </a:pPr>
            <a:r>
              <a:t>QA Phone — Top Atributos Fallidos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Atributo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Fail Rate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Impacto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Manejo del Tiempo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Mayor driver de score bajo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Información Completa y Correcta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Score automático 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Compensaciones/Reembolsos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Casos de entrega/reembolso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Negación de Servicio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Critical fail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02_pareto_attribu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0"/>
            <a:ext cx="10972800" cy="57213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600"/>
                </a:solidFill>
              </a:defRPr>
            </a:pPr>
            <a:r>
              <a:t>QA Live Chat — Top Atributos Fallidos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Atributo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Fail Rate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Saludo e Identificación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Actitud de Servicio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Disponibilidad del Servicio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Sí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Calidad del Sondeo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03_histogram_qa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08960"/>
            <a:ext cx="10972800" cy="53104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600"/>
                </a:solidFill>
              </a:defRPr>
            </a:pPr>
            <a:r>
              <a:t>QA Analysis — by CR Lv4 (Underperformers)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CR Lv4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QA Score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Audits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Hipótesis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Order completed not received - 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Critical info/compensación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Order active but received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Tracking + negación servicio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Courier overcharged 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Compensación incorrecta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Refund status and conditions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Info incompleta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User disagrees cancellation 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Política no comunicada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600"/>
                </a:solidFill>
              </a:defRPr>
            </a:pPr>
            <a:r>
              <a:t>Herramienta 4 — Gráfico de Control QA</a:t>
            </a:r>
          </a:p>
        </p:txBody>
      </p:sp>
      <p:pic>
        <p:nvPicPr>
          <p:cNvPr id="4" name="Picture 3" descr="04_control_chart_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62174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600"/>
                </a:solidFill>
              </a:defRPr>
            </a:pPr>
            <a:r>
              <a:t>CSAT / VOC Analysis — Overview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Dimensión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CSAT %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Feedback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Estado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Global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79.95%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77,266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ROJO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86.26%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21,304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VERDE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Live 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77.55%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55,962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ROJO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80.74%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46,071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ÁMBAR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Full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79.67%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27,113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ROJO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600"/>
                </a:solidFill>
              </a:defRPr>
            </a:pPr>
            <a:r>
              <a:t>CSAT — CR Lv4 con Peor Desempeño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CR Lv4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CSAT %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Feedback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order status &amp; delays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64.68%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5,096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user request order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67.85%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9,918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User disagrees cancellation 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67.44%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5,992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refund status and conditions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67.03%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3,582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membership program renewal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28.63%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248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3891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VOC: 'Sin solución', 'espere/confiemos que llegue', 'no me regresaron el dinero'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600"/>
                </a:solidFill>
              </a:defRPr>
            </a:pPr>
            <a:r>
              <a:t>Herramienta 5 — QA vs CSAT (Correlación)</a:t>
            </a:r>
          </a:p>
        </p:txBody>
      </p:sp>
      <p:pic>
        <p:nvPicPr>
          <p:cNvPr id="4" name="Picture 3" descr="05_scatter_qa_cs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8395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43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A1A1A"/>
                </a:solidFill>
              </a:defRPr>
            </a:pPr>
            <a:r>
              <a:t>QA alto no garantiza CSAT alto en CRs de alto volumen operacional (order status, refunds).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600"/>
                </a:solidFill>
              </a:defRPr>
            </a:pPr>
            <a:r>
              <a:t>Recontact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Canal / CR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Rate %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Volumen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Estado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Global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57,976 rc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ÁMBAR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Live 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15.99%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38,961 rc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ROJO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user request order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16.92%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130,014 rc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ROJO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order status &amp; delays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19.34%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7,680 rc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ROJO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User disagrees cancellation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12.96%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6,599 rc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ROJO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600"/>
                </a:solidFill>
              </a:defRPr>
            </a:pPr>
            <a:r>
              <a:t>Herramienta 2 — Pareto Recontact</a:t>
            </a:r>
          </a:p>
        </p:txBody>
      </p:sp>
      <p:pic>
        <p:nvPicPr>
          <p:cNvPr id="4" name="Picture 3" descr="08_pareto_recont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679688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600"/>
                </a:solidFill>
              </a:defRPr>
            </a:pPr>
            <a:r>
              <a:t>Combined Analysis — Insight Integrado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</a:defRPr>
            </a:pPr>
            <a:r>
              <a:t>CR Cluster: Order Status + Delay Information + Cancellation Charge</a:t>
            </a:r>
          </a:p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</a:defRPr>
            </a:pPr>
            <a:r>
              <a:t>• ~24,293 recontactos (41.9% del total semanal)</a:t>
            </a:r>
          </a:p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</a:defRPr>
            </a:pPr>
            <a:r>
              <a:t>• CSAT 64–68% en los 3 CRs principales</a:t>
            </a:r>
          </a:p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</a:defRPr>
            </a:pPr>
            <a:r>
              <a:t>• QA Live Chat 95–97 (verde) — desalineación percepción vs auditoría</a:t>
            </a:r>
          </a:p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</a:defRPr>
            </a:pPr>
            <a:r>
              <a:t>Root cause: agentes cumplen script pero no resuelven en 1ra interacción.</a:t>
            </a:r>
          </a:p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</a:defRPr>
            </a:pPr>
            <a:r>
              <a:t>Falta visibilidad operativa (tracking, compensación automática).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600"/>
                </a:solidFill>
              </a:defRPr>
            </a:pPr>
            <a:r>
              <a:t>Herramienta 6 — Ishikawa (Causa-Raíz)</a:t>
            </a:r>
          </a:p>
        </p:txBody>
      </p:sp>
      <p:pic>
        <p:nvPicPr>
          <p:cNvPr id="4" name="Picture 3" descr="06_fishbone_order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816312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600"/>
                </a:solidFill>
              </a:defRPr>
            </a:pPr>
            <a:r>
              <a:t>Herramienta 7 — Flujo FCR (Punto de Falla)</a:t>
            </a:r>
          </a:p>
        </p:txBody>
      </p:sp>
      <p:pic>
        <p:nvPicPr>
          <p:cNvPr id="4" name="Picture 3" descr="07_flowchart_fc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874517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600"/>
                </a:solidFill>
              </a:defRPr>
            </a:pPr>
            <a:r>
              <a:t>Herramienta 1 — Check Sheet</a:t>
            </a:r>
          </a:p>
        </p:txBody>
      </p:sp>
      <p:pic>
        <p:nvPicPr>
          <p:cNvPr id="4" name="Picture 3" descr="01_check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651763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6600"/>
                </a:solidFill>
              </a:defRPr>
            </a:pPr>
            <a:r>
              <a:t>Action Plans — by LOB / Business Type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LOB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Responsable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Plazo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Acción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QA Ops +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Sem 1–2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Coaching Phone: Manejo Tiempo + Info Completa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Full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Ops + WFM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Staffing horas pico; reducir wait chat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Full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QA + 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Macros compensación 'order not received'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Market 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LOB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Sem 2–3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Scripts separados marketplace vs FS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All LOBs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CX Leadership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War room top 3 CRs recontact hasta &lt;5.44%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6600"/>
                </a:solidFill>
              </a:defRPr>
            </a:pPr>
            <a:r>
              <a:t>Anexo — 7 Herramientas de Calidad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Herramienta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Aplicación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Check Sheet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Validación datos QA y reglas Critical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Pareto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80/20 defectos QA y recontact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Histograma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Distribución QA Score por canal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Control Chart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Variación QA país/canal vs meta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Scatter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Correlación QA vs CSAT por CR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Ishikawa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Causa-raíz Order Status/Delays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Flowchart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Punto de falla FCR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6600"/>
                </a:solidFill>
              </a:defRPr>
            </a:pPr>
            <a:r>
              <a:t>Gracias</a:t>
            </a:r>
          </a:p>
          <a:p>
            <a:pPr algn="ctr">
              <a:defRPr sz="1600">
                <a:solidFill>
                  <a:srgbClr val="787878"/>
                </a:solidFill>
              </a:defRPr>
            </a:pPr>
            <a:r>
              <a:t>DiDi CX Quality Analyst — Business Case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