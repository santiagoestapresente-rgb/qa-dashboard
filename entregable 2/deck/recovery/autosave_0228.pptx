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88" r:id="rId5"/>
    <p:sldId id="287" r:id="rId6"/>
    <p:sldId id="260" r:id="rId7"/>
    <p:sldId id="261" r:id="rId8"/>
    <p:sldId id="262" r:id="rId9"/>
    <p:sldId id="263" r:id="rId10"/>
    <p:sldId id="264" r:id="rId11"/>
    <p:sldId id="265" r:id="rId12"/>
    <p:sldId id="266" r:id="rId13"/>
    <p:sldId id="267" r:id="rId14"/>
    <p:sldId id="289"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6"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26" autoAdjust="0"/>
    <p:restoredTop sz="94660"/>
  </p:normalViewPr>
  <p:slideViewPr>
    <p:cSldViewPr snapToGrid="0" snapToObjects="1">
      <p:cViewPr varScale="1">
        <p:scale>
          <a:sx n="78" d="100"/>
          <a:sy n="78" d="100"/>
        </p:scale>
        <p:origin x="845" y="6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D53C56-7DDE-4BA8-B842-F415930613B1}" type="datetimeFigureOut">
              <a:rPr lang="es-CO" smtClean="0"/>
              <a:t>23/08/2026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2515C4-BB41-4546-96AD-5D78A8278280}" type="slidenum">
              <a:rPr lang="es-CO" smtClean="0"/>
              <a:t>‹Nº›</a:t>
            </a:fld>
            <a:endParaRPr lang="es-CO"/>
          </a:p>
        </p:txBody>
      </p:sp>
    </p:spTree>
    <p:extLst>
      <p:ext uri="{BB962C8B-B14F-4D97-AF65-F5344CB8AC3E}">
        <p14:creationId xmlns:p14="http://schemas.microsoft.com/office/powerpoint/2010/main" val="3072895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1D2515C4-BB41-4546-96AD-5D78A8278280}" type="slidenum">
              <a:rPr lang="es-CO" smtClean="0"/>
              <a:t>11</a:t>
            </a:fld>
            <a:endParaRPr lang="es-CO"/>
          </a:p>
        </p:txBody>
      </p:sp>
    </p:spTree>
    <p:extLst>
      <p:ext uri="{BB962C8B-B14F-4D97-AF65-F5344CB8AC3E}">
        <p14:creationId xmlns:p14="http://schemas.microsoft.com/office/powerpoint/2010/main" val="4171379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didi_mark_orange.png"/>
          <p:cNvPicPr>
            <a:picLocks noChangeAspect="1"/>
          </p:cNvPicPr>
          <p:nvPr/>
        </p:nvPicPr>
        <p:blipFill>
          <a:blip r:embed="rId2"/>
          <a:stretch>
            <a:fillRect/>
          </a:stretch>
        </p:blipFill>
        <p:spPr>
          <a:xfrm>
            <a:off x="5144871" y="1481328"/>
            <a:ext cx="566928" cy="566928"/>
          </a:xfrm>
          <a:prstGeom prst="rect">
            <a:avLst/>
          </a:prstGeom>
        </p:spPr>
      </p:pic>
      <p:sp>
        <p:nvSpPr>
          <p:cNvPr id="4" name="TextBox 3"/>
          <p:cNvSpPr txBox="1"/>
          <p:nvPr/>
        </p:nvSpPr>
        <p:spPr>
          <a:xfrm>
            <a:off x="5858103" y="1481328"/>
            <a:ext cx="1188720" cy="566928"/>
          </a:xfrm>
          <a:prstGeom prst="rect">
            <a:avLst/>
          </a:prstGeom>
          <a:noFill/>
        </p:spPr>
        <p:txBody>
          <a:bodyPr wrap="square" lIns="0" tIns="0" rIns="0" bIns="0" anchor="ctr">
            <a:spAutoFit/>
          </a:bodyPr>
          <a:lstStyle/>
          <a:p>
            <a:pPr algn="l">
              <a:lnSpc>
                <a:spcPct val="115000"/>
              </a:lnSpc>
              <a:spcAft>
                <a:spcPts val="0"/>
              </a:spcAft>
            </a:pPr>
            <a:r>
              <a:rPr sz="3000" b="1">
                <a:solidFill>
                  <a:srgbClr val="FFFFFF"/>
                </a:solidFill>
                <a:latin typeface="Inter"/>
              </a:rPr>
              <a:t>DiDi</a:t>
            </a:r>
          </a:p>
        </p:txBody>
      </p:sp>
      <p:sp>
        <p:nvSpPr>
          <p:cNvPr id="5" name="TextBox 4"/>
          <p:cNvSpPr txBox="1"/>
          <p:nvPr/>
        </p:nvSpPr>
        <p:spPr>
          <a:xfrm>
            <a:off x="457200" y="2395728"/>
            <a:ext cx="11277295" cy="685800"/>
          </a:xfrm>
          <a:prstGeom prst="rect">
            <a:avLst/>
          </a:prstGeom>
          <a:noFill/>
        </p:spPr>
        <p:txBody>
          <a:bodyPr wrap="square" lIns="0" tIns="0" rIns="0" bIns="0" anchor="t">
            <a:spAutoFit/>
          </a:bodyPr>
          <a:lstStyle/>
          <a:p>
            <a:pPr algn="ctr">
              <a:lnSpc>
                <a:spcPct val="115000"/>
              </a:lnSpc>
              <a:spcAft>
                <a:spcPts val="0"/>
              </a:spcAft>
            </a:pPr>
            <a:r>
              <a:rPr sz="3600" b="1">
                <a:solidFill>
                  <a:srgbClr val="FFFFFF"/>
                </a:solidFill>
                <a:latin typeface="Inter"/>
              </a:rPr>
              <a:t>Weekly Performance Report</a:t>
            </a:r>
          </a:p>
        </p:txBody>
      </p:sp>
      <p:sp>
        <p:nvSpPr>
          <p:cNvPr id="6" name="TextBox 5"/>
          <p:cNvSpPr txBox="1"/>
          <p:nvPr/>
        </p:nvSpPr>
        <p:spPr>
          <a:xfrm>
            <a:off x="457200" y="3218688"/>
            <a:ext cx="11277295" cy="320040"/>
          </a:xfrm>
          <a:prstGeom prst="rect">
            <a:avLst/>
          </a:prstGeom>
          <a:noFill/>
        </p:spPr>
        <p:txBody>
          <a:bodyPr wrap="square" lIns="0" tIns="0" rIns="0" bIns="0" anchor="t">
            <a:spAutoFit/>
          </a:bodyPr>
          <a:lstStyle/>
          <a:p>
            <a:pPr algn="ctr">
              <a:lnSpc>
                <a:spcPct val="115000"/>
              </a:lnSpc>
              <a:spcAft>
                <a:spcPts val="0"/>
              </a:spcAft>
            </a:pPr>
            <a:r>
              <a:rPr sz="1500" b="0">
                <a:solidFill>
                  <a:srgbClr val="C9CCD1"/>
                </a:solidFill>
                <a:latin typeface="Inter"/>
              </a:rPr>
              <a:t>CX Service Operations  ·  Delivery LOB  ·  Phone and Live Chat</a:t>
            </a:r>
          </a:p>
        </p:txBody>
      </p:sp>
      <p:sp>
        <p:nvSpPr>
          <p:cNvPr id="7" name="Rectangle 6"/>
          <p:cNvSpPr/>
          <p:nvPr/>
        </p:nvSpPr>
        <p:spPr>
          <a:xfrm>
            <a:off x="5638647" y="3803904"/>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4041648"/>
            <a:ext cx="11277295" cy="274320"/>
          </a:xfrm>
          <a:prstGeom prst="rect">
            <a:avLst/>
          </a:prstGeom>
          <a:noFill/>
        </p:spPr>
        <p:txBody>
          <a:bodyPr wrap="square" lIns="0" tIns="0" rIns="0" bIns="0" anchor="t">
            <a:spAutoFit/>
          </a:bodyPr>
          <a:lstStyle/>
          <a:p>
            <a:pPr algn="ctr">
              <a:lnSpc>
                <a:spcPct val="115000"/>
              </a:lnSpc>
              <a:spcAft>
                <a:spcPts val="0"/>
              </a:spcAft>
            </a:pPr>
            <a:r>
              <a:rPr sz="1100" b="0">
                <a:solidFill>
                  <a:srgbClr val="A8ACB3"/>
                </a:solidFill>
                <a:latin typeface="Inter"/>
              </a:rPr>
              <a:t>Deliverable 2: CX Quality Analyst business case</a:t>
            </a:r>
          </a:p>
        </p:txBody>
      </p:sp>
      <p:sp>
        <p:nvSpPr>
          <p:cNvPr id="9" name="Rounded Rectangle 8"/>
          <p:cNvSpPr/>
          <p:nvPr/>
        </p:nvSpPr>
        <p:spPr>
          <a:xfrm>
            <a:off x="2895447" y="5065776"/>
            <a:ext cx="457200" cy="393192"/>
          </a:xfrm>
          <a:prstGeom prst="roundRect">
            <a:avLst>
              <a:gd name="adj" fmla="val 16279"/>
            </a:avLst>
          </a:prstGeom>
          <a:noFill/>
          <a:ln w="15875">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913735" y="5084064"/>
            <a:ext cx="420624" cy="6858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003346" y="4983480"/>
            <a:ext cx="40233" cy="82296"/>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04514" y="4983480"/>
            <a:ext cx="40233" cy="82296"/>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017062" y="5239512"/>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103930" y="5239512"/>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190798" y="5239512"/>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017062" y="5367528"/>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103930" y="5367528"/>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190798" y="5367528"/>
            <a:ext cx="41148"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569567" y="5660136"/>
            <a:ext cx="3108960" cy="274320"/>
          </a:xfrm>
          <a:prstGeom prst="rect">
            <a:avLst/>
          </a:prstGeom>
          <a:noFill/>
        </p:spPr>
        <p:txBody>
          <a:bodyPr wrap="square" lIns="0" tIns="0" rIns="0" bIns="0" anchor="t">
            <a:spAutoFit/>
          </a:bodyPr>
          <a:lstStyle/>
          <a:p>
            <a:pPr algn="ctr">
              <a:lnSpc>
                <a:spcPct val="115000"/>
              </a:lnSpc>
              <a:spcAft>
                <a:spcPts val="0"/>
              </a:spcAft>
            </a:pPr>
            <a:r>
              <a:rPr sz="1000" b="0" dirty="0">
                <a:solidFill>
                  <a:srgbClr val="A8ACB3"/>
                </a:solidFill>
                <a:latin typeface="Inter"/>
              </a:rPr>
              <a:t>1–31 May 2026  ·  W19–W22</a:t>
            </a:r>
          </a:p>
        </p:txBody>
      </p:sp>
      <p:sp>
        <p:nvSpPr>
          <p:cNvPr id="20" name="Oval 19"/>
          <p:cNvSpPr/>
          <p:nvPr/>
        </p:nvSpPr>
        <p:spPr>
          <a:xfrm>
            <a:off x="5867247" y="5001768"/>
            <a:ext cx="457200" cy="457200"/>
          </a:xfrm>
          <a:prstGeom prst="ellipse">
            <a:avLst/>
          </a:prstGeom>
          <a:noFill/>
          <a:ln w="15875">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999835" y="5001768"/>
            <a:ext cx="192024" cy="457200"/>
          </a:xfrm>
          <a:prstGeom prst="ellipse">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867247" y="5224018"/>
            <a:ext cx="457200" cy="127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890107" y="5123433"/>
            <a:ext cx="411479" cy="127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41367" y="5660136"/>
            <a:ext cx="3108960" cy="274320"/>
          </a:xfrm>
          <a:prstGeom prst="rect">
            <a:avLst/>
          </a:prstGeom>
          <a:noFill/>
        </p:spPr>
        <p:txBody>
          <a:bodyPr wrap="square" lIns="0" tIns="0" rIns="0" bIns="0" anchor="t">
            <a:spAutoFit/>
          </a:bodyPr>
          <a:lstStyle/>
          <a:p>
            <a:pPr algn="ctr">
              <a:lnSpc>
                <a:spcPct val="115000"/>
              </a:lnSpc>
              <a:spcAft>
                <a:spcPts val="0"/>
              </a:spcAft>
            </a:pPr>
            <a:r>
              <a:rPr sz="1000" b="0">
                <a:solidFill>
                  <a:srgbClr val="A8ACB3"/>
                </a:solidFill>
                <a:latin typeface="Inter"/>
              </a:rPr>
              <a:t>MX  ·  CO  ·  CR  ·  PE</a:t>
            </a:r>
          </a:p>
        </p:txBody>
      </p:sp>
      <p:sp>
        <p:nvSpPr>
          <p:cNvPr id="25" name="Oval 24"/>
          <p:cNvSpPr/>
          <p:nvPr/>
        </p:nvSpPr>
        <p:spPr>
          <a:xfrm>
            <a:off x="8989923" y="5020055"/>
            <a:ext cx="155448" cy="155448"/>
          </a:xfrm>
          <a:prstGeom prst="ellipse">
            <a:avLst/>
          </a:prstGeom>
          <a:noFill/>
          <a:ln w="15875">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8930487" y="5221224"/>
            <a:ext cx="274320" cy="164592"/>
          </a:xfrm>
          <a:prstGeom prst="roundRect">
            <a:avLst>
              <a:gd name="adj" fmla="val 47222"/>
            </a:avLst>
          </a:prstGeom>
          <a:noFill/>
          <a:ln w="15875">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843619" y="5065776"/>
            <a:ext cx="118872" cy="118872"/>
          </a:xfrm>
          <a:prstGeom prst="ellipse">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802471" y="5248655"/>
            <a:ext cx="146304" cy="128016"/>
          </a:xfrm>
          <a:prstGeom prst="roundRect">
            <a:avLst>
              <a:gd name="adj" fmla="val 46428"/>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172803" y="5065776"/>
            <a:ext cx="118872" cy="118872"/>
          </a:xfrm>
          <a:prstGeom prst="ellipse">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9186519" y="5248655"/>
            <a:ext cx="146304" cy="128016"/>
          </a:xfrm>
          <a:prstGeom prst="roundRect">
            <a:avLst>
              <a:gd name="adj" fmla="val 46428"/>
            </a:avLst>
          </a:prstGeom>
          <a:noFill/>
          <a:ln w="12700">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513167" y="5660136"/>
            <a:ext cx="3108960" cy="274320"/>
          </a:xfrm>
          <a:prstGeom prst="rect">
            <a:avLst/>
          </a:prstGeom>
          <a:noFill/>
        </p:spPr>
        <p:txBody>
          <a:bodyPr wrap="square" lIns="0" tIns="0" rIns="0" bIns="0" anchor="t">
            <a:spAutoFit/>
          </a:bodyPr>
          <a:lstStyle/>
          <a:p>
            <a:pPr algn="ctr">
              <a:lnSpc>
                <a:spcPct val="115000"/>
              </a:lnSpc>
              <a:spcAft>
                <a:spcPts val="0"/>
              </a:spcAft>
            </a:pPr>
            <a:r>
              <a:rPr sz="1000" b="0">
                <a:solidFill>
                  <a:srgbClr val="A8ACB3"/>
                </a:solidFill>
                <a:latin typeface="Inter"/>
              </a:rPr>
              <a:t>Prepared for CX Leadership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Scope, data and assumptions</a:t>
            </a:r>
          </a:p>
        </p:txBody>
      </p:sp>
      <p:sp>
        <p:nvSpPr>
          <p:cNvPr id="8" name="TextBox 7"/>
          <p:cNvSpPr txBox="1"/>
          <p:nvPr/>
        </p:nvSpPr>
        <p:spPr>
          <a:xfrm>
            <a:off x="1627632" y="588388"/>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Data governance, processing methodology, and structural scope boundary conditions.</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02</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grpSp>
        <p:nvGrpSpPr>
          <p:cNvPr id="65" name="Grupo 64">
            <a:extLst>
              <a:ext uri="{FF2B5EF4-FFF2-40B4-BE49-F238E27FC236}">
                <a16:creationId xmlns:a16="http://schemas.microsoft.com/office/drawing/2014/main" id="{ED0314BB-D62C-2727-52A1-ECEEC8D0CC41}"/>
              </a:ext>
            </a:extLst>
          </p:cNvPr>
          <p:cNvGrpSpPr/>
          <p:nvPr/>
        </p:nvGrpSpPr>
        <p:grpSpPr>
          <a:xfrm>
            <a:off x="457200" y="1280160"/>
            <a:ext cx="11274552" cy="2290762"/>
            <a:chOff x="457200" y="1280160"/>
            <a:chExt cx="11274552" cy="2290762"/>
          </a:xfrm>
        </p:grpSpPr>
        <p:sp>
          <p:nvSpPr>
            <p:cNvPr id="11" name="Rectangle 10"/>
            <p:cNvSpPr/>
            <p:nvPr/>
          </p:nvSpPr>
          <p:spPr>
            <a:xfrm>
              <a:off x="457200" y="1280160"/>
              <a:ext cx="11274552" cy="38404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2" name="TextBox 11"/>
            <p:cNvSpPr txBox="1"/>
            <p:nvPr/>
          </p:nvSpPr>
          <p:spPr>
            <a:xfrm>
              <a:off x="585216" y="1380558"/>
              <a:ext cx="1618487" cy="183255"/>
            </a:xfrm>
            <a:prstGeom prst="rect">
              <a:avLst/>
            </a:prstGeom>
            <a:noFill/>
          </p:spPr>
          <p:txBody>
            <a:bodyPr wrap="square" lIns="0" tIns="0" rIns="0" bIns="0" anchor="ctr">
              <a:spAutoFit/>
            </a:bodyPr>
            <a:lstStyle/>
            <a:p>
              <a:pPr algn="ctr">
                <a:lnSpc>
                  <a:spcPct val="115000"/>
                </a:lnSpc>
                <a:spcAft>
                  <a:spcPts val="0"/>
                </a:spcAft>
              </a:pPr>
              <a:r>
                <a:rPr sz="1100" b="1">
                  <a:solidFill>
                    <a:srgbClr val="FFFFFF"/>
                  </a:solidFill>
                  <a:latin typeface="Inter"/>
                </a:rPr>
                <a:t>Source</a:t>
              </a:r>
            </a:p>
          </p:txBody>
        </p:sp>
        <p:sp>
          <p:nvSpPr>
            <p:cNvPr id="13" name="TextBox 12"/>
            <p:cNvSpPr txBox="1"/>
            <p:nvPr/>
          </p:nvSpPr>
          <p:spPr>
            <a:xfrm>
              <a:off x="2459736" y="1380558"/>
              <a:ext cx="2715768" cy="183255"/>
            </a:xfrm>
            <a:prstGeom prst="rect">
              <a:avLst/>
            </a:prstGeom>
            <a:noFill/>
          </p:spPr>
          <p:txBody>
            <a:bodyPr wrap="square" lIns="0" tIns="0" rIns="0" bIns="0" anchor="ctr">
              <a:spAutoFit/>
            </a:bodyPr>
            <a:lstStyle/>
            <a:p>
              <a:pPr algn="ctr">
                <a:lnSpc>
                  <a:spcPct val="115000"/>
                </a:lnSpc>
                <a:spcAft>
                  <a:spcPts val="0"/>
                </a:spcAft>
              </a:pPr>
              <a:r>
                <a:rPr sz="1100" b="1">
                  <a:solidFill>
                    <a:srgbClr val="FFFFFF"/>
                  </a:solidFill>
                  <a:latin typeface="Inter"/>
                </a:rPr>
                <a:t>Grain: one row is…</a:t>
              </a:r>
            </a:p>
          </p:txBody>
        </p:sp>
        <p:sp>
          <p:nvSpPr>
            <p:cNvPr id="14" name="TextBox 13"/>
            <p:cNvSpPr txBox="1"/>
            <p:nvPr/>
          </p:nvSpPr>
          <p:spPr>
            <a:xfrm>
              <a:off x="5431536" y="1380558"/>
              <a:ext cx="978408" cy="183255"/>
            </a:xfrm>
            <a:prstGeom prst="rect">
              <a:avLst/>
            </a:prstGeom>
            <a:noFill/>
          </p:spPr>
          <p:txBody>
            <a:bodyPr wrap="square" lIns="0" tIns="0" rIns="0" bIns="0" anchor="ctr">
              <a:spAutoFit/>
            </a:bodyPr>
            <a:lstStyle/>
            <a:p>
              <a:pPr algn="ctr">
                <a:lnSpc>
                  <a:spcPct val="115000"/>
                </a:lnSpc>
                <a:spcAft>
                  <a:spcPts val="0"/>
                </a:spcAft>
              </a:pPr>
              <a:r>
                <a:rPr sz="1100" b="1">
                  <a:solidFill>
                    <a:srgbClr val="FFFFFF"/>
                  </a:solidFill>
                  <a:latin typeface="Inter"/>
                </a:rPr>
                <a:t>Volume</a:t>
              </a:r>
            </a:p>
          </p:txBody>
        </p:sp>
        <p:sp>
          <p:nvSpPr>
            <p:cNvPr id="15" name="TextBox 14"/>
            <p:cNvSpPr txBox="1"/>
            <p:nvPr/>
          </p:nvSpPr>
          <p:spPr>
            <a:xfrm>
              <a:off x="6665976" y="1380558"/>
              <a:ext cx="1161288" cy="183255"/>
            </a:xfrm>
            <a:prstGeom prst="rect">
              <a:avLst/>
            </a:prstGeom>
            <a:noFill/>
          </p:spPr>
          <p:txBody>
            <a:bodyPr wrap="square" lIns="0" tIns="0" rIns="0" bIns="0" anchor="ctr">
              <a:spAutoFit/>
            </a:bodyPr>
            <a:lstStyle/>
            <a:p>
              <a:pPr algn="ctr">
                <a:lnSpc>
                  <a:spcPct val="115000"/>
                </a:lnSpc>
                <a:spcAft>
                  <a:spcPts val="0"/>
                </a:spcAft>
              </a:pPr>
              <a:r>
                <a:rPr sz="1100" b="1">
                  <a:solidFill>
                    <a:srgbClr val="FFFFFF"/>
                  </a:solidFill>
                  <a:latin typeface="Inter"/>
                </a:rPr>
                <a:t>Period</a:t>
              </a:r>
            </a:p>
          </p:txBody>
        </p:sp>
        <p:sp>
          <p:nvSpPr>
            <p:cNvPr id="16" name="TextBox 15"/>
            <p:cNvSpPr txBox="1"/>
            <p:nvPr/>
          </p:nvSpPr>
          <p:spPr>
            <a:xfrm>
              <a:off x="8083296" y="1380558"/>
              <a:ext cx="3520439" cy="183255"/>
            </a:xfrm>
            <a:prstGeom prst="rect">
              <a:avLst/>
            </a:prstGeom>
            <a:noFill/>
          </p:spPr>
          <p:txBody>
            <a:bodyPr wrap="square" lIns="0" tIns="0" rIns="0" bIns="0" anchor="ctr">
              <a:spAutoFit/>
            </a:bodyPr>
            <a:lstStyle/>
            <a:p>
              <a:pPr algn="ctr">
                <a:lnSpc>
                  <a:spcPct val="115000"/>
                </a:lnSpc>
                <a:spcAft>
                  <a:spcPts val="0"/>
                </a:spcAft>
              </a:pPr>
              <a:r>
                <a:rPr sz="1100" b="1">
                  <a:solidFill>
                    <a:srgbClr val="FFFFFF"/>
                  </a:solidFill>
                  <a:latin typeface="Inter"/>
                </a:rPr>
                <a:t>What it answers</a:t>
              </a:r>
            </a:p>
          </p:txBody>
        </p:sp>
        <p:sp>
          <p:nvSpPr>
            <p:cNvPr id="17" name="TextBox 16"/>
            <p:cNvSpPr txBox="1"/>
            <p:nvPr/>
          </p:nvSpPr>
          <p:spPr>
            <a:xfrm>
              <a:off x="585216" y="1810326"/>
              <a:ext cx="1618487" cy="183255"/>
            </a:xfrm>
            <a:prstGeom prst="rect">
              <a:avLst/>
            </a:prstGeom>
            <a:noFill/>
          </p:spPr>
          <p:txBody>
            <a:bodyPr wrap="square" lIns="0" tIns="0" rIns="0" bIns="0" anchor="ctr">
              <a:spAutoFit/>
            </a:bodyPr>
            <a:lstStyle/>
            <a:p>
              <a:pPr algn="ctr">
                <a:lnSpc>
                  <a:spcPct val="115000"/>
                </a:lnSpc>
                <a:spcAft>
                  <a:spcPts val="0"/>
                </a:spcAft>
              </a:pPr>
              <a:r>
                <a:rPr sz="1100" b="1">
                  <a:solidFill>
                    <a:srgbClr val="4B5563"/>
                  </a:solidFill>
                  <a:latin typeface="Inter"/>
                </a:rPr>
                <a:t>QA audits</a:t>
              </a:r>
            </a:p>
          </p:txBody>
        </p:sp>
        <p:sp>
          <p:nvSpPr>
            <p:cNvPr id="18" name="TextBox 17"/>
            <p:cNvSpPr txBox="1"/>
            <p:nvPr/>
          </p:nvSpPr>
          <p:spPr>
            <a:xfrm>
              <a:off x="2459736" y="1810326"/>
              <a:ext cx="271576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One audited interaction</a:t>
              </a:r>
            </a:p>
          </p:txBody>
        </p:sp>
        <p:sp>
          <p:nvSpPr>
            <p:cNvPr id="19" name="TextBox 18"/>
            <p:cNvSpPr txBox="1"/>
            <p:nvPr/>
          </p:nvSpPr>
          <p:spPr>
            <a:xfrm>
              <a:off x="5431536" y="1810326"/>
              <a:ext cx="97840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2,460</a:t>
              </a:r>
            </a:p>
          </p:txBody>
        </p:sp>
        <p:sp>
          <p:nvSpPr>
            <p:cNvPr id="20" name="TextBox 19"/>
            <p:cNvSpPr txBox="1"/>
            <p:nvPr/>
          </p:nvSpPr>
          <p:spPr>
            <a:xfrm>
              <a:off x="6665976" y="1810326"/>
              <a:ext cx="116128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4–29 May</a:t>
              </a:r>
            </a:p>
          </p:txBody>
        </p:sp>
        <p:sp>
          <p:nvSpPr>
            <p:cNvPr id="21" name="TextBox 20"/>
            <p:cNvSpPr txBox="1"/>
            <p:nvPr/>
          </p:nvSpPr>
          <p:spPr>
            <a:xfrm>
              <a:off x="8083296" y="1810326"/>
              <a:ext cx="3520439"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QA score, attribute defects, channel</a:t>
              </a:r>
            </a:p>
          </p:txBody>
        </p:sp>
        <p:sp>
          <p:nvSpPr>
            <p:cNvPr id="22" name="Rectangle 21"/>
            <p:cNvSpPr/>
            <p:nvPr/>
          </p:nvSpPr>
          <p:spPr>
            <a:xfrm>
              <a:off x="457200" y="2134933"/>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3" name="Rectangle 22"/>
            <p:cNvSpPr/>
            <p:nvPr/>
          </p:nvSpPr>
          <p:spPr>
            <a:xfrm>
              <a:off x="457200" y="2139696"/>
              <a:ext cx="11274552" cy="47548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4" name="TextBox 23"/>
            <p:cNvSpPr txBox="1"/>
            <p:nvPr/>
          </p:nvSpPr>
          <p:spPr>
            <a:xfrm>
              <a:off x="585216" y="2285814"/>
              <a:ext cx="1618487" cy="183255"/>
            </a:xfrm>
            <a:prstGeom prst="rect">
              <a:avLst/>
            </a:prstGeom>
            <a:noFill/>
          </p:spPr>
          <p:txBody>
            <a:bodyPr wrap="square" lIns="0" tIns="0" rIns="0" bIns="0" anchor="ctr">
              <a:spAutoFit/>
            </a:bodyPr>
            <a:lstStyle/>
            <a:p>
              <a:pPr algn="ctr">
                <a:lnSpc>
                  <a:spcPct val="115000"/>
                </a:lnSpc>
                <a:spcAft>
                  <a:spcPts val="0"/>
                </a:spcAft>
              </a:pPr>
              <a:r>
                <a:rPr sz="1100" b="1" dirty="0">
                  <a:solidFill>
                    <a:srgbClr val="4B5563"/>
                  </a:solidFill>
                  <a:latin typeface="Inter"/>
                </a:rPr>
                <a:t>QA attribute fails</a:t>
              </a:r>
            </a:p>
          </p:txBody>
        </p:sp>
        <p:sp>
          <p:nvSpPr>
            <p:cNvPr id="25" name="TextBox 24"/>
            <p:cNvSpPr txBox="1"/>
            <p:nvPr/>
          </p:nvSpPr>
          <p:spPr>
            <a:xfrm>
              <a:off x="2459736" y="2285814"/>
              <a:ext cx="271576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One failed attribute in an audit</a:t>
              </a:r>
            </a:p>
          </p:txBody>
        </p:sp>
        <p:sp>
          <p:nvSpPr>
            <p:cNvPr id="26" name="TextBox 25"/>
            <p:cNvSpPr txBox="1"/>
            <p:nvPr/>
          </p:nvSpPr>
          <p:spPr>
            <a:xfrm>
              <a:off x="5431536" y="2285814"/>
              <a:ext cx="97840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518</a:t>
              </a:r>
            </a:p>
          </p:txBody>
        </p:sp>
        <p:sp>
          <p:nvSpPr>
            <p:cNvPr id="27" name="TextBox 26"/>
            <p:cNvSpPr txBox="1"/>
            <p:nvPr/>
          </p:nvSpPr>
          <p:spPr>
            <a:xfrm>
              <a:off x="6665976" y="2285814"/>
              <a:ext cx="116128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4–29 May</a:t>
              </a:r>
            </a:p>
          </p:txBody>
        </p:sp>
        <p:sp>
          <p:nvSpPr>
            <p:cNvPr id="28" name="TextBox 27"/>
            <p:cNvSpPr txBox="1"/>
            <p:nvPr/>
          </p:nvSpPr>
          <p:spPr>
            <a:xfrm>
              <a:off x="8083296" y="2285814"/>
              <a:ext cx="3520439"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Pareto of defects, critical vs non-critical</a:t>
              </a:r>
            </a:p>
          </p:txBody>
        </p:sp>
        <p:sp>
          <p:nvSpPr>
            <p:cNvPr id="29" name="Rectangle 28"/>
            <p:cNvSpPr/>
            <p:nvPr/>
          </p:nvSpPr>
          <p:spPr>
            <a:xfrm>
              <a:off x="457200" y="2610421"/>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0" name="TextBox 29"/>
            <p:cNvSpPr txBox="1"/>
            <p:nvPr/>
          </p:nvSpPr>
          <p:spPr>
            <a:xfrm>
              <a:off x="585216" y="2761302"/>
              <a:ext cx="1618487" cy="183255"/>
            </a:xfrm>
            <a:prstGeom prst="rect">
              <a:avLst/>
            </a:prstGeom>
            <a:noFill/>
          </p:spPr>
          <p:txBody>
            <a:bodyPr wrap="square" lIns="0" tIns="0" rIns="0" bIns="0" anchor="ctr">
              <a:spAutoFit/>
            </a:bodyPr>
            <a:lstStyle/>
            <a:p>
              <a:pPr algn="ctr">
                <a:lnSpc>
                  <a:spcPct val="115000"/>
                </a:lnSpc>
                <a:spcAft>
                  <a:spcPts val="0"/>
                </a:spcAft>
              </a:pPr>
              <a:r>
                <a:rPr sz="1100" b="1">
                  <a:solidFill>
                    <a:srgbClr val="4B5563"/>
                  </a:solidFill>
                  <a:latin typeface="Inter"/>
                </a:rPr>
                <a:t>CSAT surveys</a:t>
              </a:r>
            </a:p>
          </p:txBody>
        </p:sp>
        <p:sp>
          <p:nvSpPr>
            <p:cNvPr id="31" name="TextBox 30"/>
            <p:cNvSpPr txBox="1"/>
            <p:nvPr/>
          </p:nvSpPr>
          <p:spPr>
            <a:xfrm>
              <a:off x="2459736" y="2761302"/>
              <a:ext cx="2715768" cy="183255"/>
            </a:xfrm>
            <a:prstGeom prst="rect">
              <a:avLst/>
            </a:prstGeom>
            <a:noFill/>
          </p:spPr>
          <p:txBody>
            <a:bodyPr wrap="square" lIns="0" tIns="0" rIns="0" bIns="0" anchor="ctr">
              <a:spAutoFit/>
            </a:bodyPr>
            <a:lstStyle/>
            <a:p>
              <a:pPr algn="ctr">
                <a:lnSpc>
                  <a:spcPct val="115000"/>
                </a:lnSpc>
                <a:spcAft>
                  <a:spcPts val="0"/>
                </a:spcAft>
              </a:pPr>
              <a:r>
                <a:rPr sz="1100" b="0" dirty="0">
                  <a:solidFill>
                    <a:srgbClr val="4B5563"/>
                  </a:solidFill>
                  <a:latin typeface="Inter"/>
                </a:rPr>
                <a:t>One survey answer</a:t>
              </a:r>
            </a:p>
          </p:txBody>
        </p:sp>
        <p:sp>
          <p:nvSpPr>
            <p:cNvPr id="32" name="TextBox 31"/>
            <p:cNvSpPr txBox="1"/>
            <p:nvPr/>
          </p:nvSpPr>
          <p:spPr>
            <a:xfrm>
              <a:off x="5431536" y="2761302"/>
              <a:ext cx="97840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77,266</a:t>
              </a:r>
            </a:p>
          </p:txBody>
        </p:sp>
        <p:sp>
          <p:nvSpPr>
            <p:cNvPr id="33" name="TextBox 32"/>
            <p:cNvSpPr txBox="1"/>
            <p:nvPr/>
          </p:nvSpPr>
          <p:spPr>
            <a:xfrm>
              <a:off x="6665976" y="2761302"/>
              <a:ext cx="116128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1–31 May</a:t>
              </a:r>
            </a:p>
          </p:txBody>
        </p:sp>
        <p:sp>
          <p:nvSpPr>
            <p:cNvPr id="34" name="TextBox 33"/>
            <p:cNvSpPr txBox="1"/>
            <p:nvPr/>
          </p:nvSpPr>
          <p:spPr>
            <a:xfrm>
              <a:off x="8083296" y="2761302"/>
              <a:ext cx="3520439" cy="183255"/>
            </a:xfrm>
            <a:prstGeom prst="rect">
              <a:avLst/>
            </a:prstGeom>
            <a:noFill/>
          </p:spPr>
          <p:txBody>
            <a:bodyPr wrap="square" lIns="0" tIns="0" rIns="0" bIns="0" anchor="ctr">
              <a:spAutoFit/>
            </a:bodyPr>
            <a:lstStyle/>
            <a:p>
              <a:pPr algn="ctr">
                <a:lnSpc>
                  <a:spcPct val="115000"/>
                </a:lnSpc>
                <a:spcAft>
                  <a:spcPts val="0"/>
                </a:spcAft>
              </a:pPr>
              <a:r>
                <a:rPr sz="1100" b="0" dirty="0">
                  <a:solidFill>
                    <a:srgbClr val="4B5563"/>
                  </a:solidFill>
                  <a:latin typeface="Inter"/>
                </a:rPr>
                <a:t>CSAT %, star</a:t>
              </a:r>
              <a:r>
                <a:rPr lang="es-MX" sz="1100" b="0" dirty="0">
                  <a:solidFill>
                    <a:srgbClr val="4B5563"/>
                  </a:solidFill>
                  <a:latin typeface="Inter"/>
                </a:rPr>
                <a:t> rating</a:t>
              </a:r>
              <a:r>
                <a:rPr sz="1100" b="0" dirty="0">
                  <a:solidFill>
                    <a:srgbClr val="4B5563"/>
                  </a:solidFill>
                  <a:latin typeface="Inter"/>
                </a:rPr>
                <a:t> mix, verbatim comments</a:t>
              </a:r>
            </a:p>
          </p:txBody>
        </p:sp>
        <p:sp>
          <p:nvSpPr>
            <p:cNvPr id="35" name="Rectangle 34"/>
            <p:cNvSpPr/>
            <p:nvPr/>
          </p:nvSpPr>
          <p:spPr>
            <a:xfrm>
              <a:off x="457200" y="3085909"/>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6" name="Rectangle 35"/>
            <p:cNvSpPr/>
            <p:nvPr/>
          </p:nvSpPr>
          <p:spPr>
            <a:xfrm>
              <a:off x="457200" y="3090672"/>
              <a:ext cx="11274552" cy="47548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7" name="TextBox 36"/>
            <p:cNvSpPr txBox="1"/>
            <p:nvPr/>
          </p:nvSpPr>
          <p:spPr>
            <a:xfrm>
              <a:off x="585216" y="3236790"/>
              <a:ext cx="1618487" cy="183255"/>
            </a:xfrm>
            <a:prstGeom prst="rect">
              <a:avLst/>
            </a:prstGeom>
            <a:noFill/>
          </p:spPr>
          <p:txBody>
            <a:bodyPr wrap="square" lIns="0" tIns="0" rIns="0" bIns="0" anchor="ctr">
              <a:spAutoFit/>
            </a:bodyPr>
            <a:lstStyle/>
            <a:p>
              <a:pPr algn="ctr">
                <a:lnSpc>
                  <a:spcPct val="115000"/>
                </a:lnSpc>
                <a:spcAft>
                  <a:spcPts val="0"/>
                </a:spcAft>
              </a:pPr>
              <a:r>
                <a:rPr sz="1100" b="1">
                  <a:solidFill>
                    <a:srgbClr val="4B5563"/>
                  </a:solidFill>
                  <a:latin typeface="Inter"/>
                </a:rPr>
                <a:t>Recontact</a:t>
              </a:r>
            </a:p>
          </p:txBody>
        </p:sp>
        <p:sp>
          <p:nvSpPr>
            <p:cNvPr id="38" name="TextBox 37"/>
            <p:cNvSpPr txBox="1"/>
            <p:nvPr/>
          </p:nvSpPr>
          <p:spPr>
            <a:xfrm>
              <a:off x="2459736" y="3236790"/>
              <a:ext cx="271576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One contact-reason / channel / day</a:t>
              </a:r>
            </a:p>
          </p:txBody>
        </p:sp>
        <p:sp>
          <p:nvSpPr>
            <p:cNvPr id="39" name="TextBox 38"/>
            <p:cNvSpPr txBox="1"/>
            <p:nvPr/>
          </p:nvSpPr>
          <p:spPr>
            <a:xfrm>
              <a:off x="5431536" y="3236790"/>
              <a:ext cx="97840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994,591</a:t>
              </a:r>
            </a:p>
          </p:txBody>
        </p:sp>
        <p:sp>
          <p:nvSpPr>
            <p:cNvPr id="40" name="TextBox 39"/>
            <p:cNvSpPr txBox="1"/>
            <p:nvPr/>
          </p:nvSpPr>
          <p:spPr>
            <a:xfrm>
              <a:off x="6665976" y="3236790"/>
              <a:ext cx="1161288"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1–31 May</a:t>
              </a:r>
            </a:p>
          </p:txBody>
        </p:sp>
        <p:sp>
          <p:nvSpPr>
            <p:cNvPr id="41" name="TextBox 40"/>
            <p:cNvSpPr txBox="1"/>
            <p:nvPr/>
          </p:nvSpPr>
          <p:spPr>
            <a:xfrm>
              <a:off x="8083296" y="3236790"/>
              <a:ext cx="3520439" cy="183255"/>
            </a:xfrm>
            <a:prstGeom prst="rect">
              <a:avLst/>
            </a:prstGeom>
            <a:noFill/>
          </p:spPr>
          <p:txBody>
            <a:bodyPr wrap="square" lIns="0" tIns="0" rIns="0" bIns="0" anchor="ctr">
              <a:spAutoFit/>
            </a:bodyPr>
            <a:lstStyle/>
            <a:p>
              <a:pPr algn="ctr">
                <a:lnSpc>
                  <a:spcPct val="115000"/>
                </a:lnSpc>
                <a:spcAft>
                  <a:spcPts val="0"/>
                </a:spcAft>
              </a:pPr>
              <a:r>
                <a:rPr sz="1100" b="0">
                  <a:solidFill>
                    <a:srgbClr val="4B5563"/>
                  </a:solidFill>
                  <a:latin typeface="Inter"/>
                </a:rPr>
                <a:t>Recontact rate, repeat volume by reason</a:t>
              </a:r>
            </a:p>
          </p:txBody>
        </p:sp>
        <p:sp>
          <p:nvSpPr>
            <p:cNvPr id="42" name="Rectangle 41"/>
            <p:cNvSpPr/>
            <p:nvPr/>
          </p:nvSpPr>
          <p:spPr>
            <a:xfrm>
              <a:off x="457200" y="3561397"/>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grpSp>
      <p:sp>
        <p:nvSpPr>
          <p:cNvPr id="43" name="TextBox 42"/>
          <p:cNvSpPr txBox="1"/>
          <p:nvPr/>
        </p:nvSpPr>
        <p:spPr>
          <a:xfrm>
            <a:off x="457200" y="3840480"/>
            <a:ext cx="5394960" cy="237744"/>
          </a:xfrm>
          <a:prstGeom prst="rect">
            <a:avLst/>
          </a:prstGeom>
          <a:noFill/>
        </p:spPr>
        <p:txBody>
          <a:bodyPr wrap="square" lIns="0" tIns="0" rIns="0" bIns="0" anchor="t">
            <a:spAutoFit/>
          </a:bodyPr>
          <a:lstStyle/>
          <a:p>
            <a:pPr algn="l">
              <a:lnSpc>
                <a:spcPct val="115000"/>
              </a:lnSpc>
              <a:spcAft>
                <a:spcPts val="0"/>
              </a:spcAft>
            </a:pPr>
            <a:r>
              <a:rPr sz="1100" b="1" dirty="0">
                <a:solidFill>
                  <a:srgbClr val="1A1A1A"/>
                </a:solidFill>
                <a:latin typeface="Inter"/>
              </a:rPr>
              <a:t>How we treated the data</a:t>
            </a:r>
          </a:p>
        </p:txBody>
      </p:sp>
      <p:sp>
        <p:nvSpPr>
          <p:cNvPr id="44" name="Rectangle 43"/>
          <p:cNvSpPr/>
          <p:nvPr/>
        </p:nvSpPr>
        <p:spPr>
          <a:xfrm>
            <a:off x="441960" y="4231915"/>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94944" y="4160520"/>
            <a:ext cx="5157216" cy="378565"/>
          </a:xfrm>
          <a:prstGeom prst="rect">
            <a:avLst/>
          </a:prstGeom>
          <a:noFill/>
        </p:spPr>
        <p:txBody>
          <a:bodyPr wrap="square" lIns="0" tIns="0" rIns="0" bIns="0" anchor="t">
            <a:spAutoFit/>
          </a:bodyPr>
          <a:lstStyle/>
          <a:p>
            <a:pPr algn="l">
              <a:lnSpc>
                <a:spcPct val="128000"/>
              </a:lnSpc>
              <a:spcAft>
                <a:spcPts val="0"/>
              </a:spcAft>
            </a:pPr>
            <a:r>
              <a:rPr lang="en-US" sz="1000" b="1" dirty="0"/>
              <a:t>N/A Logic Exclusions:</a:t>
            </a:r>
            <a:r>
              <a:rPr lang="en-US" sz="1000" dirty="0"/>
              <a:t> Non-applicable attributes (Value 2) are dropped from both numerator and denominator calculations.</a:t>
            </a:r>
            <a:endParaRPr sz="950" b="0" dirty="0">
              <a:solidFill>
                <a:srgbClr val="4B5563"/>
              </a:solidFill>
              <a:latin typeface="Inter"/>
            </a:endParaRPr>
          </a:p>
        </p:txBody>
      </p:sp>
      <p:sp>
        <p:nvSpPr>
          <p:cNvPr id="46" name="Rectangle 45"/>
          <p:cNvSpPr/>
          <p:nvPr/>
        </p:nvSpPr>
        <p:spPr>
          <a:xfrm>
            <a:off x="443484" y="470458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81228" y="4608576"/>
            <a:ext cx="5157216" cy="181588"/>
          </a:xfrm>
          <a:prstGeom prst="rect">
            <a:avLst/>
          </a:prstGeom>
          <a:noFill/>
        </p:spPr>
        <p:txBody>
          <a:bodyPr wrap="square" lIns="0" tIns="0" rIns="0" bIns="0" anchor="t">
            <a:spAutoFit/>
          </a:bodyPr>
          <a:lstStyle/>
          <a:p>
            <a:pPr algn="l">
              <a:lnSpc>
                <a:spcPct val="128000"/>
              </a:lnSpc>
              <a:spcAft>
                <a:spcPts val="0"/>
              </a:spcAft>
            </a:pPr>
            <a:r>
              <a:rPr lang="en-US" sz="1000" b="1" dirty="0"/>
              <a:t>Critical Zeroing Penalty:</a:t>
            </a:r>
            <a:r>
              <a:rPr lang="en-US" sz="1000" dirty="0"/>
              <a:t> A single Critical Attribute failure instantly drops the total audit score to 0%.</a:t>
            </a:r>
            <a:endParaRPr sz="950" b="0" dirty="0">
              <a:solidFill>
                <a:srgbClr val="4B5563"/>
              </a:solidFill>
              <a:latin typeface="Inter"/>
            </a:endParaRPr>
          </a:p>
        </p:txBody>
      </p:sp>
      <p:sp>
        <p:nvSpPr>
          <p:cNvPr id="48" name="Rectangle 47"/>
          <p:cNvSpPr/>
          <p:nvPr/>
        </p:nvSpPr>
        <p:spPr>
          <a:xfrm>
            <a:off x="443484" y="499719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81228" y="4901184"/>
            <a:ext cx="5157216" cy="378565"/>
          </a:xfrm>
          <a:prstGeom prst="rect">
            <a:avLst/>
          </a:prstGeom>
          <a:noFill/>
        </p:spPr>
        <p:txBody>
          <a:bodyPr wrap="square" lIns="0" tIns="0" rIns="0" bIns="0" anchor="t">
            <a:spAutoFit/>
          </a:bodyPr>
          <a:lstStyle/>
          <a:p>
            <a:pPr algn="l">
              <a:lnSpc>
                <a:spcPct val="128000"/>
              </a:lnSpc>
              <a:spcAft>
                <a:spcPts val="0"/>
              </a:spcAft>
            </a:pPr>
            <a:r>
              <a:rPr lang="en-US" sz="1000" b="1" dirty="0">
                <a:effectLst/>
                <a:latin typeface="Calibri" panose="020F0502020204030204" pitchFamily="34" charset="0"/>
                <a:ea typeface="Calibri" panose="020F0502020204030204" pitchFamily="34" charset="0"/>
                <a:cs typeface="Times New Roman" panose="02020603050405020304" pitchFamily="18" charset="0"/>
              </a:rPr>
              <a:t>Rubric Independence:</a:t>
            </a:r>
            <a:r>
              <a:rPr lang="en-US" sz="1000" dirty="0">
                <a:effectLst/>
                <a:latin typeface="Calibri" panose="020F0502020204030204" pitchFamily="34" charset="0"/>
                <a:ea typeface="Calibri" panose="020F0502020204030204" pitchFamily="34" charset="0"/>
                <a:cs typeface="Times New Roman" panose="02020603050405020304" pitchFamily="18" charset="0"/>
              </a:rPr>
              <a:t> Phone (12 attributes) and Live Chat (8 attributes) are evaluated using isolated frameworks; official QA ignores resolution dropdown tags.</a:t>
            </a:r>
            <a:endParaRPr lang="en-US" sz="950" b="0" dirty="0">
              <a:solidFill>
                <a:srgbClr val="4B5563"/>
              </a:solidFill>
              <a:latin typeface="Inter"/>
            </a:endParaRPr>
          </a:p>
        </p:txBody>
      </p:sp>
      <p:sp>
        <p:nvSpPr>
          <p:cNvPr id="50" name="Rectangle 49"/>
          <p:cNvSpPr/>
          <p:nvPr/>
        </p:nvSpPr>
        <p:spPr>
          <a:xfrm>
            <a:off x="451104" y="550849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81228" y="5339367"/>
            <a:ext cx="5157216" cy="378565"/>
          </a:xfrm>
          <a:prstGeom prst="rect">
            <a:avLst/>
          </a:prstGeom>
          <a:noFill/>
        </p:spPr>
        <p:txBody>
          <a:bodyPr wrap="square" lIns="0" tIns="0" rIns="0" bIns="0" anchor="t">
            <a:spAutoFit/>
          </a:bodyPr>
          <a:lstStyle/>
          <a:p>
            <a:pPr algn="l">
              <a:lnSpc>
                <a:spcPct val="128000"/>
              </a:lnSpc>
              <a:spcAft>
                <a:spcPts val="0"/>
              </a:spcAft>
            </a:pPr>
            <a:r>
              <a:rPr lang="en-US" sz="1000" b="1" dirty="0"/>
              <a:t>True Weighted Aggregation:</a:t>
            </a:r>
            <a:r>
              <a:rPr lang="en-US" sz="1000" dirty="0"/>
              <a:t> CSAT and Recontact rates are computed as weighted monthly ratios rather than unweighted averages of daily metrics.</a:t>
            </a:r>
            <a:endParaRPr sz="950" b="0" dirty="0">
              <a:solidFill>
                <a:srgbClr val="4B5563"/>
              </a:solidFill>
              <a:latin typeface="Inter"/>
            </a:endParaRPr>
          </a:p>
        </p:txBody>
      </p:sp>
      <p:sp>
        <p:nvSpPr>
          <p:cNvPr id="52" name="Rectangle 51"/>
          <p:cNvSpPr/>
          <p:nvPr/>
        </p:nvSpPr>
        <p:spPr>
          <a:xfrm>
            <a:off x="443484" y="5913615"/>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44652" y="5827779"/>
            <a:ext cx="5157216" cy="378565"/>
          </a:xfrm>
          <a:prstGeom prst="rect">
            <a:avLst/>
          </a:prstGeom>
          <a:noFill/>
        </p:spPr>
        <p:txBody>
          <a:bodyPr wrap="square" lIns="0" tIns="0" rIns="0" bIns="0" anchor="t">
            <a:spAutoFit/>
          </a:bodyPr>
          <a:lstStyle/>
          <a:p>
            <a:pPr algn="l">
              <a:lnSpc>
                <a:spcPct val="128000"/>
              </a:lnSpc>
              <a:spcAft>
                <a:spcPts val="0"/>
              </a:spcAft>
            </a:pPr>
            <a:r>
              <a:rPr lang="en-US" sz="1000" b="1" dirty="0"/>
              <a:t>Statistical Cutoff:</a:t>
            </a:r>
            <a:r>
              <a:rPr lang="en-US" sz="1000" dirty="0"/>
              <a:t> Agents with under 5 monthly audits are filtered out of individual agent rankings to eliminate low-sample variance.</a:t>
            </a:r>
            <a:endParaRPr lang="en-US" sz="950" b="0" dirty="0">
              <a:solidFill>
                <a:srgbClr val="4B5563"/>
              </a:solidFill>
              <a:latin typeface="Inter"/>
            </a:endParaRPr>
          </a:p>
        </p:txBody>
      </p:sp>
      <p:sp>
        <p:nvSpPr>
          <p:cNvPr id="54" name="TextBox 53"/>
          <p:cNvSpPr txBox="1"/>
          <p:nvPr/>
        </p:nvSpPr>
        <p:spPr>
          <a:xfrm>
            <a:off x="6275527" y="3817620"/>
            <a:ext cx="5431536" cy="183255"/>
          </a:xfrm>
          <a:prstGeom prst="rect">
            <a:avLst/>
          </a:prstGeom>
          <a:noFill/>
        </p:spPr>
        <p:txBody>
          <a:bodyPr wrap="square" lIns="0" tIns="0" rIns="0" bIns="0" anchor="t">
            <a:spAutoFit/>
          </a:bodyPr>
          <a:lstStyle/>
          <a:p>
            <a:pPr algn="l">
              <a:lnSpc>
                <a:spcPct val="115000"/>
              </a:lnSpc>
              <a:spcAft>
                <a:spcPts val="0"/>
              </a:spcAft>
            </a:pPr>
            <a:r>
              <a:rPr lang="es-CO" sz="1100" b="1" dirty="0" err="1"/>
              <a:t>Scope</a:t>
            </a:r>
            <a:r>
              <a:rPr lang="es-CO" sz="1100" b="1" dirty="0"/>
              <a:t> &amp; </a:t>
            </a:r>
            <a:r>
              <a:rPr lang="es-CO" sz="1100" b="1" dirty="0" err="1"/>
              <a:t>Limitations</a:t>
            </a:r>
            <a:endParaRPr sz="1100" b="1" dirty="0">
              <a:solidFill>
                <a:srgbClr val="1A1A1A"/>
              </a:solidFill>
              <a:latin typeface="Inter"/>
            </a:endParaRPr>
          </a:p>
        </p:txBody>
      </p:sp>
      <p:sp>
        <p:nvSpPr>
          <p:cNvPr id="55" name="Rectangle 54"/>
          <p:cNvSpPr/>
          <p:nvPr/>
        </p:nvSpPr>
        <p:spPr>
          <a:xfrm>
            <a:off x="6292596" y="416424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530340" y="4068235"/>
            <a:ext cx="5193792" cy="378565"/>
          </a:xfrm>
          <a:prstGeom prst="rect">
            <a:avLst/>
          </a:prstGeom>
          <a:noFill/>
        </p:spPr>
        <p:txBody>
          <a:bodyPr wrap="square" lIns="0" tIns="0" rIns="0" bIns="0" anchor="t">
            <a:spAutoFit/>
          </a:bodyPr>
          <a:lstStyle/>
          <a:p>
            <a:pPr algn="l">
              <a:lnSpc>
                <a:spcPct val="128000"/>
              </a:lnSpc>
              <a:spcAft>
                <a:spcPts val="0"/>
              </a:spcAft>
            </a:pPr>
            <a:r>
              <a:rPr lang="en-US" sz="1000" b="1" dirty="0"/>
              <a:t>LOB Restriction:</a:t>
            </a:r>
            <a:r>
              <a:rPr lang="en-US" sz="1000" dirty="0"/>
              <a:t> Scope is strictly limited to the </a:t>
            </a:r>
            <a:r>
              <a:rPr lang="en-US" sz="1000" b="1" dirty="0"/>
              <a:t>Delivery</a:t>
            </a:r>
            <a:r>
              <a:rPr lang="en-US" sz="1000" dirty="0"/>
              <a:t> line of business (LOB cuts collapse into Business Type).</a:t>
            </a:r>
            <a:endParaRPr sz="950" b="0" dirty="0">
              <a:solidFill>
                <a:srgbClr val="4B5563"/>
              </a:solidFill>
              <a:latin typeface="Inter"/>
            </a:endParaRPr>
          </a:p>
        </p:txBody>
      </p:sp>
      <p:sp>
        <p:nvSpPr>
          <p:cNvPr id="57" name="Rectangle 56"/>
          <p:cNvSpPr/>
          <p:nvPr/>
        </p:nvSpPr>
        <p:spPr>
          <a:xfrm>
            <a:off x="6300216" y="466411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537960" y="4568104"/>
            <a:ext cx="5193792" cy="378565"/>
          </a:xfrm>
          <a:prstGeom prst="rect">
            <a:avLst/>
          </a:prstGeom>
          <a:noFill/>
        </p:spPr>
        <p:txBody>
          <a:bodyPr wrap="square" lIns="0" tIns="0" rIns="0" bIns="0" anchor="t">
            <a:spAutoFit/>
          </a:bodyPr>
          <a:lstStyle/>
          <a:p>
            <a:pPr algn="l">
              <a:lnSpc>
                <a:spcPct val="128000"/>
              </a:lnSpc>
              <a:spcAft>
                <a:spcPts val="0"/>
              </a:spcAft>
            </a:pPr>
            <a:r>
              <a:rPr lang="en-US" sz="1000" b="1" dirty="0"/>
              <a:t>Sampling Asymmetry:</a:t>
            </a:r>
            <a:r>
              <a:rPr lang="en-US" sz="1000" dirty="0"/>
              <a:t> Audit distribution is heavily skewed toward Live Chat (85.6%) versus Phone (14.4%), under-sampling voice channels.</a:t>
            </a:r>
            <a:endParaRPr sz="950" b="0" dirty="0">
              <a:solidFill>
                <a:srgbClr val="4B5563"/>
              </a:solidFill>
              <a:latin typeface="Inter"/>
            </a:endParaRPr>
          </a:p>
        </p:txBody>
      </p:sp>
      <p:sp>
        <p:nvSpPr>
          <p:cNvPr id="59" name="Rectangle 58"/>
          <p:cNvSpPr/>
          <p:nvPr/>
        </p:nvSpPr>
        <p:spPr>
          <a:xfrm>
            <a:off x="6300216" y="518669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537960" y="5090679"/>
            <a:ext cx="5193792" cy="378565"/>
          </a:xfrm>
          <a:prstGeom prst="rect">
            <a:avLst/>
          </a:prstGeom>
          <a:noFill/>
        </p:spPr>
        <p:txBody>
          <a:bodyPr wrap="square" lIns="0" tIns="0" rIns="0" bIns="0" anchor="t">
            <a:spAutoFit/>
          </a:bodyPr>
          <a:lstStyle/>
          <a:p>
            <a:pPr algn="l">
              <a:lnSpc>
                <a:spcPct val="128000"/>
              </a:lnSpc>
              <a:spcAft>
                <a:spcPts val="0"/>
              </a:spcAft>
            </a:pPr>
            <a:r>
              <a:rPr lang="en-US" sz="1000" b="1" dirty="0"/>
              <a:t>Channel Audit Coverage:</a:t>
            </a:r>
            <a:r>
              <a:rPr lang="en-US" sz="1000" dirty="0"/>
              <a:t> Recontact spans 12 operational channels, whereas QA auditing only covers Live Chat and Phone.</a:t>
            </a:r>
            <a:endParaRPr sz="950" b="0" dirty="0">
              <a:solidFill>
                <a:srgbClr val="4B5563"/>
              </a:solidFill>
              <a:latin typeface="Inter"/>
            </a:endParaRPr>
          </a:p>
        </p:txBody>
      </p:sp>
      <p:sp>
        <p:nvSpPr>
          <p:cNvPr id="61" name="Rectangle 60"/>
          <p:cNvSpPr/>
          <p:nvPr/>
        </p:nvSpPr>
        <p:spPr>
          <a:xfrm>
            <a:off x="6300216" y="573172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537960" y="5635708"/>
            <a:ext cx="5193792" cy="307777"/>
          </a:xfrm>
          <a:prstGeom prst="rect">
            <a:avLst/>
          </a:prstGeom>
          <a:noFill/>
        </p:spPr>
        <p:txBody>
          <a:bodyPr wrap="square" lIns="0" tIns="0" rIns="0" bIns="0" anchor="t">
            <a:spAutoFit/>
          </a:bodyPr>
          <a:lstStyle/>
          <a:p>
            <a:pPr marL="0" marR="0"/>
            <a:r>
              <a:rPr lang="en-US" sz="1000" b="1" dirty="0">
                <a:effectLst/>
                <a:ea typeface="Times New Roman" panose="02020603050405020304" pitchFamily="18" charset="0"/>
              </a:rPr>
              <a:t>Metric Cross-Analysis:</a:t>
            </a:r>
            <a:r>
              <a:rPr lang="en-US" sz="1000" dirty="0">
                <a:effectLst/>
                <a:ea typeface="Times New Roman" panose="02020603050405020304" pitchFamily="18" charset="0"/>
              </a:rPr>
              <a:t> QA and CSAT correlations are calculated exclusively across the </a:t>
            </a:r>
            <a:r>
              <a:rPr lang="en-US" sz="1000" b="1" dirty="0">
                <a:effectLst/>
                <a:ea typeface="Times New Roman" panose="02020603050405020304" pitchFamily="18" charset="0"/>
              </a:rPr>
              <a:t>45 shared contact reasons</a:t>
            </a:r>
            <a:r>
              <a:rPr lang="en-US" sz="1000" dirty="0">
                <a:effectLst/>
                <a:ea typeface="Times New Roman" panose="02020603050405020304" pitchFamily="18" charset="0"/>
              </a:rPr>
              <a:t> present in both datasets.</a:t>
            </a:r>
            <a:endParaRPr lang="es-CO" sz="1000" dirty="0">
              <a:effectLst/>
              <a:ea typeface="Times New Roman" panose="02020603050405020304" pitchFamily="18" charset="0"/>
            </a:endParaRPr>
          </a:p>
        </p:txBody>
      </p:sp>
      <p:sp>
        <p:nvSpPr>
          <p:cNvPr id="63" name="Rectangle 62"/>
          <p:cNvSpPr/>
          <p:nvPr/>
        </p:nvSpPr>
        <p:spPr>
          <a:xfrm>
            <a:off x="6300216" y="617661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537960" y="6021810"/>
            <a:ext cx="5193792" cy="378565"/>
          </a:xfrm>
          <a:prstGeom prst="rect">
            <a:avLst/>
          </a:prstGeom>
          <a:noFill/>
        </p:spPr>
        <p:txBody>
          <a:bodyPr wrap="square" lIns="0" tIns="0" rIns="0" bIns="0" anchor="t">
            <a:spAutoFit/>
          </a:bodyPr>
          <a:lstStyle/>
          <a:p>
            <a:pPr algn="l">
              <a:lnSpc>
                <a:spcPct val="128000"/>
              </a:lnSpc>
              <a:spcAft>
                <a:spcPts val="0"/>
              </a:spcAft>
            </a:pPr>
            <a:r>
              <a:rPr lang="en-US" sz="1000" b="1" dirty="0"/>
              <a:t>Timeframe Alignment:</a:t>
            </a:r>
            <a:r>
              <a:rPr lang="en-US" sz="1000" dirty="0"/>
              <a:t> CSAT and Recontact cover the full calendar month (May 1–31), while QA audits span May 4–29 (starting W19).</a:t>
            </a:r>
            <a:endParaRPr sz="950" b="0" dirty="0">
              <a:solidFill>
                <a:srgbClr val="4B5563"/>
              </a:solidFill>
              <a:latin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Executive summary</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Monthly operational KPI scorecard and diagnostic summary.</a:t>
            </a:r>
            <a:endParaRPr lang="es-CO" sz="950" b="0" dirty="0">
              <a:solidFill>
                <a:srgbClr val="9CA3AF"/>
              </a:solidFill>
              <a:latin typeface="Inter"/>
            </a:endParaRP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03</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ounded Rectangle 10"/>
          <p:cNvSpPr/>
          <p:nvPr/>
        </p:nvSpPr>
        <p:spPr>
          <a:xfrm>
            <a:off x="457200" y="1207008"/>
            <a:ext cx="2471928" cy="1572768"/>
          </a:xfrm>
          <a:prstGeom prst="roundRect">
            <a:avLst>
              <a:gd name="adj" fmla="val 5813"/>
            </a:avLst>
          </a:prstGeom>
          <a:solidFill>
            <a:srgbClr val="FFFFFF"/>
          </a:solid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371600"/>
            <a:ext cx="1648968" cy="201168"/>
          </a:xfrm>
          <a:prstGeom prst="rect">
            <a:avLst/>
          </a:prstGeom>
          <a:noFill/>
        </p:spPr>
        <p:txBody>
          <a:bodyPr wrap="square" lIns="0" tIns="0" rIns="0" bIns="0" anchor="t">
            <a:spAutoFit/>
          </a:bodyPr>
          <a:lstStyle/>
          <a:p>
            <a:pPr algn="l">
              <a:lnSpc>
                <a:spcPct val="115000"/>
              </a:lnSpc>
              <a:spcAft>
                <a:spcPts val="0"/>
              </a:spcAft>
            </a:pPr>
            <a:r>
              <a:rPr sz="900" b="0">
                <a:solidFill>
                  <a:srgbClr val="6B7280"/>
                </a:solidFill>
                <a:latin typeface="Inter"/>
              </a:rPr>
              <a:t>QA SCORE</a:t>
            </a:r>
          </a:p>
        </p:txBody>
      </p:sp>
      <p:sp>
        <p:nvSpPr>
          <p:cNvPr id="13" name="Oval 12"/>
          <p:cNvSpPr/>
          <p:nvPr/>
        </p:nvSpPr>
        <p:spPr>
          <a:xfrm>
            <a:off x="2417064" y="1325880"/>
            <a:ext cx="292608" cy="292608"/>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rot="18900000">
            <a:off x="2525328" y="1438259"/>
            <a:ext cx="134599" cy="5029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rot="2700000">
            <a:off x="2493142" y="1473372"/>
            <a:ext cx="76078" cy="5029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1609344"/>
            <a:ext cx="2106168" cy="548640"/>
          </a:xfrm>
          <a:prstGeom prst="rect">
            <a:avLst/>
          </a:prstGeom>
          <a:noFill/>
        </p:spPr>
        <p:txBody>
          <a:bodyPr wrap="square" lIns="0" tIns="0" rIns="0" bIns="0" anchor="t">
            <a:spAutoFit/>
          </a:bodyPr>
          <a:lstStyle/>
          <a:p>
            <a:pPr algn="l">
              <a:lnSpc>
                <a:spcPct val="115000"/>
              </a:lnSpc>
              <a:spcAft>
                <a:spcPts val="0"/>
              </a:spcAft>
            </a:pPr>
            <a:r>
              <a:rPr sz="2700" b="1">
                <a:solidFill>
                  <a:srgbClr val="1A1A1A"/>
                </a:solidFill>
                <a:latin typeface="Inter"/>
              </a:rPr>
              <a:t>94.14</a:t>
            </a:r>
          </a:p>
        </p:txBody>
      </p:sp>
      <p:sp>
        <p:nvSpPr>
          <p:cNvPr id="17" name="Isosceles Triangle 16"/>
          <p:cNvSpPr/>
          <p:nvPr/>
        </p:nvSpPr>
        <p:spPr>
          <a:xfrm>
            <a:off x="653796" y="2080260"/>
            <a:ext cx="100584" cy="100584"/>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2029968"/>
            <a:ext cx="1923288" cy="237744"/>
          </a:xfrm>
          <a:prstGeom prst="rect">
            <a:avLst/>
          </a:prstGeom>
          <a:noFill/>
        </p:spPr>
        <p:txBody>
          <a:bodyPr wrap="square" lIns="0" tIns="0" rIns="0" bIns="0" anchor="t">
            <a:spAutoFit/>
          </a:bodyPr>
          <a:lstStyle/>
          <a:p>
            <a:pPr algn="l">
              <a:lnSpc>
                <a:spcPct val="115000"/>
              </a:lnSpc>
              <a:spcAft>
                <a:spcPts val="0"/>
              </a:spcAft>
            </a:pPr>
            <a:r>
              <a:rPr sz="950" b="0">
                <a:solidFill>
                  <a:srgbClr val="6B7280"/>
                </a:solidFill>
                <a:latin typeface="Inter"/>
              </a:rPr>
              <a:t>+9.14 pp vs 85 goal</a:t>
            </a:r>
          </a:p>
        </p:txBody>
      </p:sp>
      <p:sp>
        <p:nvSpPr>
          <p:cNvPr id="19" name="Rounded Rectangle 18"/>
          <p:cNvSpPr/>
          <p:nvPr/>
        </p:nvSpPr>
        <p:spPr>
          <a:xfrm>
            <a:off x="640080" y="2441448"/>
            <a:ext cx="853912"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49808" y="2528315"/>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2441448"/>
            <a:ext cx="543016" cy="274320"/>
          </a:xfrm>
          <a:prstGeom prst="rect">
            <a:avLst/>
          </a:prstGeom>
          <a:noFill/>
        </p:spPr>
        <p:txBody>
          <a:bodyPr wrap="square" lIns="0" tIns="0" rIns="0" bIns="0" anchor="ctr">
            <a:spAutoFit/>
          </a:bodyPr>
          <a:lstStyle/>
          <a:p>
            <a:pPr algn="l">
              <a:lnSpc>
                <a:spcPct val="115000"/>
              </a:lnSpc>
              <a:spcAft>
                <a:spcPts val="0"/>
              </a:spcAft>
            </a:pPr>
            <a:r>
              <a:rPr sz="850" b="1">
                <a:solidFill>
                  <a:srgbClr val="16A34A"/>
                </a:solidFill>
                <a:latin typeface="Inter"/>
              </a:rPr>
              <a:t>On goal</a:t>
            </a:r>
          </a:p>
        </p:txBody>
      </p:sp>
      <p:sp>
        <p:nvSpPr>
          <p:cNvPr id="22" name="Rounded Rectangle 21"/>
          <p:cNvSpPr/>
          <p:nvPr/>
        </p:nvSpPr>
        <p:spPr>
          <a:xfrm>
            <a:off x="3130296" y="1207008"/>
            <a:ext cx="2471928" cy="1572768"/>
          </a:xfrm>
          <a:prstGeom prst="roundRect">
            <a:avLst>
              <a:gd name="adj" fmla="val 5813"/>
            </a:avLst>
          </a:prstGeom>
          <a:solidFill>
            <a:srgbClr val="FFFFFF"/>
          </a:solidFill>
          <a:ln w="15875">
            <a:solidFill>
              <a:srgbClr val="E11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331464" y="1371600"/>
            <a:ext cx="1648968" cy="201168"/>
          </a:xfrm>
          <a:prstGeom prst="rect">
            <a:avLst/>
          </a:prstGeom>
          <a:noFill/>
        </p:spPr>
        <p:txBody>
          <a:bodyPr wrap="square" lIns="0" tIns="0" rIns="0" bIns="0" anchor="t">
            <a:spAutoFit/>
          </a:bodyPr>
          <a:lstStyle/>
          <a:p>
            <a:pPr algn="l">
              <a:lnSpc>
                <a:spcPct val="115000"/>
              </a:lnSpc>
              <a:spcAft>
                <a:spcPts val="0"/>
              </a:spcAft>
            </a:pPr>
            <a:r>
              <a:rPr sz="900" b="0">
                <a:solidFill>
                  <a:srgbClr val="6B7280"/>
                </a:solidFill>
                <a:latin typeface="Inter"/>
              </a:rPr>
              <a:t>CSAT (BLENDED)</a:t>
            </a:r>
          </a:p>
        </p:txBody>
      </p:sp>
      <p:sp>
        <p:nvSpPr>
          <p:cNvPr id="24" name="Oval 23"/>
          <p:cNvSpPr/>
          <p:nvPr/>
        </p:nvSpPr>
        <p:spPr>
          <a:xfrm>
            <a:off x="5090160" y="1325880"/>
            <a:ext cx="292608" cy="292608"/>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wn Arrow 24"/>
          <p:cNvSpPr/>
          <p:nvPr/>
        </p:nvSpPr>
        <p:spPr>
          <a:xfrm>
            <a:off x="5177942" y="1393179"/>
            <a:ext cx="117043" cy="158008"/>
          </a:xfrm>
          <a:prstGeom prst="downArrow">
            <a:avLst>
              <a:gd name="adj1" fmla="val 42000"/>
              <a:gd name="adj2" fmla="val 4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313176" y="1609344"/>
            <a:ext cx="2106168" cy="548640"/>
          </a:xfrm>
          <a:prstGeom prst="rect">
            <a:avLst/>
          </a:prstGeom>
          <a:noFill/>
        </p:spPr>
        <p:txBody>
          <a:bodyPr wrap="square" lIns="0" tIns="0" rIns="0" bIns="0" anchor="t">
            <a:spAutoFit/>
          </a:bodyPr>
          <a:lstStyle/>
          <a:p>
            <a:pPr algn="l">
              <a:lnSpc>
                <a:spcPct val="115000"/>
              </a:lnSpc>
              <a:spcAft>
                <a:spcPts val="0"/>
              </a:spcAft>
            </a:pPr>
            <a:r>
              <a:rPr sz="2700" b="1">
                <a:solidFill>
                  <a:srgbClr val="1A1A1A"/>
                </a:solidFill>
                <a:latin typeface="Inter"/>
              </a:rPr>
              <a:t>79.95%</a:t>
            </a:r>
          </a:p>
        </p:txBody>
      </p:sp>
      <p:sp>
        <p:nvSpPr>
          <p:cNvPr id="27" name="Isosceles Triangle 26"/>
          <p:cNvSpPr/>
          <p:nvPr/>
        </p:nvSpPr>
        <p:spPr>
          <a:xfrm rot="10800000">
            <a:off x="3326892" y="2080260"/>
            <a:ext cx="100584" cy="100584"/>
          </a:xfrm>
          <a:prstGeom prst="triangl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496056" y="2029968"/>
            <a:ext cx="1923288" cy="237744"/>
          </a:xfrm>
          <a:prstGeom prst="rect">
            <a:avLst/>
          </a:prstGeom>
          <a:noFill/>
        </p:spPr>
        <p:txBody>
          <a:bodyPr wrap="square" lIns="0" tIns="0" rIns="0" bIns="0" anchor="t">
            <a:spAutoFit/>
          </a:bodyPr>
          <a:lstStyle/>
          <a:p>
            <a:pPr algn="l">
              <a:lnSpc>
                <a:spcPct val="115000"/>
              </a:lnSpc>
              <a:spcAft>
                <a:spcPts val="0"/>
              </a:spcAft>
            </a:pPr>
            <a:r>
              <a:rPr sz="950" b="0">
                <a:solidFill>
                  <a:srgbClr val="6B7280"/>
                </a:solidFill>
                <a:latin typeface="Inter"/>
              </a:rPr>
              <a:t>-5.05 pp vs 85% goal</a:t>
            </a:r>
          </a:p>
        </p:txBody>
      </p:sp>
      <p:sp>
        <p:nvSpPr>
          <p:cNvPr id="29" name="Rounded Rectangle 28"/>
          <p:cNvSpPr/>
          <p:nvPr/>
        </p:nvSpPr>
        <p:spPr>
          <a:xfrm>
            <a:off x="3313176" y="2441448"/>
            <a:ext cx="1821576"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422904" y="252831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587496" y="2441448"/>
            <a:ext cx="1510680" cy="274320"/>
          </a:xfrm>
          <a:prstGeom prst="rect">
            <a:avLst/>
          </a:prstGeom>
          <a:noFill/>
        </p:spPr>
        <p:txBody>
          <a:bodyPr wrap="square" lIns="0" tIns="0" rIns="0" bIns="0" anchor="ctr">
            <a:spAutoFit/>
          </a:bodyPr>
          <a:lstStyle/>
          <a:p>
            <a:pPr algn="l">
              <a:lnSpc>
                <a:spcPct val="115000"/>
              </a:lnSpc>
              <a:spcAft>
                <a:spcPts val="0"/>
              </a:spcAft>
            </a:pPr>
            <a:r>
              <a:rPr sz="850" b="1">
                <a:solidFill>
                  <a:srgbClr val="E11D2E"/>
                </a:solidFill>
                <a:latin typeface="Inter"/>
              </a:rPr>
              <a:t>More than 5 points off</a:t>
            </a:r>
          </a:p>
        </p:txBody>
      </p:sp>
      <p:sp>
        <p:nvSpPr>
          <p:cNvPr id="32" name="Rounded Rectangle 31"/>
          <p:cNvSpPr/>
          <p:nvPr/>
        </p:nvSpPr>
        <p:spPr>
          <a:xfrm>
            <a:off x="5803392" y="1207008"/>
            <a:ext cx="2471928" cy="1572768"/>
          </a:xfrm>
          <a:prstGeom prst="roundRect">
            <a:avLst>
              <a:gd name="adj" fmla="val 5813"/>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004560" y="1371600"/>
            <a:ext cx="1648968" cy="201168"/>
          </a:xfrm>
          <a:prstGeom prst="rect">
            <a:avLst/>
          </a:prstGeom>
          <a:noFill/>
        </p:spPr>
        <p:txBody>
          <a:bodyPr wrap="square" lIns="0" tIns="0" rIns="0" bIns="0" anchor="t">
            <a:spAutoFit/>
          </a:bodyPr>
          <a:lstStyle/>
          <a:p>
            <a:pPr algn="l">
              <a:lnSpc>
                <a:spcPct val="115000"/>
              </a:lnSpc>
              <a:spcAft>
                <a:spcPts val="0"/>
              </a:spcAft>
            </a:pPr>
            <a:r>
              <a:rPr sz="900" b="0">
                <a:solidFill>
                  <a:srgbClr val="6B7280"/>
                </a:solidFill>
                <a:latin typeface="Inter"/>
              </a:rPr>
              <a:t>RECONTACT (GLOBAL)</a:t>
            </a:r>
          </a:p>
        </p:txBody>
      </p:sp>
      <p:sp>
        <p:nvSpPr>
          <p:cNvPr id="34" name="Oval 33"/>
          <p:cNvSpPr/>
          <p:nvPr/>
        </p:nvSpPr>
        <p:spPr>
          <a:xfrm>
            <a:off x="7763256" y="1325880"/>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7839334" y="1447038"/>
            <a:ext cx="140451" cy="5029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986272" y="1609344"/>
            <a:ext cx="2106168" cy="548640"/>
          </a:xfrm>
          <a:prstGeom prst="rect">
            <a:avLst/>
          </a:prstGeom>
          <a:noFill/>
        </p:spPr>
        <p:txBody>
          <a:bodyPr wrap="square" lIns="0" tIns="0" rIns="0" bIns="0" anchor="t">
            <a:spAutoFit/>
          </a:bodyPr>
          <a:lstStyle/>
          <a:p>
            <a:pPr algn="l">
              <a:lnSpc>
                <a:spcPct val="115000"/>
              </a:lnSpc>
              <a:spcAft>
                <a:spcPts val="0"/>
              </a:spcAft>
            </a:pPr>
            <a:r>
              <a:rPr sz="2700" b="1">
                <a:solidFill>
                  <a:srgbClr val="1A1A1A"/>
                </a:solidFill>
                <a:latin typeface="Inter"/>
              </a:rPr>
              <a:t>5.83%</a:t>
            </a:r>
          </a:p>
        </p:txBody>
      </p:sp>
      <p:sp>
        <p:nvSpPr>
          <p:cNvPr id="37" name="Isosceles Triangle 36"/>
          <p:cNvSpPr/>
          <p:nvPr/>
        </p:nvSpPr>
        <p:spPr>
          <a:xfrm rot="10800000">
            <a:off x="5999988" y="2080260"/>
            <a:ext cx="100584" cy="100584"/>
          </a:xfrm>
          <a:prstGeom prst="triangl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169152" y="2029968"/>
            <a:ext cx="1923288" cy="237744"/>
          </a:xfrm>
          <a:prstGeom prst="rect">
            <a:avLst/>
          </a:prstGeom>
          <a:noFill/>
        </p:spPr>
        <p:txBody>
          <a:bodyPr wrap="square" lIns="0" tIns="0" rIns="0" bIns="0" anchor="t">
            <a:spAutoFit/>
          </a:bodyPr>
          <a:lstStyle/>
          <a:p>
            <a:pPr algn="l">
              <a:lnSpc>
                <a:spcPct val="115000"/>
              </a:lnSpc>
              <a:spcAft>
                <a:spcPts val="0"/>
              </a:spcAft>
            </a:pPr>
            <a:r>
              <a:rPr sz="950" b="0">
                <a:solidFill>
                  <a:srgbClr val="6B7280"/>
                </a:solidFill>
                <a:latin typeface="Inter"/>
              </a:rPr>
              <a:t>+0.39 pp vs 5.44% goal</a:t>
            </a:r>
          </a:p>
        </p:txBody>
      </p:sp>
      <p:sp>
        <p:nvSpPr>
          <p:cNvPr id="39" name="Rounded Rectangle 38"/>
          <p:cNvSpPr/>
          <p:nvPr/>
        </p:nvSpPr>
        <p:spPr>
          <a:xfrm>
            <a:off x="5986272" y="2441448"/>
            <a:ext cx="1369999"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096000" y="2528315"/>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260592" y="2441448"/>
            <a:ext cx="1059103" cy="274320"/>
          </a:xfrm>
          <a:prstGeom prst="rect">
            <a:avLst/>
          </a:prstGeom>
          <a:noFill/>
        </p:spPr>
        <p:txBody>
          <a:bodyPr wrap="square" lIns="0" tIns="0" rIns="0" bIns="0" anchor="ctr">
            <a:spAutoFit/>
          </a:bodyPr>
          <a:lstStyle/>
          <a:p>
            <a:pPr algn="l">
              <a:lnSpc>
                <a:spcPct val="115000"/>
              </a:lnSpc>
              <a:spcAft>
                <a:spcPts val="0"/>
              </a:spcAft>
            </a:pPr>
            <a:r>
              <a:rPr sz="850" b="1">
                <a:solidFill>
                  <a:srgbClr val="F59E0B"/>
                </a:solidFill>
                <a:latin typeface="Inter"/>
              </a:rPr>
              <a:t>Within 5 points</a:t>
            </a:r>
          </a:p>
        </p:txBody>
      </p:sp>
      <p:sp>
        <p:nvSpPr>
          <p:cNvPr id="42" name="Rounded Rectangle 41"/>
          <p:cNvSpPr/>
          <p:nvPr/>
        </p:nvSpPr>
        <p:spPr>
          <a:xfrm>
            <a:off x="9177833" y="1170432"/>
            <a:ext cx="2087880" cy="1572768"/>
          </a:xfrm>
          <a:prstGeom prst="roundRect">
            <a:avLst>
              <a:gd name="adj" fmla="val 4651"/>
            </a:avLst>
          </a:prstGeom>
          <a:ln w="9525"/>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a:p>
        </p:txBody>
      </p:sp>
      <p:sp>
        <p:nvSpPr>
          <p:cNvPr id="43" name="TextBox 42"/>
          <p:cNvSpPr txBox="1"/>
          <p:nvPr/>
        </p:nvSpPr>
        <p:spPr>
          <a:xfrm>
            <a:off x="9379000" y="1335024"/>
            <a:ext cx="2855671" cy="166584"/>
          </a:xfrm>
          <a:prstGeom prst="rect">
            <a:avLst/>
          </a:prstGeom>
          <a:noFill/>
        </p:spPr>
        <p:txBody>
          <a:bodyPr wrap="square" lIns="0" tIns="0" rIns="0" bIns="0" anchor="t">
            <a:spAutoFit/>
          </a:bodyPr>
          <a:lstStyle/>
          <a:p>
            <a:pPr algn="l">
              <a:lnSpc>
                <a:spcPct val="115000"/>
              </a:lnSpc>
              <a:spcAft>
                <a:spcPts val="0"/>
              </a:spcAft>
            </a:pPr>
            <a:r>
              <a:rPr lang="pl-PL" sz="1000" b="1" dirty="0">
                <a:solidFill>
                  <a:srgbClr val="1A1A1A"/>
                </a:solidFill>
                <a:latin typeface="Inter"/>
              </a:rPr>
              <a:t>May </a:t>
            </a:r>
            <a:r>
              <a:rPr lang="es-MX" sz="1000" b="1" dirty="0">
                <a:solidFill>
                  <a:srgbClr val="1A1A1A"/>
                </a:solidFill>
                <a:latin typeface="Inter"/>
              </a:rPr>
              <a:t>in </a:t>
            </a:r>
            <a:r>
              <a:rPr lang="en-US" sz="1000" b="1" dirty="0">
                <a:solidFill>
                  <a:srgbClr val="1A1A1A"/>
                </a:solidFill>
                <a:latin typeface="Inter"/>
              </a:rPr>
              <a:t>volume</a:t>
            </a:r>
          </a:p>
        </p:txBody>
      </p:sp>
      <p:sp>
        <p:nvSpPr>
          <p:cNvPr id="44" name="TextBox 43"/>
          <p:cNvSpPr txBox="1"/>
          <p:nvPr/>
        </p:nvSpPr>
        <p:spPr>
          <a:xfrm>
            <a:off x="9397288" y="1673352"/>
            <a:ext cx="1371600" cy="237744"/>
          </a:xfrm>
          <a:prstGeom prst="rect">
            <a:avLst/>
          </a:prstGeom>
          <a:noFill/>
        </p:spPr>
        <p:txBody>
          <a:bodyPr wrap="square" lIns="0" tIns="0" rIns="0" bIns="0" anchor="t">
            <a:spAutoFit/>
          </a:bodyPr>
          <a:lstStyle/>
          <a:p>
            <a:pPr algn="l">
              <a:lnSpc>
                <a:spcPct val="115000"/>
              </a:lnSpc>
              <a:spcAft>
                <a:spcPts val="0"/>
              </a:spcAft>
            </a:pPr>
            <a:r>
              <a:rPr sz="1200" b="1" dirty="0">
                <a:solidFill>
                  <a:srgbClr val="1A1A1A"/>
                </a:solidFill>
                <a:latin typeface="Inter"/>
              </a:rPr>
              <a:t>994,591</a:t>
            </a:r>
          </a:p>
        </p:txBody>
      </p:sp>
      <p:sp>
        <p:nvSpPr>
          <p:cNvPr id="45" name="TextBox 44"/>
          <p:cNvSpPr txBox="1"/>
          <p:nvPr/>
        </p:nvSpPr>
        <p:spPr>
          <a:xfrm>
            <a:off x="10095233" y="1700784"/>
            <a:ext cx="1737360" cy="174920"/>
          </a:xfrm>
          <a:prstGeom prst="rect">
            <a:avLst/>
          </a:prstGeom>
          <a:noFill/>
        </p:spPr>
        <p:txBody>
          <a:bodyPr wrap="square" lIns="0" tIns="0" rIns="0" bIns="0" anchor="t">
            <a:spAutoFit/>
          </a:bodyPr>
          <a:lstStyle/>
          <a:p>
            <a:pPr algn="l">
              <a:lnSpc>
                <a:spcPct val="115000"/>
              </a:lnSpc>
              <a:spcAft>
                <a:spcPts val="0"/>
              </a:spcAft>
            </a:pPr>
            <a:r>
              <a:rPr lang="es-MX" sz="1050" dirty="0">
                <a:solidFill>
                  <a:srgbClr val="6B7280"/>
                </a:solidFill>
                <a:latin typeface="Inter"/>
              </a:rPr>
              <a:t>C</a:t>
            </a:r>
            <a:r>
              <a:rPr sz="1050" b="0" dirty="0">
                <a:solidFill>
                  <a:srgbClr val="6B7280"/>
                </a:solidFill>
                <a:latin typeface="Inter"/>
              </a:rPr>
              <a:t>ustomer contacts</a:t>
            </a:r>
          </a:p>
        </p:txBody>
      </p:sp>
      <p:sp>
        <p:nvSpPr>
          <p:cNvPr id="46" name="TextBox 45"/>
          <p:cNvSpPr txBox="1"/>
          <p:nvPr/>
        </p:nvSpPr>
        <p:spPr>
          <a:xfrm>
            <a:off x="9397288" y="2020824"/>
            <a:ext cx="1371600" cy="237744"/>
          </a:xfrm>
          <a:prstGeom prst="rect">
            <a:avLst/>
          </a:prstGeom>
          <a:noFill/>
        </p:spPr>
        <p:txBody>
          <a:bodyPr wrap="square" lIns="0" tIns="0" rIns="0" bIns="0" anchor="t">
            <a:spAutoFit/>
          </a:bodyPr>
          <a:lstStyle/>
          <a:p>
            <a:pPr algn="l">
              <a:lnSpc>
                <a:spcPct val="115000"/>
              </a:lnSpc>
              <a:spcAft>
                <a:spcPts val="0"/>
              </a:spcAft>
            </a:pPr>
            <a:r>
              <a:rPr sz="1200" b="1">
                <a:solidFill>
                  <a:srgbClr val="1A1A1A"/>
                </a:solidFill>
                <a:latin typeface="Inter"/>
              </a:rPr>
              <a:t>77,266</a:t>
            </a:r>
          </a:p>
        </p:txBody>
      </p:sp>
      <p:sp>
        <p:nvSpPr>
          <p:cNvPr id="47" name="TextBox 46"/>
          <p:cNvSpPr txBox="1"/>
          <p:nvPr/>
        </p:nvSpPr>
        <p:spPr>
          <a:xfrm>
            <a:off x="10095233" y="2042070"/>
            <a:ext cx="1737360" cy="174920"/>
          </a:xfrm>
          <a:prstGeom prst="rect">
            <a:avLst/>
          </a:prstGeom>
          <a:noFill/>
        </p:spPr>
        <p:txBody>
          <a:bodyPr wrap="square" lIns="0" tIns="0" rIns="0" bIns="0" anchor="t">
            <a:spAutoFit/>
          </a:bodyPr>
          <a:lstStyle/>
          <a:p>
            <a:pPr algn="l">
              <a:lnSpc>
                <a:spcPct val="115000"/>
              </a:lnSpc>
              <a:spcAft>
                <a:spcPts val="0"/>
              </a:spcAft>
            </a:pPr>
            <a:r>
              <a:rPr sz="1050" b="0">
                <a:solidFill>
                  <a:srgbClr val="6B7280"/>
                </a:solidFill>
                <a:latin typeface="Inter"/>
              </a:rPr>
              <a:t>CSAT surveys</a:t>
            </a:r>
          </a:p>
        </p:txBody>
      </p:sp>
      <p:sp>
        <p:nvSpPr>
          <p:cNvPr id="48" name="TextBox 47"/>
          <p:cNvSpPr txBox="1"/>
          <p:nvPr/>
        </p:nvSpPr>
        <p:spPr>
          <a:xfrm>
            <a:off x="9397288" y="2368296"/>
            <a:ext cx="1371600" cy="237744"/>
          </a:xfrm>
          <a:prstGeom prst="rect">
            <a:avLst/>
          </a:prstGeom>
          <a:noFill/>
        </p:spPr>
        <p:txBody>
          <a:bodyPr wrap="square" lIns="0" tIns="0" rIns="0" bIns="0" anchor="t">
            <a:spAutoFit/>
          </a:bodyPr>
          <a:lstStyle/>
          <a:p>
            <a:pPr algn="l">
              <a:lnSpc>
                <a:spcPct val="115000"/>
              </a:lnSpc>
              <a:spcAft>
                <a:spcPts val="0"/>
              </a:spcAft>
            </a:pPr>
            <a:r>
              <a:rPr sz="1200" b="1">
                <a:solidFill>
                  <a:srgbClr val="1A1A1A"/>
                </a:solidFill>
                <a:latin typeface="Inter"/>
              </a:rPr>
              <a:t>2,460</a:t>
            </a:r>
          </a:p>
        </p:txBody>
      </p:sp>
      <p:sp>
        <p:nvSpPr>
          <p:cNvPr id="49" name="TextBox 48"/>
          <p:cNvSpPr txBox="1"/>
          <p:nvPr/>
        </p:nvSpPr>
        <p:spPr>
          <a:xfrm>
            <a:off x="10095538" y="2355205"/>
            <a:ext cx="1737360" cy="174920"/>
          </a:xfrm>
          <a:prstGeom prst="rect">
            <a:avLst/>
          </a:prstGeom>
          <a:noFill/>
        </p:spPr>
        <p:txBody>
          <a:bodyPr wrap="square" lIns="0" tIns="0" rIns="0" bIns="0" anchor="t">
            <a:spAutoFit/>
          </a:bodyPr>
          <a:lstStyle/>
          <a:p>
            <a:pPr algn="l">
              <a:lnSpc>
                <a:spcPct val="115000"/>
              </a:lnSpc>
              <a:spcAft>
                <a:spcPts val="0"/>
              </a:spcAft>
            </a:pPr>
            <a:r>
              <a:rPr sz="1050" b="0">
                <a:solidFill>
                  <a:srgbClr val="6B7280"/>
                </a:solidFill>
                <a:latin typeface="Inter"/>
              </a:rPr>
              <a:t>QA audits</a:t>
            </a:r>
          </a:p>
        </p:txBody>
      </p:sp>
      <p:sp>
        <p:nvSpPr>
          <p:cNvPr id="51" name="TextBox 50"/>
          <p:cNvSpPr txBox="1"/>
          <p:nvPr/>
        </p:nvSpPr>
        <p:spPr>
          <a:xfrm>
            <a:off x="457200" y="3898142"/>
            <a:ext cx="6903720" cy="2386487"/>
          </a:xfrm>
          <a:prstGeom prst="rect">
            <a:avLst/>
          </a:prstGeom>
          <a:noFill/>
        </p:spPr>
        <p:txBody>
          <a:bodyPr wrap="square" lIns="0" tIns="0" rIns="0" bIns="0" anchor="t">
            <a:spAutoFit/>
          </a:bodyPr>
          <a:lstStyle/>
          <a:p>
            <a:pPr marL="171450" indent="-171450" algn="l">
              <a:lnSpc>
                <a:spcPct val="130000"/>
              </a:lnSpc>
              <a:spcAft>
                <a:spcPts val="800"/>
              </a:spcAft>
              <a:buFont typeface="Arial" panose="020B0604020202020204" pitchFamily="34" charset="0"/>
              <a:buChar char="•"/>
            </a:pPr>
            <a:r>
              <a:rPr lang="en-US" sz="1050" b="1" dirty="0">
                <a:effectLst/>
                <a:latin typeface="Calibri" panose="020F0502020204030204" pitchFamily="34" charset="0"/>
                <a:ea typeface="Calibri" panose="020F0502020204030204" pitchFamily="34" charset="0"/>
              </a:rPr>
              <a:t>Scorecard Divergence (2 of 3 Missed):</a:t>
            </a:r>
            <a:r>
              <a:rPr lang="en-US" sz="1050" dirty="0">
                <a:effectLst/>
                <a:latin typeface="Calibri" panose="020F0502020204030204" pitchFamily="34" charset="0"/>
                <a:ea typeface="Calibri" panose="020F0502020204030204" pitchFamily="34" charset="0"/>
              </a:rPr>
              <a:t> High QA compliance (94.14) fails to translate to customer satisfaction (79.95% CSAT vs 85.0% goal). Recontact finished over tolerance at 5.83% (vs. 5.44% limit) despite a week 4 improvement to 5.26%.</a:t>
            </a:r>
          </a:p>
          <a:p>
            <a:pPr marL="171450" indent="-171450" algn="l">
              <a:lnSpc>
                <a:spcPct val="130000"/>
              </a:lnSpc>
              <a:spcAft>
                <a:spcPts val="800"/>
              </a:spcAft>
              <a:buFont typeface="Arial" panose="020B0604020202020204" pitchFamily="34" charset="0"/>
              <a:buChar char="•"/>
            </a:pPr>
            <a:r>
              <a:rPr lang="es-CO" sz="1050" b="1" dirty="0"/>
              <a:t>QA-CSAT </a:t>
            </a:r>
            <a:r>
              <a:rPr lang="es-CO" sz="1050" b="1" dirty="0" err="1"/>
              <a:t>Metric</a:t>
            </a:r>
            <a:r>
              <a:rPr lang="es-CO" sz="1050" b="1" dirty="0"/>
              <a:t> </a:t>
            </a:r>
            <a:r>
              <a:rPr lang="es-CO" sz="1050" b="1" dirty="0" err="1"/>
              <a:t>Decoupling</a:t>
            </a:r>
            <a:r>
              <a:rPr lang="es-CO" sz="1050" b="1" dirty="0"/>
              <a:t> (R² = 0.023):</a:t>
            </a:r>
            <a:r>
              <a:rPr lang="es-CO" sz="1050" dirty="0"/>
              <a:t> </a:t>
            </a:r>
            <a:r>
              <a:rPr lang="es-CO" sz="1050" dirty="0" err="1"/>
              <a:t>Across</a:t>
            </a:r>
            <a:r>
              <a:rPr lang="es-CO" sz="1050" dirty="0"/>
              <a:t> 45 </a:t>
            </a:r>
            <a:r>
              <a:rPr lang="es-CO" sz="1050" dirty="0" err="1"/>
              <a:t>shared</a:t>
            </a:r>
            <a:r>
              <a:rPr lang="es-CO" sz="1050" dirty="0"/>
              <a:t> </a:t>
            </a:r>
            <a:r>
              <a:rPr lang="es-CO" sz="1050" dirty="0" err="1"/>
              <a:t>contact</a:t>
            </a:r>
            <a:r>
              <a:rPr lang="es-CO" sz="1050" dirty="0"/>
              <a:t> </a:t>
            </a:r>
            <a:r>
              <a:rPr lang="es-CO" sz="1050" dirty="0" err="1"/>
              <a:t>reasons</a:t>
            </a:r>
            <a:r>
              <a:rPr lang="es-CO" sz="1050" dirty="0"/>
              <a:t>, </a:t>
            </a:r>
            <a:r>
              <a:rPr lang="es-CO" sz="1050" dirty="0" err="1"/>
              <a:t>internal</a:t>
            </a:r>
            <a:r>
              <a:rPr lang="es-CO" sz="1050" dirty="0"/>
              <a:t> QA </a:t>
            </a:r>
            <a:r>
              <a:rPr lang="es-CO" sz="1050" dirty="0" err="1"/>
              <a:t>compliance</a:t>
            </a:r>
            <a:r>
              <a:rPr lang="es-CO" sz="1050" dirty="0"/>
              <a:t> shows </a:t>
            </a:r>
            <a:r>
              <a:rPr lang="es-CO" sz="1050" dirty="0" err="1"/>
              <a:t>virtually</a:t>
            </a:r>
            <a:r>
              <a:rPr lang="es-CO" sz="1050" dirty="0"/>
              <a:t> </a:t>
            </a:r>
            <a:r>
              <a:rPr lang="es-CO" sz="1050" dirty="0" err="1"/>
              <a:t>zero</a:t>
            </a:r>
            <a:r>
              <a:rPr lang="es-CO" sz="1050" dirty="0"/>
              <a:t> </a:t>
            </a:r>
            <a:r>
              <a:rPr lang="es-CO" sz="1050" dirty="0" err="1"/>
              <a:t>correlation</a:t>
            </a:r>
            <a:r>
              <a:rPr lang="es-CO" sz="1050" dirty="0"/>
              <a:t> </a:t>
            </a:r>
            <a:r>
              <a:rPr lang="es-CO" sz="1050" dirty="0" err="1"/>
              <a:t>with</a:t>
            </a:r>
            <a:r>
              <a:rPr lang="es-CO" sz="1050" dirty="0"/>
              <a:t> CSAT. Live Chat scores 96.01 QA / 77.6% CSAT, </a:t>
            </a:r>
            <a:r>
              <a:rPr lang="es-CO" sz="1050" dirty="0" err="1"/>
              <a:t>while</a:t>
            </a:r>
            <a:r>
              <a:rPr lang="es-CO" sz="1050" dirty="0"/>
              <a:t> </a:t>
            </a:r>
            <a:r>
              <a:rPr lang="es-CO" sz="1050" dirty="0" err="1"/>
              <a:t>Phone</a:t>
            </a:r>
            <a:r>
              <a:rPr lang="es-CO" sz="1050" dirty="0"/>
              <a:t> scores 83.04 QA / 86.3% CSAT.</a:t>
            </a:r>
          </a:p>
          <a:p>
            <a:pPr algn="l">
              <a:lnSpc>
                <a:spcPct val="130000"/>
              </a:lnSpc>
              <a:spcAft>
                <a:spcPts val="800"/>
              </a:spcAft>
            </a:pPr>
            <a:r>
              <a:rPr lang="en-US" sz="1050" b="1" dirty="0">
                <a:latin typeface="Inter"/>
              </a:rPr>
              <a:t>Structural</a:t>
            </a:r>
            <a:r>
              <a:rPr lang="es-CO" sz="1050" b="1" dirty="0">
                <a:latin typeface="Inter"/>
              </a:rPr>
              <a:t> Audit </a:t>
            </a:r>
            <a:r>
              <a:rPr lang="en-US" sz="1050" b="1" dirty="0">
                <a:latin typeface="Inter"/>
              </a:rPr>
              <a:t>Blind</a:t>
            </a:r>
            <a:r>
              <a:rPr lang="es-CO" sz="1050" b="1" dirty="0">
                <a:latin typeface="Inter"/>
              </a:rPr>
              <a:t> Spots:</a:t>
            </a:r>
          </a:p>
          <a:p>
            <a:pPr marL="171450" indent="-171450" algn="l">
              <a:lnSpc>
                <a:spcPct val="130000"/>
              </a:lnSpc>
              <a:spcAft>
                <a:spcPts val="800"/>
              </a:spcAft>
              <a:buFont typeface="Arial" panose="020B0604020202020204" pitchFamily="34" charset="0"/>
              <a:buChar char="•"/>
            </a:pPr>
            <a:r>
              <a:rPr lang="en-US" sz="1050" b="1" dirty="0"/>
              <a:t>Resolution Masking:</a:t>
            </a:r>
            <a:r>
              <a:rPr lang="en-US" sz="1050" dirty="0"/>
              <a:t> 527 audits followed SOPs without resolving the case, yet averaged 96.87 QA.</a:t>
            </a:r>
          </a:p>
          <a:p>
            <a:pPr marL="171450" indent="-171450" algn="l">
              <a:lnSpc>
                <a:spcPct val="130000"/>
              </a:lnSpc>
              <a:spcAft>
                <a:spcPts val="800"/>
              </a:spcAft>
              <a:buFont typeface="Arial" panose="020B0604020202020204" pitchFamily="34" charset="0"/>
              <a:buChar char="•"/>
            </a:pPr>
            <a:r>
              <a:rPr lang="en-US" sz="1050" b="1" dirty="0"/>
              <a:t>Rubric Distortion:</a:t>
            </a:r>
            <a:r>
              <a:rPr lang="en-US" sz="1050" dirty="0"/>
              <a:t> Chat lacks critical penalties for inaccurate information, allowing 80% of process-failing chats (297/372) to score 100. Correcting this rubric drops true Chat QA to 80.14.</a:t>
            </a:r>
          </a:p>
          <a:p>
            <a:pPr algn="l">
              <a:lnSpc>
                <a:spcPct val="130000"/>
              </a:lnSpc>
              <a:spcAft>
                <a:spcPts val="800"/>
              </a:spcAft>
            </a:pPr>
            <a:endParaRPr sz="1050" b="0" dirty="0">
              <a:solidFill>
                <a:srgbClr val="4B5563"/>
              </a:solidFill>
              <a:latin typeface="Inter"/>
            </a:endParaRPr>
          </a:p>
        </p:txBody>
      </p:sp>
      <p:sp>
        <p:nvSpPr>
          <p:cNvPr id="52" name="Rounded Rectangle 51"/>
          <p:cNvSpPr/>
          <p:nvPr/>
        </p:nvSpPr>
        <p:spPr>
          <a:xfrm>
            <a:off x="7927848" y="3272028"/>
            <a:ext cx="4007815" cy="2305812"/>
          </a:xfrm>
          <a:prstGeom prst="roundRect">
            <a:avLst>
              <a:gd name="adj" fmla="val 2253"/>
            </a:avLst>
          </a:prstGeom>
          <a:ln w="9525"/>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a:p>
        </p:txBody>
      </p:sp>
      <p:sp>
        <p:nvSpPr>
          <p:cNvPr id="53" name="TextBox 52"/>
          <p:cNvSpPr txBox="1"/>
          <p:nvPr/>
        </p:nvSpPr>
        <p:spPr>
          <a:xfrm>
            <a:off x="8129017" y="3436620"/>
            <a:ext cx="3605479" cy="219456"/>
          </a:xfrm>
          <a:prstGeom prst="rect">
            <a:avLst/>
          </a:prstGeom>
          <a:noFill/>
        </p:spPr>
        <p:txBody>
          <a:bodyPr wrap="square" lIns="0" tIns="0" rIns="0" bIns="0" anchor="t">
            <a:spAutoFit/>
          </a:bodyPr>
          <a:lstStyle/>
          <a:p>
            <a:pPr algn="l">
              <a:lnSpc>
                <a:spcPct val="115000"/>
              </a:lnSpc>
              <a:spcAft>
                <a:spcPts val="0"/>
              </a:spcAft>
            </a:pPr>
            <a:r>
              <a:rPr sz="1000" b="1" dirty="0">
                <a:solidFill>
                  <a:srgbClr val="1A1A1A"/>
                </a:solidFill>
                <a:latin typeface="Inter"/>
              </a:rPr>
              <a:t>Status legend</a:t>
            </a:r>
          </a:p>
        </p:txBody>
      </p:sp>
      <p:sp>
        <p:nvSpPr>
          <p:cNvPr id="54" name="Rectangle 53"/>
          <p:cNvSpPr/>
          <p:nvPr/>
        </p:nvSpPr>
        <p:spPr>
          <a:xfrm>
            <a:off x="8129017" y="390753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366761" y="3811524"/>
            <a:ext cx="3602736" cy="274320"/>
          </a:xfrm>
          <a:prstGeom prst="rect">
            <a:avLst/>
          </a:prstGeom>
          <a:noFill/>
        </p:spPr>
        <p:txBody>
          <a:bodyPr wrap="square" lIns="0" tIns="0" rIns="0" bIns="0" anchor="t">
            <a:spAutoFit/>
          </a:bodyPr>
          <a:lstStyle/>
          <a:p>
            <a:pPr algn="l">
              <a:lnSpc>
                <a:spcPct val="128000"/>
              </a:lnSpc>
              <a:spcAft>
                <a:spcPts val="0"/>
              </a:spcAft>
            </a:pPr>
            <a:r>
              <a:rPr sz="950" b="1">
                <a:solidFill>
                  <a:srgbClr val="1A1A1A"/>
                </a:solidFill>
                <a:latin typeface="Inter"/>
              </a:rPr>
              <a:t>Green </a:t>
            </a:r>
            <a:r>
              <a:rPr sz="950" b="0">
                <a:solidFill>
                  <a:srgbClr val="4B5563"/>
                </a:solidFill>
                <a:latin typeface="Inter"/>
              </a:rPr>
              <a:t>: at or above goal.</a:t>
            </a:r>
          </a:p>
        </p:txBody>
      </p:sp>
      <p:sp>
        <p:nvSpPr>
          <p:cNvPr id="56" name="Rectangle 55"/>
          <p:cNvSpPr/>
          <p:nvPr/>
        </p:nvSpPr>
        <p:spPr>
          <a:xfrm>
            <a:off x="8129017" y="418185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375446" y="4085844"/>
            <a:ext cx="3602736" cy="274320"/>
          </a:xfrm>
          <a:prstGeom prst="rect">
            <a:avLst/>
          </a:prstGeom>
          <a:noFill/>
        </p:spPr>
        <p:txBody>
          <a:bodyPr wrap="square" lIns="0" tIns="0" rIns="0" bIns="0" anchor="t">
            <a:spAutoFit/>
          </a:bodyPr>
          <a:lstStyle/>
          <a:p>
            <a:pPr algn="l">
              <a:lnSpc>
                <a:spcPct val="128000"/>
              </a:lnSpc>
              <a:spcAft>
                <a:spcPts val="0"/>
              </a:spcAft>
            </a:pPr>
            <a:r>
              <a:rPr sz="950" b="1" dirty="0">
                <a:solidFill>
                  <a:srgbClr val="1A1A1A"/>
                </a:solidFill>
                <a:latin typeface="Inter"/>
              </a:rPr>
              <a:t>Amber </a:t>
            </a:r>
            <a:r>
              <a:rPr sz="950" b="0" dirty="0">
                <a:solidFill>
                  <a:srgbClr val="4B5563"/>
                </a:solidFill>
                <a:latin typeface="Inter"/>
              </a:rPr>
              <a:t>: within 5 points of goal.</a:t>
            </a:r>
          </a:p>
        </p:txBody>
      </p:sp>
      <p:sp>
        <p:nvSpPr>
          <p:cNvPr id="58" name="Rectangle 57"/>
          <p:cNvSpPr/>
          <p:nvPr/>
        </p:nvSpPr>
        <p:spPr>
          <a:xfrm>
            <a:off x="8129017" y="445617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384131" y="4360164"/>
            <a:ext cx="3602736" cy="274320"/>
          </a:xfrm>
          <a:prstGeom prst="rect">
            <a:avLst/>
          </a:prstGeom>
          <a:noFill/>
        </p:spPr>
        <p:txBody>
          <a:bodyPr wrap="square" lIns="0" tIns="0" rIns="0" bIns="0" anchor="t">
            <a:spAutoFit/>
          </a:bodyPr>
          <a:lstStyle/>
          <a:p>
            <a:pPr algn="l">
              <a:lnSpc>
                <a:spcPct val="128000"/>
              </a:lnSpc>
              <a:spcAft>
                <a:spcPts val="0"/>
              </a:spcAft>
            </a:pPr>
            <a:r>
              <a:rPr sz="950" b="1" dirty="0">
                <a:solidFill>
                  <a:srgbClr val="1A1A1A"/>
                </a:solidFill>
                <a:latin typeface="Inter"/>
              </a:rPr>
              <a:t>Red </a:t>
            </a:r>
            <a:r>
              <a:rPr sz="950" b="0" dirty="0">
                <a:solidFill>
                  <a:srgbClr val="4B5563"/>
                </a:solidFill>
                <a:latin typeface="Inter"/>
              </a:rPr>
              <a:t>: more than 5 points off goal.</a:t>
            </a:r>
          </a:p>
        </p:txBody>
      </p:sp>
      <p:sp>
        <p:nvSpPr>
          <p:cNvPr id="60" name="TextBox 59"/>
          <p:cNvSpPr txBox="1"/>
          <p:nvPr/>
        </p:nvSpPr>
        <p:spPr>
          <a:xfrm>
            <a:off x="8095183" y="4753356"/>
            <a:ext cx="3840480" cy="1554480"/>
          </a:xfrm>
          <a:prstGeom prst="rect">
            <a:avLst/>
          </a:prstGeom>
          <a:noFill/>
        </p:spPr>
        <p:txBody>
          <a:bodyPr wrap="square" lIns="0" tIns="0" rIns="0" bIns="0" anchor="t">
            <a:spAutoFit/>
          </a:bodyPr>
          <a:lstStyle/>
          <a:p>
            <a:pPr algn="l">
              <a:lnSpc>
                <a:spcPct val="134000"/>
              </a:lnSpc>
              <a:spcAft>
                <a:spcPts val="0"/>
              </a:spcAft>
            </a:pPr>
            <a:r>
              <a:rPr sz="950" b="0" dirty="0">
                <a:solidFill>
                  <a:srgbClr val="6B7280"/>
                </a:solidFill>
                <a:latin typeface="Inter"/>
              </a:rPr>
              <a:t>QA is measured against 85. CSAT against 85%. Recontact against 5.44%, and lower is better. That 5.44% goal is on the global rate (all channels). Built on 2,460 audits, 77,266 surveys and 994,591 contacts.</a:t>
            </a:r>
          </a:p>
        </p:txBody>
      </p:sp>
      <p:pic>
        <p:nvPicPr>
          <p:cNvPr id="66" name="Imagen 65">
            <a:extLst>
              <a:ext uri="{FF2B5EF4-FFF2-40B4-BE49-F238E27FC236}">
                <a16:creationId xmlns:a16="http://schemas.microsoft.com/office/drawing/2014/main" id="{E5F015F5-3D57-23FC-60EE-44DC0849F45D}"/>
              </a:ext>
            </a:extLst>
          </p:cNvPr>
          <p:cNvPicPr>
            <a:picLocks noChangeAspect="1"/>
          </p:cNvPicPr>
          <p:nvPr/>
        </p:nvPicPr>
        <p:blipFill rotWithShape="1">
          <a:blip r:embed="rId3"/>
          <a:srcRect l="2150" t="1409" r="949" b="1818"/>
          <a:stretch/>
        </p:blipFill>
        <p:spPr>
          <a:xfrm>
            <a:off x="202387" y="1170432"/>
            <a:ext cx="2802636" cy="1636776"/>
          </a:xfrm>
          <a:prstGeom prst="rect">
            <a:avLst/>
          </a:prstGeom>
          <a:ln>
            <a:noFill/>
          </a:ln>
          <a:effectLst>
            <a:outerShdw blurRad="292100" dist="139700" dir="2700000" algn="tl" rotWithShape="0">
              <a:srgbClr val="333333">
                <a:alpha val="65000"/>
              </a:srgbClr>
            </a:outerShdw>
          </a:effectLst>
        </p:spPr>
      </p:pic>
      <p:pic>
        <p:nvPicPr>
          <p:cNvPr id="68" name="Imagen 67">
            <a:extLst>
              <a:ext uri="{FF2B5EF4-FFF2-40B4-BE49-F238E27FC236}">
                <a16:creationId xmlns:a16="http://schemas.microsoft.com/office/drawing/2014/main" id="{3AF6C5AD-ED64-7FFF-5D2E-1BE55A1C24BB}"/>
              </a:ext>
            </a:extLst>
          </p:cNvPr>
          <p:cNvPicPr>
            <a:picLocks noChangeAspect="1"/>
          </p:cNvPicPr>
          <p:nvPr/>
        </p:nvPicPr>
        <p:blipFill>
          <a:blip r:embed="rId4"/>
          <a:stretch>
            <a:fillRect/>
          </a:stretch>
        </p:blipFill>
        <p:spPr>
          <a:xfrm>
            <a:off x="3014167" y="1175004"/>
            <a:ext cx="2720645" cy="1632204"/>
          </a:xfrm>
          <a:prstGeom prst="rect">
            <a:avLst/>
          </a:prstGeom>
          <a:ln>
            <a:noFill/>
          </a:ln>
          <a:effectLst>
            <a:outerShdw blurRad="292100" dist="139700" dir="2700000" algn="tl" rotWithShape="0">
              <a:srgbClr val="333333">
                <a:alpha val="65000"/>
              </a:srgbClr>
            </a:outerShdw>
            <a:softEdge rad="12700"/>
          </a:effectLst>
        </p:spPr>
      </p:pic>
      <p:pic>
        <p:nvPicPr>
          <p:cNvPr id="71" name="Imagen 70">
            <a:extLst>
              <a:ext uri="{FF2B5EF4-FFF2-40B4-BE49-F238E27FC236}">
                <a16:creationId xmlns:a16="http://schemas.microsoft.com/office/drawing/2014/main" id="{C097B7E6-A130-1136-CD15-3845BA01C097}"/>
              </a:ext>
            </a:extLst>
          </p:cNvPr>
          <p:cNvPicPr>
            <a:picLocks noChangeAspect="1"/>
          </p:cNvPicPr>
          <p:nvPr/>
        </p:nvPicPr>
        <p:blipFill>
          <a:blip r:embed="rId5"/>
          <a:stretch>
            <a:fillRect/>
          </a:stretch>
        </p:blipFill>
        <p:spPr>
          <a:xfrm>
            <a:off x="5743956" y="1165860"/>
            <a:ext cx="2648360" cy="1648720"/>
          </a:xfrm>
          <a:prstGeom prst="rect">
            <a:avLst/>
          </a:prstGeom>
          <a:ln>
            <a:noFill/>
          </a:ln>
          <a:effectLst>
            <a:outerShdw blurRad="292100" dist="139700" dir="2700000" algn="tl" rotWithShape="0">
              <a:srgbClr val="333333">
                <a:alpha val="65000"/>
              </a:srgbClr>
            </a:outerShdw>
            <a:softEdge rad="12700"/>
          </a:effectLst>
        </p:spPr>
      </p:pic>
      <p:sp>
        <p:nvSpPr>
          <p:cNvPr id="78" name="TextBox 38">
            <a:extLst>
              <a:ext uri="{FF2B5EF4-FFF2-40B4-BE49-F238E27FC236}">
                <a16:creationId xmlns:a16="http://schemas.microsoft.com/office/drawing/2014/main" id="{EC6BC232-C4B8-2602-15AB-2193FE58FF66}"/>
              </a:ext>
            </a:extLst>
          </p:cNvPr>
          <p:cNvSpPr txBox="1"/>
          <p:nvPr/>
        </p:nvSpPr>
        <p:spPr>
          <a:xfrm>
            <a:off x="410717" y="3505601"/>
            <a:ext cx="4233082" cy="183255"/>
          </a:xfrm>
          <a:prstGeom prst="rect">
            <a:avLst/>
          </a:prstGeom>
          <a:noFill/>
        </p:spPr>
        <p:txBody>
          <a:bodyPr wrap="square" lIns="0" tIns="0" rIns="0" bIns="0" anchor="t">
            <a:spAutoFit/>
          </a:bodyPr>
          <a:lstStyle/>
          <a:p>
            <a:pPr algn="l">
              <a:lnSpc>
                <a:spcPct val="115000"/>
              </a:lnSpc>
              <a:spcAft>
                <a:spcPts val="0"/>
              </a:spcAft>
            </a:pPr>
            <a:r>
              <a:rPr lang="en-US" sz="1100" b="1" dirty="0"/>
              <a:t>Key Performance Takeaways &amp; Structural Findings</a:t>
            </a:r>
            <a:endParaRPr sz="1100" b="1" dirty="0">
              <a:solidFill>
                <a:srgbClr val="1A1A1A"/>
              </a:solidFill>
              <a:latin typeface="Inter"/>
            </a:endParaRPr>
          </a:p>
        </p:txBody>
      </p:sp>
      <p:sp>
        <p:nvSpPr>
          <p:cNvPr id="79" name="Rectángulo 78">
            <a:extLst>
              <a:ext uri="{FF2B5EF4-FFF2-40B4-BE49-F238E27FC236}">
                <a16:creationId xmlns:a16="http://schemas.microsoft.com/office/drawing/2014/main" id="{A2F87424-FF0A-A7C0-D21F-A8FDC8528958}"/>
              </a:ext>
            </a:extLst>
          </p:cNvPr>
          <p:cNvSpPr/>
          <p:nvPr/>
        </p:nvSpPr>
        <p:spPr>
          <a:xfrm>
            <a:off x="202387" y="1188720"/>
            <a:ext cx="8189929" cy="1625860"/>
          </a:xfrm>
          <a:prstGeom prst="rect">
            <a:avLst/>
          </a:prstGeom>
          <a:noFill/>
          <a:ln w="38100">
            <a:solidFill>
              <a:schemeClr val="tx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Two paths after the same QA step</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QA scores step 2. CSAT scores step 4. Recontact is step 5. Close vs CSAT R² 0.64  ·  QA vs CSAT R² 0.023</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04</a:t>
            </a:r>
          </a:p>
        </p:txBody>
      </p:sp>
      <p:grpSp>
        <p:nvGrpSpPr>
          <p:cNvPr id="36" name="Grupo 35">
            <a:extLst>
              <a:ext uri="{FF2B5EF4-FFF2-40B4-BE49-F238E27FC236}">
                <a16:creationId xmlns:a16="http://schemas.microsoft.com/office/drawing/2014/main" id="{708892A9-B225-EA7C-AF06-0F0347AE5EB9}"/>
              </a:ext>
            </a:extLst>
          </p:cNvPr>
          <p:cNvGrpSpPr/>
          <p:nvPr/>
        </p:nvGrpSpPr>
        <p:grpSpPr>
          <a:xfrm>
            <a:off x="780131" y="5030107"/>
            <a:ext cx="10414810" cy="1794902"/>
            <a:chOff x="457200" y="4059936"/>
            <a:chExt cx="11277295" cy="2089594"/>
          </a:xfrm>
        </p:grpSpPr>
        <p:sp>
          <p:nvSpPr>
            <p:cNvPr id="12" name="TextBox 11"/>
            <p:cNvSpPr txBox="1"/>
            <p:nvPr/>
          </p:nvSpPr>
          <p:spPr>
            <a:xfrm>
              <a:off x="457200" y="4059936"/>
              <a:ext cx="11277295" cy="232752"/>
            </a:xfrm>
            <a:prstGeom prst="rect">
              <a:avLst/>
            </a:prstGeom>
            <a:noFill/>
          </p:spPr>
          <p:txBody>
            <a:bodyPr wrap="square" lIns="0" tIns="0" rIns="0" bIns="0" anchor="t">
              <a:spAutoFit/>
            </a:bodyPr>
            <a:lstStyle/>
            <a:p>
              <a:pPr algn="ctr">
                <a:lnSpc>
                  <a:spcPct val="115000"/>
                </a:lnSpc>
                <a:spcAft>
                  <a:spcPts val="0"/>
                </a:spcAft>
              </a:pPr>
              <a:endParaRPr sz="1200" b="1" dirty="0">
                <a:solidFill>
                  <a:srgbClr val="1A1A1A"/>
                </a:solidFill>
                <a:latin typeface="Inter"/>
              </a:endParaRPr>
            </a:p>
          </p:txBody>
        </p:sp>
        <p:sp>
          <p:nvSpPr>
            <p:cNvPr id="13" name="Rectangle 12"/>
            <p:cNvSpPr/>
            <p:nvPr/>
          </p:nvSpPr>
          <p:spPr>
            <a:xfrm>
              <a:off x="457200" y="4297680"/>
              <a:ext cx="11274552" cy="31089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585215" y="4356161"/>
              <a:ext cx="1042415" cy="193934"/>
            </a:xfrm>
            <a:prstGeom prst="rect">
              <a:avLst/>
            </a:prstGeom>
            <a:noFill/>
          </p:spPr>
          <p:txBody>
            <a:bodyPr wrap="square" lIns="0" tIns="0" rIns="0" bIns="0" anchor="ctr">
              <a:spAutoFit/>
            </a:bodyPr>
            <a:lstStyle/>
            <a:p>
              <a:pPr algn="ctr">
                <a:lnSpc>
                  <a:spcPct val="115000"/>
                </a:lnSpc>
                <a:spcAft>
                  <a:spcPts val="0"/>
                </a:spcAft>
              </a:pPr>
              <a:r>
                <a:rPr sz="1000" b="1" dirty="0">
                  <a:solidFill>
                    <a:srgbClr val="FFFFFF"/>
                  </a:solidFill>
                  <a:latin typeface="Inter"/>
                </a:rPr>
                <a:t> </a:t>
              </a:r>
            </a:p>
          </p:txBody>
        </p:sp>
        <p:sp>
          <p:nvSpPr>
            <p:cNvPr id="15" name="TextBox 14"/>
            <p:cNvSpPr txBox="1"/>
            <p:nvPr/>
          </p:nvSpPr>
          <p:spPr>
            <a:xfrm>
              <a:off x="1883664" y="4356161"/>
              <a:ext cx="4727448" cy="19393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If policy / tools allow it</a:t>
              </a:r>
            </a:p>
          </p:txBody>
        </p:sp>
        <p:sp>
          <p:nvSpPr>
            <p:cNvPr id="16" name="TextBox 15"/>
            <p:cNvSpPr txBox="1"/>
            <p:nvPr/>
          </p:nvSpPr>
          <p:spPr>
            <a:xfrm>
              <a:off x="6867144" y="4356161"/>
              <a:ext cx="4736591" cy="19393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If they do not</a:t>
              </a:r>
            </a:p>
          </p:txBody>
        </p:sp>
        <p:sp>
          <p:nvSpPr>
            <p:cNvPr id="17" name="TextBox 16"/>
            <p:cNvSpPr txBox="1"/>
            <p:nvPr/>
          </p:nvSpPr>
          <p:spPr>
            <a:xfrm>
              <a:off x="585215" y="4703634"/>
              <a:ext cx="1042415" cy="19393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Step 2 · QA</a:t>
              </a:r>
            </a:p>
          </p:txBody>
        </p:sp>
        <p:sp>
          <p:nvSpPr>
            <p:cNvPr id="18" name="TextBox 17"/>
            <p:cNvSpPr txBox="1"/>
            <p:nvPr/>
          </p:nvSpPr>
          <p:spPr>
            <a:xfrm>
              <a:off x="1883664" y="4703634"/>
              <a:ext cx="4727448" cy="193934"/>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1,169 audits resolved + followed process · QA 95.86</a:t>
              </a:r>
            </a:p>
          </p:txBody>
        </p:sp>
        <p:sp>
          <p:nvSpPr>
            <p:cNvPr id="19" name="TextBox 18"/>
            <p:cNvSpPr txBox="1"/>
            <p:nvPr/>
          </p:nvSpPr>
          <p:spPr>
            <a:xfrm>
              <a:off x="6867144" y="4703634"/>
              <a:ext cx="4736591" cy="19393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527 audits not resolved + followed process · QA 96.87</a:t>
              </a:r>
            </a:p>
          </p:txBody>
        </p:sp>
        <p:sp>
          <p:nvSpPr>
            <p:cNvPr id="20" name="Rectangle 19"/>
            <p:cNvSpPr/>
            <p:nvPr/>
          </p:nvSpPr>
          <p:spPr>
            <a:xfrm>
              <a:off x="457200" y="4987861"/>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Rectangle 20"/>
            <p:cNvSpPr/>
            <p:nvPr/>
          </p:nvSpPr>
          <p:spPr>
            <a:xfrm>
              <a:off x="457200" y="4992624"/>
              <a:ext cx="11274552" cy="38404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585215" y="5087681"/>
              <a:ext cx="1042415" cy="19393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Step 3 · Close</a:t>
              </a:r>
            </a:p>
          </p:txBody>
        </p:sp>
        <p:sp>
          <p:nvSpPr>
            <p:cNvPr id="23" name="TextBox 22"/>
            <p:cNvSpPr txBox="1"/>
            <p:nvPr/>
          </p:nvSpPr>
          <p:spPr>
            <a:xfrm>
              <a:off x="1883664" y="5087681"/>
              <a:ext cx="4727448" cy="193934"/>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Closed 1,415 of 2,114 assessed (66.9%)</a:t>
              </a:r>
            </a:p>
          </p:txBody>
        </p:sp>
        <p:sp>
          <p:nvSpPr>
            <p:cNvPr id="24" name="TextBox 23"/>
            <p:cNvSpPr txBox="1"/>
            <p:nvPr/>
          </p:nvSpPr>
          <p:spPr>
            <a:xfrm>
              <a:off x="6867144" y="5087681"/>
              <a:ext cx="4736591" cy="19393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75.4% of not-resolved still followed process · 215 policy + 116 tools</a:t>
              </a:r>
            </a:p>
          </p:txBody>
        </p:sp>
        <p:sp>
          <p:nvSpPr>
            <p:cNvPr id="25" name="Rectangle 24"/>
            <p:cNvSpPr/>
            <p:nvPr/>
          </p:nvSpPr>
          <p:spPr>
            <a:xfrm>
              <a:off x="457200" y="5371909"/>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TextBox 25"/>
            <p:cNvSpPr txBox="1"/>
            <p:nvPr/>
          </p:nvSpPr>
          <p:spPr>
            <a:xfrm>
              <a:off x="585215" y="5471730"/>
              <a:ext cx="1042415" cy="19393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Step 4 · CSAT</a:t>
              </a:r>
            </a:p>
          </p:txBody>
        </p:sp>
        <p:sp>
          <p:nvSpPr>
            <p:cNvPr id="27" name="TextBox 26"/>
            <p:cNvSpPr txBox="1"/>
            <p:nvPr/>
          </p:nvSpPr>
          <p:spPr>
            <a:xfrm>
              <a:off x="1883664" y="5471730"/>
              <a:ext cx="4727448" cy="19393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Wrong / damaged / inedible / incomplete order: 89–92% CSAT</a:t>
              </a:r>
            </a:p>
          </p:txBody>
        </p:sp>
        <p:sp>
          <p:nvSpPr>
            <p:cNvPr id="28" name="TextBox 27"/>
            <p:cNvSpPr txBox="1"/>
            <p:nvPr/>
          </p:nvSpPr>
          <p:spPr>
            <a:xfrm>
              <a:off x="6867144" y="5471730"/>
              <a:ext cx="4736591" cy="19393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Order status &amp; delays: 64.7% CSAT despite QA 97.3</a:t>
              </a:r>
            </a:p>
          </p:txBody>
        </p:sp>
        <p:sp>
          <p:nvSpPr>
            <p:cNvPr id="29" name="Rectangle 28"/>
            <p:cNvSpPr/>
            <p:nvPr/>
          </p:nvSpPr>
          <p:spPr>
            <a:xfrm>
              <a:off x="457200" y="5755957"/>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Rectangle 29"/>
            <p:cNvSpPr/>
            <p:nvPr/>
          </p:nvSpPr>
          <p:spPr>
            <a:xfrm>
              <a:off x="457200" y="5760720"/>
              <a:ext cx="11274552" cy="38404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1" name="TextBox 30"/>
            <p:cNvSpPr txBox="1"/>
            <p:nvPr/>
          </p:nvSpPr>
          <p:spPr>
            <a:xfrm>
              <a:off x="585215" y="5855777"/>
              <a:ext cx="1042415" cy="19393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Step 5 · Recontact</a:t>
              </a:r>
            </a:p>
          </p:txBody>
        </p:sp>
        <p:sp>
          <p:nvSpPr>
            <p:cNvPr id="32" name="TextBox 31"/>
            <p:cNvSpPr txBox="1"/>
            <p:nvPr/>
          </p:nvSpPr>
          <p:spPr>
            <a:xfrm>
              <a:off x="1883664" y="5855779"/>
              <a:ext cx="4727448" cy="19393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Those reasons: 2.9–5.2% recontact</a:t>
              </a:r>
            </a:p>
          </p:txBody>
        </p:sp>
        <p:sp>
          <p:nvSpPr>
            <p:cNvPr id="33" name="TextBox 32"/>
            <p:cNvSpPr txBox="1"/>
            <p:nvPr/>
          </p:nvSpPr>
          <p:spPr>
            <a:xfrm>
              <a:off x="6867144" y="5855779"/>
              <a:ext cx="4736591" cy="193934"/>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Order status &amp; delays: 19.34% (7,680 repeats) · </a:t>
              </a:r>
              <a:r>
                <a:rPr lang="es-MX" sz="1000" b="0" dirty="0">
                  <a:solidFill>
                    <a:srgbClr val="4B5563"/>
                  </a:solidFill>
                  <a:latin typeface="Inter"/>
                </a:rPr>
                <a:t>H</a:t>
              </a:r>
              <a:r>
                <a:rPr sz="1000" b="0" dirty="0" err="1">
                  <a:solidFill>
                    <a:srgbClr val="4B5563"/>
                  </a:solidFill>
                  <a:latin typeface="Inter"/>
                </a:rPr>
                <a:t>uman</a:t>
              </a:r>
              <a:r>
                <a:rPr sz="1000" b="0" dirty="0">
                  <a:solidFill>
                    <a:srgbClr val="4B5563"/>
                  </a:solidFill>
                  <a:latin typeface="Inter"/>
                </a:rPr>
                <a:t> </a:t>
              </a:r>
              <a:r>
                <a:rPr lang="en-US" sz="1000" b="0" dirty="0">
                  <a:solidFill>
                    <a:srgbClr val="4B5563"/>
                  </a:solidFill>
                  <a:latin typeface="Inter"/>
                </a:rPr>
                <a:t>channels</a:t>
              </a:r>
              <a:r>
                <a:rPr lang="es-MX" sz="1000" b="0" dirty="0">
                  <a:solidFill>
                    <a:srgbClr val="4B5563"/>
                  </a:solidFill>
                  <a:latin typeface="Inter"/>
                </a:rPr>
                <a:t> </a:t>
              </a:r>
              <a:r>
                <a:rPr sz="1000" b="0" dirty="0">
                  <a:solidFill>
                    <a:srgbClr val="4B5563"/>
                  </a:solidFill>
                  <a:latin typeface="Inter"/>
                </a:rPr>
                <a:t>15.56%</a:t>
              </a:r>
            </a:p>
          </p:txBody>
        </p:sp>
        <p:sp>
          <p:nvSpPr>
            <p:cNvPr id="34" name="Rectangle 33"/>
            <p:cNvSpPr/>
            <p:nvPr/>
          </p:nvSpPr>
          <p:spPr>
            <a:xfrm>
              <a:off x="457200" y="61400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pic>
        <p:nvPicPr>
          <p:cNvPr id="40" name="Imagen 39" descr="Escala de tiempo&#10;&#10;Descripción generada automáticamente">
            <a:extLst>
              <a:ext uri="{FF2B5EF4-FFF2-40B4-BE49-F238E27FC236}">
                <a16:creationId xmlns:a16="http://schemas.microsoft.com/office/drawing/2014/main" id="{1ED8A4B4-76D9-A970-64FD-D01C5A4DD22C}"/>
              </a:ext>
            </a:extLst>
          </p:cNvPr>
          <p:cNvPicPr>
            <a:picLocks noChangeAspect="1"/>
          </p:cNvPicPr>
          <p:nvPr/>
        </p:nvPicPr>
        <p:blipFill>
          <a:blip r:embed="rId3"/>
          <a:stretch>
            <a:fillRect/>
          </a:stretch>
        </p:blipFill>
        <p:spPr>
          <a:xfrm>
            <a:off x="661905" y="929299"/>
            <a:ext cx="10412277" cy="4285103"/>
          </a:xfrm>
          <a:prstGeom prst="rect">
            <a:avLst/>
          </a:prstGeom>
          <a:effectLst>
            <a:outerShdw blurRad="50800" dist="38100" dir="5400000" algn="t" rotWithShape="0">
              <a:prstClr val="black">
                <a:alpha val="40000"/>
              </a:prst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9826"/>
          </a:xfrm>
          <a:prstGeom prst="rect">
            <a:avLst/>
          </a:prstGeom>
          <a:noFill/>
        </p:spPr>
        <p:txBody>
          <a:bodyPr wrap="square" lIns="0" tIns="0" rIns="0" bIns="0" anchor="t">
            <a:spAutoFit/>
          </a:bodyPr>
          <a:lstStyle/>
          <a:p>
            <a:pPr algn="l">
              <a:lnSpc>
                <a:spcPct val="115000"/>
              </a:lnSpc>
              <a:spcAft>
                <a:spcPts val="0"/>
              </a:spcAft>
            </a:pPr>
            <a:r>
              <a:rPr lang="en-US" sz="1800" b="1" dirty="0">
                <a:solidFill>
                  <a:srgbClr val="FFFFFF"/>
                </a:solidFill>
                <a:latin typeface="Inter"/>
              </a:rPr>
              <a:t>Structural QA Flaws: Process Compliance vs. Case Resolution</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s-CO" sz="950" b="0" dirty="0" err="1">
                <a:solidFill>
                  <a:srgbClr val="9CA3AF"/>
                </a:solidFill>
                <a:latin typeface="Inter"/>
              </a:rPr>
              <a:t>Internal</a:t>
            </a:r>
            <a:r>
              <a:rPr lang="es-CO" sz="950" b="0" dirty="0">
                <a:solidFill>
                  <a:srgbClr val="9CA3AF"/>
                </a:solidFill>
                <a:latin typeface="Inter"/>
              </a:rPr>
              <a:t> QA </a:t>
            </a:r>
            <a:r>
              <a:rPr lang="es-CO" sz="950" b="0" dirty="0" err="1">
                <a:solidFill>
                  <a:srgbClr val="9CA3AF"/>
                </a:solidFill>
                <a:latin typeface="Inter"/>
              </a:rPr>
              <a:t>audits</a:t>
            </a:r>
            <a:r>
              <a:rPr lang="es-CO" sz="950" b="0" dirty="0">
                <a:solidFill>
                  <a:srgbClr val="9CA3AF"/>
                </a:solidFill>
                <a:latin typeface="Inter"/>
              </a:rPr>
              <a:t> </a:t>
            </a:r>
            <a:r>
              <a:rPr lang="es-CO" sz="950" b="0" dirty="0" err="1">
                <a:solidFill>
                  <a:srgbClr val="9CA3AF"/>
                </a:solidFill>
                <a:latin typeface="Inter"/>
              </a:rPr>
              <a:t>conversational</a:t>
            </a:r>
            <a:r>
              <a:rPr lang="es-CO" sz="950" b="0" dirty="0">
                <a:solidFill>
                  <a:srgbClr val="9CA3AF"/>
                </a:solidFill>
                <a:latin typeface="Inter"/>
              </a:rPr>
              <a:t> </a:t>
            </a:r>
            <a:r>
              <a:rPr lang="es-CO" sz="950" b="0" dirty="0" err="1">
                <a:solidFill>
                  <a:srgbClr val="9CA3AF"/>
                </a:solidFill>
                <a:latin typeface="Inter"/>
              </a:rPr>
              <a:t>compliance</a:t>
            </a:r>
            <a:r>
              <a:rPr lang="es-CO" sz="950" b="0" dirty="0">
                <a:solidFill>
                  <a:srgbClr val="9CA3AF"/>
                </a:solidFill>
                <a:latin typeface="Inter"/>
              </a:rPr>
              <a:t>; </a:t>
            </a:r>
            <a:r>
              <a:rPr lang="es-CO" sz="950" b="0" dirty="0" err="1">
                <a:solidFill>
                  <a:srgbClr val="9CA3AF"/>
                </a:solidFill>
                <a:latin typeface="Inter"/>
              </a:rPr>
              <a:t>customers</a:t>
            </a:r>
            <a:r>
              <a:rPr lang="es-CO" sz="950" b="0" dirty="0">
                <a:solidFill>
                  <a:srgbClr val="9CA3AF"/>
                </a:solidFill>
                <a:latin typeface="Inter"/>
              </a:rPr>
              <a:t> </a:t>
            </a:r>
            <a:r>
              <a:rPr lang="es-CO" sz="950" b="0" dirty="0" err="1">
                <a:solidFill>
                  <a:srgbClr val="9CA3AF"/>
                </a:solidFill>
                <a:latin typeface="Inter"/>
              </a:rPr>
              <a:t>rate</a:t>
            </a:r>
            <a:r>
              <a:rPr lang="es-CO" sz="950" b="0" dirty="0">
                <a:solidFill>
                  <a:srgbClr val="9CA3AF"/>
                </a:solidFill>
                <a:latin typeface="Inter"/>
              </a:rPr>
              <a:t> </a:t>
            </a:r>
            <a:r>
              <a:rPr lang="es-CO" sz="950" b="0" dirty="0" err="1">
                <a:solidFill>
                  <a:srgbClr val="9CA3AF"/>
                </a:solidFill>
                <a:latin typeface="Inter"/>
              </a:rPr>
              <a:t>outcome</a:t>
            </a:r>
            <a:r>
              <a:rPr lang="es-CO" sz="950" b="0" dirty="0">
                <a:solidFill>
                  <a:srgbClr val="9CA3AF"/>
                </a:solidFill>
                <a:latin typeface="Inter"/>
              </a:rPr>
              <a:t> </a:t>
            </a:r>
            <a:r>
              <a:rPr lang="es-CO" sz="950" b="0" dirty="0" err="1">
                <a:solidFill>
                  <a:srgbClr val="9CA3AF"/>
                </a:solidFill>
                <a:latin typeface="Inter"/>
              </a:rPr>
              <a:t>resolution</a:t>
            </a:r>
            <a:r>
              <a:rPr lang="es-CO" sz="950" b="0" dirty="0">
                <a:solidFill>
                  <a:srgbClr val="9CA3AF"/>
                </a:solidFill>
                <a:latin typeface="Inter"/>
              </a:rPr>
              <a:t>.</a:t>
            </a:r>
            <a:endParaRPr sz="950" b="0" dirty="0">
              <a:solidFill>
                <a:srgbClr val="9CA3AF"/>
              </a:solidFill>
              <a:latin typeface="Inter"/>
            </a:endParaRP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dirty="0">
                <a:solidFill>
                  <a:srgbClr val="FF6600"/>
                </a:solidFill>
                <a:latin typeface="Inter"/>
              </a:rPr>
              <a:t>06</a:t>
            </a:r>
          </a:p>
        </p:txBody>
      </p:sp>
      <p:sp>
        <p:nvSpPr>
          <p:cNvPr id="10" name="TextBox 9"/>
          <p:cNvSpPr txBox="1"/>
          <p:nvPr/>
        </p:nvSpPr>
        <p:spPr>
          <a:xfrm>
            <a:off x="93406" y="6686560"/>
            <a:ext cx="11277295" cy="219456"/>
          </a:xfrm>
          <a:prstGeom prst="rect">
            <a:avLst/>
          </a:prstGeom>
          <a:noFill/>
        </p:spPr>
        <p:txBody>
          <a:bodyPr wrap="square" lIns="0" tIns="0" rIns="0" bIns="0" anchor="t">
            <a:spAutoFit/>
          </a:bodyPr>
          <a:lstStyle/>
          <a:p>
            <a:pPr algn="l">
              <a:lnSpc>
                <a:spcPct val="115000"/>
              </a:lnSpc>
              <a:spcAft>
                <a:spcPts val="0"/>
              </a:spcAft>
            </a:pPr>
            <a:r>
              <a:rPr sz="750" b="0" dirty="0" err="1">
                <a:solidFill>
                  <a:srgbClr val="9CA3AF"/>
                </a:solidFill>
                <a:latin typeface="Inter"/>
              </a:rPr>
              <a:t>DiDi</a:t>
            </a:r>
            <a:r>
              <a:rPr sz="750" b="0" dirty="0">
                <a:solidFill>
                  <a:srgbClr val="9CA3AF"/>
                </a:solidFill>
                <a:latin typeface="Inter"/>
              </a:rPr>
              <a:t> Global, CX Service Operations   |   Confidential. Internal use only</a:t>
            </a:r>
          </a:p>
        </p:txBody>
      </p:sp>
      <p:pic>
        <p:nvPicPr>
          <p:cNvPr id="37" name="Picture 36" descr="bar_auditor_outcome.png"/>
          <p:cNvPicPr>
            <a:picLocks noChangeAspect="1"/>
          </p:cNvPicPr>
          <p:nvPr/>
        </p:nvPicPr>
        <p:blipFill>
          <a:blip r:embed="rId3"/>
          <a:stretch>
            <a:fillRect/>
          </a:stretch>
        </p:blipFill>
        <p:spPr>
          <a:xfrm>
            <a:off x="370337" y="1351690"/>
            <a:ext cx="5434934" cy="2954378"/>
          </a:xfrm>
          <a:prstGeom prst="rect">
            <a:avLst/>
          </a:prstGeom>
          <a:effectLst>
            <a:outerShdw blurRad="50800" dist="38100" dir="2700000" algn="tl" rotWithShape="0">
              <a:prstClr val="black">
                <a:alpha val="40000"/>
              </a:prstClr>
            </a:outerShdw>
          </a:effectLst>
        </p:spPr>
      </p:pic>
      <p:pic>
        <p:nvPicPr>
          <p:cNvPr id="38" name="Picture 37" descr="scatter_qa_csat.png"/>
          <p:cNvPicPr>
            <a:picLocks noChangeAspect="1"/>
          </p:cNvPicPr>
          <p:nvPr/>
        </p:nvPicPr>
        <p:blipFill>
          <a:blip r:embed="rId4"/>
          <a:stretch>
            <a:fillRect/>
          </a:stretch>
        </p:blipFill>
        <p:spPr>
          <a:xfrm>
            <a:off x="6587145" y="1287851"/>
            <a:ext cx="4762942" cy="3154622"/>
          </a:xfrm>
          <a:prstGeom prst="rect">
            <a:avLst/>
          </a:prstGeom>
          <a:effectLst>
            <a:outerShdw blurRad="50800" dist="38100" dir="2700000" algn="tl" rotWithShape="0">
              <a:prstClr val="black">
                <a:alpha val="40000"/>
              </a:prstClr>
            </a:outerShdw>
          </a:effectLst>
        </p:spPr>
      </p:pic>
      <p:sp>
        <p:nvSpPr>
          <p:cNvPr id="39" name="TextBox 38"/>
          <p:cNvSpPr txBox="1"/>
          <p:nvPr/>
        </p:nvSpPr>
        <p:spPr>
          <a:xfrm>
            <a:off x="754380" y="4585986"/>
            <a:ext cx="3989070" cy="174920"/>
          </a:xfrm>
          <a:prstGeom prst="rect">
            <a:avLst/>
          </a:prstGeom>
          <a:noFill/>
        </p:spPr>
        <p:txBody>
          <a:bodyPr wrap="square" lIns="0" tIns="0" rIns="0" bIns="0" anchor="t">
            <a:spAutoFit/>
          </a:bodyPr>
          <a:lstStyle/>
          <a:p>
            <a:pPr algn="l">
              <a:lnSpc>
                <a:spcPct val="115000"/>
              </a:lnSpc>
              <a:spcAft>
                <a:spcPts val="0"/>
              </a:spcAft>
            </a:pPr>
            <a:r>
              <a:rPr lang="es-CO" sz="1050" b="1" dirty="0"/>
              <a:t>Audit </a:t>
            </a:r>
            <a:r>
              <a:rPr lang="es-CO" sz="1050" b="1" dirty="0" err="1"/>
              <a:t>Breakdown</a:t>
            </a:r>
            <a:r>
              <a:rPr lang="es-CO" sz="1050" b="1" dirty="0"/>
              <a:t> &amp; </a:t>
            </a:r>
            <a:r>
              <a:rPr lang="es-CO" sz="1050" b="1" dirty="0" err="1"/>
              <a:t>Rubric</a:t>
            </a:r>
            <a:r>
              <a:rPr lang="es-CO" sz="1050" b="1" dirty="0"/>
              <a:t> </a:t>
            </a:r>
            <a:r>
              <a:rPr lang="es-CO" sz="1050" b="1" dirty="0" err="1"/>
              <a:t>Flaws</a:t>
            </a:r>
            <a:endParaRPr sz="1050" b="1" dirty="0">
              <a:solidFill>
                <a:srgbClr val="1A1A1A"/>
              </a:solidFill>
              <a:latin typeface="Inter"/>
            </a:endParaRPr>
          </a:p>
        </p:txBody>
      </p:sp>
      <p:sp>
        <p:nvSpPr>
          <p:cNvPr id="40" name="Rectangle 39"/>
          <p:cNvSpPr/>
          <p:nvPr/>
        </p:nvSpPr>
        <p:spPr>
          <a:xfrm>
            <a:off x="694944" y="497716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2688" y="4840001"/>
            <a:ext cx="4815765" cy="378565"/>
          </a:xfrm>
          <a:prstGeom prst="rect">
            <a:avLst/>
          </a:prstGeom>
          <a:noFill/>
        </p:spPr>
        <p:txBody>
          <a:bodyPr wrap="square" lIns="0" tIns="0" rIns="0" bIns="0" anchor="t">
            <a:spAutoFit/>
          </a:bodyPr>
          <a:lstStyle/>
          <a:p>
            <a:pPr algn="l">
              <a:lnSpc>
                <a:spcPct val="128000"/>
              </a:lnSpc>
              <a:spcAft>
                <a:spcPts val="0"/>
              </a:spcAft>
            </a:pPr>
            <a:r>
              <a:rPr lang="en-US" sz="1000" b="1" dirty="0"/>
              <a:t>Resolution Masking:</a:t>
            </a:r>
            <a:r>
              <a:rPr lang="en-US" sz="1000" dirty="0"/>
              <a:t> 527 audits followed SOPs without resolving the issue, yet averaged a </a:t>
            </a:r>
            <a:r>
              <a:rPr lang="en-US" sz="1000" b="1" dirty="0"/>
              <a:t>96.87 QA score</a:t>
            </a:r>
            <a:r>
              <a:rPr lang="en-US" sz="1000" dirty="0"/>
              <a:t> (higher than resolved cases at 95.86).</a:t>
            </a:r>
            <a:endParaRPr sz="950" b="0" dirty="0">
              <a:solidFill>
                <a:srgbClr val="4B5563"/>
              </a:solidFill>
              <a:latin typeface="Inter"/>
            </a:endParaRPr>
          </a:p>
        </p:txBody>
      </p:sp>
      <p:sp>
        <p:nvSpPr>
          <p:cNvPr id="42" name="Rectangle 41"/>
          <p:cNvSpPr/>
          <p:nvPr/>
        </p:nvSpPr>
        <p:spPr>
          <a:xfrm>
            <a:off x="694944" y="545284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32688" y="5323138"/>
            <a:ext cx="4410837" cy="378565"/>
          </a:xfrm>
          <a:prstGeom prst="rect">
            <a:avLst/>
          </a:prstGeom>
          <a:noFill/>
        </p:spPr>
        <p:txBody>
          <a:bodyPr wrap="square" lIns="0" tIns="0" rIns="0" bIns="0" anchor="t">
            <a:spAutoFit/>
          </a:bodyPr>
          <a:lstStyle/>
          <a:p>
            <a:pPr algn="l">
              <a:lnSpc>
                <a:spcPct val="128000"/>
              </a:lnSpc>
              <a:spcAft>
                <a:spcPts val="0"/>
              </a:spcAft>
            </a:pPr>
            <a:r>
              <a:rPr lang="en-US" sz="1000" b="1" dirty="0"/>
              <a:t>Unpenalized Process Fails:</a:t>
            </a:r>
            <a:r>
              <a:rPr lang="en-US" sz="1000" dirty="0"/>
              <a:t> Due to lenient rubrics, </a:t>
            </a:r>
            <a:r>
              <a:rPr lang="en-US" sz="1000" b="1" dirty="0"/>
              <a:t>80% of chats with process failures</a:t>
            </a:r>
            <a:r>
              <a:rPr lang="en-US" sz="1000" dirty="0"/>
              <a:t> (297 of 372) received a perfect score of 100.</a:t>
            </a:r>
            <a:endParaRPr sz="950" b="0" dirty="0">
              <a:solidFill>
                <a:srgbClr val="4B5563"/>
              </a:solidFill>
              <a:latin typeface="Inter"/>
            </a:endParaRPr>
          </a:p>
        </p:txBody>
      </p:sp>
      <p:sp>
        <p:nvSpPr>
          <p:cNvPr id="44" name="Rectangle 43"/>
          <p:cNvSpPr/>
          <p:nvPr/>
        </p:nvSpPr>
        <p:spPr>
          <a:xfrm>
            <a:off x="694944" y="5962485"/>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32688" y="5832266"/>
            <a:ext cx="4687062" cy="378565"/>
          </a:xfrm>
          <a:prstGeom prst="rect">
            <a:avLst/>
          </a:prstGeom>
          <a:noFill/>
        </p:spPr>
        <p:txBody>
          <a:bodyPr wrap="square" lIns="0" tIns="0" rIns="0" bIns="0" anchor="t">
            <a:spAutoFit/>
          </a:bodyPr>
          <a:lstStyle/>
          <a:p>
            <a:pPr algn="l">
              <a:lnSpc>
                <a:spcPct val="128000"/>
              </a:lnSpc>
              <a:spcAft>
                <a:spcPts val="0"/>
              </a:spcAft>
            </a:pPr>
            <a:r>
              <a:rPr lang="en-US" sz="1000" b="1" dirty="0"/>
              <a:t>Score Recalibration Impact:</a:t>
            </a:r>
            <a:r>
              <a:rPr lang="en-US" sz="1000" dirty="0"/>
              <a:t> Aligning Chat evaluation criteria with Phone standards lowers true Chat QA from </a:t>
            </a:r>
            <a:r>
              <a:rPr lang="en-US" sz="1000" b="1" dirty="0"/>
              <a:t>96.01 to 80.14</a:t>
            </a:r>
            <a:r>
              <a:rPr lang="en-US" sz="1000" dirty="0"/>
              <a:t> (below the 85.0 target).</a:t>
            </a:r>
            <a:endParaRPr sz="950" b="0" dirty="0">
              <a:solidFill>
                <a:srgbClr val="4B5563"/>
              </a:solidFill>
              <a:latin typeface="Inter"/>
            </a:endParaRPr>
          </a:p>
        </p:txBody>
      </p:sp>
      <p:sp>
        <p:nvSpPr>
          <p:cNvPr id="46" name="TextBox 45"/>
          <p:cNvSpPr txBox="1"/>
          <p:nvPr/>
        </p:nvSpPr>
        <p:spPr>
          <a:xfrm>
            <a:off x="6405101" y="4605134"/>
            <a:ext cx="5577840" cy="219456"/>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Does higher QA mean better customer outcomes?</a:t>
            </a:r>
          </a:p>
        </p:txBody>
      </p:sp>
      <p:sp>
        <p:nvSpPr>
          <p:cNvPr id="47" name="Rectangle 46"/>
          <p:cNvSpPr/>
          <p:nvPr/>
        </p:nvSpPr>
        <p:spPr>
          <a:xfrm>
            <a:off x="6205805" y="501749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43549" y="4896555"/>
            <a:ext cx="5340096" cy="322011"/>
          </a:xfrm>
          <a:prstGeom prst="rect">
            <a:avLst/>
          </a:prstGeom>
          <a:noFill/>
        </p:spPr>
        <p:txBody>
          <a:bodyPr wrap="square" lIns="0" tIns="0" rIns="0" bIns="0" anchor="t">
            <a:spAutoFit/>
          </a:bodyPr>
          <a:lstStyle/>
          <a:p>
            <a:pPr marR="0" lvl="0">
              <a:lnSpc>
                <a:spcPct val="107000"/>
              </a:lnSpc>
              <a:spcBef>
                <a:spcPts val="0"/>
              </a:spcBef>
              <a:spcAft>
                <a:spcPts val="0"/>
              </a:spcAft>
              <a:buSzPts val="1000"/>
              <a:tabLst>
                <a:tab pos="457200" algn="l"/>
              </a:tabLst>
            </a:pP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Inverse Correlation ($r = -0.151$):</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Across 45 shared contact reasons, QA scores show a slight negative relationship with customer satisfaction.</a:t>
            </a:r>
            <a:endParaRPr lang="es-CO"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9" name="Rectangle 48"/>
          <p:cNvSpPr/>
          <p:nvPr/>
        </p:nvSpPr>
        <p:spPr>
          <a:xfrm>
            <a:off x="6232010" y="547293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52724" y="5359571"/>
            <a:ext cx="5340096" cy="320985"/>
          </a:xfrm>
          <a:prstGeom prst="rect">
            <a:avLst/>
          </a:prstGeom>
          <a:noFill/>
        </p:spPr>
        <p:txBody>
          <a:bodyPr wrap="square" lIns="0" tIns="0" rIns="0" bIns="0" anchor="t">
            <a:spAutoFit/>
          </a:bodyPr>
          <a:lstStyle/>
          <a:p>
            <a:pPr marR="0" lvl="0">
              <a:lnSpc>
                <a:spcPct val="107000"/>
              </a:lnSpc>
              <a:spcBef>
                <a:spcPts val="0"/>
              </a:spcBef>
              <a:spcAft>
                <a:spcPts val="0"/>
              </a:spcAft>
              <a:buSzPts val="1000"/>
              <a:tabLst>
                <a:tab pos="457200" algn="l"/>
              </a:tabLst>
            </a:pPr>
            <a:r>
              <a:rPr lang="en-US" sz="1000" b="1" kern="0" dirty="0">
                <a:effectLst/>
                <a:ea typeface="Times New Roman" panose="02020603050405020304" pitchFamily="18" charset="0"/>
                <a:cs typeface="Times New Roman" panose="02020603050405020304" pitchFamily="18" charset="0"/>
              </a:rPr>
              <a:t>Negligible Predictive Value (R2 = 0.023):</a:t>
            </a:r>
            <a:r>
              <a:rPr lang="en-US" sz="1000" kern="0" dirty="0">
                <a:effectLst/>
                <a:ea typeface="Times New Roman" panose="02020603050405020304" pitchFamily="18" charset="0"/>
                <a:cs typeface="Times New Roman" panose="02020603050405020304" pitchFamily="18" charset="0"/>
              </a:rPr>
              <a:t> QA compliance accounts for only </a:t>
            </a:r>
            <a:r>
              <a:rPr lang="en-US" sz="1000" b="1" kern="0" dirty="0">
                <a:effectLst/>
                <a:ea typeface="Times New Roman" panose="02020603050405020304" pitchFamily="18" charset="0"/>
                <a:cs typeface="Times New Roman" panose="02020603050405020304" pitchFamily="18" charset="0"/>
              </a:rPr>
              <a:t>2.3% of CSAT variance</a:t>
            </a:r>
            <a:r>
              <a:rPr lang="en-US" sz="1000" kern="0" dirty="0">
                <a:effectLst/>
                <a:ea typeface="Times New Roman" panose="02020603050405020304" pitchFamily="18" charset="0"/>
                <a:cs typeface="Times New Roman" panose="02020603050405020304" pitchFamily="18" charset="0"/>
              </a:rPr>
              <a:t>, proving internal QA has virtually no bearing on customer sentiment. </a:t>
            </a:r>
            <a:endParaRPr lang="es-CO" sz="900" kern="100" dirty="0">
              <a:effectLst/>
              <a:ea typeface="Calibri" panose="020F0502020204030204" pitchFamily="34" charset="0"/>
              <a:cs typeface="Times New Roman" panose="02020603050405020304" pitchFamily="18" charset="0"/>
            </a:endParaRPr>
          </a:p>
        </p:txBody>
      </p:sp>
      <p:sp>
        <p:nvSpPr>
          <p:cNvPr id="51" name="Rectangle 50"/>
          <p:cNvSpPr/>
          <p:nvPr/>
        </p:nvSpPr>
        <p:spPr>
          <a:xfrm>
            <a:off x="6236788" y="599612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405101" y="5817817"/>
            <a:ext cx="5340096" cy="378565"/>
          </a:xfrm>
          <a:prstGeom prst="rect">
            <a:avLst/>
          </a:prstGeom>
          <a:noFill/>
        </p:spPr>
        <p:txBody>
          <a:bodyPr wrap="square" lIns="0" tIns="0" rIns="0" bIns="0" anchor="t">
            <a:spAutoFit/>
          </a:bodyPr>
          <a:lstStyle/>
          <a:p>
            <a:pPr algn="l">
              <a:lnSpc>
                <a:spcPct val="128000"/>
              </a:lnSpc>
              <a:spcAft>
                <a:spcPts val="0"/>
              </a:spcAft>
            </a:pPr>
            <a:r>
              <a:rPr lang="en-US" sz="1000" b="1" dirty="0"/>
              <a:t>Resolution vs. Compliance:</a:t>
            </a:r>
            <a:r>
              <a:rPr lang="en-US" sz="1000" dirty="0"/>
              <a:t> CSAT is driven by first-contact closure, not procedural adherence. Updating the QA rubric fixes metric accuracy, but moving CSAT requires structural policy and tooling changes.</a:t>
            </a:r>
            <a:endParaRPr lang="en-US" sz="950" b="0" dirty="0">
              <a:solidFill>
                <a:srgbClr val="4B5563"/>
              </a:solidFill>
              <a:latin typeface="Inter"/>
            </a:endParaRPr>
          </a:p>
        </p:txBody>
      </p:sp>
      <p:sp>
        <p:nvSpPr>
          <p:cNvPr id="15" name="Rectángulo 14">
            <a:extLst>
              <a:ext uri="{FF2B5EF4-FFF2-40B4-BE49-F238E27FC236}">
                <a16:creationId xmlns:a16="http://schemas.microsoft.com/office/drawing/2014/main" id="{C67C2137-5A22-4020-441F-5A012A021C70}"/>
              </a:ext>
            </a:extLst>
          </p:cNvPr>
          <p:cNvSpPr/>
          <p:nvPr/>
        </p:nvSpPr>
        <p:spPr>
          <a:xfrm>
            <a:off x="6115569" y="1164328"/>
            <a:ext cx="5706094" cy="5301003"/>
          </a:xfrm>
          <a:prstGeom prst="rect">
            <a:avLst/>
          </a:prstGeom>
          <a:noFill/>
          <a:ln>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ángulo 15">
            <a:extLst>
              <a:ext uri="{FF2B5EF4-FFF2-40B4-BE49-F238E27FC236}">
                <a16:creationId xmlns:a16="http://schemas.microsoft.com/office/drawing/2014/main" id="{1F9BA51C-A4BC-7EAD-6D66-C65CA880960B}"/>
              </a:ext>
            </a:extLst>
          </p:cNvPr>
          <p:cNvSpPr/>
          <p:nvPr/>
        </p:nvSpPr>
        <p:spPr>
          <a:xfrm>
            <a:off x="264709" y="1175004"/>
            <a:ext cx="5706094" cy="5290328"/>
          </a:xfrm>
          <a:prstGeom prst="rect">
            <a:avLst/>
          </a:prstGeom>
          <a:noFill/>
          <a:ln>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4679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9826"/>
          </a:xfrm>
          <a:prstGeom prst="rect">
            <a:avLst/>
          </a:prstGeom>
          <a:noFill/>
        </p:spPr>
        <p:txBody>
          <a:bodyPr wrap="square" lIns="0" tIns="0" rIns="0" bIns="0" anchor="t">
            <a:spAutoFit/>
          </a:bodyPr>
          <a:lstStyle/>
          <a:p>
            <a:pPr algn="l">
              <a:lnSpc>
                <a:spcPct val="115000"/>
              </a:lnSpc>
              <a:spcAft>
                <a:spcPts val="0"/>
              </a:spcAft>
            </a:pPr>
            <a:r>
              <a:rPr lang="en-US" sz="1800" b="1" dirty="0">
                <a:solidFill>
                  <a:srgbClr val="FFFFFF"/>
                </a:solidFill>
                <a:latin typeface="Inter"/>
              </a:rPr>
              <a:t>Monthly Trend Review</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Daily Control Chart Analysis: Monthly stability vs. target performance.</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07</a:t>
            </a:r>
          </a:p>
        </p:txBody>
      </p:sp>
      <p:sp>
        <p:nvSpPr>
          <p:cNvPr id="10" name="TextBox 9"/>
          <p:cNvSpPr txBox="1"/>
          <p:nvPr/>
        </p:nvSpPr>
        <p:spPr>
          <a:xfrm>
            <a:off x="508221" y="6433017"/>
            <a:ext cx="11277295" cy="219456"/>
          </a:xfrm>
          <a:prstGeom prst="rect">
            <a:avLst/>
          </a:prstGeom>
          <a:noFill/>
        </p:spPr>
        <p:txBody>
          <a:bodyPr wrap="square" lIns="0" tIns="0" rIns="0" bIns="0" anchor="t">
            <a:spAutoFit/>
          </a:bodyPr>
          <a:lstStyle/>
          <a:p>
            <a:pPr algn="l">
              <a:lnSpc>
                <a:spcPct val="115000"/>
              </a:lnSpc>
              <a:spcAft>
                <a:spcPts val="0"/>
              </a:spcAft>
            </a:pPr>
            <a:r>
              <a:rPr sz="750" b="0" dirty="0" err="1">
                <a:solidFill>
                  <a:srgbClr val="9CA3AF"/>
                </a:solidFill>
                <a:latin typeface="Inter"/>
              </a:rPr>
              <a:t>DiDi</a:t>
            </a:r>
            <a:r>
              <a:rPr sz="750" b="0" dirty="0">
                <a:solidFill>
                  <a:srgbClr val="9CA3AF"/>
                </a:solidFill>
                <a:latin typeface="Inter"/>
              </a:rPr>
              <a:t> Global, CX Service Operations   |   Confidential. Internal use only</a:t>
            </a:r>
          </a:p>
        </p:txBody>
      </p:sp>
      <p:pic>
        <p:nvPicPr>
          <p:cNvPr id="11" name="Picture 10" descr="run_qa.png"/>
          <p:cNvPicPr>
            <a:picLocks noChangeAspect="1"/>
          </p:cNvPicPr>
          <p:nvPr/>
        </p:nvPicPr>
        <p:blipFill>
          <a:blip r:embed="rId3"/>
          <a:stretch>
            <a:fillRect/>
          </a:stretch>
        </p:blipFill>
        <p:spPr>
          <a:xfrm>
            <a:off x="82744" y="1044763"/>
            <a:ext cx="3980907" cy="2572176"/>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371041" y="3796140"/>
            <a:ext cx="3649370" cy="219456"/>
          </a:xfrm>
          <a:prstGeom prst="rect">
            <a:avLst/>
          </a:prstGeom>
          <a:noFill/>
        </p:spPr>
        <p:txBody>
          <a:bodyPr wrap="square" lIns="0" tIns="0" rIns="0" bIns="0" anchor="t">
            <a:spAutoFit/>
          </a:bodyPr>
          <a:lstStyle/>
          <a:p>
            <a:pPr algn="ctr">
              <a:lnSpc>
                <a:spcPct val="115000"/>
              </a:lnSpc>
              <a:spcAft>
                <a:spcPts val="0"/>
              </a:spcAft>
            </a:pPr>
            <a:r>
              <a:rPr sz="900" b="1" dirty="0">
                <a:solidFill>
                  <a:srgbClr val="1A1A1A"/>
                </a:solidFill>
                <a:latin typeface="Inter"/>
              </a:rPr>
              <a:t>QA: one dip on 6 May. Otherwise steady</a:t>
            </a:r>
          </a:p>
        </p:txBody>
      </p:sp>
      <p:pic>
        <p:nvPicPr>
          <p:cNvPr id="13" name="Picture 12" descr="run_csat.png"/>
          <p:cNvPicPr>
            <a:picLocks noChangeAspect="1"/>
          </p:cNvPicPr>
          <p:nvPr/>
        </p:nvPicPr>
        <p:blipFill>
          <a:blip r:embed="rId4"/>
          <a:stretch>
            <a:fillRect/>
          </a:stretch>
        </p:blipFill>
        <p:spPr>
          <a:xfrm>
            <a:off x="4074732" y="1002859"/>
            <a:ext cx="4053619" cy="2614803"/>
          </a:xfrm>
          <a:prstGeom prst="rect">
            <a:avLst/>
          </a:prstGeom>
          <a:effectLst>
            <a:outerShdw blurRad="50800" dist="38100" dir="2700000" algn="tl" rotWithShape="0">
              <a:prstClr val="black">
                <a:alpha val="40000"/>
              </a:prstClr>
            </a:outerShdw>
          </a:effectLst>
        </p:spPr>
      </p:pic>
      <p:sp>
        <p:nvSpPr>
          <p:cNvPr id="14" name="TextBox 13"/>
          <p:cNvSpPr txBox="1"/>
          <p:nvPr/>
        </p:nvSpPr>
        <p:spPr>
          <a:xfrm>
            <a:off x="4094428" y="3780607"/>
            <a:ext cx="3649370" cy="219456"/>
          </a:xfrm>
          <a:prstGeom prst="rect">
            <a:avLst/>
          </a:prstGeom>
          <a:noFill/>
        </p:spPr>
        <p:txBody>
          <a:bodyPr wrap="square" lIns="0" tIns="0" rIns="0" bIns="0" anchor="t">
            <a:spAutoFit/>
          </a:bodyPr>
          <a:lstStyle/>
          <a:p>
            <a:pPr algn="ctr">
              <a:lnSpc>
                <a:spcPct val="115000"/>
              </a:lnSpc>
              <a:spcAft>
                <a:spcPts val="0"/>
              </a:spcAft>
            </a:pPr>
            <a:r>
              <a:rPr sz="900" b="1" dirty="0">
                <a:solidFill>
                  <a:srgbClr val="1A1A1A"/>
                </a:solidFill>
                <a:latin typeface="Inter"/>
              </a:rPr>
              <a:t>CSAT blended: steady. Every day below goal</a:t>
            </a:r>
          </a:p>
        </p:txBody>
      </p:sp>
      <p:pic>
        <p:nvPicPr>
          <p:cNvPr id="15" name="Picture 14" descr="run_recontact.png"/>
          <p:cNvPicPr>
            <a:picLocks noChangeAspect="1"/>
          </p:cNvPicPr>
          <p:nvPr/>
        </p:nvPicPr>
        <p:blipFill>
          <a:blip r:embed="rId5"/>
          <a:stretch>
            <a:fillRect/>
          </a:stretch>
        </p:blipFill>
        <p:spPr>
          <a:xfrm>
            <a:off x="8167533" y="938995"/>
            <a:ext cx="4024162" cy="2677944"/>
          </a:xfrm>
          <a:prstGeom prst="rect">
            <a:avLst/>
          </a:prstGeom>
          <a:effectLst>
            <a:outerShdw blurRad="50800" dist="38100" dir="2700000" algn="tl" rotWithShape="0">
              <a:prstClr val="black">
                <a:alpha val="40000"/>
              </a:prstClr>
            </a:outerShdw>
          </a:effectLst>
        </p:spPr>
      </p:pic>
      <p:sp>
        <p:nvSpPr>
          <p:cNvPr id="16" name="TextBox 15"/>
          <p:cNvSpPr txBox="1"/>
          <p:nvPr/>
        </p:nvSpPr>
        <p:spPr>
          <a:xfrm>
            <a:off x="8214851" y="3732783"/>
            <a:ext cx="3649370" cy="219456"/>
          </a:xfrm>
          <a:prstGeom prst="rect">
            <a:avLst/>
          </a:prstGeom>
          <a:noFill/>
        </p:spPr>
        <p:txBody>
          <a:bodyPr wrap="square" lIns="0" tIns="0" rIns="0" bIns="0" anchor="t">
            <a:spAutoFit/>
          </a:bodyPr>
          <a:lstStyle/>
          <a:p>
            <a:pPr algn="ctr">
              <a:lnSpc>
                <a:spcPct val="115000"/>
              </a:lnSpc>
              <a:spcAft>
                <a:spcPts val="0"/>
              </a:spcAft>
            </a:pPr>
            <a:r>
              <a:rPr sz="900" b="1" dirty="0">
                <a:solidFill>
                  <a:srgbClr val="1A1A1A"/>
                </a:solidFill>
                <a:latin typeface="Inter"/>
              </a:rPr>
              <a:t>Recontact global: last week under goal. Month still amber</a:t>
            </a:r>
          </a:p>
        </p:txBody>
      </p:sp>
      <p:sp>
        <p:nvSpPr>
          <p:cNvPr id="17" name="Rectangle 16"/>
          <p:cNvSpPr/>
          <p:nvPr/>
        </p:nvSpPr>
        <p:spPr>
          <a:xfrm>
            <a:off x="422758" y="4159045"/>
            <a:ext cx="11602518" cy="2023577"/>
          </a:xfrm>
          <a:prstGeom prst="rect">
            <a:avLst/>
          </a:prstGeom>
          <a:solidFill>
            <a:srgbClr val="F4F5F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9031" y="4161220"/>
            <a:ext cx="158381" cy="2021401"/>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5762" y="4234988"/>
            <a:ext cx="10710367" cy="216534"/>
          </a:xfrm>
          <a:prstGeom prst="rect">
            <a:avLst/>
          </a:prstGeom>
          <a:noFill/>
        </p:spPr>
        <p:txBody>
          <a:bodyPr wrap="square" lIns="0" tIns="0" rIns="0" bIns="0" anchor="t">
            <a:spAutoFit/>
          </a:bodyPr>
          <a:lstStyle/>
          <a:p>
            <a:pPr algn="l">
              <a:lnSpc>
                <a:spcPct val="115000"/>
              </a:lnSpc>
              <a:spcAft>
                <a:spcPts val="0"/>
              </a:spcAft>
            </a:pPr>
            <a:r>
              <a:rPr sz="1300" b="1" dirty="0">
                <a:solidFill>
                  <a:srgbClr val="1A1A1A"/>
                </a:solidFill>
                <a:latin typeface="Inter"/>
              </a:rPr>
              <a:t>Blended CSAT remained below </a:t>
            </a:r>
            <a:r>
              <a:rPr lang="es-MX" sz="1300" b="1" dirty="0">
                <a:solidFill>
                  <a:srgbClr val="1A1A1A"/>
                </a:solidFill>
                <a:latin typeface="Inter"/>
              </a:rPr>
              <a:t>target</a:t>
            </a:r>
            <a:r>
              <a:rPr sz="1300" b="1" dirty="0">
                <a:solidFill>
                  <a:srgbClr val="1A1A1A"/>
                </a:solidFill>
                <a:latin typeface="Inter"/>
              </a:rPr>
              <a:t> throughout the month</a:t>
            </a:r>
          </a:p>
        </p:txBody>
      </p:sp>
      <p:sp>
        <p:nvSpPr>
          <p:cNvPr id="20" name="TextBox 19"/>
          <p:cNvSpPr txBox="1"/>
          <p:nvPr/>
        </p:nvSpPr>
        <p:spPr>
          <a:xfrm>
            <a:off x="892966" y="4544553"/>
            <a:ext cx="10710367" cy="1545038"/>
          </a:xfrm>
          <a:prstGeom prst="rect">
            <a:avLst/>
          </a:prstGeom>
          <a:noFill/>
        </p:spPr>
        <p:txBody>
          <a:bodyPr wrap="square" lIns="0" tIns="0" rIns="0" bIns="0" anchor="t">
            <a:spAutoFit/>
          </a:bodyPr>
          <a:lstStyle/>
          <a:p>
            <a:pPr algn="l">
              <a:lnSpc>
                <a:spcPct val="132000"/>
              </a:lnSpc>
              <a:spcAft>
                <a:spcPts val="400"/>
              </a:spcAft>
            </a:pPr>
            <a:r>
              <a:rPr lang="en-US" sz="1200" b="1" dirty="0">
                <a:solidFill>
                  <a:srgbClr val="4B5563"/>
                </a:solidFill>
                <a:latin typeface="Inter"/>
              </a:rPr>
              <a:t>Structural Process Deficit: </a:t>
            </a:r>
            <a:r>
              <a:rPr lang="en-US" sz="1200" b="0" dirty="0">
                <a:solidFill>
                  <a:srgbClr val="4B5563"/>
                </a:solidFill>
                <a:latin typeface="Inter"/>
              </a:rPr>
              <a:t>All 31 days operated strictly within normal statistical control limits (LCL 76.60% – UCL 83.24%), yet 100% of daily data points failed to meet the 85.0% CSAT target. This confirms common-cause process limitation rather than isolated operational noise.</a:t>
            </a:r>
          </a:p>
          <a:p>
            <a:pPr algn="l">
              <a:lnSpc>
                <a:spcPct val="132000"/>
              </a:lnSpc>
              <a:spcAft>
                <a:spcPts val="400"/>
              </a:spcAft>
            </a:pPr>
            <a:r>
              <a:rPr lang="en-US" sz="1200" b="1" dirty="0">
                <a:solidFill>
                  <a:srgbClr val="4B5563"/>
                </a:solidFill>
                <a:latin typeface="Inter"/>
              </a:rPr>
              <a:t>Metric Trajectory: </a:t>
            </a:r>
            <a:r>
              <a:rPr lang="en-US" sz="1200" b="0" dirty="0">
                <a:solidFill>
                  <a:srgbClr val="4B5563"/>
                </a:solidFill>
                <a:latin typeface="Inter"/>
              </a:rPr>
              <a:t>QA maintained steady performance near 94.49% (aside from May 6 at 86.44%). Recontact trended favorably in week 4 (5.26%), but finished the month above threshold at 5.83%.</a:t>
            </a:r>
          </a:p>
          <a:p>
            <a:pPr algn="l">
              <a:lnSpc>
                <a:spcPct val="132000"/>
              </a:lnSpc>
              <a:spcAft>
                <a:spcPts val="400"/>
              </a:spcAft>
            </a:pPr>
            <a:r>
              <a:rPr lang="en-US" sz="1200" b="1" dirty="0">
                <a:solidFill>
                  <a:srgbClr val="4B5563"/>
                </a:solidFill>
                <a:latin typeface="Inter"/>
              </a:rPr>
              <a:t>Actionability over Coaching: </a:t>
            </a:r>
            <a:r>
              <a:rPr lang="en-US" sz="1200" b="0" dirty="0">
                <a:solidFill>
                  <a:srgbClr val="4B5563"/>
                </a:solidFill>
                <a:latin typeface="Inter"/>
              </a:rPr>
              <a:t>Because underperformance is embedded in system/policy design, agent coaching alone will not shift results. Sustainable CSAT recovery requires empowering agents with direct resolution tools (e.g., instant refund authority, real-time ETA tracking, clear escalation paths).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48840"/>
            <a:ext cx="2743200" cy="1005840"/>
          </a:xfrm>
          <a:prstGeom prst="rect">
            <a:avLst/>
          </a:prstGeom>
          <a:noFill/>
        </p:spPr>
        <p:txBody>
          <a:bodyPr wrap="square" lIns="0" tIns="0" rIns="0" bIns="0" anchor="t">
            <a:spAutoFit/>
          </a:bodyPr>
          <a:lstStyle/>
          <a:p>
            <a:pPr algn="l">
              <a:lnSpc>
                <a:spcPct val="115000"/>
              </a:lnSpc>
              <a:spcAft>
                <a:spcPts val="0"/>
              </a:spcAft>
            </a:pPr>
            <a:r>
              <a:rPr sz="6400" b="1">
                <a:solidFill>
                  <a:srgbClr val="FF6600"/>
                </a:solidFill>
                <a:latin typeface="Inter"/>
              </a:rPr>
              <a:t>01</a:t>
            </a:r>
          </a:p>
        </p:txBody>
      </p:sp>
      <p:sp>
        <p:nvSpPr>
          <p:cNvPr id="5" name="TextBox 4"/>
          <p:cNvSpPr txBox="1"/>
          <p:nvPr/>
        </p:nvSpPr>
        <p:spPr>
          <a:xfrm>
            <a:off x="1188720" y="3246120"/>
            <a:ext cx="8686800" cy="548640"/>
          </a:xfrm>
          <a:prstGeom prst="rect">
            <a:avLst/>
          </a:prstGeom>
          <a:noFill/>
        </p:spPr>
        <p:txBody>
          <a:bodyPr wrap="square" lIns="0" tIns="0" rIns="0" bIns="0" anchor="t">
            <a:spAutoFit/>
          </a:bodyPr>
          <a:lstStyle/>
          <a:p>
            <a:pPr algn="l">
              <a:lnSpc>
                <a:spcPct val="115000"/>
              </a:lnSpc>
              <a:spcAft>
                <a:spcPts val="0"/>
              </a:spcAft>
            </a:pPr>
            <a:r>
              <a:rPr sz="3000" b="1">
                <a:solidFill>
                  <a:srgbClr val="FFFFFF"/>
                </a:solidFill>
                <a:latin typeface="Inter"/>
              </a:rPr>
              <a:t>QA analysis</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4187952"/>
            <a:ext cx="7863840" cy="822960"/>
          </a:xfrm>
          <a:prstGeom prst="rect">
            <a:avLst/>
          </a:prstGeom>
          <a:noFill/>
        </p:spPr>
        <p:txBody>
          <a:bodyPr wrap="square" lIns="0" tIns="0" rIns="0" bIns="0" anchor="t">
            <a:spAutoFit/>
          </a:bodyPr>
          <a:lstStyle/>
          <a:p>
            <a:pPr algn="l">
              <a:lnSpc>
                <a:spcPct val="140000"/>
              </a:lnSpc>
              <a:spcAft>
                <a:spcPts val="0"/>
              </a:spcAft>
            </a:pPr>
            <a:r>
              <a:rPr sz="1300" b="0">
                <a:solidFill>
                  <a:srgbClr val="C9CCD1"/>
                </a:solidFill>
                <a:latin typeface="Inter"/>
              </a:rPr>
              <a:t>Score against goal by channel and by contact reason. Then the defects behind each gap.</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tIns="0" rIns="0" bIns="0" anchor="ctr">
            <a:spAutoFit/>
          </a:bodyPr>
          <a:lstStyle/>
          <a:p>
            <a:pPr algn="l">
              <a:lnSpc>
                <a:spcPct val="115000"/>
              </a:lnSpc>
              <a:spcAft>
                <a:spcPts val="0"/>
              </a:spcAft>
            </a:pPr>
            <a:r>
              <a:rPr sz="1500" b="1">
                <a:solidFill>
                  <a:srgbClr val="FFFFFF"/>
                </a:solidFill>
                <a:latin typeface="Inter"/>
              </a:rPr>
              <a:t>DiDi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dirty="0">
                <a:solidFill>
                  <a:srgbClr val="FFFFFF"/>
                </a:solidFill>
                <a:latin typeface="Inter"/>
              </a:rPr>
              <a:t>QA analysis by channel</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Channel-specific performance</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09</a:t>
            </a:r>
          </a:p>
        </p:txBody>
      </p:sp>
      <p:sp>
        <p:nvSpPr>
          <p:cNvPr id="10" name="TextBox 9"/>
          <p:cNvSpPr txBox="1"/>
          <p:nvPr/>
        </p:nvSpPr>
        <p:spPr>
          <a:xfrm>
            <a:off x="154004" y="6618557"/>
            <a:ext cx="11277295" cy="219456"/>
          </a:xfrm>
          <a:prstGeom prst="rect">
            <a:avLst/>
          </a:prstGeom>
          <a:noFill/>
        </p:spPr>
        <p:txBody>
          <a:bodyPr wrap="square" lIns="0" tIns="0" rIns="0" bIns="0" anchor="t">
            <a:spAutoFit/>
          </a:bodyPr>
          <a:lstStyle/>
          <a:p>
            <a:pPr algn="l">
              <a:lnSpc>
                <a:spcPct val="115000"/>
              </a:lnSpc>
              <a:spcAft>
                <a:spcPts val="0"/>
              </a:spcAft>
            </a:pPr>
            <a:r>
              <a:rPr sz="750" b="0" dirty="0" err="1">
                <a:solidFill>
                  <a:srgbClr val="9CA3AF"/>
                </a:solidFill>
                <a:latin typeface="Inter"/>
              </a:rPr>
              <a:t>DiDi</a:t>
            </a:r>
            <a:r>
              <a:rPr sz="750" b="0" dirty="0">
                <a:solidFill>
                  <a:srgbClr val="9CA3AF"/>
                </a:solidFill>
                <a:latin typeface="Inter"/>
              </a:rPr>
              <a:t> Global, CX Service Operations   |   Confidential. Internal use only</a:t>
            </a:r>
          </a:p>
        </p:txBody>
      </p:sp>
      <p:pic>
        <p:nvPicPr>
          <p:cNvPr id="11" name="Picture 10" descr="channel_compare.png"/>
          <p:cNvPicPr>
            <a:picLocks noChangeAspect="1"/>
          </p:cNvPicPr>
          <p:nvPr/>
        </p:nvPicPr>
        <p:blipFill>
          <a:blip r:embed="rId3"/>
          <a:stretch>
            <a:fillRect/>
          </a:stretch>
        </p:blipFill>
        <p:spPr>
          <a:xfrm>
            <a:off x="295656" y="1239012"/>
            <a:ext cx="6835461" cy="2583169"/>
          </a:xfrm>
          <a:prstGeom prst="rect">
            <a:avLst/>
          </a:prstGeom>
          <a:effectLst>
            <a:outerShdw blurRad="50800" dist="38100" dir="2700000" algn="tl" rotWithShape="0">
              <a:prstClr val="black">
                <a:alpha val="40000"/>
              </a:prstClr>
            </a:outerShdw>
          </a:effectLst>
        </p:spPr>
      </p:pic>
      <p:grpSp>
        <p:nvGrpSpPr>
          <p:cNvPr id="49" name="Grupo 48">
            <a:extLst>
              <a:ext uri="{FF2B5EF4-FFF2-40B4-BE49-F238E27FC236}">
                <a16:creationId xmlns:a16="http://schemas.microsoft.com/office/drawing/2014/main" id="{B50134DC-831A-40F2-0ABB-05898F78DEB7}"/>
              </a:ext>
            </a:extLst>
          </p:cNvPr>
          <p:cNvGrpSpPr/>
          <p:nvPr/>
        </p:nvGrpSpPr>
        <p:grpSpPr>
          <a:xfrm>
            <a:off x="7314616" y="1239012"/>
            <a:ext cx="4672584" cy="1645920"/>
            <a:chOff x="7223760" y="1298448"/>
            <a:chExt cx="4343400" cy="1321498"/>
          </a:xfrm>
          <a:effectLst/>
        </p:grpSpPr>
        <p:sp>
          <p:nvSpPr>
            <p:cNvPr id="12" name="Rectangle 11"/>
            <p:cNvSpPr/>
            <p:nvPr/>
          </p:nvSpPr>
          <p:spPr>
            <a:xfrm>
              <a:off x="7223760" y="1298448"/>
              <a:ext cx="4343400" cy="36576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3" name="TextBox 12"/>
            <p:cNvSpPr txBox="1"/>
            <p:nvPr/>
          </p:nvSpPr>
          <p:spPr>
            <a:xfrm>
              <a:off x="7351776" y="1414455"/>
              <a:ext cx="932688" cy="133749"/>
            </a:xfrm>
            <a:prstGeom prst="rect">
              <a:avLst/>
            </a:prstGeom>
            <a:noFill/>
          </p:spPr>
          <p:txBody>
            <a:bodyPr wrap="square" lIns="0" tIns="0" rIns="0" bIns="0" anchor="ctr">
              <a:spAutoFit/>
            </a:bodyPr>
            <a:lstStyle/>
            <a:p>
              <a:pPr algn="ctr">
                <a:lnSpc>
                  <a:spcPct val="115000"/>
                </a:lnSpc>
                <a:spcAft>
                  <a:spcPts val="0"/>
                </a:spcAft>
              </a:pPr>
              <a:r>
                <a:rPr sz="1000" b="1" dirty="0">
                  <a:solidFill>
                    <a:srgbClr val="FFFFFF"/>
                  </a:solidFill>
                  <a:latin typeface="Inter"/>
                </a:rPr>
                <a:t>Channel</a:t>
              </a:r>
            </a:p>
          </p:txBody>
        </p:sp>
        <p:sp>
          <p:nvSpPr>
            <p:cNvPr id="14" name="TextBox 13"/>
            <p:cNvSpPr txBox="1"/>
            <p:nvPr/>
          </p:nvSpPr>
          <p:spPr>
            <a:xfrm>
              <a:off x="8540496" y="1414455"/>
              <a:ext cx="384047" cy="133749"/>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QA</a:t>
              </a:r>
            </a:p>
          </p:txBody>
        </p:sp>
        <p:sp>
          <p:nvSpPr>
            <p:cNvPr id="15" name="TextBox 14"/>
            <p:cNvSpPr txBox="1"/>
            <p:nvPr/>
          </p:nvSpPr>
          <p:spPr>
            <a:xfrm>
              <a:off x="9180576" y="1414455"/>
              <a:ext cx="429768" cy="133749"/>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vs 85</a:t>
              </a:r>
            </a:p>
          </p:txBody>
        </p:sp>
        <p:sp>
          <p:nvSpPr>
            <p:cNvPr id="16" name="TextBox 15"/>
            <p:cNvSpPr txBox="1"/>
            <p:nvPr/>
          </p:nvSpPr>
          <p:spPr>
            <a:xfrm>
              <a:off x="9866376" y="1414455"/>
              <a:ext cx="521207" cy="133749"/>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Audits</a:t>
              </a:r>
            </a:p>
          </p:txBody>
        </p:sp>
        <p:sp>
          <p:nvSpPr>
            <p:cNvPr id="17" name="TextBox 16"/>
            <p:cNvSpPr txBox="1"/>
            <p:nvPr/>
          </p:nvSpPr>
          <p:spPr>
            <a:xfrm>
              <a:off x="10643616" y="1414455"/>
              <a:ext cx="795527" cy="133749"/>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Status</a:t>
              </a:r>
            </a:p>
          </p:txBody>
        </p:sp>
        <p:sp>
          <p:nvSpPr>
            <p:cNvPr id="18" name="TextBox 17"/>
            <p:cNvSpPr txBox="1"/>
            <p:nvPr/>
          </p:nvSpPr>
          <p:spPr>
            <a:xfrm>
              <a:off x="7351776" y="1835076"/>
              <a:ext cx="932688" cy="133749"/>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Phone</a:t>
              </a:r>
            </a:p>
          </p:txBody>
        </p:sp>
        <p:sp>
          <p:nvSpPr>
            <p:cNvPr id="19" name="Rounded Rectangle 18"/>
            <p:cNvSpPr/>
            <p:nvPr/>
          </p:nvSpPr>
          <p:spPr>
            <a:xfrm>
              <a:off x="8476488" y="1728216"/>
              <a:ext cx="512063" cy="347472"/>
            </a:xfrm>
            <a:prstGeom prst="roundRect">
              <a:avLst>
                <a:gd name="adj" fmla="val 13157"/>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0" name="TextBox 19"/>
            <p:cNvSpPr txBox="1"/>
            <p:nvPr/>
          </p:nvSpPr>
          <p:spPr>
            <a:xfrm>
              <a:off x="8540496" y="1835076"/>
              <a:ext cx="384047" cy="133749"/>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83.04</a:t>
              </a:r>
            </a:p>
          </p:txBody>
        </p:sp>
        <p:sp>
          <p:nvSpPr>
            <p:cNvPr id="21" name="TextBox 20"/>
            <p:cNvSpPr txBox="1"/>
            <p:nvPr/>
          </p:nvSpPr>
          <p:spPr>
            <a:xfrm>
              <a:off x="9180576" y="1835076"/>
              <a:ext cx="429768" cy="133749"/>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-1.96</a:t>
              </a:r>
            </a:p>
          </p:txBody>
        </p:sp>
        <p:sp>
          <p:nvSpPr>
            <p:cNvPr id="22" name="TextBox 21"/>
            <p:cNvSpPr txBox="1"/>
            <p:nvPr/>
          </p:nvSpPr>
          <p:spPr>
            <a:xfrm>
              <a:off x="9866376" y="1835076"/>
              <a:ext cx="521207" cy="133749"/>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355</a:t>
              </a:r>
            </a:p>
          </p:txBody>
        </p:sp>
        <p:sp>
          <p:nvSpPr>
            <p:cNvPr id="23" name="Rounded Rectangle 22"/>
            <p:cNvSpPr/>
            <p:nvPr/>
          </p:nvSpPr>
          <p:spPr>
            <a:xfrm>
              <a:off x="10643616" y="1764792"/>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4" name="Oval 23"/>
            <p:cNvSpPr/>
            <p:nvPr/>
          </p:nvSpPr>
          <p:spPr>
            <a:xfrm>
              <a:off x="10753344" y="1851660"/>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5" name="TextBox 24"/>
            <p:cNvSpPr txBox="1"/>
            <p:nvPr/>
          </p:nvSpPr>
          <p:spPr>
            <a:xfrm>
              <a:off x="10917936" y="1835076"/>
              <a:ext cx="603732" cy="133749"/>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Near goal</a:t>
              </a:r>
            </a:p>
          </p:txBody>
        </p:sp>
        <p:sp>
          <p:nvSpPr>
            <p:cNvPr id="26" name="Rectangle 25"/>
            <p:cNvSpPr/>
            <p:nvPr/>
          </p:nvSpPr>
          <p:spPr>
            <a:xfrm>
              <a:off x="7223760" y="2134933"/>
              <a:ext cx="43434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7" name="Rectangle 26"/>
            <p:cNvSpPr/>
            <p:nvPr/>
          </p:nvSpPr>
          <p:spPr>
            <a:xfrm>
              <a:off x="7223760" y="2139696"/>
              <a:ext cx="4343400" cy="475488"/>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8" name="TextBox 27"/>
            <p:cNvSpPr txBox="1"/>
            <p:nvPr/>
          </p:nvSpPr>
          <p:spPr>
            <a:xfrm>
              <a:off x="7351776" y="2310566"/>
              <a:ext cx="932688" cy="133749"/>
            </a:xfrm>
            <a:prstGeom prst="rect">
              <a:avLst/>
            </a:prstGeom>
            <a:noFill/>
          </p:spPr>
          <p:txBody>
            <a:bodyPr wrap="square" lIns="0" tIns="0" rIns="0" bIns="0" anchor="ctr">
              <a:spAutoFit/>
            </a:bodyPr>
            <a:lstStyle/>
            <a:p>
              <a:pPr algn="ctr">
                <a:lnSpc>
                  <a:spcPct val="115000"/>
                </a:lnSpc>
                <a:spcAft>
                  <a:spcPts val="0"/>
                </a:spcAft>
              </a:pPr>
              <a:r>
                <a:rPr sz="1000" b="1" dirty="0">
                  <a:solidFill>
                    <a:srgbClr val="1A1A1A"/>
                  </a:solidFill>
                  <a:latin typeface="Inter"/>
                </a:rPr>
                <a:t>Live Chat</a:t>
              </a:r>
            </a:p>
          </p:txBody>
        </p:sp>
        <p:sp>
          <p:nvSpPr>
            <p:cNvPr id="29" name="Rounded Rectangle 28"/>
            <p:cNvSpPr/>
            <p:nvPr/>
          </p:nvSpPr>
          <p:spPr>
            <a:xfrm>
              <a:off x="8476488" y="2203704"/>
              <a:ext cx="512063" cy="347472"/>
            </a:xfrm>
            <a:prstGeom prst="roundRect">
              <a:avLst>
                <a:gd name="adj" fmla="val 13157"/>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0" name="TextBox 29"/>
            <p:cNvSpPr txBox="1"/>
            <p:nvPr/>
          </p:nvSpPr>
          <p:spPr>
            <a:xfrm>
              <a:off x="8540496" y="2310566"/>
              <a:ext cx="384047" cy="133749"/>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96.01</a:t>
              </a:r>
            </a:p>
          </p:txBody>
        </p:sp>
        <p:sp>
          <p:nvSpPr>
            <p:cNvPr id="31" name="TextBox 30"/>
            <p:cNvSpPr txBox="1"/>
            <p:nvPr/>
          </p:nvSpPr>
          <p:spPr>
            <a:xfrm>
              <a:off x="9180576" y="2310566"/>
              <a:ext cx="429768" cy="133749"/>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+11.01</a:t>
              </a:r>
            </a:p>
          </p:txBody>
        </p:sp>
        <p:sp>
          <p:nvSpPr>
            <p:cNvPr id="32" name="TextBox 31"/>
            <p:cNvSpPr txBox="1"/>
            <p:nvPr/>
          </p:nvSpPr>
          <p:spPr>
            <a:xfrm>
              <a:off x="9866376" y="2310566"/>
              <a:ext cx="521207" cy="133749"/>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2,105</a:t>
              </a:r>
            </a:p>
          </p:txBody>
        </p:sp>
        <p:sp>
          <p:nvSpPr>
            <p:cNvPr id="33" name="Rounded Rectangle 32"/>
            <p:cNvSpPr/>
            <p:nvPr/>
          </p:nvSpPr>
          <p:spPr>
            <a:xfrm>
              <a:off x="10643616" y="2240280"/>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4" name="Oval 33"/>
            <p:cNvSpPr/>
            <p:nvPr/>
          </p:nvSpPr>
          <p:spPr>
            <a:xfrm>
              <a:off x="10753344" y="2327148"/>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5" name="TextBox 34"/>
            <p:cNvSpPr txBox="1"/>
            <p:nvPr/>
          </p:nvSpPr>
          <p:spPr>
            <a:xfrm>
              <a:off x="10917936" y="2310566"/>
              <a:ext cx="489889" cy="133749"/>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On goal</a:t>
              </a:r>
            </a:p>
          </p:txBody>
        </p:sp>
        <p:sp>
          <p:nvSpPr>
            <p:cNvPr id="36" name="Rectangle 35"/>
            <p:cNvSpPr/>
            <p:nvPr/>
          </p:nvSpPr>
          <p:spPr>
            <a:xfrm>
              <a:off x="7223760" y="2610421"/>
              <a:ext cx="43434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grpSp>
      <p:sp>
        <p:nvSpPr>
          <p:cNvPr id="37" name="TextBox 36"/>
          <p:cNvSpPr txBox="1"/>
          <p:nvPr/>
        </p:nvSpPr>
        <p:spPr>
          <a:xfrm>
            <a:off x="7415200" y="2997924"/>
            <a:ext cx="4572000" cy="174920"/>
          </a:xfrm>
          <a:prstGeom prst="rect">
            <a:avLst/>
          </a:prstGeom>
          <a:noFill/>
        </p:spPr>
        <p:txBody>
          <a:bodyPr wrap="square" lIns="0" tIns="0" rIns="0" bIns="0" anchor="t">
            <a:spAutoFit/>
          </a:bodyPr>
          <a:lstStyle/>
          <a:p>
            <a:pPr algn="l">
              <a:lnSpc>
                <a:spcPct val="115000"/>
              </a:lnSpc>
              <a:spcAft>
                <a:spcPts val="0"/>
              </a:spcAft>
            </a:pPr>
            <a:r>
              <a:rPr lang="es-CO" sz="1050" b="1" dirty="0"/>
              <a:t>Key </a:t>
            </a:r>
            <a:r>
              <a:rPr lang="es-CO" sz="1050" b="1" dirty="0" err="1"/>
              <a:t>Phone</a:t>
            </a:r>
            <a:r>
              <a:rPr lang="es-CO" sz="1050" b="1" dirty="0"/>
              <a:t> Performance </a:t>
            </a:r>
            <a:r>
              <a:rPr lang="es-CO" sz="1050" b="1" dirty="0" err="1"/>
              <a:t>Factors</a:t>
            </a:r>
            <a:endParaRPr lang="en-US" sz="1050" b="1" dirty="0">
              <a:solidFill>
                <a:srgbClr val="1A1A1A"/>
              </a:solidFill>
              <a:latin typeface="Inter"/>
            </a:endParaRPr>
          </a:p>
        </p:txBody>
      </p:sp>
      <p:sp>
        <p:nvSpPr>
          <p:cNvPr id="38" name="Rectangle 37"/>
          <p:cNvSpPr/>
          <p:nvPr/>
        </p:nvSpPr>
        <p:spPr>
          <a:xfrm>
            <a:off x="7324344" y="337740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562088" y="3260011"/>
            <a:ext cx="4334256" cy="378565"/>
          </a:xfrm>
          <a:prstGeom prst="rect">
            <a:avLst/>
          </a:prstGeom>
          <a:noFill/>
        </p:spPr>
        <p:txBody>
          <a:bodyPr wrap="square" lIns="0" tIns="0" rIns="0" bIns="0" anchor="t">
            <a:spAutoFit/>
          </a:bodyPr>
          <a:lstStyle/>
          <a:p>
            <a:pPr algn="l">
              <a:lnSpc>
                <a:spcPct val="128000"/>
              </a:lnSpc>
              <a:spcAft>
                <a:spcPts val="0"/>
              </a:spcAft>
            </a:pPr>
            <a:r>
              <a:rPr lang="en-US" sz="1000" b="1" dirty="0"/>
              <a:t>Higher Case Complexity:</a:t>
            </a:r>
            <a:r>
              <a:rPr lang="en-US" sz="1000" dirty="0"/>
              <a:t> Phone tends to absorbs high-friction scenarios, including refund requests, billing disputes, and undelivered orders.</a:t>
            </a:r>
            <a:endParaRPr sz="950" b="0" dirty="0">
              <a:solidFill>
                <a:srgbClr val="4B5563"/>
              </a:solidFill>
              <a:latin typeface="Inter"/>
            </a:endParaRPr>
          </a:p>
        </p:txBody>
      </p:sp>
      <p:sp>
        <p:nvSpPr>
          <p:cNvPr id="40" name="Rectangle 39"/>
          <p:cNvSpPr/>
          <p:nvPr/>
        </p:nvSpPr>
        <p:spPr>
          <a:xfrm>
            <a:off x="7313823" y="374942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562088" y="3699817"/>
            <a:ext cx="4334256" cy="378565"/>
          </a:xfrm>
          <a:prstGeom prst="rect">
            <a:avLst/>
          </a:prstGeom>
          <a:noFill/>
        </p:spPr>
        <p:txBody>
          <a:bodyPr wrap="square" lIns="0" tIns="0" rIns="0" bIns="0" anchor="t">
            <a:spAutoFit/>
          </a:bodyPr>
          <a:lstStyle/>
          <a:p>
            <a:pPr algn="l">
              <a:lnSpc>
                <a:spcPct val="128000"/>
              </a:lnSpc>
              <a:spcAft>
                <a:spcPts val="0"/>
              </a:spcAft>
            </a:pPr>
            <a:r>
              <a:rPr lang="en-US" sz="1000" b="1" dirty="0"/>
              <a:t>Higher Critical Defect Rate:</a:t>
            </a:r>
            <a:r>
              <a:rPr lang="en-US" sz="1000" dirty="0"/>
              <a:t> Phone exhibits a </a:t>
            </a:r>
            <a:r>
              <a:rPr lang="en-US" sz="1000" b="1" dirty="0"/>
              <a:t>13.52% critical failure rate</a:t>
            </a:r>
            <a:r>
              <a:rPr lang="en-US" sz="1000" dirty="0"/>
              <a:t>—more than 4.5x higher than Live Chat (2.95%).</a:t>
            </a:r>
            <a:endParaRPr sz="950" b="0" dirty="0">
              <a:solidFill>
                <a:srgbClr val="4B5563"/>
              </a:solidFill>
              <a:latin typeface="Inter"/>
            </a:endParaRPr>
          </a:p>
        </p:txBody>
      </p:sp>
      <p:sp>
        <p:nvSpPr>
          <p:cNvPr id="42" name="Rectangle 41"/>
          <p:cNvSpPr/>
          <p:nvPr/>
        </p:nvSpPr>
        <p:spPr>
          <a:xfrm>
            <a:off x="7313823" y="431831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562088" y="4202383"/>
            <a:ext cx="4334256" cy="378565"/>
          </a:xfrm>
          <a:prstGeom prst="rect">
            <a:avLst/>
          </a:prstGeom>
          <a:noFill/>
        </p:spPr>
        <p:txBody>
          <a:bodyPr wrap="square" lIns="0" tIns="0" rIns="0" bIns="0" anchor="t">
            <a:spAutoFit/>
          </a:bodyPr>
          <a:lstStyle/>
          <a:p>
            <a:pPr algn="l">
              <a:lnSpc>
                <a:spcPct val="128000"/>
              </a:lnSpc>
              <a:spcAft>
                <a:spcPts val="0"/>
              </a:spcAft>
            </a:pPr>
            <a:r>
              <a:rPr lang="en-US" sz="1000" b="1" dirty="0"/>
              <a:t>Sample Weighting Bias:</a:t>
            </a:r>
            <a:r>
              <a:rPr lang="en-US" sz="1000" dirty="0"/>
              <a:t> Phone accounts for only </a:t>
            </a:r>
            <a:r>
              <a:rPr lang="en-US" sz="1000" b="1" dirty="0"/>
              <a:t>14.4% of total audits</a:t>
            </a:r>
            <a:r>
              <a:rPr lang="en-US" sz="1000" dirty="0"/>
              <a:t> (355 evaluations), muting its impact on the blended operational QA score.</a:t>
            </a:r>
            <a:endParaRPr sz="950" b="0" dirty="0">
              <a:solidFill>
                <a:srgbClr val="4B5563"/>
              </a:solidFill>
              <a:latin typeface="Inter"/>
            </a:endParaRPr>
          </a:p>
        </p:txBody>
      </p:sp>
      <p:sp>
        <p:nvSpPr>
          <p:cNvPr id="44" name="Rectangle 43"/>
          <p:cNvSpPr/>
          <p:nvPr/>
        </p:nvSpPr>
        <p:spPr>
          <a:xfrm>
            <a:off x="462135" y="4807169"/>
            <a:ext cx="11277295" cy="1762946"/>
          </a:xfrm>
          <a:prstGeom prst="rect">
            <a:avLst/>
          </a:prstGeom>
          <a:solidFill>
            <a:srgbClr val="F4F5F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57200" y="4807168"/>
            <a:ext cx="153544" cy="1762945"/>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94530" y="4827407"/>
            <a:ext cx="10710367" cy="233205"/>
          </a:xfrm>
          <a:prstGeom prst="rect">
            <a:avLst/>
          </a:prstGeom>
          <a:noFill/>
        </p:spPr>
        <p:txBody>
          <a:bodyPr wrap="square" lIns="0" tIns="0" rIns="0" bIns="0" anchor="t">
            <a:spAutoFit/>
          </a:bodyPr>
          <a:lstStyle/>
          <a:p>
            <a:pPr algn="l">
              <a:lnSpc>
                <a:spcPct val="115000"/>
              </a:lnSpc>
              <a:spcAft>
                <a:spcPts val="0"/>
              </a:spcAft>
            </a:pPr>
            <a:r>
              <a:rPr lang="en-US" sz="1400" b="1" dirty="0"/>
              <a:t>QA-CSAT Relation: High Chat Volume &amp; Lenient Rubrics Mask Operational Risks</a:t>
            </a:r>
            <a:endParaRPr sz="1300" b="1" dirty="0">
              <a:solidFill>
                <a:srgbClr val="1A1A1A"/>
              </a:solidFill>
              <a:latin typeface="Inter"/>
            </a:endParaRPr>
          </a:p>
        </p:txBody>
      </p:sp>
      <p:sp>
        <p:nvSpPr>
          <p:cNvPr id="47" name="TextBox 46"/>
          <p:cNvSpPr txBox="1"/>
          <p:nvPr/>
        </p:nvSpPr>
        <p:spPr>
          <a:xfrm>
            <a:off x="794530" y="5210482"/>
            <a:ext cx="10710367" cy="1165127"/>
          </a:xfrm>
          <a:prstGeom prst="rect">
            <a:avLst/>
          </a:prstGeom>
          <a:noFill/>
        </p:spPr>
        <p:txBody>
          <a:bodyPr wrap="square" lIns="0" tIns="0" rIns="0" bIns="0" anchor="t">
            <a:spAutoFit/>
          </a:bodyPr>
          <a:lstStyle/>
          <a:p>
            <a:pPr marL="171450" indent="-171450" algn="l">
              <a:lnSpc>
                <a:spcPct val="132000"/>
              </a:lnSpc>
              <a:spcAft>
                <a:spcPts val="400"/>
              </a:spcAft>
              <a:buFont typeface="Arial" panose="020B0604020202020204" pitchFamily="34" charset="0"/>
              <a:buChar char="•"/>
            </a:pPr>
            <a:r>
              <a:rPr lang="en-US" sz="1400" kern="0" dirty="0">
                <a:effectLst/>
                <a:latin typeface="+mj-lt"/>
                <a:ea typeface="Times New Roman" panose="02020603050405020304" pitchFamily="18" charset="0"/>
              </a:rPr>
              <a:t>Phone QA sits below target at </a:t>
            </a:r>
            <a:r>
              <a:rPr lang="en-US" sz="1400" b="1" kern="0" dirty="0">
                <a:effectLst/>
                <a:latin typeface="+mj-lt"/>
                <a:ea typeface="Times New Roman" panose="02020603050405020304" pitchFamily="18" charset="0"/>
              </a:rPr>
              <a:t>83.04</a:t>
            </a:r>
            <a:r>
              <a:rPr lang="en-US" sz="1400" kern="0" dirty="0">
                <a:effectLst/>
                <a:latin typeface="+mj-lt"/>
                <a:ea typeface="Times New Roman" panose="02020603050405020304" pitchFamily="18" charset="0"/>
              </a:rPr>
              <a:t> (-1.96 pts), whereas Chat achieves </a:t>
            </a:r>
            <a:r>
              <a:rPr lang="en-US" sz="1050" b="1" kern="0" dirty="0">
                <a:effectLst/>
                <a:latin typeface="+mj-lt"/>
                <a:ea typeface="Times New Roman" panose="02020603050405020304" pitchFamily="18" charset="0"/>
              </a:rPr>
              <a:t>96.01</a:t>
            </a:r>
            <a:r>
              <a:rPr lang="en-US" sz="1400" kern="0" dirty="0">
                <a:effectLst/>
                <a:latin typeface="+mj-lt"/>
                <a:ea typeface="Times New Roman" panose="02020603050405020304" pitchFamily="18" charset="0"/>
              </a:rPr>
              <a:t>. Because Chat represents </a:t>
            </a:r>
            <a:r>
              <a:rPr lang="en-US" sz="1400" b="1" kern="0" dirty="0">
                <a:effectLst/>
                <a:latin typeface="+mj-lt"/>
                <a:ea typeface="Times New Roman" panose="02020603050405020304" pitchFamily="18" charset="0"/>
              </a:rPr>
              <a:t>85.6% of the audit volume</a:t>
            </a:r>
            <a:r>
              <a:rPr lang="en-US" sz="1400" kern="0" dirty="0">
                <a:effectLst/>
                <a:latin typeface="+mj-lt"/>
                <a:ea typeface="Times New Roman" panose="02020603050405020304" pitchFamily="18" charset="0"/>
              </a:rPr>
              <a:t>, it artificially inflates the blended score to 94.14. However, Chat's high score reflects lenient criteria, lacking critical penalties for information accuracy. </a:t>
            </a:r>
          </a:p>
          <a:p>
            <a:pPr marL="171450" indent="-171450" algn="l">
              <a:lnSpc>
                <a:spcPct val="132000"/>
              </a:lnSpc>
              <a:spcAft>
                <a:spcPts val="400"/>
              </a:spcAft>
              <a:buFont typeface="Arial" panose="020B0604020202020204" pitchFamily="34" charset="0"/>
              <a:buChar char="•"/>
            </a:pPr>
            <a:r>
              <a:rPr lang="en-US" sz="1400" kern="0" dirty="0">
                <a:effectLst/>
                <a:latin typeface="+mj-lt"/>
                <a:ea typeface="Times New Roman" panose="02020603050405020304" pitchFamily="18" charset="0"/>
              </a:rPr>
              <a:t>Recalibrating Chat to Phone standards drops its score to </a:t>
            </a:r>
            <a:r>
              <a:rPr lang="en-US" sz="1400" b="1" kern="0" dirty="0">
                <a:effectLst/>
                <a:latin typeface="+mj-lt"/>
                <a:ea typeface="Times New Roman" panose="02020603050405020304" pitchFamily="18" charset="0"/>
              </a:rPr>
              <a:t>80.14</a:t>
            </a:r>
            <a:r>
              <a:rPr lang="en-US" sz="1400" kern="0" dirty="0">
                <a:effectLst/>
                <a:latin typeface="+mj-lt"/>
                <a:ea typeface="Times New Roman" panose="02020603050405020304" pitchFamily="18" charset="0"/>
              </a:rPr>
              <a:t>. Critically, despite its lower QA score, Phone achieves significantly higher CSAT than Chat (</a:t>
            </a:r>
            <a:r>
              <a:rPr lang="en-US" sz="1400" b="1" kern="0" dirty="0">
                <a:effectLst/>
                <a:latin typeface="+mj-lt"/>
                <a:ea typeface="Times New Roman" panose="02020603050405020304" pitchFamily="18" charset="0"/>
              </a:rPr>
              <a:t>86.3% vs. 77.6%</a:t>
            </a:r>
            <a:r>
              <a:rPr lang="en-US" sz="1400" kern="0" dirty="0">
                <a:effectLst/>
                <a:latin typeface="+mj-lt"/>
                <a:ea typeface="Times New Roman" panose="02020603050405020304" pitchFamily="18" charset="0"/>
              </a:rPr>
              <a:t>), exposing a disconnect between internal QA metrics and customer perception.</a:t>
            </a:r>
            <a:endParaRPr sz="1050" b="0" dirty="0">
              <a:solidFill>
                <a:srgbClr val="4B5563"/>
              </a:solidFill>
              <a:latin typeface="+mj-lt"/>
            </a:endParaRPr>
          </a:p>
        </p:txBody>
      </p:sp>
      <p:sp>
        <p:nvSpPr>
          <p:cNvPr id="48" name="Rectángulo 47">
            <a:extLst>
              <a:ext uri="{FF2B5EF4-FFF2-40B4-BE49-F238E27FC236}">
                <a16:creationId xmlns:a16="http://schemas.microsoft.com/office/drawing/2014/main" id="{DEACA2D2-A5D8-B881-A1D8-6C7C27C95566}"/>
              </a:ext>
            </a:extLst>
          </p:cNvPr>
          <p:cNvSpPr/>
          <p:nvPr/>
        </p:nvSpPr>
        <p:spPr>
          <a:xfrm>
            <a:off x="7269477" y="1183398"/>
            <a:ext cx="4785363" cy="3490677"/>
          </a:xfrm>
          <a:prstGeom prst="rect">
            <a:avLst/>
          </a:prstGeom>
          <a:noFill/>
          <a:ln>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QA analysis: Phone</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355 audits  ·  12 attributes  ·  score 83.04 vs 85 goal</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10</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pareto_phone.png"/>
          <p:cNvPicPr>
            <a:picLocks noChangeAspect="1"/>
          </p:cNvPicPr>
          <p:nvPr/>
        </p:nvPicPr>
        <p:blipFill>
          <a:blip r:embed="rId3"/>
          <a:stretch>
            <a:fillRect/>
          </a:stretch>
        </p:blipFill>
        <p:spPr>
          <a:xfrm>
            <a:off x="740844" y="923544"/>
            <a:ext cx="5559192" cy="3582503"/>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6931152" y="1110653"/>
            <a:ext cx="4617720" cy="219456"/>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Contact reasons with the lowest QA</a:t>
            </a:r>
          </a:p>
        </p:txBody>
      </p:sp>
      <p:grpSp>
        <p:nvGrpSpPr>
          <p:cNvPr id="76" name="Grupo 75">
            <a:extLst>
              <a:ext uri="{FF2B5EF4-FFF2-40B4-BE49-F238E27FC236}">
                <a16:creationId xmlns:a16="http://schemas.microsoft.com/office/drawing/2014/main" id="{C360921C-5F1C-CA7B-5F21-DEBC1C020B16}"/>
              </a:ext>
            </a:extLst>
          </p:cNvPr>
          <p:cNvGrpSpPr/>
          <p:nvPr/>
        </p:nvGrpSpPr>
        <p:grpSpPr>
          <a:xfrm>
            <a:off x="6931152" y="1448181"/>
            <a:ext cx="4745736" cy="2525077"/>
            <a:chOff x="7132320" y="1536192"/>
            <a:chExt cx="4544568" cy="2437066"/>
          </a:xfrm>
        </p:grpSpPr>
        <p:sp>
          <p:nvSpPr>
            <p:cNvPr id="13" name="Rectangle 12"/>
            <p:cNvSpPr/>
            <p:nvPr/>
          </p:nvSpPr>
          <p:spPr>
            <a:xfrm>
              <a:off x="7132320" y="1536192"/>
              <a:ext cx="4544568"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7260336" y="1620396"/>
              <a:ext cx="2395728" cy="160778"/>
            </a:xfrm>
            <a:prstGeom prst="rect">
              <a:avLst/>
            </a:prstGeom>
            <a:noFill/>
          </p:spPr>
          <p:txBody>
            <a:bodyPr wrap="square" lIns="0" tIns="0" rIns="0" bIns="0" anchor="ctr">
              <a:spAutoFit/>
            </a:bodyPr>
            <a:lstStyle/>
            <a:p>
              <a:pPr algn="ctr">
                <a:lnSpc>
                  <a:spcPct val="115000"/>
                </a:lnSpc>
                <a:spcAft>
                  <a:spcPts val="0"/>
                </a:spcAft>
              </a:pPr>
              <a:r>
                <a:rPr sz="1000" b="1" dirty="0">
                  <a:solidFill>
                    <a:srgbClr val="FFFFFF"/>
                  </a:solidFill>
                  <a:latin typeface="Inter"/>
                </a:rPr>
                <a:t>Contact reason (CR Lv4)</a:t>
              </a:r>
            </a:p>
          </p:txBody>
        </p:sp>
        <p:sp>
          <p:nvSpPr>
            <p:cNvPr id="15" name="TextBox 14"/>
            <p:cNvSpPr txBox="1"/>
            <p:nvPr/>
          </p:nvSpPr>
          <p:spPr>
            <a:xfrm>
              <a:off x="9912096" y="1620396"/>
              <a:ext cx="24688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QA</a:t>
              </a:r>
            </a:p>
          </p:txBody>
        </p:sp>
        <p:sp>
          <p:nvSpPr>
            <p:cNvPr id="16" name="TextBox 15"/>
            <p:cNvSpPr txBox="1"/>
            <p:nvPr/>
          </p:nvSpPr>
          <p:spPr>
            <a:xfrm>
              <a:off x="10415016" y="1620396"/>
              <a:ext cx="128015" cy="160778"/>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n</a:t>
              </a:r>
            </a:p>
          </p:txBody>
        </p:sp>
        <p:sp>
          <p:nvSpPr>
            <p:cNvPr id="17" name="TextBox 16"/>
            <p:cNvSpPr txBox="1"/>
            <p:nvPr/>
          </p:nvSpPr>
          <p:spPr>
            <a:xfrm>
              <a:off x="10799064" y="1620396"/>
              <a:ext cx="74980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Status</a:t>
              </a:r>
            </a:p>
          </p:txBody>
        </p:sp>
        <p:sp>
          <p:nvSpPr>
            <p:cNvPr id="18" name="TextBox 17"/>
            <p:cNvSpPr txBox="1"/>
            <p:nvPr/>
          </p:nvSpPr>
          <p:spPr>
            <a:xfrm>
              <a:off x="7260336" y="1995299"/>
              <a:ext cx="2395728" cy="160778"/>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Completed but not received — market p</a:t>
              </a:r>
              <a:r>
                <a:rPr lang="es-MX" sz="1000" b="0" dirty="0">
                  <a:solidFill>
                    <a:srgbClr val="4B5563"/>
                  </a:solidFill>
                  <a:latin typeface="Inter"/>
                </a:rPr>
                <a:t>lace</a:t>
              </a:r>
              <a:endParaRPr sz="1000" b="0" dirty="0">
                <a:solidFill>
                  <a:srgbClr val="4B5563"/>
                </a:solidFill>
                <a:latin typeface="Inter"/>
              </a:endParaRPr>
            </a:p>
          </p:txBody>
        </p:sp>
        <p:sp>
          <p:nvSpPr>
            <p:cNvPr id="19" name="Rounded Rectangle 18"/>
            <p:cNvSpPr/>
            <p:nvPr/>
          </p:nvSpPr>
          <p:spPr>
            <a:xfrm>
              <a:off x="9848088" y="1929384"/>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9912096" y="1995299"/>
              <a:ext cx="24688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47.5</a:t>
              </a:r>
            </a:p>
          </p:txBody>
        </p:sp>
        <p:sp>
          <p:nvSpPr>
            <p:cNvPr id="21" name="TextBox 20"/>
            <p:cNvSpPr txBox="1"/>
            <p:nvPr/>
          </p:nvSpPr>
          <p:spPr>
            <a:xfrm>
              <a:off x="10415016" y="1995299"/>
              <a:ext cx="128015"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4</a:t>
              </a:r>
            </a:p>
          </p:txBody>
        </p:sp>
        <p:sp>
          <p:nvSpPr>
            <p:cNvPr id="22" name="Rounded Rectangle 21"/>
            <p:cNvSpPr/>
            <p:nvPr/>
          </p:nvSpPr>
          <p:spPr>
            <a:xfrm>
              <a:off x="10799064" y="193852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Oval 22"/>
            <p:cNvSpPr/>
            <p:nvPr/>
          </p:nvSpPr>
          <p:spPr>
            <a:xfrm>
              <a:off x="10908792" y="202539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11073384" y="2003345"/>
              <a:ext cx="546811" cy="144688"/>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25" name="Rectangle 24"/>
            <p:cNvSpPr/>
            <p:nvPr/>
          </p:nvSpPr>
          <p:spPr>
            <a:xfrm>
              <a:off x="7132320" y="2281237"/>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Rectangle 25"/>
            <p:cNvSpPr/>
            <p:nvPr/>
          </p:nvSpPr>
          <p:spPr>
            <a:xfrm>
              <a:off x="7132320" y="2286000"/>
              <a:ext cx="4544568"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7260336" y="2415924"/>
              <a:ext cx="2395728"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Active order, already received</a:t>
              </a:r>
            </a:p>
          </p:txBody>
        </p:sp>
        <p:sp>
          <p:nvSpPr>
            <p:cNvPr id="28" name="Rounded Rectangle 27"/>
            <p:cNvSpPr/>
            <p:nvPr/>
          </p:nvSpPr>
          <p:spPr>
            <a:xfrm>
              <a:off x="9848088" y="2350008"/>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p:cNvSpPr txBox="1"/>
            <p:nvPr/>
          </p:nvSpPr>
          <p:spPr>
            <a:xfrm>
              <a:off x="9912096" y="2415924"/>
              <a:ext cx="24688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65.8</a:t>
              </a:r>
            </a:p>
          </p:txBody>
        </p:sp>
        <p:sp>
          <p:nvSpPr>
            <p:cNvPr id="30" name="TextBox 29"/>
            <p:cNvSpPr txBox="1"/>
            <p:nvPr/>
          </p:nvSpPr>
          <p:spPr>
            <a:xfrm>
              <a:off x="10415016" y="2415924"/>
              <a:ext cx="128015"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12</a:t>
              </a:r>
            </a:p>
          </p:txBody>
        </p:sp>
        <p:sp>
          <p:nvSpPr>
            <p:cNvPr id="31" name="Rounded Rectangle 30"/>
            <p:cNvSpPr/>
            <p:nvPr/>
          </p:nvSpPr>
          <p:spPr>
            <a:xfrm>
              <a:off x="10799064" y="2359152"/>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Oval 31"/>
            <p:cNvSpPr/>
            <p:nvPr/>
          </p:nvSpPr>
          <p:spPr>
            <a:xfrm>
              <a:off x="10908792" y="2446020"/>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TextBox 32"/>
            <p:cNvSpPr txBox="1"/>
            <p:nvPr/>
          </p:nvSpPr>
          <p:spPr>
            <a:xfrm>
              <a:off x="11073384" y="2423969"/>
              <a:ext cx="546811" cy="144688"/>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34" name="Rectangle 33"/>
            <p:cNvSpPr/>
            <p:nvPr/>
          </p:nvSpPr>
          <p:spPr>
            <a:xfrm>
              <a:off x="7132320" y="2701861"/>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TextBox 34"/>
            <p:cNvSpPr txBox="1"/>
            <p:nvPr/>
          </p:nvSpPr>
          <p:spPr>
            <a:xfrm>
              <a:off x="7260336" y="2836548"/>
              <a:ext cx="2395728"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Paying the courier</a:t>
              </a:r>
            </a:p>
          </p:txBody>
        </p:sp>
        <p:sp>
          <p:nvSpPr>
            <p:cNvPr id="36" name="Rounded Rectangle 35"/>
            <p:cNvSpPr/>
            <p:nvPr/>
          </p:nvSpPr>
          <p:spPr>
            <a:xfrm>
              <a:off x="9848088" y="2770632"/>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TextBox 36"/>
            <p:cNvSpPr txBox="1"/>
            <p:nvPr/>
          </p:nvSpPr>
          <p:spPr>
            <a:xfrm>
              <a:off x="9912096" y="2836548"/>
              <a:ext cx="24688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66.7</a:t>
              </a:r>
            </a:p>
          </p:txBody>
        </p:sp>
        <p:sp>
          <p:nvSpPr>
            <p:cNvPr id="38" name="TextBox 37"/>
            <p:cNvSpPr txBox="1"/>
            <p:nvPr/>
          </p:nvSpPr>
          <p:spPr>
            <a:xfrm>
              <a:off x="10415016" y="2836548"/>
              <a:ext cx="128015"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3</a:t>
              </a:r>
            </a:p>
          </p:txBody>
        </p:sp>
        <p:sp>
          <p:nvSpPr>
            <p:cNvPr id="39" name="Rounded Rectangle 38"/>
            <p:cNvSpPr/>
            <p:nvPr/>
          </p:nvSpPr>
          <p:spPr>
            <a:xfrm>
              <a:off x="10799064" y="2779776"/>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Oval 39"/>
            <p:cNvSpPr/>
            <p:nvPr/>
          </p:nvSpPr>
          <p:spPr>
            <a:xfrm>
              <a:off x="10908792" y="286664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1" name="TextBox 40"/>
            <p:cNvSpPr txBox="1"/>
            <p:nvPr/>
          </p:nvSpPr>
          <p:spPr>
            <a:xfrm>
              <a:off x="11073384" y="2844593"/>
              <a:ext cx="546811" cy="144688"/>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42" name="Rectangle 41"/>
            <p:cNvSpPr/>
            <p:nvPr/>
          </p:nvSpPr>
          <p:spPr>
            <a:xfrm>
              <a:off x="7132320" y="3122485"/>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3" name="Rectangle 42"/>
            <p:cNvSpPr/>
            <p:nvPr/>
          </p:nvSpPr>
          <p:spPr>
            <a:xfrm>
              <a:off x="7132320" y="3127248"/>
              <a:ext cx="4544568"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7260336" y="3257172"/>
              <a:ext cx="2395728" cy="160778"/>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Completed but not received — full serv</a:t>
              </a:r>
              <a:r>
                <a:rPr lang="es-MX" sz="1000" b="0" dirty="0">
                  <a:solidFill>
                    <a:srgbClr val="4B5563"/>
                  </a:solidFill>
                  <a:latin typeface="Inter"/>
                </a:rPr>
                <a:t>ice</a:t>
              </a:r>
              <a:endParaRPr sz="1000" b="0" dirty="0">
                <a:solidFill>
                  <a:srgbClr val="4B5563"/>
                </a:solidFill>
                <a:latin typeface="Inter"/>
              </a:endParaRPr>
            </a:p>
          </p:txBody>
        </p:sp>
        <p:sp>
          <p:nvSpPr>
            <p:cNvPr id="45" name="Rounded Rectangle 44"/>
            <p:cNvSpPr/>
            <p:nvPr/>
          </p:nvSpPr>
          <p:spPr>
            <a:xfrm>
              <a:off x="9848088" y="3191256"/>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9912096" y="3257172"/>
              <a:ext cx="24688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68.2</a:t>
              </a:r>
            </a:p>
          </p:txBody>
        </p:sp>
        <p:sp>
          <p:nvSpPr>
            <p:cNvPr id="47" name="TextBox 46"/>
            <p:cNvSpPr txBox="1"/>
            <p:nvPr/>
          </p:nvSpPr>
          <p:spPr>
            <a:xfrm>
              <a:off x="10415016" y="3257172"/>
              <a:ext cx="128015"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49</a:t>
              </a:r>
            </a:p>
          </p:txBody>
        </p:sp>
        <p:sp>
          <p:nvSpPr>
            <p:cNvPr id="48" name="Rounded Rectangle 47"/>
            <p:cNvSpPr/>
            <p:nvPr/>
          </p:nvSpPr>
          <p:spPr>
            <a:xfrm>
              <a:off x="10799064" y="3200400"/>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Oval 48"/>
            <p:cNvSpPr/>
            <p:nvPr/>
          </p:nvSpPr>
          <p:spPr>
            <a:xfrm>
              <a:off x="10908792" y="3287268"/>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0" name="TextBox 49"/>
            <p:cNvSpPr txBox="1"/>
            <p:nvPr/>
          </p:nvSpPr>
          <p:spPr>
            <a:xfrm>
              <a:off x="11073384" y="3265217"/>
              <a:ext cx="546811" cy="144688"/>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51" name="Rectangle 50"/>
            <p:cNvSpPr/>
            <p:nvPr/>
          </p:nvSpPr>
          <p:spPr>
            <a:xfrm>
              <a:off x="7132320" y="3543109"/>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TextBox 51"/>
            <p:cNvSpPr txBox="1"/>
            <p:nvPr/>
          </p:nvSpPr>
          <p:spPr>
            <a:xfrm>
              <a:off x="7260336" y="3677796"/>
              <a:ext cx="2395728"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Courier overcharged me</a:t>
              </a:r>
            </a:p>
          </p:txBody>
        </p:sp>
        <p:sp>
          <p:nvSpPr>
            <p:cNvPr id="53" name="Rounded Rectangle 52"/>
            <p:cNvSpPr/>
            <p:nvPr/>
          </p:nvSpPr>
          <p:spPr>
            <a:xfrm>
              <a:off x="9848088" y="3611879"/>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4" name="TextBox 53"/>
            <p:cNvSpPr txBox="1"/>
            <p:nvPr/>
          </p:nvSpPr>
          <p:spPr>
            <a:xfrm>
              <a:off x="9912096" y="3677796"/>
              <a:ext cx="246888" cy="160778"/>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68.6</a:t>
              </a:r>
            </a:p>
          </p:txBody>
        </p:sp>
        <p:sp>
          <p:nvSpPr>
            <p:cNvPr id="55" name="TextBox 54"/>
            <p:cNvSpPr txBox="1"/>
            <p:nvPr/>
          </p:nvSpPr>
          <p:spPr>
            <a:xfrm>
              <a:off x="10415016" y="3677796"/>
              <a:ext cx="128015" cy="160778"/>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7</a:t>
              </a:r>
            </a:p>
          </p:txBody>
        </p:sp>
        <p:sp>
          <p:nvSpPr>
            <p:cNvPr id="56" name="Rounded Rectangle 55"/>
            <p:cNvSpPr/>
            <p:nvPr/>
          </p:nvSpPr>
          <p:spPr>
            <a:xfrm>
              <a:off x="10799064" y="3621024"/>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7" name="Oval 56"/>
            <p:cNvSpPr/>
            <p:nvPr/>
          </p:nvSpPr>
          <p:spPr>
            <a:xfrm>
              <a:off x="10908792" y="3707892"/>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8" name="TextBox 57"/>
            <p:cNvSpPr txBox="1"/>
            <p:nvPr/>
          </p:nvSpPr>
          <p:spPr>
            <a:xfrm>
              <a:off x="11073384" y="3685842"/>
              <a:ext cx="546811" cy="144688"/>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59" name="Rectangle 58"/>
            <p:cNvSpPr/>
            <p:nvPr/>
          </p:nvSpPr>
          <p:spPr>
            <a:xfrm>
              <a:off x="7132320" y="3963733"/>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sp>
        <p:nvSpPr>
          <p:cNvPr id="60" name="TextBox 59"/>
          <p:cNvSpPr txBox="1"/>
          <p:nvPr/>
        </p:nvSpPr>
        <p:spPr>
          <a:xfrm>
            <a:off x="7132320" y="4206240"/>
            <a:ext cx="4617720" cy="174920"/>
          </a:xfrm>
          <a:prstGeom prst="rect">
            <a:avLst/>
          </a:prstGeom>
          <a:noFill/>
        </p:spPr>
        <p:txBody>
          <a:bodyPr wrap="square" lIns="0" tIns="0" rIns="0" bIns="0" anchor="t">
            <a:spAutoFit/>
          </a:bodyPr>
          <a:lstStyle/>
          <a:p>
            <a:pPr algn="l">
              <a:lnSpc>
                <a:spcPct val="115000"/>
              </a:lnSpc>
              <a:spcAft>
                <a:spcPts val="0"/>
              </a:spcAft>
            </a:pPr>
            <a:r>
              <a:rPr lang="en-US" sz="1050" b="1" dirty="0"/>
              <a:t>Root Causes Behind Low QA Drivers</a:t>
            </a:r>
            <a:endParaRPr sz="1050" b="1" dirty="0">
              <a:solidFill>
                <a:srgbClr val="1A1A1A"/>
              </a:solidFill>
              <a:latin typeface="Inter"/>
            </a:endParaRPr>
          </a:p>
        </p:txBody>
      </p:sp>
      <p:sp>
        <p:nvSpPr>
          <p:cNvPr id="61" name="Rectangle 60"/>
          <p:cNvSpPr/>
          <p:nvPr/>
        </p:nvSpPr>
        <p:spPr>
          <a:xfrm>
            <a:off x="7132320" y="458571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370064" y="4489703"/>
            <a:ext cx="4379976" cy="575542"/>
          </a:xfrm>
          <a:prstGeom prst="rect">
            <a:avLst/>
          </a:prstGeom>
          <a:noFill/>
        </p:spPr>
        <p:txBody>
          <a:bodyPr wrap="square" lIns="0" tIns="0" rIns="0" bIns="0" anchor="t">
            <a:spAutoFit/>
          </a:bodyPr>
          <a:lstStyle/>
          <a:p>
            <a:pPr algn="l">
              <a:lnSpc>
                <a:spcPct val="128000"/>
              </a:lnSpc>
              <a:spcAft>
                <a:spcPts val="0"/>
              </a:spcAft>
            </a:pPr>
            <a:r>
              <a:rPr lang="en-US" sz="1000" b="1" dirty="0"/>
              <a:t>High-Friction Use Cases:</a:t>
            </a:r>
            <a:r>
              <a:rPr lang="en-US" sz="1000" dirty="0"/>
              <a:t> Low-scoring contacts concentrate in complex financial and delivery disputes (e.g., undelivered orders, courier fees) that require external tool verification.</a:t>
            </a:r>
            <a:endParaRPr sz="950" b="0" dirty="0">
              <a:solidFill>
                <a:srgbClr val="4B5563"/>
              </a:solidFill>
              <a:latin typeface="Inter"/>
            </a:endParaRPr>
          </a:p>
        </p:txBody>
      </p:sp>
      <p:sp>
        <p:nvSpPr>
          <p:cNvPr id="63" name="Rectangle 62"/>
          <p:cNvSpPr/>
          <p:nvPr/>
        </p:nvSpPr>
        <p:spPr>
          <a:xfrm>
            <a:off x="7138879" y="523499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376623" y="5138981"/>
            <a:ext cx="4379976" cy="378565"/>
          </a:xfrm>
          <a:prstGeom prst="rect">
            <a:avLst/>
          </a:prstGeom>
          <a:noFill/>
        </p:spPr>
        <p:txBody>
          <a:bodyPr wrap="square" lIns="0" tIns="0" rIns="0" bIns="0" anchor="t">
            <a:spAutoFit/>
          </a:bodyPr>
          <a:lstStyle/>
          <a:p>
            <a:pPr algn="l">
              <a:lnSpc>
                <a:spcPct val="128000"/>
              </a:lnSpc>
              <a:spcAft>
                <a:spcPts val="0"/>
              </a:spcAft>
            </a:pPr>
            <a:r>
              <a:rPr lang="en-US" sz="1000" b="1" dirty="0"/>
              <a:t>System-Induced Delays:</a:t>
            </a:r>
            <a:r>
              <a:rPr lang="en-US" sz="1000" dirty="0"/>
              <a:t> Dependency on backend tools prolongs call duration, directly inflating </a:t>
            </a:r>
            <a:r>
              <a:rPr lang="en-US" sz="1000" i="1" dirty="0"/>
              <a:t>Time Management</a:t>
            </a:r>
            <a:r>
              <a:rPr lang="en-US" sz="1000" dirty="0"/>
              <a:t> defect rates.</a:t>
            </a:r>
            <a:endParaRPr sz="950" b="0" dirty="0">
              <a:solidFill>
                <a:srgbClr val="4B5563"/>
              </a:solidFill>
              <a:latin typeface="Inter"/>
            </a:endParaRPr>
          </a:p>
        </p:txBody>
      </p:sp>
      <p:sp>
        <p:nvSpPr>
          <p:cNvPr id="65" name="Rectangle 64"/>
          <p:cNvSpPr/>
          <p:nvPr/>
        </p:nvSpPr>
        <p:spPr>
          <a:xfrm>
            <a:off x="7148949" y="569118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376623" y="5591256"/>
            <a:ext cx="4379976" cy="378565"/>
          </a:xfrm>
          <a:prstGeom prst="rect">
            <a:avLst/>
          </a:prstGeom>
          <a:noFill/>
        </p:spPr>
        <p:txBody>
          <a:bodyPr wrap="square" lIns="0" tIns="0" rIns="0" bIns="0" anchor="t">
            <a:spAutoFit/>
          </a:bodyPr>
          <a:lstStyle/>
          <a:p>
            <a:pPr algn="l">
              <a:lnSpc>
                <a:spcPct val="128000"/>
              </a:lnSpc>
              <a:spcAft>
                <a:spcPts val="0"/>
              </a:spcAft>
            </a:pPr>
            <a:r>
              <a:rPr lang="en-US" sz="1000" b="1" dirty="0"/>
              <a:t>Critical Failure Severity:</a:t>
            </a:r>
            <a:r>
              <a:rPr lang="en-US" sz="1000" dirty="0"/>
              <a:t> Inaccurate guidance or incomplete policy execution during complex disputes triggers automatic zero-score audits.</a:t>
            </a:r>
            <a:endParaRPr sz="950" b="0" dirty="0">
              <a:solidFill>
                <a:srgbClr val="4B5563"/>
              </a:solidFill>
              <a:latin typeface="Inter"/>
            </a:endParaRPr>
          </a:p>
        </p:txBody>
      </p:sp>
      <p:sp>
        <p:nvSpPr>
          <p:cNvPr id="67" name="Rectangle 66"/>
          <p:cNvSpPr/>
          <p:nvPr/>
        </p:nvSpPr>
        <p:spPr>
          <a:xfrm>
            <a:off x="7132185" y="6183119"/>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376623" y="6053671"/>
            <a:ext cx="4379976" cy="378565"/>
          </a:xfrm>
          <a:prstGeom prst="rect">
            <a:avLst/>
          </a:prstGeom>
          <a:noFill/>
        </p:spPr>
        <p:txBody>
          <a:bodyPr wrap="square" lIns="0" tIns="0" rIns="0" bIns="0" anchor="t">
            <a:spAutoFit/>
          </a:bodyPr>
          <a:lstStyle/>
          <a:p>
            <a:pPr algn="l">
              <a:lnSpc>
                <a:spcPct val="128000"/>
              </a:lnSpc>
              <a:spcAft>
                <a:spcPts val="0"/>
              </a:spcAft>
            </a:pPr>
            <a:r>
              <a:rPr lang="en-US" sz="1000" b="1" dirty="0"/>
              <a:t>Resolution Bottleneck:</a:t>
            </a:r>
            <a:r>
              <a:rPr lang="en-US" sz="1000" dirty="0"/>
              <a:t> Extended handle times often end without providing clear resolution paths or actionable next steps to the customer.</a:t>
            </a:r>
            <a:endParaRPr sz="950" b="0" dirty="0">
              <a:solidFill>
                <a:srgbClr val="4B5563"/>
              </a:solidFill>
              <a:latin typeface="Inter"/>
            </a:endParaRPr>
          </a:p>
        </p:txBody>
      </p:sp>
      <p:sp>
        <p:nvSpPr>
          <p:cNvPr id="69" name="TextBox 68"/>
          <p:cNvSpPr txBox="1"/>
          <p:nvPr/>
        </p:nvSpPr>
        <p:spPr>
          <a:xfrm>
            <a:off x="372528" y="4737727"/>
            <a:ext cx="6446520" cy="161583"/>
          </a:xfrm>
          <a:prstGeom prst="rect">
            <a:avLst/>
          </a:prstGeom>
          <a:noFill/>
        </p:spPr>
        <p:txBody>
          <a:bodyPr wrap="square" lIns="0" tIns="0" rIns="0" bIns="0" anchor="t">
            <a:spAutoFit/>
          </a:bodyPr>
          <a:lstStyle/>
          <a:p>
            <a:r>
              <a:rPr lang="es-CO" sz="1050" b="1" dirty="0" err="1"/>
              <a:t>Defect</a:t>
            </a:r>
            <a:r>
              <a:rPr lang="es-CO" sz="1050" b="1" dirty="0"/>
              <a:t> </a:t>
            </a:r>
            <a:r>
              <a:rPr lang="es-CO" sz="1050" b="1" dirty="0" err="1"/>
              <a:t>Breakdown</a:t>
            </a:r>
            <a:endParaRPr lang="es-CO" sz="1050" b="1" dirty="0"/>
          </a:p>
        </p:txBody>
      </p:sp>
      <p:sp>
        <p:nvSpPr>
          <p:cNvPr id="70" name="Rectangle 69"/>
          <p:cNvSpPr/>
          <p:nvPr/>
        </p:nvSpPr>
        <p:spPr>
          <a:xfrm>
            <a:off x="372528" y="5117203"/>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546264" y="5002554"/>
            <a:ext cx="5753772" cy="378565"/>
          </a:xfrm>
          <a:prstGeom prst="rect">
            <a:avLst/>
          </a:prstGeom>
          <a:noFill/>
        </p:spPr>
        <p:txBody>
          <a:bodyPr wrap="square" lIns="0" tIns="0" rIns="0" bIns="0" anchor="t">
            <a:spAutoFit/>
          </a:bodyPr>
          <a:lstStyle/>
          <a:p>
            <a:pPr algn="l">
              <a:lnSpc>
                <a:spcPct val="128000"/>
              </a:lnSpc>
              <a:spcAft>
                <a:spcPts val="0"/>
              </a:spcAft>
            </a:pPr>
            <a:r>
              <a:rPr lang="en-US" sz="1000" b="1" dirty="0"/>
              <a:t>Primary Volume Driver:</a:t>
            </a:r>
            <a:r>
              <a:rPr lang="en-US" sz="1000" dirty="0"/>
              <a:t> </a:t>
            </a:r>
            <a:r>
              <a:rPr lang="en-US" sz="1000" i="1" dirty="0"/>
              <a:t>Time Management</a:t>
            </a:r>
            <a:r>
              <a:rPr lang="en-US" sz="1000" dirty="0"/>
              <a:t> represents the single largest defect category, accounting for </a:t>
            </a:r>
            <a:r>
              <a:rPr lang="en-US" sz="1000" b="1" dirty="0"/>
              <a:t>64.3% of all voice failures</a:t>
            </a:r>
            <a:r>
              <a:rPr lang="en-US" sz="1000" dirty="0"/>
              <a:t> (133 fails).</a:t>
            </a:r>
            <a:endParaRPr lang="en-US" sz="950" b="0" dirty="0">
              <a:solidFill>
                <a:srgbClr val="4B5563"/>
              </a:solidFill>
              <a:latin typeface="Inter"/>
            </a:endParaRPr>
          </a:p>
        </p:txBody>
      </p:sp>
      <p:sp>
        <p:nvSpPr>
          <p:cNvPr id="72" name="Rectangle 71"/>
          <p:cNvSpPr/>
          <p:nvPr/>
        </p:nvSpPr>
        <p:spPr>
          <a:xfrm>
            <a:off x="340524" y="563304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46264" y="5495991"/>
            <a:ext cx="5753772" cy="378565"/>
          </a:xfrm>
          <a:prstGeom prst="rect">
            <a:avLst/>
          </a:prstGeom>
          <a:noFill/>
        </p:spPr>
        <p:txBody>
          <a:bodyPr wrap="square" lIns="0" tIns="0" rIns="0" bIns="0" anchor="t">
            <a:spAutoFit/>
          </a:bodyPr>
          <a:lstStyle/>
          <a:p>
            <a:pPr algn="l">
              <a:lnSpc>
                <a:spcPct val="128000"/>
              </a:lnSpc>
              <a:spcAft>
                <a:spcPts val="0"/>
              </a:spcAft>
            </a:pPr>
            <a:r>
              <a:rPr lang="en-US" sz="1000" b="1" dirty="0"/>
              <a:t>Disproportionate Score Drag:</a:t>
            </a:r>
            <a:r>
              <a:rPr lang="en-US" sz="1000" dirty="0"/>
              <a:t> </a:t>
            </a:r>
            <a:r>
              <a:rPr lang="en-US" sz="1000" i="1" dirty="0"/>
              <a:t>Complete &amp; Correct Information</a:t>
            </a:r>
            <a:r>
              <a:rPr lang="en-US" sz="1000" dirty="0"/>
              <a:t> (28 fails) carries a severe </a:t>
            </a:r>
            <a:r>
              <a:rPr lang="en-US" sz="1000" b="1" dirty="0"/>
              <a:t>-6.55 pp score penalty</a:t>
            </a:r>
            <a:r>
              <a:rPr lang="en-US" sz="1000" dirty="0"/>
              <a:t> due to its critical auto-fail classification.</a:t>
            </a:r>
            <a:endParaRPr lang="en-US" sz="950" b="0" dirty="0">
              <a:solidFill>
                <a:srgbClr val="4B5563"/>
              </a:solidFill>
              <a:latin typeface="Inter"/>
            </a:endParaRPr>
          </a:p>
        </p:txBody>
      </p:sp>
      <p:sp>
        <p:nvSpPr>
          <p:cNvPr id="74" name="Rectangle 73"/>
          <p:cNvSpPr/>
          <p:nvPr/>
        </p:nvSpPr>
        <p:spPr>
          <a:xfrm>
            <a:off x="367956" y="611436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46264" y="6024482"/>
            <a:ext cx="6208776" cy="181588"/>
          </a:xfrm>
          <a:prstGeom prst="rect">
            <a:avLst/>
          </a:prstGeom>
          <a:noFill/>
        </p:spPr>
        <p:txBody>
          <a:bodyPr wrap="square" lIns="0" tIns="0" rIns="0" bIns="0" anchor="t">
            <a:spAutoFit/>
          </a:bodyPr>
          <a:lstStyle/>
          <a:p>
            <a:pPr algn="l">
              <a:lnSpc>
                <a:spcPct val="128000"/>
              </a:lnSpc>
              <a:spcAft>
                <a:spcPts val="0"/>
              </a:spcAft>
            </a:pPr>
            <a:r>
              <a:rPr lang="en-US" sz="1000" b="1" dirty="0"/>
              <a:t>Concentrated Root Causes:</a:t>
            </a:r>
            <a:r>
              <a:rPr lang="en-US" sz="1000" dirty="0"/>
              <a:t> Combined, these top two attributes account for </a:t>
            </a:r>
            <a:r>
              <a:rPr lang="en-US" sz="1000" b="1" dirty="0"/>
              <a:t>77.8% of total channel defects</a:t>
            </a:r>
            <a:r>
              <a:rPr lang="en-US" sz="1000" dirty="0"/>
              <a:t>.</a:t>
            </a:r>
            <a:endParaRPr sz="950" b="0" dirty="0">
              <a:solidFill>
                <a:srgbClr val="4B5563"/>
              </a:solidFill>
              <a:latin typeface="Inter"/>
            </a:endParaRPr>
          </a:p>
        </p:txBody>
      </p:sp>
      <p:sp>
        <p:nvSpPr>
          <p:cNvPr id="77" name="Rectángulo 76">
            <a:extLst>
              <a:ext uri="{FF2B5EF4-FFF2-40B4-BE49-F238E27FC236}">
                <a16:creationId xmlns:a16="http://schemas.microsoft.com/office/drawing/2014/main" id="{771037E7-AC0C-BEBB-E572-D91C644423EE}"/>
              </a:ext>
            </a:extLst>
          </p:cNvPr>
          <p:cNvSpPr/>
          <p:nvPr/>
        </p:nvSpPr>
        <p:spPr>
          <a:xfrm>
            <a:off x="6632502" y="1017484"/>
            <a:ext cx="5362854" cy="5639348"/>
          </a:xfrm>
          <a:prstGeom prst="rect">
            <a:avLst/>
          </a:prstGeom>
          <a:noFill/>
          <a:ln>
            <a:solidFill>
              <a:schemeClr val="tx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QA analysis: Live Chat</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2,105 audits  ·  8 attributes  ·  official score 96.01 vs 85 goal</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11</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pareto_chat.png"/>
          <p:cNvPicPr>
            <a:picLocks noChangeAspect="1"/>
          </p:cNvPicPr>
          <p:nvPr/>
        </p:nvPicPr>
        <p:blipFill>
          <a:blip r:embed="rId3"/>
          <a:stretch>
            <a:fillRect/>
          </a:stretch>
        </p:blipFill>
        <p:spPr>
          <a:xfrm>
            <a:off x="199144" y="940992"/>
            <a:ext cx="6232905" cy="3744873"/>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6888480" y="1225296"/>
            <a:ext cx="4617720" cy="219456"/>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Contact reasons with the lowest QA</a:t>
            </a:r>
          </a:p>
        </p:txBody>
      </p:sp>
      <p:grpSp>
        <p:nvGrpSpPr>
          <p:cNvPr id="74" name="Grupo 73">
            <a:extLst>
              <a:ext uri="{FF2B5EF4-FFF2-40B4-BE49-F238E27FC236}">
                <a16:creationId xmlns:a16="http://schemas.microsoft.com/office/drawing/2014/main" id="{A83B2C7B-4D9E-E531-C533-170350A2247E}"/>
              </a:ext>
            </a:extLst>
          </p:cNvPr>
          <p:cNvGrpSpPr/>
          <p:nvPr/>
        </p:nvGrpSpPr>
        <p:grpSpPr>
          <a:xfrm>
            <a:off x="6888479" y="1549262"/>
            <a:ext cx="4768291" cy="2675128"/>
            <a:chOff x="7132320" y="1536192"/>
            <a:chExt cx="4581372" cy="2437066"/>
          </a:xfrm>
        </p:grpSpPr>
        <p:sp>
          <p:nvSpPr>
            <p:cNvPr id="13" name="Rectangle 12"/>
            <p:cNvSpPr/>
            <p:nvPr/>
          </p:nvSpPr>
          <p:spPr>
            <a:xfrm>
              <a:off x="7132320" y="1536192"/>
              <a:ext cx="4544568"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7260336" y="1624905"/>
              <a:ext cx="239572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Contact reason (CR Lv4)</a:t>
              </a:r>
            </a:p>
          </p:txBody>
        </p:sp>
        <p:sp>
          <p:nvSpPr>
            <p:cNvPr id="15" name="TextBox 14"/>
            <p:cNvSpPr txBox="1"/>
            <p:nvPr/>
          </p:nvSpPr>
          <p:spPr>
            <a:xfrm>
              <a:off x="9912096" y="1624905"/>
              <a:ext cx="24688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QA</a:t>
              </a:r>
            </a:p>
          </p:txBody>
        </p:sp>
        <p:sp>
          <p:nvSpPr>
            <p:cNvPr id="16" name="TextBox 15"/>
            <p:cNvSpPr txBox="1"/>
            <p:nvPr/>
          </p:nvSpPr>
          <p:spPr>
            <a:xfrm>
              <a:off x="10415016" y="1624905"/>
              <a:ext cx="128015" cy="151760"/>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n</a:t>
              </a:r>
            </a:p>
          </p:txBody>
        </p:sp>
        <p:sp>
          <p:nvSpPr>
            <p:cNvPr id="17" name="TextBox 16"/>
            <p:cNvSpPr txBox="1"/>
            <p:nvPr/>
          </p:nvSpPr>
          <p:spPr>
            <a:xfrm>
              <a:off x="10799064" y="1624905"/>
              <a:ext cx="74980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Status</a:t>
              </a:r>
            </a:p>
          </p:txBody>
        </p:sp>
        <p:sp>
          <p:nvSpPr>
            <p:cNvPr id="18" name="TextBox 17"/>
            <p:cNvSpPr txBox="1"/>
            <p:nvPr/>
          </p:nvSpPr>
          <p:spPr>
            <a:xfrm>
              <a:off x="7260336" y="1999808"/>
              <a:ext cx="2395728" cy="151760"/>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verbal aggression</a:t>
              </a:r>
            </a:p>
          </p:txBody>
        </p:sp>
        <p:sp>
          <p:nvSpPr>
            <p:cNvPr id="19" name="Rounded Rectangle 18"/>
            <p:cNvSpPr/>
            <p:nvPr/>
          </p:nvSpPr>
          <p:spPr>
            <a:xfrm>
              <a:off x="9848088" y="1929384"/>
              <a:ext cx="3749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9912096" y="1999808"/>
              <a:ext cx="24688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76.0</a:t>
              </a:r>
            </a:p>
          </p:txBody>
        </p:sp>
        <p:sp>
          <p:nvSpPr>
            <p:cNvPr id="21" name="TextBox 20"/>
            <p:cNvSpPr txBox="1"/>
            <p:nvPr/>
          </p:nvSpPr>
          <p:spPr>
            <a:xfrm>
              <a:off x="10415016" y="1999808"/>
              <a:ext cx="128015"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a:t>
              </a:r>
            </a:p>
          </p:txBody>
        </p:sp>
        <p:sp>
          <p:nvSpPr>
            <p:cNvPr id="22" name="Rounded Rectangle 21"/>
            <p:cNvSpPr/>
            <p:nvPr/>
          </p:nvSpPr>
          <p:spPr>
            <a:xfrm>
              <a:off x="10799064" y="193852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Oval 22"/>
            <p:cNvSpPr/>
            <p:nvPr/>
          </p:nvSpPr>
          <p:spPr>
            <a:xfrm>
              <a:off x="10908792" y="202539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11073384" y="2007401"/>
              <a:ext cx="546811" cy="136572"/>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25" name="Rectangle 24"/>
            <p:cNvSpPr/>
            <p:nvPr/>
          </p:nvSpPr>
          <p:spPr>
            <a:xfrm>
              <a:off x="7132320" y="2281237"/>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Rectangle 25"/>
            <p:cNvSpPr/>
            <p:nvPr/>
          </p:nvSpPr>
          <p:spPr>
            <a:xfrm>
              <a:off x="7132320" y="2286000"/>
              <a:ext cx="4544568"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7260336" y="2420432"/>
              <a:ext cx="2395728"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referral coupon information</a:t>
              </a:r>
            </a:p>
          </p:txBody>
        </p:sp>
        <p:sp>
          <p:nvSpPr>
            <p:cNvPr id="28" name="Rounded Rectangle 27"/>
            <p:cNvSpPr/>
            <p:nvPr/>
          </p:nvSpPr>
          <p:spPr>
            <a:xfrm>
              <a:off x="9848088" y="2350008"/>
              <a:ext cx="374904" cy="292608"/>
            </a:xfrm>
            <a:prstGeom prst="roundRect">
              <a:avLst>
                <a:gd name="adj" fmla="val 15625"/>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p:cNvSpPr txBox="1"/>
            <p:nvPr/>
          </p:nvSpPr>
          <p:spPr>
            <a:xfrm>
              <a:off x="9912096" y="2420432"/>
              <a:ext cx="24688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80.0</a:t>
              </a:r>
            </a:p>
          </p:txBody>
        </p:sp>
        <p:sp>
          <p:nvSpPr>
            <p:cNvPr id="30" name="TextBox 29"/>
            <p:cNvSpPr txBox="1"/>
            <p:nvPr/>
          </p:nvSpPr>
          <p:spPr>
            <a:xfrm>
              <a:off x="10415016" y="2420432"/>
              <a:ext cx="128015"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a:t>
              </a:r>
            </a:p>
          </p:txBody>
        </p:sp>
        <p:sp>
          <p:nvSpPr>
            <p:cNvPr id="31" name="Rounded Rectangle 30"/>
            <p:cNvSpPr/>
            <p:nvPr/>
          </p:nvSpPr>
          <p:spPr>
            <a:xfrm>
              <a:off x="10799064" y="2359152"/>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Oval 31"/>
            <p:cNvSpPr/>
            <p:nvPr/>
          </p:nvSpPr>
          <p:spPr>
            <a:xfrm>
              <a:off x="10908792" y="2446020"/>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TextBox 32"/>
            <p:cNvSpPr txBox="1"/>
            <p:nvPr/>
          </p:nvSpPr>
          <p:spPr>
            <a:xfrm>
              <a:off x="11073384" y="2428026"/>
              <a:ext cx="603732" cy="136572"/>
            </a:xfrm>
            <a:prstGeom prst="rect">
              <a:avLst/>
            </a:prstGeom>
            <a:noFill/>
          </p:spPr>
          <p:txBody>
            <a:bodyPr wrap="square" lIns="0" tIns="0" rIns="0" bIns="0" anchor="ctr">
              <a:spAutoFit/>
            </a:bodyPr>
            <a:lstStyle/>
            <a:p>
              <a:pPr algn="ctr">
                <a:lnSpc>
                  <a:spcPct val="115000"/>
                </a:lnSpc>
                <a:spcAft>
                  <a:spcPts val="0"/>
                </a:spcAft>
              </a:pPr>
              <a:r>
                <a:rPr sz="900" b="1">
                  <a:solidFill>
                    <a:srgbClr val="F59E0B"/>
                  </a:solidFill>
                  <a:latin typeface="Inter"/>
                </a:rPr>
                <a:t>Near goal</a:t>
              </a:r>
            </a:p>
          </p:txBody>
        </p:sp>
        <p:sp>
          <p:nvSpPr>
            <p:cNvPr id="34" name="Rectangle 33"/>
            <p:cNvSpPr/>
            <p:nvPr/>
          </p:nvSpPr>
          <p:spPr>
            <a:xfrm>
              <a:off x="7132320" y="2701861"/>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TextBox 34"/>
            <p:cNvSpPr txBox="1"/>
            <p:nvPr/>
          </p:nvSpPr>
          <p:spPr>
            <a:xfrm>
              <a:off x="7260336" y="2841056"/>
              <a:ext cx="2395728"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store registration</a:t>
              </a:r>
            </a:p>
          </p:txBody>
        </p:sp>
        <p:sp>
          <p:nvSpPr>
            <p:cNvPr id="36" name="Rounded Rectangle 35"/>
            <p:cNvSpPr/>
            <p:nvPr/>
          </p:nvSpPr>
          <p:spPr>
            <a:xfrm>
              <a:off x="9848088" y="2770632"/>
              <a:ext cx="374904" cy="292608"/>
            </a:xfrm>
            <a:prstGeom prst="roundRect">
              <a:avLst>
                <a:gd name="adj" fmla="val 15625"/>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TextBox 36"/>
            <p:cNvSpPr txBox="1"/>
            <p:nvPr/>
          </p:nvSpPr>
          <p:spPr>
            <a:xfrm>
              <a:off x="9912096" y="2841056"/>
              <a:ext cx="24688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80.0</a:t>
              </a:r>
            </a:p>
          </p:txBody>
        </p:sp>
        <p:sp>
          <p:nvSpPr>
            <p:cNvPr id="38" name="TextBox 37"/>
            <p:cNvSpPr txBox="1"/>
            <p:nvPr/>
          </p:nvSpPr>
          <p:spPr>
            <a:xfrm>
              <a:off x="10415016" y="2841056"/>
              <a:ext cx="128015"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a:t>
              </a:r>
            </a:p>
          </p:txBody>
        </p:sp>
        <p:sp>
          <p:nvSpPr>
            <p:cNvPr id="39" name="Rounded Rectangle 38"/>
            <p:cNvSpPr/>
            <p:nvPr/>
          </p:nvSpPr>
          <p:spPr>
            <a:xfrm>
              <a:off x="10799064" y="2779776"/>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Oval 39"/>
            <p:cNvSpPr/>
            <p:nvPr/>
          </p:nvSpPr>
          <p:spPr>
            <a:xfrm>
              <a:off x="10908792" y="2866644"/>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1" name="TextBox 40"/>
            <p:cNvSpPr txBox="1"/>
            <p:nvPr/>
          </p:nvSpPr>
          <p:spPr>
            <a:xfrm>
              <a:off x="11073384" y="2848650"/>
              <a:ext cx="603732" cy="136572"/>
            </a:xfrm>
            <a:prstGeom prst="rect">
              <a:avLst/>
            </a:prstGeom>
            <a:noFill/>
          </p:spPr>
          <p:txBody>
            <a:bodyPr wrap="square" lIns="0" tIns="0" rIns="0" bIns="0" anchor="ctr">
              <a:spAutoFit/>
            </a:bodyPr>
            <a:lstStyle/>
            <a:p>
              <a:pPr algn="ctr">
                <a:lnSpc>
                  <a:spcPct val="115000"/>
                </a:lnSpc>
                <a:spcAft>
                  <a:spcPts val="0"/>
                </a:spcAft>
              </a:pPr>
              <a:r>
                <a:rPr sz="900" b="1">
                  <a:solidFill>
                    <a:srgbClr val="F59E0B"/>
                  </a:solidFill>
                  <a:latin typeface="Inter"/>
                </a:rPr>
                <a:t>Near goal</a:t>
              </a:r>
            </a:p>
          </p:txBody>
        </p:sp>
        <p:sp>
          <p:nvSpPr>
            <p:cNvPr id="42" name="Rectangle 41"/>
            <p:cNvSpPr/>
            <p:nvPr/>
          </p:nvSpPr>
          <p:spPr>
            <a:xfrm>
              <a:off x="7132320" y="3122485"/>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3" name="Rectangle 42"/>
            <p:cNvSpPr/>
            <p:nvPr/>
          </p:nvSpPr>
          <p:spPr>
            <a:xfrm>
              <a:off x="7132320" y="3127248"/>
              <a:ext cx="4544568"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7260336" y="3261680"/>
              <a:ext cx="2395728"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cancel the order</a:t>
              </a:r>
            </a:p>
          </p:txBody>
        </p:sp>
        <p:sp>
          <p:nvSpPr>
            <p:cNvPr id="45" name="Rounded Rectangle 44"/>
            <p:cNvSpPr/>
            <p:nvPr/>
          </p:nvSpPr>
          <p:spPr>
            <a:xfrm>
              <a:off x="9848088" y="3191256"/>
              <a:ext cx="374904" cy="292608"/>
            </a:xfrm>
            <a:prstGeom prst="roundRect">
              <a:avLst>
                <a:gd name="adj" fmla="val 15625"/>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9912096" y="3261680"/>
              <a:ext cx="24688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86.7</a:t>
              </a:r>
            </a:p>
          </p:txBody>
        </p:sp>
        <p:sp>
          <p:nvSpPr>
            <p:cNvPr id="47" name="TextBox 46"/>
            <p:cNvSpPr txBox="1"/>
            <p:nvPr/>
          </p:nvSpPr>
          <p:spPr>
            <a:xfrm>
              <a:off x="10415016" y="3261680"/>
              <a:ext cx="128015"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9</a:t>
              </a:r>
            </a:p>
          </p:txBody>
        </p:sp>
        <p:sp>
          <p:nvSpPr>
            <p:cNvPr id="48" name="Rounded Rectangle 47"/>
            <p:cNvSpPr/>
            <p:nvPr/>
          </p:nvSpPr>
          <p:spPr>
            <a:xfrm>
              <a:off x="10799064" y="3200400"/>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Oval 48"/>
            <p:cNvSpPr/>
            <p:nvPr/>
          </p:nvSpPr>
          <p:spPr>
            <a:xfrm>
              <a:off x="10908792" y="3287268"/>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0" name="TextBox 49"/>
            <p:cNvSpPr txBox="1"/>
            <p:nvPr/>
          </p:nvSpPr>
          <p:spPr>
            <a:xfrm>
              <a:off x="11073384" y="3269274"/>
              <a:ext cx="489889" cy="136572"/>
            </a:xfrm>
            <a:prstGeom prst="rect">
              <a:avLst/>
            </a:prstGeom>
            <a:noFill/>
          </p:spPr>
          <p:txBody>
            <a:bodyPr wrap="square" lIns="0" tIns="0" rIns="0" bIns="0" anchor="ctr">
              <a:spAutoFit/>
            </a:bodyPr>
            <a:lstStyle/>
            <a:p>
              <a:pPr algn="ctr">
                <a:lnSpc>
                  <a:spcPct val="115000"/>
                </a:lnSpc>
                <a:spcAft>
                  <a:spcPts val="0"/>
                </a:spcAft>
              </a:pPr>
              <a:r>
                <a:rPr sz="900" b="1">
                  <a:solidFill>
                    <a:srgbClr val="16A34A"/>
                  </a:solidFill>
                  <a:latin typeface="Inter"/>
                </a:rPr>
                <a:t>On goal</a:t>
              </a:r>
            </a:p>
          </p:txBody>
        </p:sp>
        <p:sp>
          <p:nvSpPr>
            <p:cNvPr id="51" name="Rectangle 50"/>
            <p:cNvSpPr/>
            <p:nvPr/>
          </p:nvSpPr>
          <p:spPr>
            <a:xfrm>
              <a:off x="7132320" y="3543109"/>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TextBox 51"/>
            <p:cNvSpPr txBox="1"/>
            <p:nvPr/>
          </p:nvSpPr>
          <p:spPr>
            <a:xfrm>
              <a:off x="7260336" y="3682304"/>
              <a:ext cx="2395728"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modify payment method</a:t>
              </a:r>
            </a:p>
          </p:txBody>
        </p:sp>
        <p:sp>
          <p:nvSpPr>
            <p:cNvPr id="53" name="Rounded Rectangle 52"/>
            <p:cNvSpPr/>
            <p:nvPr/>
          </p:nvSpPr>
          <p:spPr>
            <a:xfrm>
              <a:off x="9848088" y="3611879"/>
              <a:ext cx="374904" cy="292608"/>
            </a:xfrm>
            <a:prstGeom prst="roundRect">
              <a:avLst>
                <a:gd name="adj" fmla="val 15625"/>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4" name="TextBox 53"/>
            <p:cNvSpPr txBox="1"/>
            <p:nvPr/>
          </p:nvSpPr>
          <p:spPr>
            <a:xfrm>
              <a:off x="9912096" y="3682304"/>
              <a:ext cx="246888" cy="151760"/>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86.7</a:t>
              </a:r>
            </a:p>
          </p:txBody>
        </p:sp>
        <p:sp>
          <p:nvSpPr>
            <p:cNvPr id="55" name="TextBox 54"/>
            <p:cNvSpPr txBox="1"/>
            <p:nvPr/>
          </p:nvSpPr>
          <p:spPr>
            <a:xfrm>
              <a:off x="10415016" y="3682304"/>
              <a:ext cx="128015" cy="151760"/>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9</a:t>
              </a:r>
            </a:p>
          </p:txBody>
        </p:sp>
        <p:sp>
          <p:nvSpPr>
            <p:cNvPr id="56" name="Rounded Rectangle 55"/>
            <p:cNvSpPr/>
            <p:nvPr/>
          </p:nvSpPr>
          <p:spPr>
            <a:xfrm>
              <a:off x="10799064" y="3621024"/>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7" name="Oval 56"/>
            <p:cNvSpPr/>
            <p:nvPr/>
          </p:nvSpPr>
          <p:spPr>
            <a:xfrm>
              <a:off x="10908792" y="3707892"/>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8" name="TextBox 57"/>
            <p:cNvSpPr txBox="1"/>
            <p:nvPr/>
          </p:nvSpPr>
          <p:spPr>
            <a:xfrm>
              <a:off x="11073384" y="3689898"/>
              <a:ext cx="489889" cy="136572"/>
            </a:xfrm>
            <a:prstGeom prst="rect">
              <a:avLst/>
            </a:prstGeom>
            <a:noFill/>
          </p:spPr>
          <p:txBody>
            <a:bodyPr wrap="square" lIns="0" tIns="0" rIns="0" bIns="0" anchor="ctr">
              <a:spAutoFit/>
            </a:bodyPr>
            <a:lstStyle/>
            <a:p>
              <a:pPr algn="ctr">
                <a:lnSpc>
                  <a:spcPct val="115000"/>
                </a:lnSpc>
                <a:spcAft>
                  <a:spcPts val="0"/>
                </a:spcAft>
              </a:pPr>
              <a:r>
                <a:rPr sz="900" b="1">
                  <a:solidFill>
                    <a:srgbClr val="16A34A"/>
                  </a:solidFill>
                  <a:latin typeface="Inter"/>
                </a:rPr>
                <a:t>On goal</a:t>
              </a:r>
            </a:p>
          </p:txBody>
        </p:sp>
        <p:sp>
          <p:nvSpPr>
            <p:cNvPr id="59" name="Rectangle 58"/>
            <p:cNvSpPr/>
            <p:nvPr/>
          </p:nvSpPr>
          <p:spPr>
            <a:xfrm>
              <a:off x="7132320" y="3963733"/>
              <a:ext cx="4544568"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sp>
        <p:nvSpPr>
          <p:cNvPr id="60" name="TextBox 59"/>
          <p:cNvSpPr txBox="1"/>
          <p:nvPr/>
        </p:nvSpPr>
        <p:spPr>
          <a:xfrm>
            <a:off x="7039051" y="4409641"/>
            <a:ext cx="4617720" cy="174920"/>
          </a:xfrm>
          <a:prstGeom prst="rect">
            <a:avLst/>
          </a:prstGeom>
          <a:noFill/>
        </p:spPr>
        <p:txBody>
          <a:bodyPr wrap="square" lIns="0" tIns="0" rIns="0" bIns="0" anchor="t">
            <a:spAutoFit/>
          </a:bodyPr>
          <a:lstStyle/>
          <a:p>
            <a:pPr algn="l">
              <a:lnSpc>
                <a:spcPct val="115000"/>
              </a:lnSpc>
              <a:spcAft>
                <a:spcPts val="0"/>
              </a:spcAft>
            </a:pPr>
            <a:r>
              <a:rPr lang="es-CO" sz="1050" b="1" dirty="0" err="1"/>
              <a:t>Root</a:t>
            </a:r>
            <a:r>
              <a:rPr lang="es-CO" sz="1050" b="1" dirty="0"/>
              <a:t> Cause &amp; Score </a:t>
            </a:r>
            <a:r>
              <a:rPr lang="es-CO" sz="1050" b="1" dirty="0" err="1"/>
              <a:t>Distortion</a:t>
            </a:r>
            <a:r>
              <a:rPr lang="es-CO" sz="1050" dirty="0"/>
              <a:t> o </a:t>
            </a:r>
            <a:r>
              <a:rPr lang="es-CO" sz="1050" b="1" dirty="0" err="1"/>
              <a:t>Structural</a:t>
            </a:r>
            <a:r>
              <a:rPr lang="es-CO" sz="1050" b="1" dirty="0"/>
              <a:t> </a:t>
            </a:r>
            <a:r>
              <a:rPr lang="es-CO" sz="1050" b="1" dirty="0" err="1"/>
              <a:t>Rubric</a:t>
            </a:r>
            <a:r>
              <a:rPr lang="es-CO" sz="1050" b="1" dirty="0"/>
              <a:t> Gap</a:t>
            </a:r>
            <a:endParaRPr sz="1050" b="1" dirty="0">
              <a:solidFill>
                <a:srgbClr val="1A1A1A"/>
              </a:solidFill>
              <a:latin typeface="Inter"/>
            </a:endParaRPr>
          </a:p>
        </p:txBody>
      </p:sp>
      <p:sp>
        <p:nvSpPr>
          <p:cNvPr id="61" name="Rectangle 60"/>
          <p:cNvSpPr/>
          <p:nvPr/>
        </p:nvSpPr>
        <p:spPr>
          <a:xfrm>
            <a:off x="7162800" y="486492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414260" y="4711822"/>
            <a:ext cx="4379976" cy="378565"/>
          </a:xfrm>
          <a:prstGeom prst="rect">
            <a:avLst/>
          </a:prstGeom>
          <a:noFill/>
        </p:spPr>
        <p:txBody>
          <a:bodyPr wrap="square" lIns="0" tIns="0" rIns="0" bIns="0" anchor="t">
            <a:spAutoFit/>
          </a:bodyPr>
          <a:lstStyle/>
          <a:p>
            <a:pPr algn="l">
              <a:lnSpc>
                <a:spcPct val="128000"/>
              </a:lnSpc>
              <a:spcAft>
                <a:spcPts val="0"/>
              </a:spcAft>
            </a:pPr>
            <a:r>
              <a:rPr lang="en-US" sz="1000" b="1" dirty="0"/>
              <a:t>Channel Disparity:</a:t>
            </a:r>
            <a:r>
              <a:rPr lang="en-US" sz="1000" dirty="0"/>
              <a:t> Unlike Phone evaluations, Live Chat does not categorize </a:t>
            </a:r>
            <a:r>
              <a:rPr lang="en-US" sz="1000" i="1" dirty="0"/>
              <a:t>Information Accuracy &amp; Completeness</a:t>
            </a:r>
            <a:r>
              <a:rPr lang="en-US" sz="1000" dirty="0"/>
              <a:t> as a critical failure.</a:t>
            </a:r>
            <a:endParaRPr sz="950" b="0" dirty="0">
              <a:solidFill>
                <a:srgbClr val="4B5563"/>
              </a:solidFill>
              <a:latin typeface="Inter"/>
            </a:endParaRPr>
          </a:p>
        </p:txBody>
      </p:sp>
      <p:sp>
        <p:nvSpPr>
          <p:cNvPr id="63" name="Rectangle 62"/>
          <p:cNvSpPr/>
          <p:nvPr/>
        </p:nvSpPr>
        <p:spPr>
          <a:xfrm>
            <a:off x="7162800" y="544258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14260" y="5295933"/>
            <a:ext cx="4379976" cy="378565"/>
          </a:xfrm>
          <a:prstGeom prst="rect">
            <a:avLst/>
          </a:prstGeom>
          <a:noFill/>
        </p:spPr>
        <p:txBody>
          <a:bodyPr wrap="square" lIns="0" tIns="0" rIns="0" bIns="0" anchor="t">
            <a:spAutoFit/>
          </a:bodyPr>
          <a:lstStyle/>
          <a:p>
            <a:pPr algn="l">
              <a:lnSpc>
                <a:spcPct val="128000"/>
              </a:lnSpc>
              <a:spcAft>
                <a:spcPts val="0"/>
              </a:spcAft>
            </a:pPr>
            <a:r>
              <a:rPr lang="en-US" sz="1000" b="1" dirty="0"/>
              <a:t>Artificial Score Inflation:</a:t>
            </a:r>
            <a:r>
              <a:rPr lang="en-US" sz="1000" dirty="0"/>
              <a:t> </a:t>
            </a:r>
            <a:r>
              <a:rPr lang="en-US" sz="1000" b="1" dirty="0"/>
              <a:t>80% of chats with process failures</a:t>
            </a:r>
            <a:r>
              <a:rPr lang="en-US" sz="1000" dirty="0"/>
              <a:t> (297 out of 372) currently receive a perfect score of 100.</a:t>
            </a:r>
            <a:endParaRPr sz="950" b="0" dirty="0">
              <a:solidFill>
                <a:srgbClr val="4B5563"/>
              </a:solidFill>
              <a:latin typeface="Inter"/>
            </a:endParaRPr>
          </a:p>
        </p:txBody>
      </p:sp>
      <p:sp>
        <p:nvSpPr>
          <p:cNvPr id="65" name="Rectangle 64"/>
          <p:cNvSpPr/>
          <p:nvPr/>
        </p:nvSpPr>
        <p:spPr>
          <a:xfrm>
            <a:off x="7179564" y="604856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14260" y="5897880"/>
            <a:ext cx="4379976" cy="378565"/>
          </a:xfrm>
          <a:prstGeom prst="rect">
            <a:avLst/>
          </a:prstGeom>
          <a:noFill/>
        </p:spPr>
        <p:txBody>
          <a:bodyPr wrap="square" lIns="0" tIns="0" rIns="0" bIns="0" anchor="t">
            <a:spAutoFit/>
          </a:bodyPr>
          <a:lstStyle/>
          <a:p>
            <a:pPr algn="l">
              <a:lnSpc>
                <a:spcPct val="128000"/>
              </a:lnSpc>
              <a:spcAft>
                <a:spcPts val="0"/>
              </a:spcAft>
            </a:pPr>
            <a:r>
              <a:rPr lang="en-US" sz="1000" b="1" dirty="0"/>
              <a:t>Recalibrated Score Impact:</a:t>
            </a:r>
            <a:r>
              <a:rPr lang="en-US" sz="1000" dirty="0"/>
              <a:t> Aligning Chat rules with Phone standards drops the true Chat QA score from </a:t>
            </a:r>
            <a:r>
              <a:rPr lang="en-US" sz="1000" b="1" dirty="0"/>
              <a:t>96.01 to 80.14</a:t>
            </a:r>
            <a:r>
              <a:rPr lang="en-US" sz="1000" dirty="0"/>
              <a:t> (below the 85.0 target).</a:t>
            </a:r>
            <a:endParaRPr sz="950" b="0" dirty="0">
              <a:solidFill>
                <a:srgbClr val="4B5563"/>
              </a:solidFill>
              <a:latin typeface="Inter"/>
            </a:endParaRPr>
          </a:p>
        </p:txBody>
      </p:sp>
      <p:sp>
        <p:nvSpPr>
          <p:cNvPr id="67" name="TextBox 66"/>
          <p:cNvSpPr txBox="1"/>
          <p:nvPr/>
        </p:nvSpPr>
        <p:spPr>
          <a:xfrm>
            <a:off x="441960" y="4810385"/>
            <a:ext cx="6446520" cy="174920"/>
          </a:xfrm>
          <a:prstGeom prst="rect">
            <a:avLst/>
          </a:prstGeom>
          <a:noFill/>
        </p:spPr>
        <p:txBody>
          <a:bodyPr wrap="square" lIns="0" tIns="0" rIns="0" bIns="0" anchor="t">
            <a:spAutoFit/>
          </a:bodyPr>
          <a:lstStyle/>
          <a:p>
            <a:pPr algn="l">
              <a:lnSpc>
                <a:spcPct val="115000"/>
              </a:lnSpc>
              <a:spcAft>
                <a:spcPts val="0"/>
              </a:spcAft>
            </a:pPr>
            <a:r>
              <a:rPr lang="es-CO" sz="1050" b="1" dirty="0" err="1"/>
              <a:t>Defect</a:t>
            </a:r>
            <a:r>
              <a:rPr lang="es-CO" sz="1050" b="1" dirty="0"/>
              <a:t> </a:t>
            </a:r>
            <a:r>
              <a:rPr lang="es-CO" sz="1050" b="1" dirty="0" err="1"/>
              <a:t>Breakdown</a:t>
            </a:r>
            <a:endParaRPr sz="1050" b="1" dirty="0">
              <a:solidFill>
                <a:srgbClr val="1A1A1A"/>
              </a:solidFill>
              <a:latin typeface="Inter"/>
            </a:endParaRPr>
          </a:p>
        </p:txBody>
      </p:sp>
      <p:sp>
        <p:nvSpPr>
          <p:cNvPr id="68" name="Rectangle 67"/>
          <p:cNvSpPr/>
          <p:nvPr/>
        </p:nvSpPr>
        <p:spPr>
          <a:xfrm>
            <a:off x="441960" y="5237035"/>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71634" y="5096622"/>
            <a:ext cx="6208776" cy="378565"/>
          </a:xfrm>
          <a:prstGeom prst="rect">
            <a:avLst/>
          </a:prstGeom>
          <a:noFill/>
        </p:spPr>
        <p:txBody>
          <a:bodyPr wrap="square" lIns="0" tIns="0" rIns="0" bIns="0" anchor="t">
            <a:spAutoFit/>
          </a:bodyPr>
          <a:lstStyle/>
          <a:p>
            <a:pPr algn="l">
              <a:lnSpc>
                <a:spcPct val="128000"/>
              </a:lnSpc>
              <a:spcAft>
                <a:spcPts val="0"/>
              </a:spcAft>
            </a:pPr>
            <a:r>
              <a:rPr lang="en-US" sz="1000" b="1" dirty="0"/>
              <a:t>Soft Skill Bias:</a:t>
            </a:r>
            <a:r>
              <a:rPr lang="en-US" sz="1000" dirty="0"/>
              <a:t> </a:t>
            </a:r>
            <a:r>
              <a:rPr lang="en-US" sz="1000" i="1" dirty="0"/>
              <a:t>Greeting &amp; Identification</a:t>
            </a:r>
            <a:r>
              <a:rPr lang="en-US" sz="1000" dirty="0"/>
              <a:t> (30.9%) and </a:t>
            </a:r>
            <a:r>
              <a:rPr lang="en-US" sz="1000" i="1" dirty="0"/>
              <a:t>Service Attitude</a:t>
            </a:r>
            <a:r>
              <a:rPr lang="en-US" sz="1000" dirty="0"/>
              <a:t> (22.2%) combined account for </a:t>
            </a:r>
            <a:r>
              <a:rPr lang="en-US" sz="1000" b="1" dirty="0"/>
              <a:t>53.1% of all recorded defects</a:t>
            </a:r>
            <a:r>
              <a:rPr lang="en-US" sz="1000" dirty="0"/>
              <a:t>.</a:t>
            </a:r>
            <a:endParaRPr sz="950" b="0" dirty="0">
              <a:solidFill>
                <a:srgbClr val="4B5563"/>
              </a:solidFill>
              <a:latin typeface="Inter"/>
            </a:endParaRPr>
          </a:p>
        </p:txBody>
      </p:sp>
      <p:sp>
        <p:nvSpPr>
          <p:cNvPr id="70" name="Rectangle 69"/>
          <p:cNvSpPr/>
          <p:nvPr/>
        </p:nvSpPr>
        <p:spPr>
          <a:xfrm>
            <a:off x="438012" y="5751489"/>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71634" y="5582911"/>
            <a:ext cx="5887358" cy="378565"/>
          </a:xfrm>
          <a:prstGeom prst="rect">
            <a:avLst/>
          </a:prstGeom>
          <a:noFill/>
        </p:spPr>
        <p:txBody>
          <a:bodyPr wrap="square" lIns="0" tIns="0" rIns="0" bIns="0" anchor="t">
            <a:spAutoFit/>
          </a:bodyPr>
          <a:lstStyle/>
          <a:p>
            <a:pPr algn="l">
              <a:lnSpc>
                <a:spcPct val="128000"/>
              </a:lnSpc>
              <a:spcAft>
                <a:spcPts val="0"/>
              </a:spcAft>
            </a:pPr>
            <a:r>
              <a:rPr lang="en-US" sz="1000" b="1" dirty="0"/>
              <a:t>Highest Score Drag:</a:t>
            </a:r>
            <a:r>
              <a:rPr lang="en-US" sz="1000" dirty="0"/>
              <a:t> </a:t>
            </a:r>
            <a:r>
              <a:rPr lang="en-US" sz="1000" i="1" dirty="0"/>
              <a:t>Service Availability</a:t>
            </a:r>
            <a:r>
              <a:rPr lang="en-US" sz="1000" dirty="0"/>
              <a:t> drives the largest point reduction (</a:t>
            </a:r>
            <a:r>
              <a:rPr lang="en-US" sz="1000" b="1" dirty="0"/>
              <a:t>-2.10 pp</a:t>
            </a:r>
            <a:r>
              <a:rPr lang="en-US" sz="1000" dirty="0"/>
              <a:t> across 46 failures) due to its critical classification.</a:t>
            </a:r>
            <a:endParaRPr sz="950" b="0" dirty="0">
              <a:solidFill>
                <a:srgbClr val="4B5563"/>
              </a:solidFill>
              <a:latin typeface="Inter"/>
            </a:endParaRPr>
          </a:p>
        </p:txBody>
      </p:sp>
      <p:sp>
        <p:nvSpPr>
          <p:cNvPr id="72" name="Rectangle 71"/>
          <p:cNvSpPr/>
          <p:nvPr/>
        </p:nvSpPr>
        <p:spPr>
          <a:xfrm>
            <a:off x="457200" y="619441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79703" y="6036210"/>
            <a:ext cx="6208776" cy="378565"/>
          </a:xfrm>
          <a:prstGeom prst="rect">
            <a:avLst/>
          </a:prstGeom>
          <a:noFill/>
        </p:spPr>
        <p:txBody>
          <a:bodyPr wrap="square" lIns="0" tIns="0" rIns="0" bIns="0" anchor="t">
            <a:spAutoFit/>
          </a:bodyPr>
          <a:lstStyle/>
          <a:p>
            <a:pPr algn="l">
              <a:lnSpc>
                <a:spcPct val="128000"/>
              </a:lnSpc>
              <a:spcAft>
                <a:spcPts val="0"/>
              </a:spcAft>
            </a:pPr>
            <a:r>
              <a:rPr lang="en-US" sz="1000" b="1" dirty="0"/>
              <a:t>Rubric Blind Spot:</a:t>
            </a:r>
            <a:r>
              <a:rPr lang="en-US" sz="1000" dirty="0"/>
              <a:t> The evaluation form currently lacks attributes to audit Knowledge Base usage or information accuracy.</a:t>
            </a:r>
            <a:endParaRPr lang="en-US" sz="950" b="0" dirty="0">
              <a:solidFill>
                <a:srgbClr val="4B5563"/>
              </a:solidFill>
              <a:latin typeface="Inter"/>
            </a:endParaRPr>
          </a:p>
        </p:txBody>
      </p:sp>
      <p:sp>
        <p:nvSpPr>
          <p:cNvPr id="75" name="Rectángulo 74">
            <a:extLst>
              <a:ext uri="{FF2B5EF4-FFF2-40B4-BE49-F238E27FC236}">
                <a16:creationId xmlns:a16="http://schemas.microsoft.com/office/drawing/2014/main" id="{2F033A5D-977B-9C2D-5FC0-62D9FBCB389A}"/>
              </a:ext>
            </a:extLst>
          </p:cNvPr>
          <p:cNvSpPr/>
          <p:nvPr/>
        </p:nvSpPr>
        <p:spPr>
          <a:xfrm>
            <a:off x="6685934" y="1143238"/>
            <a:ext cx="5361825" cy="5301003"/>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3"/>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dirty="0">
                <a:solidFill>
                  <a:srgbClr val="FFFFFF"/>
                </a:solidFill>
                <a:latin typeface="Inter"/>
              </a:rPr>
              <a:t>QA analysis: where the defects are</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"Consolidated cross-channel view evaluating 20 QA attributes (12 Phone, 8 Chat)."</a:t>
            </a:r>
            <a:endParaRPr sz="950" b="0" dirty="0">
              <a:solidFill>
                <a:srgbClr val="9CA3AF"/>
              </a:solidFill>
              <a:latin typeface="Inter"/>
            </a:endParaRP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12</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pareto_defects.png"/>
          <p:cNvPicPr>
            <a:picLocks noChangeAspect="1"/>
          </p:cNvPicPr>
          <p:nvPr/>
        </p:nvPicPr>
        <p:blipFill>
          <a:blip r:embed="rId4"/>
          <a:stretch>
            <a:fillRect/>
          </a:stretch>
        </p:blipFill>
        <p:spPr>
          <a:xfrm>
            <a:off x="698641" y="1004514"/>
            <a:ext cx="5361825" cy="3573329"/>
          </a:xfrm>
          <a:prstGeom prst="rect">
            <a:avLst/>
          </a:prstGeom>
          <a:effectLst>
            <a:outerShdw blurRad="50800" dist="38100" dir="2700000" algn="tl" rotWithShape="0">
              <a:prstClr val="black">
                <a:alpha val="40000"/>
              </a:prstClr>
            </a:outerShdw>
          </a:effectLst>
        </p:spPr>
      </p:pic>
      <p:pic>
        <p:nvPicPr>
          <p:cNvPr id="12" name="Picture 11" descr="hist_qa.png"/>
          <p:cNvPicPr>
            <a:picLocks noChangeAspect="1"/>
          </p:cNvPicPr>
          <p:nvPr/>
        </p:nvPicPr>
        <p:blipFill>
          <a:blip r:embed="rId5"/>
          <a:stretch>
            <a:fillRect/>
          </a:stretch>
        </p:blipFill>
        <p:spPr>
          <a:xfrm>
            <a:off x="6883618" y="1219978"/>
            <a:ext cx="4720133" cy="2920400"/>
          </a:xfrm>
          <a:prstGeom prst="rect">
            <a:avLst/>
          </a:prstGeom>
          <a:effectLst>
            <a:outerShdw blurRad="50800" dist="38100" dir="2700000" algn="tl" rotWithShape="0">
              <a:prstClr val="black">
                <a:alpha val="40000"/>
              </a:prstClr>
            </a:outerShdw>
          </a:effectLst>
        </p:spPr>
      </p:pic>
      <p:sp>
        <p:nvSpPr>
          <p:cNvPr id="13" name="TextBox 12"/>
          <p:cNvSpPr txBox="1"/>
          <p:nvPr/>
        </p:nvSpPr>
        <p:spPr>
          <a:xfrm>
            <a:off x="7031751" y="4496894"/>
            <a:ext cx="4572000" cy="174920"/>
          </a:xfrm>
          <a:prstGeom prst="rect">
            <a:avLst/>
          </a:prstGeom>
          <a:noFill/>
        </p:spPr>
        <p:txBody>
          <a:bodyPr wrap="square" lIns="0" tIns="0" rIns="0" bIns="0" anchor="t">
            <a:spAutoFit/>
          </a:bodyPr>
          <a:lstStyle/>
          <a:p>
            <a:pPr algn="l">
              <a:lnSpc>
                <a:spcPct val="115000"/>
              </a:lnSpc>
              <a:spcAft>
                <a:spcPts val="0"/>
              </a:spcAft>
            </a:pPr>
            <a:r>
              <a:rPr lang="es-CO" sz="1050" b="1" dirty="0"/>
              <a:t>Score </a:t>
            </a:r>
            <a:r>
              <a:rPr lang="es-CO" sz="1050" b="1" dirty="0" err="1"/>
              <a:t>Distribution</a:t>
            </a:r>
            <a:r>
              <a:rPr lang="es-CO" sz="1050" b="1" dirty="0"/>
              <a:t> &amp; </a:t>
            </a:r>
            <a:r>
              <a:rPr lang="es-CO" sz="1050" b="1" dirty="0" err="1"/>
              <a:t>Scale</a:t>
            </a:r>
            <a:r>
              <a:rPr lang="es-CO" sz="1050" b="1" dirty="0"/>
              <a:t> </a:t>
            </a:r>
            <a:r>
              <a:rPr lang="es-CO" sz="1050" b="1" dirty="0" err="1"/>
              <a:t>Behavior</a:t>
            </a:r>
            <a:endParaRPr sz="1050" b="1" dirty="0">
              <a:solidFill>
                <a:srgbClr val="1A1A1A"/>
              </a:solidFill>
              <a:latin typeface="Inter"/>
            </a:endParaRPr>
          </a:p>
        </p:txBody>
      </p:sp>
      <p:sp>
        <p:nvSpPr>
          <p:cNvPr id="14" name="Rectangle 13"/>
          <p:cNvSpPr/>
          <p:nvPr/>
        </p:nvSpPr>
        <p:spPr>
          <a:xfrm>
            <a:off x="7031751" y="487637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69494" y="4780358"/>
            <a:ext cx="4334256" cy="378565"/>
          </a:xfrm>
          <a:prstGeom prst="rect">
            <a:avLst/>
          </a:prstGeom>
          <a:noFill/>
        </p:spPr>
        <p:txBody>
          <a:bodyPr wrap="square" lIns="0" tIns="0" rIns="0" bIns="0" anchor="t">
            <a:spAutoFit/>
          </a:bodyPr>
          <a:lstStyle/>
          <a:p>
            <a:pPr algn="l">
              <a:lnSpc>
                <a:spcPct val="128000"/>
              </a:lnSpc>
              <a:spcAft>
                <a:spcPts val="0"/>
              </a:spcAft>
            </a:pPr>
            <a:r>
              <a:rPr lang="en-US" sz="1000" b="1" dirty="0"/>
              <a:t>Polarized Results:</a:t>
            </a:r>
            <a:r>
              <a:rPr lang="en-US" sz="1000" dirty="0"/>
              <a:t> </a:t>
            </a:r>
            <a:r>
              <a:rPr lang="en-US" sz="1000" b="1" dirty="0"/>
              <a:t>82.7%</a:t>
            </a:r>
            <a:r>
              <a:rPr lang="en-US" sz="1000" dirty="0"/>
              <a:t> of evaluated contacts achieve a perfect score (100), while </a:t>
            </a:r>
            <a:r>
              <a:rPr lang="en-US" sz="1000" b="1" dirty="0"/>
              <a:t>4.5%</a:t>
            </a:r>
            <a:r>
              <a:rPr lang="en-US" sz="1000" dirty="0"/>
              <a:t> score a complete zero due to critical failures.</a:t>
            </a:r>
            <a:endParaRPr sz="950" b="0" dirty="0">
              <a:solidFill>
                <a:srgbClr val="4B5563"/>
              </a:solidFill>
              <a:latin typeface="Inter"/>
            </a:endParaRPr>
          </a:p>
        </p:txBody>
      </p:sp>
      <p:sp>
        <p:nvSpPr>
          <p:cNvPr id="16" name="Rectangle 15"/>
          <p:cNvSpPr/>
          <p:nvPr/>
        </p:nvSpPr>
        <p:spPr>
          <a:xfrm>
            <a:off x="7014987" y="554046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69495" y="5278293"/>
            <a:ext cx="4334256" cy="575542"/>
          </a:xfrm>
          <a:prstGeom prst="rect">
            <a:avLst/>
          </a:prstGeom>
          <a:noFill/>
        </p:spPr>
        <p:txBody>
          <a:bodyPr wrap="square" lIns="0" tIns="0" rIns="0" bIns="0" anchor="t">
            <a:spAutoFit/>
          </a:bodyPr>
          <a:lstStyle/>
          <a:p>
            <a:pPr algn="l">
              <a:lnSpc>
                <a:spcPct val="128000"/>
              </a:lnSpc>
              <a:spcAft>
                <a:spcPts val="0"/>
              </a:spcAft>
            </a:pPr>
            <a:r>
              <a:rPr lang="en-US" sz="1000" b="1" dirty="0"/>
              <a:t>Binary Scale Behavior:</a:t>
            </a:r>
            <a:r>
              <a:rPr lang="en-US" sz="1000" dirty="0"/>
              <a:t> Only </a:t>
            </a:r>
            <a:r>
              <a:rPr lang="en-US" sz="1000" b="1" dirty="0"/>
              <a:t>12.8%</a:t>
            </a:r>
            <a:r>
              <a:rPr lang="en-US" sz="1000" dirty="0"/>
              <a:t> of audits fall in the mid-range (70–90 pts), causing the QA evaluation to behave more as a </a:t>
            </a:r>
            <a:r>
              <a:rPr lang="en-US" sz="1000" b="1" dirty="0"/>
              <a:t>binary pass/fail indicator</a:t>
            </a:r>
            <a:r>
              <a:rPr lang="en-US" sz="1000" dirty="0"/>
              <a:t> than a continuous diagnostic metric.</a:t>
            </a:r>
            <a:endParaRPr sz="950" b="0" dirty="0">
              <a:solidFill>
                <a:srgbClr val="4B5563"/>
              </a:solidFill>
              <a:latin typeface="Inter"/>
            </a:endParaRPr>
          </a:p>
        </p:txBody>
      </p:sp>
      <p:sp>
        <p:nvSpPr>
          <p:cNvPr id="18" name="TextBox 17"/>
          <p:cNvSpPr txBox="1"/>
          <p:nvPr/>
        </p:nvSpPr>
        <p:spPr>
          <a:xfrm>
            <a:off x="457200" y="4677228"/>
            <a:ext cx="6492240" cy="174920"/>
          </a:xfrm>
          <a:prstGeom prst="rect">
            <a:avLst/>
          </a:prstGeom>
          <a:noFill/>
        </p:spPr>
        <p:txBody>
          <a:bodyPr wrap="square" lIns="0" tIns="0" rIns="0" bIns="0" anchor="t">
            <a:spAutoFit/>
          </a:bodyPr>
          <a:lstStyle/>
          <a:p>
            <a:pPr algn="l">
              <a:lnSpc>
                <a:spcPct val="115000"/>
              </a:lnSpc>
              <a:spcAft>
                <a:spcPts val="0"/>
              </a:spcAft>
            </a:pPr>
            <a:r>
              <a:rPr lang="es-CO" sz="1050" b="1" dirty="0" err="1"/>
              <a:t>Defect</a:t>
            </a:r>
            <a:r>
              <a:rPr lang="es-CO" sz="1050" b="1" dirty="0"/>
              <a:t> </a:t>
            </a:r>
            <a:r>
              <a:rPr lang="es-CO" sz="1050" b="1" dirty="0" err="1"/>
              <a:t>Concentration</a:t>
            </a:r>
            <a:r>
              <a:rPr lang="es-CO" sz="1050" b="1" dirty="0"/>
              <a:t> </a:t>
            </a:r>
            <a:r>
              <a:rPr lang="es-CO" sz="1050" b="1" dirty="0" err="1"/>
              <a:t>Analysis</a:t>
            </a:r>
            <a:endParaRPr sz="1050" b="1" dirty="0">
              <a:solidFill>
                <a:srgbClr val="1A1A1A"/>
              </a:solidFill>
              <a:latin typeface="Inter"/>
            </a:endParaRPr>
          </a:p>
        </p:txBody>
      </p:sp>
      <p:sp>
        <p:nvSpPr>
          <p:cNvPr id="19" name="Rectangle 18"/>
          <p:cNvSpPr/>
          <p:nvPr/>
        </p:nvSpPr>
        <p:spPr>
          <a:xfrm>
            <a:off x="337788" y="505496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88249" y="4934813"/>
            <a:ext cx="6103499" cy="378565"/>
          </a:xfrm>
          <a:prstGeom prst="rect">
            <a:avLst/>
          </a:prstGeom>
          <a:noFill/>
        </p:spPr>
        <p:txBody>
          <a:bodyPr wrap="square" lIns="0" tIns="0" rIns="0" bIns="0" anchor="t">
            <a:spAutoFit/>
          </a:bodyPr>
          <a:lstStyle/>
          <a:p>
            <a:pPr algn="l">
              <a:lnSpc>
                <a:spcPct val="128000"/>
              </a:lnSpc>
              <a:spcAft>
                <a:spcPts val="0"/>
              </a:spcAft>
            </a:pPr>
            <a:r>
              <a:rPr lang="en-US" sz="1000" b="1" dirty="0"/>
              <a:t>Defect Concentration (80/20):</a:t>
            </a:r>
            <a:r>
              <a:rPr lang="en-US" sz="1000" dirty="0"/>
              <a:t> Just 7 attributes account for </a:t>
            </a:r>
            <a:r>
              <a:rPr lang="en-US" sz="1000" b="1" dirty="0"/>
              <a:t>82.8%</a:t>
            </a:r>
            <a:r>
              <a:rPr lang="en-US" sz="1000" dirty="0"/>
              <a:t> of total audit failures (518 fails across both channels).</a:t>
            </a:r>
            <a:endParaRPr sz="950" b="0" dirty="0">
              <a:solidFill>
                <a:srgbClr val="4B5563"/>
              </a:solidFill>
              <a:latin typeface="Inter"/>
            </a:endParaRPr>
          </a:p>
        </p:txBody>
      </p:sp>
      <p:sp>
        <p:nvSpPr>
          <p:cNvPr id="21" name="Rectangle 20"/>
          <p:cNvSpPr/>
          <p:nvPr/>
        </p:nvSpPr>
        <p:spPr>
          <a:xfrm>
            <a:off x="329886" y="549601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8249" y="5354522"/>
            <a:ext cx="5652531" cy="378565"/>
          </a:xfrm>
          <a:prstGeom prst="rect">
            <a:avLst/>
          </a:prstGeom>
          <a:noFill/>
        </p:spPr>
        <p:txBody>
          <a:bodyPr wrap="square" lIns="0" tIns="0" rIns="0" bIns="0" anchor="t">
            <a:spAutoFit/>
          </a:bodyPr>
          <a:lstStyle/>
          <a:p>
            <a:pPr algn="l">
              <a:lnSpc>
                <a:spcPct val="128000"/>
              </a:lnSpc>
              <a:spcAft>
                <a:spcPts val="0"/>
              </a:spcAft>
            </a:pPr>
            <a:r>
              <a:rPr lang="en-US" sz="1000" b="1" dirty="0"/>
              <a:t>Critical Failures (★):</a:t>
            </a:r>
            <a:r>
              <a:rPr lang="en-US" sz="1000" dirty="0"/>
              <a:t> Critical attributes carry maximum risk as single failure triggers an automatic zero score for the entire audit.</a:t>
            </a:r>
            <a:endParaRPr sz="950" b="0" dirty="0">
              <a:solidFill>
                <a:srgbClr val="4B5563"/>
              </a:solidFill>
              <a:latin typeface="Inter"/>
            </a:endParaRPr>
          </a:p>
        </p:txBody>
      </p:sp>
      <p:sp>
        <p:nvSpPr>
          <p:cNvPr id="23" name="Rectangle 22"/>
          <p:cNvSpPr/>
          <p:nvPr/>
        </p:nvSpPr>
        <p:spPr>
          <a:xfrm>
            <a:off x="326838" y="595443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88249" y="5851715"/>
            <a:ext cx="5596417" cy="575542"/>
          </a:xfrm>
          <a:prstGeom prst="rect">
            <a:avLst/>
          </a:prstGeom>
          <a:noFill/>
        </p:spPr>
        <p:txBody>
          <a:bodyPr wrap="square" lIns="0" tIns="0" rIns="0" bIns="0" anchor="t">
            <a:spAutoFit/>
          </a:bodyPr>
          <a:lstStyle/>
          <a:p>
            <a:pPr algn="l">
              <a:lnSpc>
                <a:spcPct val="128000"/>
              </a:lnSpc>
              <a:spcAft>
                <a:spcPts val="0"/>
              </a:spcAft>
            </a:pPr>
            <a:r>
              <a:rPr lang="en-US" sz="1000" b="1" dirty="0"/>
              <a:t>Volume vs. Severity Trade-off:</a:t>
            </a:r>
            <a:r>
              <a:rPr lang="en-US" sz="1000" dirty="0"/>
              <a:t> </a:t>
            </a:r>
            <a:r>
              <a:rPr lang="en-US" sz="1000" i="1" dirty="0"/>
              <a:t>Time Management</a:t>
            </a:r>
            <a:r>
              <a:rPr lang="en-US" sz="1000" dirty="0"/>
              <a:t> (Phone, non-critical) generates the highest defect volume, whereas critical attributes like </a:t>
            </a:r>
            <a:r>
              <a:rPr lang="en-US" sz="1000" i="1" dirty="0"/>
              <a:t>Complete &amp; Correct Information</a:t>
            </a:r>
            <a:r>
              <a:rPr lang="en-US" sz="1000" dirty="0"/>
              <a:t> occur less frequently but carry disproportionate score impact.</a:t>
            </a:r>
            <a:endParaRPr sz="950" b="0" dirty="0">
              <a:solidFill>
                <a:srgbClr val="4B5563"/>
              </a:solidFill>
              <a:latin typeface="Inter"/>
            </a:endParaRPr>
          </a:p>
        </p:txBody>
      </p:sp>
      <p:sp>
        <p:nvSpPr>
          <p:cNvPr id="25" name="Rectángulo 24">
            <a:extLst>
              <a:ext uri="{FF2B5EF4-FFF2-40B4-BE49-F238E27FC236}">
                <a16:creationId xmlns:a16="http://schemas.microsoft.com/office/drawing/2014/main" id="{D73E2C36-75CB-BF30-AE16-A05225B2A102}"/>
              </a:ext>
            </a:extLst>
          </p:cNvPr>
          <p:cNvSpPr/>
          <p:nvPr/>
        </p:nvSpPr>
        <p:spPr>
          <a:xfrm>
            <a:off x="6539645" y="1036128"/>
            <a:ext cx="5361825" cy="5301003"/>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9826"/>
          </a:xfrm>
          <a:prstGeom prst="rect">
            <a:avLst/>
          </a:prstGeom>
          <a:noFill/>
        </p:spPr>
        <p:txBody>
          <a:bodyPr wrap="square" lIns="0" tIns="0" rIns="0" bIns="0" anchor="t">
            <a:spAutoFit/>
          </a:bodyPr>
          <a:lstStyle/>
          <a:p>
            <a:pPr algn="l">
              <a:lnSpc>
                <a:spcPct val="115000"/>
              </a:lnSpc>
              <a:spcAft>
                <a:spcPts val="0"/>
              </a:spcAft>
            </a:pPr>
            <a:r>
              <a:rPr lang="en-US" sz="1800" b="1" dirty="0">
                <a:solidFill>
                  <a:srgbClr val="FFFFFF"/>
                </a:solidFill>
                <a:latin typeface="Inter"/>
              </a:rPr>
              <a:t>Contact Reason QA Breakdown (CR Lv4)</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Blended ranking (Phone + Chat together). Official QA never mixes the two lists. At least 3 audits.</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13</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bar_qa_by_cr.png"/>
          <p:cNvPicPr>
            <a:picLocks noChangeAspect="1"/>
          </p:cNvPicPr>
          <p:nvPr/>
        </p:nvPicPr>
        <p:blipFill>
          <a:blip r:embed="rId3"/>
          <a:stretch>
            <a:fillRect/>
          </a:stretch>
        </p:blipFill>
        <p:spPr>
          <a:xfrm>
            <a:off x="516732" y="1458288"/>
            <a:ext cx="5721032" cy="2897363"/>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6757416" y="1382030"/>
            <a:ext cx="5120640" cy="174920"/>
          </a:xfrm>
          <a:prstGeom prst="rect">
            <a:avLst/>
          </a:prstGeom>
          <a:noFill/>
        </p:spPr>
        <p:txBody>
          <a:bodyPr wrap="square" lIns="0" tIns="0" rIns="0" bIns="0" anchor="t">
            <a:spAutoFit/>
          </a:bodyPr>
          <a:lstStyle/>
          <a:p>
            <a:pPr algn="ctr">
              <a:lnSpc>
                <a:spcPct val="115000"/>
              </a:lnSpc>
              <a:spcAft>
                <a:spcPts val="0"/>
              </a:spcAft>
            </a:pPr>
            <a:r>
              <a:rPr sz="1050" b="1" dirty="0">
                <a:solidFill>
                  <a:srgbClr val="1A1A1A"/>
                </a:solidFill>
                <a:latin typeface="Inter"/>
              </a:rPr>
              <a:t>Lowest QA reasons (blended)</a:t>
            </a:r>
          </a:p>
        </p:txBody>
      </p:sp>
      <p:grpSp>
        <p:nvGrpSpPr>
          <p:cNvPr id="73" name="Grupo 72">
            <a:extLst>
              <a:ext uri="{FF2B5EF4-FFF2-40B4-BE49-F238E27FC236}">
                <a16:creationId xmlns:a16="http://schemas.microsoft.com/office/drawing/2014/main" id="{D41F816D-DC7A-E09C-7A6D-5449F4BA4661}"/>
              </a:ext>
            </a:extLst>
          </p:cNvPr>
          <p:cNvGrpSpPr/>
          <p:nvPr/>
        </p:nvGrpSpPr>
        <p:grpSpPr>
          <a:xfrm>
            <a:off x="6757416" y="1692926"/>
            <a:ext cx="5120640" cy="2619946"/>
            <a:chOff x="6629400" y="1517904"/>
            <a:chExt cx="5120640" cy="2619946"/>
          </a:xfrm>
        </p:grpSpPr>
        <p:sp>
          <p:nvSpPr>
            <p:cNvPr id="13" name="Rectangle 12"/>
            <p:cNvSpPr/>
            <p:nvPr/>
          </p:nvSpPr>
          <p:spPr>
            <a:xfrm>
              <a:off x="6629400" y="1517904"/>
              <a:ext cx="512064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6757416" y="1599205"/>
              <a:ext cx="2258568" cy="166584"/>
            </a:xfrm>
            <a:prstGeom prst="rect">
              <a:avLst/>
            </a:prstGeom>
            <a:noFill/>
          </p:spPr>
          <p:txBody>
            <a:bodyPr wrap="square" lIns="0" tIns="0" rIns="0" bIns="0" anchor="ctr">
              <a:spAutoFit/>
            </a:bodyPr>
            <a:lstStyle/>
            <a:p>
              <a:pPr algn="ctr">
                <a:lnSpc>
                  <a:spcPct val="115000"/>
                </a:lnSpc>
                <a:spcAft>
                  <a:spcPts val="0"/>
                </a:spcAft>
              </a:pPr>
              <a:r>
                <a:rPr sz="1000" b="1" dirty="0">
                  <a:solidFill>
                    <a:srgbClr val="FFFFFF"/>
                  </a:solidFill>
                  <a:latin typeface="Inter"/>
                </a:rPr>
                <a:t>Contact reason</a:t>
              </a:r>
            </a:p>
          </p:txBody>
        </p:sp>
        <p:sp>
          <p:nvSpPr>
            <p:cNvPr id="15" name="TextBox 14"/>
            <p:cNvSpPr txBox="1"/>
            <p:nvPr/>
          </p:nvSpPr>
          <p:spPr>
            <a:xfrm>
              <a:off x="9272016" y="1599205"/>
              <a:ext cx="274319"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QA</a:t>
              </a:r>
            </a:p>
          </p:txBody>
        </p:sp>
        <p:sp>
          <p:nvSpPr>
            <p:cNvPr id="16" name="TextBox 15"/>
            <p:cNvSpPr txBox="1"/>
            <p:nvPr/>
          </p:nvSpPr>
          <p:spPr>
            <a:xfrm>
              <a:off x="9802368" y="1599205"/>
              <a:ext cx="15544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n</a:t>
              </a:r>
            </a:p>
          </p:txBody>
        </p:sp>
        <p:sp>
          <p:nvSpPr>
            <p:cNvPr id="17" name="TextBox 16"/>
            <p:cNvSpPr txBox="1"/>
            <p:nvPr/>
          </p:nvSpPr>
          <p:spPr>
            <a:xfrm>
              <a:off x="10213848" y="1599205"/>
              <a:ext cx="1408176"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Status</a:t>
              </a:r>
            </a:p>
          </p:txBody>
        </p:sp>
        <p:sp>
          <p:nvSpPr>
            <p:cNvPr id="18" name="TextBox 17"/>
            <p:cNvSpPr txBox="1"/>
            <p:nvPr/>
          </p:nvSpPr>
          <p:spPr>
            <a:xfrm>
              <a:off x="6757416" y="2000732"/>
              <a:ext cx="2258568" cy="149913"/>
            </a:xfrm>
            <a:prstGeom prst="rect">
              <a:avLst/>
            </a:prstGeom>
            <a:noFill/>
          </p:spPr>
          <p:txBody>
            <a:bodyPr wrap="square" lIns="0" tIns="0" rIns="0" bIns="0" anchor="ctr">
              <a:spAutoFit/>
            </a:bodyPr>
            <a:lstStyle/>
            <a:p>
              <a:pPr algn="ctr">
                <a:lnSpc>
                  <a:spcPct val="115000"/>
                </a:lnSpc>
                <a:spcAft>
                  <a:spcPts val="0"/>
                </a:spcAft>
              </a:pPr>
              <a:r>
                <a:rPr sz="900" b="0" dirty="0">
                  <a:solidFill>
                    <a:srgbClr val="4B5563"/>
                  </a:solidFill>
                  <a:latin typeface="Inter"/>
                </a:rPr>
                <a:t>Completed but not received — market p…</a:t>
              </a:r>
            </a:p>
          </p:txBody>
        </p:sp>
        <p:sp>
          <p:nvSpPr>
            <p:cNvPr id="19" name="Rounded Rectangle 18"/>
            <p:cNvSpPr/>
            <p:nvPr/>
          </p:nvSpPr>
          <p:spPr>
            <a:xfrm>
              <a:off x="9208008" y="1911095"/>
              <a:ext cx="402335"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9272016" y="2000732"/>
              <a:ext cx="274319"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58.0</a:t>
              </a:r>
            </a:p>
          </p:txBody>
        </p:sp>
        <p:sp>
          <p:nvSpPr>
            <p:cNvPr id="21" name="TextBox 20"/>
            <p:cNvSpPr txBox="1"/>
            <p:nvPr/>
          </p:nvSpPr>
          <p:spPr>
            <a:xfrm>
              <a:off x="9802368" y="2000732"/>
              <a:ext cx="15544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5</a:t>
              </a:r>
            </a:p>
          </p:txBody>
        </p:sp>
        <p:sp>
          <p:nvSpPr>
            <p:cNvPr id="22" name="Rounded Rectangle 21"/>
            <p:cNvSpPr/>
            <p:nvPr/>
          </p:nvSpPr>
          <p:spPr>
            <a:xfrm>
              <a:off x="10213848" y="193852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Oval 22"/>
            <p:cNvSpPr/>
            <p:nvPr/>
          </p:nvSpPr>
          <p:spPr>
            <a:xfrm>
              <a:off x="10323576" y="202539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10488168" y="2000732"/>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25" name="Rectangle 24"/>
            <p:cNvSpPr/>
            <p:nvPr/>
          </p:nvSpPr>
          <p:spPr>
            <a:xfrm>
              <a:off x="6629400" y="22995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Rectangle 25"/>
            <p:cNvSpPr/>
            <p:nvPr/>
          </p:nvSpPr>
          <p:spPr>
            <a:xfrm>
              <a:off x="6629400" y="2304288"/>
              <a:ext cx="5120640"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6757416" y="2457932"/>
              <a:ext cx="225856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Referral coupon information</a:t>
              </a:r>
            </a:p>
          </p:txBody>
        </p:sp>
        <p:sp>
          <p:nvSpPr>
            <p:cNvPr id="28" name="Rounded Rectangle 27"/>
            <p:cNvSpPr/>
            <p:nvPr/>
          </p:nvSpPr>
          <p:spPr>
            <a:xfrm>
              <a:off x="9208008" y="2368296"/>
              <a:ext cx="402335"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p:cNvSpPr txBox="1"/>
            <p:nvPr/>
          </p:nvSpPr>
          <p:spPr>
            <a:xfrm>
              <a:off x="9272016" y="2457932"/>
              <a:ext cx="274319"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66.7</a:t>
              </a:r>
            </a:p>
          </p:txBody>
        </p:sp>
        <p:sp>
          <p:nvSpPr>
            <p:cNvPr id="30" name="TextBox 29"/>
            <p:cNvSpPr txBox="1"/>
            <p:nvPr/>
          </p:nvSpPr>
          <p:spPr>
            <a:xfrm>
              <a:off x="9802368" y="2457932"/>
              <a:ext cx="15544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6</a:t>
              </a:r>
            </a:p>
          </p:txBody>
        </p:sp>
        <p:sp>
          <p:nvSpPr>
            <p:cNvPr id="31" name="Rounded Rectangle 30"/>
            <p:cNvSpPr/>
            <p:nvPr/>
          </p:nvSpPr>
          <p:spPr>
            <a:xfrm>
              <a:off x="10213848" y="239572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Oval 31"/>
            <p:cNvSpPr/>
            <p:nvPr/>
          </p:nvSpPr>
          <p:spPr>
            <a:xfrm>
              <a:off x="10323576" y="248259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TextBox 32"/>
            <p:cNvSpPr txBox="1"/>
            <p:nvPr/>
          </p:nvSpPr>
          <p:spPr>
            <a:xfrm>
              <a:off x="10488168" y="2457932"/>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34" name="Rectangle 33"/>
            <p:cNvSpPr/>
            <p:nvPr/>
          </p:nvSpPr>
          <p:spPr>
            <a:xfrm>
              <a:off x="6629400" y="27567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TextBox 34"/>
            <p:cNvSpPr txBox="1"/>
            <p:nvPr/>
          </p:nvSpPr>
          <p:spPr>
            <a:xfrm>
              <a:off x="6757416" y="2915132"/>
              <a:ext cx="225856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store registration</a:t>
              </a:r>
            </a:p>
          </p:txBody>
        </p:sp>
        <p:sp>
          <p:nvSpPr>
            <p:cNvPr id="36" name="Rounded Rectangle 35"/>
            <p:cNvSpPr/>
            <p:nvPr/>
          </p:nvSpPr>
          <p:spPr>
            <a:xfrm>
              <a:off x="9208008" y="2825496"/>
              <a:ext cx="402335" cy="329184"/>
            </a:xfrm>
            <a:prstGeom prst="roundRect">
              <a:avLst>
                <a:gd name="adj" fmla="val 13888"/>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TextBox 36"/>
            <p:cNvSpPr txBox="1"/>
            <p:nvPr/>
          </p:nvSpPr>
          <p:spPr>
            <a:xfrm>
              <a:off x="9272016" y="2915132"/>
              <a:ext cx="274319" cy="149913"/>
            </a:xfrm>
            <a:prstGeom prst="rect">
              <a:avLst/>
            </a:prstGeom>
            <a:noFill/>
          </p:spPr>
          <p:txBody>
            <a:bodyPr wrap="square" lIns="0" tIns="0" rIns="0" bIns="0" anchor="ctr">
              <a:spAutoFit/>
            </a:bodyPr>
            <a:lstStyle/>
            <a:p>
              <a:pPr algn="ctr">
                <a:lnSpc>
                  <a:spcPct val="115000"/>
                </a:lnSpc>
                <a:spcAft>
                  <a:spcPts val="0"/>
                </a:spcAft>
              </a:pPr>
              <a:r>
                <a:rPr sz="900" b="1">
                  <a:solidFill>
                    <a:srgbClr val="F59E0B"/>
                  </a:solidFill>
                  <a:latin typeface="Inter"/>
                </a:rPr>
                <a:t>80.0</a:t>
              </a:r>
            </a:p>
          </p:txBody>
        </p:sp>
        <p:sp>
          <p:nvSpPr>
            <p:cNvPr id="38" name="TextBox 37"/>
            <p:cNvSpPr txBox="1"/>
            <p:nvPr/>
          </p:nvSpPr>
          <p:spPr>
            <a:xfrm>
              <a:off x="9802368" y="2915132"/>
              <a:ext cx="15544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5</a:t>
              </a:r>
            </a:p>
          </p:txBody>
        </p:sp>
        <p:sp>
          <p:nvSpPr>
            <p:cNvPr id="39" name="Rounded Rectangle 38"/>
            <p:cNvSpPr/>
            <p:nvPr/>
          </p:nvSpPr>
          <p:spPr>
            <a:xfrm>
              <a:off x="10213848" y="2852928"/>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Oval 39"/>
            <p:cNvSpPr/>
            <p:nvPr/>
          </p:nvSpPr>
          <p:spPr>
            <a:xfrm>
              <a:off x="10323576" y="2939796"/>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1" name="TextBox 40"/>
            <p:cNvSpPr txBox="1"/>
            <p:nvPr/>
          </p:nvSpPr>
          <p:spPr>
            <a:xfrm>
              <a:off x="10488168" y="2915132"/>
              <a:ext cx="603732" cy="149913"/>
            </a:xfrm>
            <a:prstGeom prst="rect">
              <a:avLst/>
            </a:prstGeom>
            <a:noFill/>
          </p:spPr>
          <p:txBody>
            <a:bodyPr wrap="square" lIns="0" tIns="0" rIns="0" bIns="0" anchor="ctr">
              <a:spAutoFit/>
            </a:bodyPr>
            <a:lstStyle/>
            <a:p>
              <a:pPr algn="ctr">
                <a:lnSpc>
                  <a:spcPct val="115000"/>
                </a:lnSpc>
                <a:spcAft>
                  <a:spcPts val="0"/>
                </a:spcAft>
              </a:pPr>
              <a:r>
                <a:rPr sz="900" b="1">
                  <a:solidFill>
                    <a:srgbClr val="F59E0B"/>
                  </a:solidFill>
                  <a:latin typeface="Inter"/>
                </a:rPr>
                <a:t>Near goal</a:t>
              </a:r>
            </a:p>
          </p:txBody>
        </p:sp>
        <p:sp>
          <p:nvSpPr>
            <p:cNvPr id="42" name="Rectangle 41"/>
            <p:cNvSpPr/>
            <p:nvPr/>
          </p:nvSpPr>
          <p:spPr>
            <a:xfrm>
              <a:off x="6629400" y="32139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3" name="Rectangle 42"/>
            <p:cNvSpPr/>
            <p:nvPr/>
          </p:nvSpPr>
          <p:spPr>
            <a:xfrm>
              <a:off x="6629400" y="3218688"/>
              <a:ext cx="5120640"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6757416" y="3372332"/>
              <a:ext cx="225856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verbal aggression</a:t>
              </a:r>
            </a:p>
          </p:txBody>
        </p:sp>
        <p:sp>
          <p:nvSpPr>
            <p:cNvPr id="45" name="Rounded Rectangle 44"/>
            <p:cNvSpPr/>
            <p:nvPr/>
          </p:nvSpPr>
          <p:spPr>
            <a:xfrm>
              <a:off x="9208008" y="3282696"/>
              <a:ext cx="402335" cy="329184"/>
            </a:xfrm>
            <a:prstGeom prst="roundRect">
              <a:avLst>
                <a:gd name="adj" fmla="val 13888"/>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9272016" y="3372332"/>
              <a:ext cx="274319" cy="149913"/>
            </a:xfrm>
            <a:prstGeom prst="rect">
              <a:avLst/>
            </a:prstGeom>
            <a:noFill/>
          </p:spPr>
          <p:txBody>
            <a:bodyPr wrap="square" lIns="0" tIns="0" rIns="0" bIns="0" anchor="ctr">
              <a:spAutoFit/>
            </a:bodyPr>
            <a:lstStyle/>
            <a:p>
              <a:pPr algn="ctr">
                <a:lnSpc>
                  <a:spcPct val="115000"/>
                </a:lnSpc>
                <a:spcAft>
                  <a:spcPts val="0"/>
                </a:spcAft>
              </a:pPr>
              <a:r>
                <a:rPr sz="900" b="1" dirty="0">
                  <a:solidFill>
                    <a:srgbClr val="F59E0B"/>
                  </a:solidFill>
                  <a:latin typeface="Inter"/>
                </a:rPr>
                <a:t>82.5</a:t>
              </a:r>
            </a:p>
          </p:txBody>
        </p:sp>
        <p:sp>
          <p:nvSpPr>
            <p:cNvPr id="47" name="TextBox 46"/>
            <p:cNvSpPr txBox="1"/>
            <p:nvPr/>
          </p:nvSpPr>
          <p:spPr>
            <a:xfrm>
              <a:off x="9802368" y="3372332"/>
              <a:ext cx="15544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8</a:t>
              </a:r>
            </a:p>
          </p:txBody>
        </p:sp>
        <p:sp>
          <p:nvSpPr>
            <p:cNvPr id="48" name="Rounded Rectangle 47"/>
            <p:cNvSpPr/>
            <p:nvPr/>
          </p:nvSpPr>
          <p:spPr>
            <a:xfrm>
              <a:off x="10213848" y="3310128"/>
              <a:ext cx="914628"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Oval 48"/>
            <p:cNvSpPr/>
            <p:nvPr/>
          </p:nvSpPr>
          <p:spPr>
            <a:xfrm>
              <a:off x="10323576" y="3396996"/>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0" name="TextBox 49"/>
            <p:cNvSpPr txBox="1"/>
            <p:nvPr/>
          </p:nvSpPr>
          <p:spPr>
            <a:xfrm>
              <a:off x="10488168" y="3372332"/>
              <a:ext cx="603732" cy="149913"/>
            </a:xfrm>
            <a:prstGeom prst="rect">
              <a:avLst/>
            </a:prstGeom>
            <a:noFill/>
          </p:spPr>
          <p:txBody>
            <a:bodyPr wrap="square" lIns="0" tIns="0" rIns="0" bIns="0" anchor="ctr">
              <a:spAutoFit/>
            </a:bodyPr>
            <a:lstStyle/>
            <a:p>
              <a:pPr algn="ctr">
                <a:lnSpc>
                  <a:spcPct val="115000"/>
                </a:lnSpc>
                <a:spcAft>
                  <a:spcPts val="0"/>
                </a:spcAft>
              </a:pPr>
              <a:r>
                <a:rPr sz="900" b="1">
                  <a:solidFill>
                    <a:srgbClr val="F59E0B"/>
                  </a:solidFill>
                  <a:latin typeface="Inter"/>
                </a:rPr>
                <a:t>Near goal</a:t>
              </a:r>
            </a:p>
          </p:txBody>
        </p:sp>
        <p:sp>
          <p:nvSpPr>
            <p:cNvPr id="51" name="Rectangle 50"/>
            <p:cNvSpPr/>
            <p:nvPr/>
          </p:nvSpPr>
          <p:spPr>
            <a:xfrm>
              <a:off x="6629400" y="36711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TextBox 51"/>
            <p:cNvSpPr txBox="1"/>
            <p:nvPr/>
          </p:nvSpPr>
          <p:spPr>
            <a:xfrm>
              <a:off x="6757416" y="3829531"/>
              <a:ext cx="225856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Completed but not received — full ser…</a:t>
              </a:r>
            </a:p>
          </p:txBody>
        </p:sp>
        <p:sp>
          <p:nvSpPr>
            <p:cNvPr id="53" name="Rounded Rectangle 52"/>
            <p:cNvSpPr/>
            <p:nvPr/>
          </p:nvSpPr>
          <p:spPr>
            <a:xfrm>
              <a:off x="9208008" y="3739896"/>
              <a:ext cx="402335"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4" name="TextBox 53"/>
            <p:cNvSpPr txBox="1"/>
            <p:nvPr/>
          </p:nvSpPr>
          <p:spPr>
            <a:xfrm>
              <a:off x="9272016" y="3829531"/>
              <a:ext cx="274319" cy="149913"/>
            </a:xfrm>
            <a:prstGeom prst="rect">
              <a:avLst/>
            </a:prstGeom>
            <a:noFill/>
          </p:spPr>
          <p:txBody>
            <a:bodyPr wrap="square" lIns="0" tIns="0" rIns="0" bIns="0" anchor="ctr">
              <a:spAutoFit/>
            </a:bodyPr>
            <a:lstStyle/>
            <a:p>
              <a:pPr algn="ctr">
                <a:lnSpc>
                  <a:spcPct val="115000"/>
                </a:lnSpc>
                <a:spcAft>
                  <a:spcPts val="0"/>
                </a:spcAft>
              </a:pPr>
              <a:r>
                <a:rPr sz="900" b="1">
                  <a:solidFill>
                    <a:srgbClr val="16A34A"/>
                  </a:solidFill>
                  <a:latin typeface="Inter"/>
                </a:rPr>
                <a:t>86.5</a:t>
              </a:r>
            </a:p>
          </p:txBody>
        </p:sp>
        <p:sp>
          <p:nvSpPr>
            <p:cNvPr id="55" name="TextBox 54"/>
            <p:cNvSpPr txBox="1"/>
            <p:nvPr/>
          </p:nvSpPr>
          <p:spPr>
            <a:xfrm>
              <a:off x="9802368" y="3829531"/>
              <a:ext cx="225552"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138</a:t>
              </a:r>
            </a:p>
          </p:txBody>
        </p:sp>
        <p:sp>
          <p:nvSpPr>
            <p:cNvPr id="56" name="Rounded Rectangle 55"/>
            <p:cNvSpPr/>
            <p:nvPr/>
          </p:nvSpPr>
          <p:spPr>
            <a:xfrm>
              <a:off x="10213848" y="3767327"/>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7" name="Oval 56"/>
            <p:cNvSpPr/>
            <p:nvPr/>
          </p:nvSpPr>
          <p:spPr>
            <a:xfrm>
              <a:off x="10323576" y="3854196"/>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8" name="TextBox 57"/>
            <p:cNvSpPr txBox="1"/>
            <p:nvPr/>
          </p:nvSpPr>
          <p:spPr>
            <a:xfrm>
              <a:off x="10488168" y="3829531"/>
              <a:ext cx="489889" cy="149913"/>
            </a:xfrm>
            <a:prstGeom prst="rect">
              <a:avLst/>
            </a:prstGeom>
            <a:noFill/>
          </p:spPr>
          <p:txBody>
            <a:bodyPr wrap="square" lIns="0" tIns="0" rIns="0" bIns="0" anchor="ctr">
              <a:spAutoFit/>
            </a:bodyPr>
            <a:lstStyle/>
            <a:p>
              <a:pPr algn="ctr">
                <a:lnSpc>
                  <a:spcPct val="115000"/>
                </a:lnSpc>
                <a:spcAft>
                  <a:spcPts val="0"/>
                </a:spcAft>
              </a:pPr>
              <a:r>
                <a:rPr sz="900" b="1">
                  <a:solidFill>
                    <a:srgbClr val="16A34A"/>
                  </a:solidFill>
                  <a:latin typeface="Inter"/>
                </a:rPr>
                <a:t>On goal</a:t>
              </a:r>
            </a:p>
          </p:txBody>
        </p:sp>
        <p:sp>
          <p:nvSpPr>
            <p:cNvPr id="59" name="Rectangle 58"/>
            <p:cNvSpPr/>
            <p:nvPr/>
          </p:nvSpPr>
          <p:spPr>
            <a:xfrm>
              <a:off x="6629400" y="4128325"/>
              <a:ext cx="51206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sp>
        <p:nvSpPr>
          <p:cNvPr id="60" name="TextBox 59"/>
          <p:cNvSpPr txBox="1"/>
          <p:nvPr/>
        </p:nvSpPr>
        <p:spPr>
          <a:xfrm>
            <a:off x="6775704" y="4387030"/>
            <a:ext cx="5120640" cy="174920"/>
          </a:xfrm>
          <a:prstGeom prst="rect">
            <a:avLst/>
          </a:prstGeom>
          <a:noFill/>
        </p:spPr>
        <p:txBody>
          <a:bodyPr wrap="square" lIns="0" tIns="0" rIns="0" bIns="0" anchor="t">
            <a:spAutoFit/>
          </a:bodyPr>
          <a:lstStyle/>
          <a:p>
            <a:pPr algn="l">
              <a:lnSpc>
                <a:spcPct val="115000"/>
              </a:lnSpc>
              <a:spcAft>
                <a:spcPts val="0"/>
              </a:spcAft>
            </a:pPr>
            <a:r>
              <a:rPr lang="en-US" sz="1050" b="1" dirty="0"/>
              <a:t>Drivers of Channel Metric Divergence</a:t>
            </a:r>
            <a:endParaRPr sz="1050" b="1" dirty="0">
              <a:solidFill>
                <a:srgbClr val="1A1A1A"/>
              </a:solidFill>
              <a:latin typeface="Inter"/>
            </a:endParaRPr>
          </a:p>
        </p:txBody>
      </p:sp>
      <p:sp>
        <p:nvSpPr>
          <p:cNvPr id="61" name="Rectangle 60"/>
          <p:cNvSpPr/>
          <p:nvPr/>
        </p:nvSpPr>
        <p:spPr>
          <a:xfrm>
            <a:off x="6794086" y="487274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958584" y="4704762"/>
            <a:ext cx="4882896" cy="378565"/>
          </a:xfrm>
          <a:prstGeom prst="rect">
            <a:avLst/>
          </a:prstGeom>
          <a:noFill/>
        </p:spPr>
        <p:txBody>
          <a:bodyPr wrap="square" lIns="0" tIns="0" rIns="0" bIns="0" anchor="t">
            <a:spAutoFit/>
          </a:bodyPr>
          <a:lstStyle/>
          <a:p>
            <a:pPr algn="l">
              <a:lnSpc>
                <a:spcPct val="128000"/>
              </a:lnSpc>
              <a:spcAft>
                <a:spcPts val="0"/>
              </a:spcAft>
            </a:pPr>
            <a:r>
              <a:rPr lang="en-US" sz="1000" b="1" dirty="0"/>
              <a:t>Blended vs. Isolated Governance:</a:t>
            </a:r>
            <a:r>
              <a:rPr lang="en-US" sz="1000" dirty="0"/>
              <a:t> Blended views create false positives; operational decisions require channel-isolated audits.</a:t>
            </a:r>
            <a:endParaRPr sz="950" b="0" dirty="0">
              <a:solidFill>
                <a:srgbClr val="4B5563"/>
              </a:solidFill>
              <a:latin typeface="Inter"/>
            </a:endParaRPr>
          </a:p>
        </p:txBody>
      </p:sp>
      <p:sp>
        <p:nvSpPr>
          <p:cNvPr id="63" name="Rectangle 62"/>
          <p:cNvSpPr/>
          <p:nvPr/>
        </p:nvSpPr>
        <p:spPr>
          <a:xfrm>
            <a:off x="6794086" y="535942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958584" y="5198416"/>
            <a:ext cx="4882896" cy="322011"/>
          </a:xfrm>
          <a:prstGeom prst="rect">
            <a:avLst/>
          </a:prstGeom>
          <a:noFill/>
        </p:spPr>
        <p:txBody>
          <a:bodyPr wrap="square" lIns="0" tIns="0" rIns="0" bIns="0" anchor="t">
            <a:spAutoFit/>
          </a:bodyPr>
          <a:lstStyle/>
          <a:p>
            <a:pPr marL="0" marR="0">
              <a:lnSpc>
                <a:spcPct val="107000"/>
              </a:lnSpc>
              <a:spcBef>
                <a:spcPts val="0"/>
              </a:spcBef>
              <a:spcAft>
                <a:spcPts val="0"/>
              </a:spcAft>
            </a:pP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Channel Performance Variance:</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a:t>
            </a:r>
            <a:r>
              <a:rPr lang="en-US" sz="1000" i="1" kern="0" dirty="0">
                <a:effectLst/>
                <a:latin typeface="Calibri" panose="020F0502020204030204" pitchFamily="34" charset="0"/>
                <a:ea typeface="Times New Roman" panose="02020603050405020304" pitchFamily="18" charset="0"/>
                <a:cs typeface="Calibri" panose="020F0502020204030204" pitchFamily="34" charset="0"/>
              </a:rPr>
              <a:t>"Verbal aggression"</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averages </a:t>
            </a: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82.5</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but isolating channels reveals a critical deficit in </a:t>
            </a: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Chat (76.0, N=5)</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versus </a:t>
            </a: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Phone (93.3, N=3)</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a:t>
            </a:r>
            <a:endParaRPr lang="es-CO"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5" name="Rectangle 64"/>
          <p:cNvSpPr/>
          <p:nvPr/>
        </p:nvSpPr>
        <p:spPr>
          <a:xfrm>
            <a:off x="6794086" y="572493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958584" y="5592753"/>
            <a:ext cx="4882896" cy="322011"/>
          </a:xfrm>
          <a:prstGeom prst="rect">
            <a:avLst/>
          </a:prstGeom>
          <a:noFill/>
        </p:spPr>
        <p:txBody>
          <a:bodyPr wrap="square" lIns="0" tIns="0" rIns="0" bIns="0" anchor="t">
            <a:spAutoFit/>
          </a:bodyPr>
          <a:lstStyle/>
          <a:p>
            <a:pPr marL="0" marR="0">
              <a:lnSpc>
                <a:spcPct val="107000"/>
              </a:lnSpc>
              <a:spcBef>
                <a:spcPts val="0"/>
              </a:spcBef>
              <a:spcAft>
                <a:spcPts val="0"/>
              </a:spcAft>
            </a:pP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Volume-Driven Masking:</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a:t>
            </a:r>
            <a:r>
              <a:rPr lang="en-US" sz="1000" i="1" kern="0" dirty="0">
                <a:effectLst/>
                <a:latin typeface="Calibri" panose="020F0502020204030204" pitchFamily="34" charset="0"/>
                <a:ea typeface="Times New Roman" panose="02020603050405020304" pitchFamily="18" charset="0"/>
                <a:cs typeface="Calibri" panose="020F0502020204030204" pitchFamily="34" charset="0"/>
              </a:rPr>
              <a:t>"Undelivered full-service"</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appears compliant at </a:t>
            </a: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86.5</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(N=138), hiding a failing </a:t>
            </a:r>
            <a:r>
              <a:rPr lang="en-US" sz="1000" b="1" kern="0" dirty="0">
                <a:effectLst/>
                <a:latin typeface="Calibri" panose="020F0502020204030204" pitchFamily="34" charset="0"/>
                <a:ea typeface="Times New Roman" panose="02020603050405020304" pitchFamily="18" charset="0"/>
                <a:cs typeface="Calibri" panose="020F0502020204030204" pitchFamily="34" charset="0"/>
              </a:rPr>
              <a:t>68.2 Phone baseline</a:t>
            </a:r>
            <a:r>
              <a:rPr lang="en-US" sz="1000" kern="0" dirty="0">
                <a:effectLst/>
                <a:latin typeface="Calibri" panose="020F0502020204030204" pitchFamily="34" charset="0"/>
                <a:ea typeface="Times New Roman" panose="02020603050405020304" pitchFamily="18" charset="0"/>
                <a:cs typeface="Calibri" panose="020F0502020204030204" pitchFamily="34" charset="0"/>
              </a:rPr>
              <a:t> (N=49).</a:t>
            </a:r>
            <a:endParaRPr lang="es-CO" sz="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7" name="Rectangle 66"/>
          <p:cNvSpPr/>
          <p:nvPr/>
        </p:nvSpPr>
        <p:spPr>
          <a:xfrm>
            <a:off x="6775704" y="620302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958584" y="6026547"/>
            <a:ext cx="4882896" cy="378565"/>
          </a:xfrm>
          <a:prstGeom prst="rect">
            <a:avLst/>
          </a:prstGeom>
          <a:noFill/>
        </p:spPr>
        <p:txBody>
          <a:bodyPr wrap="square" lIns="0" tIns="0" rIns="0" bIns="0" anchor="t">
            <a:spAutoFit/>
          </a:bodyPr>
          <a:lstStyle/>
          <a:p>
            <a:pPr algn="l">
              <a:lnSpc>
                <a:spcPct val="128000"/>
              </a:lnSpc>
              <a:spcAft>
                <a:spcPts val="0"/>
              </a:spcAft>
            </a:pPr>
            <a:r>
              <a:rPr lang="en-US" sz="1000" b="1" dirty="0"/>
              <a:t>Operational Risk:</a:t>
            </a:r>
            <a:r>
              <a:rPr lang="en-US" sz="1000" dirty="0"/>
              <a:t> Relying solely on blended averages allows critically failing voice queues ("red") to masquerade as compliant ("green").</a:t>
            </a:r>
            <a:endParaRPr lang="en-US" sz="950" b="0" dirty="0">
              <a:solidFill>
                <a:srgbClr val="4B5563"/>
              </a:solidFill>
              <a:latin typeface="Inter"/>
            </a:endParaRPr>
          </a:p>
        </p:txBody>
      </p:sp>
      <p:sp>
        <p:nvSpPr>
          <p:cNvPr id="69" name="Rectangle 68"/>
          <p:cNvSpPr/>
          <p:nvPr/>
        </p:nvSpPr>
        <p:spPr>
          <a:xfrm>
            <a:off x="360272" y="4811029"/>
            <a:ext cx="5989320" cy="1621775"/>
          </a:xfrm>
          <a:prstGeom prst="rect">
            <a:avLst/>
          </a:prstGeom>
          <a:solidFill>
            <a:srgbClr val="F4F5F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362712" y="4811029"/>
            <a:ext cx="154020" cy="1580627"/>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27984" y="4894738"/>
            <a:ext cx="5422392" cy="201168"/>
          </a:xfrm>
          <a:prstGeom prst="rect">
            <a:avLst/>
          </a:prstGeom>
          <a:noFill/>
        </p:spPr>
        <p:txBody>
          <a:bodyPr wrap="square" lIns="0" tIns="0" rIns="0" bIns="0" anchor="ctr">
            <a:spAutoFit/>
          </a:bodyPr>
          <a:lstStyle/>
          <a:p>
            <a:pPr algn="l">
              <a:lnSpc>
                <a:spcPct val="115000"/>
              </a:lnSpc>
              <a:spcAft>
                <a:spcPts val="0"/>
              </a:spcAft>
            </a:pPr>
            <a:r>
              <a:rPr lang="en-US" sz="1200" b="1" dirty="0"/>
              <a:t>Aggregation Risk: High Chat Volume Masks Critical Voice Failures</a:t>
            </a:r>
            <a:endParaRPr sz="1200" b="1" dirty="0">
              <a:solidFill>
                <a:srgbClr val="1A1A1A"/>
              </a:solidFill>
              <a:latin typeface="Inter"/>
            </a:endParaRPr>
          </a:p>
        </p:txBody>
      </p:sp>
      <p:sp>
        <p:nvSpPr>
          <p:cNvPr id="72" name="TextBox 71"/>
          <p:cNvSpPr txBox="1"/>
          <p:nvPr/>
        </p:nvSpPr>
        <p:spPr>
          <a:xfrm>
            <a:off x="673608" y="5396246"/>
            <a:ext cx="5422392" cy="683777"/>
          </a:xfrm>
          <a:prstGeom prst="rect">
            <a:avLst/>
          </a:prstGeom>
          <a:noFill/>
        </p:spPr>
        <p:txBody>
          <a:bodyPr wrap="square" lIns="0" tIns="0" rIns="0" bIns="0" anchor="t">
            <a:spAutoFit/>
          </a:bodyPr>
          <a:lstStyle/>
          <a:p>
            <a:pPr marR="0" lvl="0">
              <a:lnSpc>
                <a:spcPct val="107000"/>
              </a:lnSpc>
              <a:spcBef>
                <a:spcPts val="0"/>
              </a:spcBef>
              <a:spcAft>
                <a:spcPts val="0"/>
              </a:spcAft>
              <a:buSzPts val="1000"/>
              <a:tabLst>
                <a:tab pos="457200" algn="l"/>
              </a:tabLst>
            </a:pPr>
            <a:r>
              <a:rPr lang="en-US" sz="1050" b="1" kern="0" dirty="0">
                <a:effectLst/>
                <a:ea typeface="Times New Roman" panose="02020603050405020304" pitchFamily="18" charset="0"/>
                <a:cs typeface="Times New Roman" panose="02020603050405020304" pitchFamily="18" charset="0"/>
              </a:rPr>
              <a:t>Channel Masking Effect:</a:t>
            </a:r>
            <a:r>
              <a:rPr lang="en-US" sz="1050" kern="0" dirty="0">
                <a:effectLst/>
                <a:ea typeface="Times New Roman" panose="02020603050405020304" pitchFamily="18" charset="0"/>
                <a:cs typeface="Times New Roman" panose="02020603050405020304" pitchFamily="18" charset="0"/>
              </a:rPr>
              <a:t> Blending channels conceals critical voice underperformance. For example, </a:t>
            </a:r>
            <a:r>
              <a:rPr lang="en-US" sz="1050" i="1" kern="0" dirty="0">
                <a:effectLst/>
                <a:ea typeface="Times New Roman" panose="02020603050405020304" pitchFamily="18" charset="0"/>
                <a:cs typeface="Times New Roman" panose="02020603050405020304" pitchFamily="18" charset="0"/>
              </a:rPr>
              <a:t>"Completed but not received — full service"</a:t>
            </a:r>
            <a:r>
              <a:rPr lang="en-US" sz="1050" kern="0" dirty="0">
                <a:effectLst/>
                <a:ea typeface="Times New Roman" panose="02020603050405020304" pitchFamily="18" charset="0"/>
                <a:cs typeface="Times New Roman" panose="02020603050405020304" pitchFamily="18" charset="0"/>
              </a:rPr>
              <a:t> scores a failing </a:t>
            </a:r>
            <a:r>
              <a:rPr lang="en-US" sz="1050" b="1" kern="0" dirty="0">
                <a:effectLst/>
                <a:ea typeface="Times New Roman" panose="02020603050405020304" pitchFamily="18" charset="0"/>
                <a:cs typeface="Times New Roman" panose="02020603050405020304" pitchFamily="18" charset="0"/>
              </a:rPr>
              <a:t>68.2 QA on Phone (N=49)</a:t>
            </a:r>
            <a:r>
              <a:rPr lang="en-US" sz="1050" kern="0" dirty="0">
                <a:effectLst/>
                <a:ea typeface="Times New Roman" panose="02020603050405020304" pitchFamily="18" charset="0"/>
                <a:cs typeface="Times New Roman" panose="02020603050405020304" pitchFamily="18" charset="0"/>
              </a:rPr>
              <a:t>. When blended with high-volume Chat, the score artificially rises to </a:t>
            </a:r>
            <a:r>
              <a:rPr lang="en-US" sz="1050" b="1" kern="0" dirty="0">
                <a:effectLst/>
                <a:ea typeface="Times New Roman" panose="02020603050405020304" pitchFamily="18" charset="0"/>
                <a:cs typeface="Times New Roman" panose="02020603050405020304" pitchFamily="18" charset="0"/>
              </a:rPr>
              <a:t>86.5 QA (N=138)</a:t>
            </a:r>
            <a:r>
              <a:rPr lang="en-US" sz="1050" b="1" kern="0" dirty="0">
                <a:ea typeface="Times New Roman" panose="02020603050405020304" pitchFamily="18" charset="0"/>
                <a:cs typeface="Times New Roman" panose="02020603050405020304" pitchFamily="18" charset="0"/>
              </a:rPr>
              <a:t> </a:t>
            </a:r>
            <a:r>
              <a:rPr lang="en-US" sz="1050" kern="0" dirty="0">
                <a:effectLst/>
                <a:ea typeface="Times New Roman" panose="02020603050405020304" pitchFamily="18" charset="0"/>
                <a:cs typeface="Times New Roman" panose="02020603050405020304" pitchFamily="18" charset="0"/>
              </a:rPr>
              <a:t>diluting severity without fixing the root cause in Phone.</a:t>
            </a:r>
            <a:endParaRPr lang="es-CO" sz="1000" kern="100" dirty="0">
              <a:effectLst/>
              <a:ea typeface="Calibri" panose="020F0502020204030204" pitchFamily="34" charset="0"/>
              <a:cs typeface="Times New Roman" panose="02020603050405020304" pitchFamily="18" charset="0"/>
            </a:endParaRPr>
          </a:p>
        </p:txBody>
      </p:sp>
      <p:sp>
        <p:nvSpPr>
          <p:cNvPr id="74" name="Rectángulo 73">
            <a:extLst>
              <a:ext uri="{FF2B5EF4-FFF2-40B4-BE49-F238E27FC236}">
                <a16:creationId xmlns:a16="http://schemas.microsoft.com/office/drawing/2014/main" id="{AD9F89A3-0C0C-6C5B-81E4-D43DE9B85227}"/>
              </a:ext>
            </a:extLst>
          </p:cNvPr>
          <p:cNvSpPr/>
          <p:nvPr/>
        </p:nvSpPr>
        <p:spPr>
          <a:xfrm>
            <a:off x="6624524" y="1280160"/>
            <a:ext cx="5363774" cy="5376672"/>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48840"/>
            <a:ext cx="2743200" cy="1005840"/>
          </a:xfrm>
          <a:prstGeom prst="rect">
            <a:avLst/>
          </a:prstGeom>
          <a:noFill/>
        </p:spPr>
        <p:txBody>
          <a:bodyPr wrap="square" lIns="0" tIns="0" rIns="0" bIns="0" anchor="t">
            <a:spAutoFit/>
          </a:bodyPr>
          <a:lstStyle/>
          <a:p>
            <a:pPr algn="l">
              <a:lnSpc>
                <a:spcPct val="115000"/>
              </a:lnSpc>
              <a:spcAft>
                <a:spcPts val="0"/>
              </a:spcAft>
            </a:pPr>
            <a:r>
              <a:rPr sz="6400" b="1">
                <a:solidFill>
                  <a:srgbClr val="FF6600"/>
                </a:solidFill>
                <a:latin typeface="Inter"/>
              </a:rPr>
              <a:t>02</a:t>
            </a:r>
          </a:p>
        </p:txBody>
      </p:sp>
      <p:sp>
        <p:nvSpPr>
          <p:cNvPr id="5" name="TextBox 4"/>
          <p:cNvSpPr txBox="1"/>
          <p:nvPr/>
        </p:nvSpPr>
        <p:spPr>
          <a:xfrm>
            <a:off x="1188720" y="3246120"/>
            <a:ext cx="8686800" cy="548640"/>
          </a:xfrm>
          <a:prstGeom prst="rect">
            <a:avLst/>
          </a:prstGeom>
          <a:noFill/>
        </p:spPr>
        <p:txBody>
          <a:bodyPr wrap="square" lIns="0" tIns="0" rIns="0" bIns="0" anchor="t">
            <a:spAutoFit/>
          </a:bodyPr>
          <a:lstStyle/>
          <a:p>
            <a:pPr algn="l">
              <a:lnSpc>
                <a:spcPct val="115000"/>
              </a:lnSpc>
              <a:spcAft>
                <a:spcPts val="0"/>
              </a:spcAft>
            </a:pPr>
            <a:r>
              <a:rPr sz="3000" b="1">
                <a:solidFill>
                  <a:srgbClr val="FFFFFF"/>
                </a:solidFill>
                <a:latin typeface="Inter"/>
              </a:rPr>
              <a:t>CSAT and voice of the customer</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4187952"/>
            <a:ext cx="7863840" cy="822960"/>
          </a:xfrm>
          <a:prstGeom prst="rect">
            <a:avLst/>
          </a:prstGeom>
          <a:noFill/>
        </p:spPr>
        <p:txBody>
          <a:bodyPr wrap="square" lIns="0" tIns="0" rIns="0" bIns="0" anchor="t">
            <a:spAutoFit/>
          </a:bodyPr>
          <a:lstStyle/>
          <a:p>
            <a:pPr algn="l">
              <a:lnSpc>
                <a:spcPct val="140000"/>
              </a:lnSpc>
              <a:spcAft>
                <a:spcPts val="0"/>
              </a:spcAft>
            </a:pPr>
            <a:r>
              <a:rPr sz="1300" b="0">
                <a:solidFill>
                  <a:srgbClr val="C9CCD1"/>
                </a:solidFill>
                <a:latin typeface="Inter"/>
              </a:rPr>
              <a:t>Blended CSAT against goal. Then Phone vs Chat. Who is dragging it. What detractors say.</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tIns="0" rIns="0" bIns="0" anchor="ctr">
            <a:spAutoFit/>
          </a:bodyPr>
          <a:lstStyle/>
          <a:p>
            <a:pPr algn="l">
              <a:lnSpc>
                <a:spcPct val="115000"/>
              </a:lnSpc>
              <a:spcAft>
                <a:spcPts val="0"/>
              </a:spcAft>
            </a:pPr>
            <a:r>
              <a:rPr sz="1500" b="1">
                <a:solidFill>
                  <a:srgbClr val="FFFFFF"/>
                </a:solidFill>
                <a:latin typeface="Inter"/>
              </a:rPr>
              <a:t>DiDi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9" name="Grupo 118">
            <a:extLst>
              <a:ext uri="{FF2B5EF4-FFF2-40B4-BE49-F238E27FC236}">
                <a16:creationId xmlns:a16="http://schemas.microsoft.com/office/drawing/2014/main" id="{FD67B8DE-862A-F4F8-7920-1E8937B48FC4}"/>
              </a:ext>
            </a:extLst>
          </p:cNvPr>
          <p:cNvGrpSpPr/>
          <p:nvPr/>
        </p:nvGrpSpPr>
        <p:grpSpPr>
          <a:xfrm>
            <a:off x="6331325" y="1635991"/>
            <a:ext cx="4947873" cy="933235"/>
            <a:chOff x="457199" y="4334255"/>
            <a:chExt cx="5957467" cy="2228755"/>
          </a:xfrm>
        </p:grpSpPr>
        <p:sp>
          <p:nvSpPr>
            <p:cNvPr id="120" name="Rectangle 36">
              <a:extLst>
                <a:ext uri="{FF2B5EF4-FFF2-40B4-BE49-F238E27FC236}">
                  <a16:creationId xmlns:a16="http://schemas.microsoft.com/office/drawing/2014/main" id="{2F302C4A-B11B-F485-C0C2-B4F57881AAC5}"/>
                </a:ext>
              </a:extLst>
            </p:cNvPr>
            <p:cNvSpPr/>
            <p:nvPr/>
          </p:nvSpPr>
          <p:spPr>
            <a:xfrm>
              <a:off x="457200" y="4334255"/>
              <a:ext cx="5957466" cy="2228755"/>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37">
              <a:extLst>
                <a:ext uri="{FF2B5EF4-FFF2-40B4-BE49-F238E27FC236}">
                  <a16:creationId xmlns:a16="http://schemas.microsoft.com/office/drawing/2014/main" id="{BF0B6AE2-4958-DDFB-0F8E-449B073079C7}"/>
                </a:ext>
              </a:extLst>
            </p:cNvPr>
            <p:cNvSpPr/>
            <p:nvPr/>
          </p:nvSpPr>
          <p:spPr>
            <a:xfrm>
              <a:off x="457199" y="4334256"/>
              <a:ext cx="54863" cy="222875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14" name="Grupo 113">
            <a:extLst>
              <a:ext uri="{FF2B5EF4-FFF2-40B4-BE49-F238E27FC236}">
                <a16:creationId xmlns:a16="http://schemas.microsoft.com/office/drawing/2014/main" id="{A81758B9-31DA-CA60-44BD-9F8DA216DA14}"/>
              </a:ext>
            </a:extLst>
          </p:cNvPr>
          <p:cNvGrpSpPr/>
          <p:nvPr/>
        </p:nvGrpSpPr>
        <p:grpSpPr>
          <a:xfrm>
            <a:off x="6331325" y="4059193"/>
            <a:ext cx="5302347" cy="1745989"/>
            <a:chOff x="457199" y="4334255"/>
            <a:chExt cx="5957467" cy="2228755"/>
          </a:xfrm>
        </p:grpSpPr>
        <p:sp>
          <p:nvSpPr>
            <p:cNvPr id="115" name="Rectangle 36">
              <a:extLst>
                <a:ext uri="{FF2B5EF4-FFF2-40B4-BE49-F238E27FC236}">
                  <a16:creationId xmlns:a16="http://schemas.microsoft.com/office/drawing/2014/main" id="{394D85FB-FF49-1483-7B64-10B8DF108D5F}"/>
                </a:ext>
              </a:extLst>
            </p:cNvPr>
            <p:cNvSpPr/>
            <p:nvPr/>
          </p:nvSpPr>
          <p:spPr>
            <a:xfrm>
              <a:off x="457200" y="4334255"/>
              <a:ext cx="5957466" cy="2228755"/>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37">
              <a:extLst>
                <a:ext uri="{FF2B5EF4-FFF2-40B4-BE49-F238E27FC236}">
                  <a16:creationId xmlns:a16="http://schemas.microsoft.com/office/drawing/2014/main" id="{5EE2EFE2-EA79-5CDC-5936-BCD4DA06D0F9}"/>
                </a:ext>
              </a:extLst>
            </p:cNvPr>
            <p:cNvSpPr/>
            <p:nvPr/>
          </p:nvSpPr>
          <p:spPr>
            <a:xfrm>
              <a:off x="457199" y="4334256"/>
              <a:ext cx="54863" cy="222875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CSAT analysis</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Blended 79.95% vs 85%  ·  Phone 86.26%  ·  Chat 77.55%  ·  77,266 surveys</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15</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3" name="TextBox 12"/>
          <p:cNvSpPr txBox="1"/>
          <p:nvPr/>
        </p:nvSpPr>
        <p:spPr>
          <a:xfrm>
            <a:off x="8052901" y="1434823"/>
            <a:ext cx="5257800" cy="201168"/>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Phone vs Chat vs blended</a:t>
            </a:r>
          </a:p>
        </p:txBody>
      </p:sp>
      <p:grpSp>
        <p:nvGrpSpPr>
          <p:cNvPr id="106" name="Grupo 105">
            <a:extLst>
              <a:ext uri="{FF2B5EF4-FFF2-40B4-BE49-F238E27FC236}">
                <a16:creationId xmlns:a16="http://schemas.microsoft.com/office/drawing/2014/main" id="{1916E17C-CC60-8BC0-CD95-754FFC52FFD0}"/>
              </a:ext>
            </a:extLst>
          </p:cNvPr>
          <p:cNvGrpSpPr/>
          <p:nvPr/>
        </p:nvGrpSpPr>
        <p:grpSpPr>
          <a:xfrm>
            <a:off x="661474" y="1322609"/>
            <a:ext cx="5534626" cy="1686061"/>
            <a:chOff x="6492240" y="1463040"/>
            <a:chExt cx="5239512" cy="1412938"/>
          </a:xfrm>
        </p:grpSpPr>
        <p:sp>
          <p:nvSpPr>
            <p:cNvPr id="14" name="Rectangle 13"/>
            <p:cNvSpPr/>
            <p:nvPr/>
          </p:nvSpPr>
          <p:spPr>
            <a:xfrm>
              <a:off x="6492240" y="1463040"/>
              <a:ext cx="5239512" cy="31089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6620255" y="1535197"/>
              <a:ext cx="129844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Channel</a:t>
              </a:r>
            </a:p>
          </p:txBody>
        </p:sp>
        <p:sp>
          <p:nvSpPr>
            <p:cNvPr id="16" name="TextBox 15"/>
            <p:cNvSpPr txBox="1"/>
            <p:nvPr/>
          </p:nvSpPr>
          <p:spPr>
            <a:xfrm>
              <a:off x="8174736" y="1535197"/>
              <a:ext cx="457200"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CSAT</a:t>
              </a:r>
            </a:p>
          </p:txBody>
        </p:sp>
        <p:sp>
          <p:nvSpPr>
            <p:cNvPr id="17" name="TextBox 16"/>
            <p:cNvSpPr txBox="1"/>
            <p:nvPr/>
          </p:nvSpPr>
          <p:spPr>
            <a:xfrm>
              <a:off x="8887967" y="1535197"/>
              <a:ext cx="768096"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Surveys</a:t>
              </a:r>
            </a:p>
          </p:txBody>
        </p:sp>
        <p:sp>
          <p:nvSpPr>
            <p:cNvPr id="18" name="TextBox 17"/>
            <p:cNvSpPr txBox="1"/>
            <p:nvPr/>
          </p:nvSpPr>
          <p:spPr>
            <a:xfrm>
              <a:off x="9912096" y="1535197"/>
              <a:ext cx="5212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vs 85</a:t>
              </a:r>
            </a:p>
          </p:txBody>
        </p:sp>
        <p:sp>
          <p:nvSpPr>
            <p:cNvPr id="19" name="TextBox 18"/>
            <p:cNvSpPr txBox="1"/>
            <p:nvPr/>
          </p:nvSpPr>
          <p:spPr>
            <a:xfrm>
              <a:off x="10689336" y="1535197"/>
              <a:ext cx="914400"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Status</a:t>
              </a:r>
            </a:p>
          </p:txBody>
        </p:sp>
        <p:sp>
          <p:nvSpPr>
            <p:cNvPr id="20" name="TextBox 19"/>
            <p:cNvSpPr txBox="1"/>
            <p:nvPr/>
          </p:nvSpPr>
          <p:spPr>
            <a:xfrm>
              <a:off x="6620255" y="1873525"/>
              <a:ext cx="129844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Phone</a:t>
              </a:r>
            </a:p>
          </p:txBody>
        </p:sp>
        <p:sp>
          <p:nvSpPr>
            <p:cNvPr id="21" name="Rounded Rectangle 20"/>
            <p:cNvSpPr/>
            <p:nvPr/>
          </p:nvSpPr>
          <p:spPr>
            <a:xfrm>
              <a:off x="8110727" y="1832457"/>
              <a:ext cx="585216" cy="248716"/>
            </a:xfrm>
            <a:prstGeom prst="roundRect">
              <a:avLst>
                <a:gd name="adj" fmla="val 18382"/>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8174736" y="1873525"/>
              <a:ext cx="457200"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86.3%</a:t>
              </a:r>
            </a:p>
          </p:txBody>
        </p:sp>
        <p:sp>
          <p:nvSpPr>
            <p:cNvPr id="23" name="TextBox 22"/>
            <p:cNvSpPr txBox="1"/>
            <p:nvPr/>
          </p:nvSpPr>
          <p:spPr>
            <a:xfrm>
              <a:off x="8887967" y="1873525"/>
              <a:ext cx="768096"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21,304</a:t>
              </a:r>
            </a:p>
          </p:txBody>
        </p:sp>
        <p:sp>
          <p:nvSpPr>
            <p:cNvPr id="24" name="TextBox 23"/>
            <p:cNvSpPr txBox="1"/>
            <p:nvPr/>
          </p:nvSpPr>
          <p:spPr>
            <a:xfrm>
              <a:off x="9912096" y="1873525"/>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+1.26 pp</a:t>
              </a:r>
            </a:p>
          </p:txBody>
        </p:sp>
        <p:sp>
          <p:nvSpPr>
            <p:cNvPr id="25" name="Rounded Rectangle 24"/>
            <p:cNvSpPr/>
            <p:nvPr/>
          </p:nvSpPr>
          <p:spPr>
            <a:xfrm>
              <a:off x="10689336" y="1819656"/>
              <a:ext cx="800785"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Oval 25"/>
            <p:cNvSpPr/>
            <p:nvPr/>
          </p:nvSpPr>
          <p:spPr>
            <a:xfrm>
              <a:off x="10799064" y="1906524"/>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10963656" y="1881860"/>
              <a:ext cx="489889" cy="149913"/>
            </a:xfrm>
            <a:prstGeom prst="rect">
              <a:avLst/>
            </a:prstGeom>
            <a:noFill/>
          </p:spPr>
          <p:txBody>
            <a:bodyPr wrap="square" lIns="0" tIns="0" rIns="0" bIns="0" anchor="ctr">
              <a:spAutoFit/>
            </a:bodyPr>
            <a:lstStyle/>
            <a:p>
              <a:pPr algn="ctr">
                <a:lnSpc>
                  <a:spcPct val="115000"/>
                </a:lnSpc>
                <a:spcAft>
                  <a:spcPts val="0"/>
                </a:spcAft>
              </a:pPr>
              <a:r>
                <a:rPr sz="900" b="1" dirty="0">
                  <a:solidFill>
                    <a:srgbClr val="16A34A"/>
                  </a:solidFill>
                  <a:latin typeface="Inter"/>
                </a:rPr>
                <a:t>On goal</a:t>
              </a:r>
            </a:p>
          </p:txBody>
        </p:sp>
        <p:sp>
          <p:nvSpPr>
            <p:cNvPr id="28" name="Rectangle 27"/>
            <p:cNvSpPr/>
            <p:nvPr/>
          </p:nvSpPr>
          <p:spPr>
            <a:xfrm>
              <a:off x="6492240" y="2134933"/>
              <a:ext cx="523951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Rectangle 28"/>
            <p:cNvSpPr/>
            <p:nvPr/>
          </p:nvSpPr>
          <p:spPr>
            <a:xfrm>
              <a:off x="6492240" y="2139696"/>
              <a:ext cx="5239512"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TextBox 29"/>
            <p:cNvSpPr txBox="1"/>
            <p:nvPr/>
          </p:nvSpPr>
          <p:spPr>
            <a:xfrm>
              <a:off x="6620255" y="2239285"/>
              <a:ext cx="129844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Live Chat</a:t>
              </a:r>
            </a:p>
          </p:txBody>
        </p:sp>
        <p:sp>
          <p:nvSpPr>
            <p:cNvPr id="31" name="Rounded Rectangle 30"/>
            <p:cNvSpPr/>
            <p:nvPr/>
          </p:nvSpPr>
          <p:spPr>
            <a:xfrm>
              <a:off x="8110727" y="2198217"/>
              <a:ext cx="585216"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TextBox 31"/>
            <p:cNvSpPr txBox="1"/>
            <p:nvPr/>
          </p:nvSpPr>
          <p:spPr>
            <a:xfrm>
              <a:off x="8174736" y="2239285"/>
              <a:ext cx="457200"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77.6%</a:t>
              </a:r>
            </a:p>
          </p:txBody>
        </p:sp>
        <p:sp>
          <p:nvSpPr>
            <p:cNvPr id="33" name="TextBox 32"/>
            <p:cNvSpPr txBox="1"/>
            <p:nvPr/>
          </p:nvSpPr>
          <p:spPr>
            <a:xfrm>
              <a:off x="8887967" y="2239285"/>
              <a:ext cx="768096"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55,962</a:t>
              </a:r>
            </a:p>
          </p:txBody>
        </p:sp>
        <p:sp>
          <p:nvSpPr>
            <p:cNvPr id="34" name="TextBox 33"/>
            <p:cNvSpPr txBox="1"/>
            <p:nvPr/>
          </p:nvSpPr>
          <p:spPr>
            <a:xfrm>
              <a:off x="9912096" y="2239285"/>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-7.45 pp</a:t>
              </a:r>
            </a:p>
          </p:txBody>
        </p:sp>
        <p:sp>
          <p:nvSpPr>
            <p:cNvPr id="35" name="Rounded Rectangle 34"/>
            <p:cNvSpPr/>
            <p:nvPr/>
          </p:nvSpPr>
          <p:spPr>
            <a:xfrm>
              <a:off x="10689336" y="2185416"/>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Oval 35"/>
            <p:cNvSpPr/>
            <p:nvPr/>
          </p:nvSpPr>
          <p:spPr>
            <a:xfrm>
              <a:off x="10799064" y="227228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TextBox 36"/>
            <p:cNvSpPr txBox="1"/>
            <p:nvPr/>
          </p:nvSpPr>
          <p:spPr>
            <a:xfrm>
              <a:off x="10963656" y="2247620"/>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38" name="Rectangle 37"/>
            <p:cNvSpPr/>
            <p:nvPr/>
          </p:nvSpPr>
          <p:spPr>
            <a:xfrm>
              <a:off x="6492240" y="2500693"/>
              <a:ext cx="523951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9" name="TextBox 38"/>
            <p:cNvSpPr txBox="1"/>
            <p:nvPr/>
          </p:nvSpPr>
          <p:spPr>
            <a:xfrm>
              <a:off x="6620255" y="2605045"/>
              <a:ext cx="129844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Blended (official)</a:t>
              </a:r>
            </a:p>
          </p:txBody>
        </p:sp>
        <p:sp>
          <p:nvSpPr>
            <p:cNvPr id="40" name="Rounded Rectangle 39"/>
            <p:cNvSpPr/>
            <p:nvPr/>
          </p:nvSpPr>
          <p:spPr>
            <a:xfrm>
              <a:off x="8110727" y="2563977"/>
              <a:ext cx="585216"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1" name="TextBox 40"/>
            <p:cNvSpPr txBox="1"/>
            <p:nvPr/>
          </p:nvSpPr>
          <p:spPr>
            <a:xfrm>
              <a:off x="8174736" y="2605045"/>
              <a:ext cx="457200" cy="166584"/>
            </a:xfrm>
            <a:prstGeom prst="rect">
              <a:avLst/>
            </a:prstGeom>
            <a:noFill/>
          </p:spPr>
          <p:txBody>
            <a:bodyPr wrap="square" lIns="0" tIns="0" rIns="0" bIns="0" anchor="ctr">
              <a:spAutoFit/>
            </a:bodyPr>
            <a:lstStyle/>
            <a:p>
              <a:pPr algn="ctr">
                <a:lnSpc>
                  <a:spcPct val="115000"/>
                </a:lnSpc>
                <a:spcAft>
                  <a:spcPts val="0"/>
                </a:spcAft>
              </a:pPr>
              <a:r>
                <a:rPr lang="es-MX" sz="1000" b="1" dirty="0">
                  <a:solidFill>
                    <a:srgbClr val="E11D2E"/>
                  </a:solidFill>
                  <a:latin typeface="Inter"/>
                </a:rPr>
                <a:t>79</a:t>
              </a:r>
              <a:r>
                <a:rPr sz="1000" b="1" dirty="0">
                  <a:solidFill>
                    <a:srgbClr val="E11D2E"/>
                  </a:solidFill>
                  <a:latin typeface="Inter"/>
                </a:rPr>
                <a:t>.</a:t>
              </a:r>
              <a:r>
                <a:rPr lang="es-MX" sz="1000" b="1" dirty="0">
                  <a:solidFill>
                    <a:srgbClr val="E11D2E"/>
                  </a:solidFill>
                  <a:latin typeface="Inter"/>
                </a:rPr>
                <a:t>95</a:t>
              </a:r>
              <a:r>
                <a:rPr sz="1000" b="1" dirty="0">
                  <a:solidFill>
                    <a:srgbClr val="E11D2E"/>
                  </a:solidFill>
                  <a:latin typeface="Inter"/>
                </a:rPr>
                <a:t>%</a:t>
              </a:r>
            </a:p>
          </p:txBody>
        </p:sp>
        <p:sp>
          <p:nvSpPr>
            <p:cNvPr id="42" name="TextBox 41"/>
            <p:cNvSpPr txBox="1"/>
            <p:nvPr/>
          </p:nvSpPr>
          <p:spPr>
            <a:xfrm>
              <a:off x="8887967" y="2605045"/>
              <a:ext cx="768096"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77,266</a:t>
              </a:r>
            </a:p>
          </p:txBody>
        </p:sp>
        <p:sp>
          <p:nvSpPr>
            <p:cNvPr id="43" name="TextBox 42"/>
            <p:cNvSpPr txBox="1"/>
            <p:nvPr/>
          </p:nvSpPr>
          <p:spPr>
            <a:xfrm>
              <a:off x="9912096" y="2605045"/>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-5.05 pp</a:t>
              </a:r>
            </a:p>
          </p:txBody>
        </p:sp>
        <p:sp>
          <p:nvSpPr>
            <p:cNvPr id="44" name="Rounded Rectangle 43"/>
            <p:cNvSpPr/>
            <p:nvPr/>
          </p:nvSpPr>
          <p:spPr>
            <a:xfrm>
              <a:off x="10689336" y="2551176"/>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5" name="Oval 44"/>
            <p:cNvSpPr/>
            <p:nvPr/>
          </p:nvSpPr>
          <p:spPr>
            <a:xfrm>
              <a:off x="10799064" y="263804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TextBox 45"/>
            <p:cNvSpPr txBox="1"/>
            <p:nvPr/>
          </p:nvSpPr>
          <p:spPr>
            <a:xfrm>
              <a:off x="10963656" y="2613380"/>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47" name="Rectangle 46"/>
            <p:cNvSpPr/>
            <p:nvPr/>
          </p:nvSpPr>
          <p:spPr>
            <a:xfrm>
              <a:off x="6492240" y="2866453"/>
              <a:ext cx="523951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sp>
        <p:nvSpPr>
          <p:cNvPr id="48" name="TextBox 47"/>
          <p:cNvSpPr txBox="1"/>
          <p:nvPr/>
        </p:nvSpPr>
        <p:spPr>
          <a:xfrm>
            <a:off x="7575151" y="3751326"/>
            <a:ext cx="5257800" cy="174920"/>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Contact reasons dragging CSAT down (blended)</a:t>
            </a:r>
          </a:p>
        </p:txBody>
      </p:sp>
      <p:grpSp>
        <p:nvGrpSpPr>
          <p:cNvPr id="107" name="Grupo 106">
            <a:extLst>
              <a:ext uri="{FF2B5EF4-FFF2-40B4-BE49-F238E27FC236}">
                <a16:creationId xmlns:a16="http://schemas.microsoft.com/office/drawing/2014/main" id="{9817D8B3-03E2-D431-C876-2391EB11138F}"/>
              </a:ext>
            </a:extLst>
          </p:cNvPr>
          <p:cNvGrpSpPr/>
          <p:nvPr/>
        </p:nvGrpSpPr>
        <p:grpSpPr>
          <a:xfrm>
            <a:off x="661474" y="3583551"/>
            <a:ext cx="5534626" cy="2484853"/>
            <a:chOff x="6492240" y="3273552"/>
            <a:chExt cx="5239511" cy="2144458"/>
          </a:xfrm>
        </p:grpSpPr>
        <p:sp>
          <p:nvSpPr>
            <p:cNvPr id="49" name="Rectangle 48"/>
            <p:cNvSpPr/>
            <p:nvPr/>
          </p:nvSpPr>
          <p:spPr>
            <a:xfrm>
              <a:off x="6492240" y="3273552"/>
              <a:ext cx="5239511" cy="31089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0" name="TextBox 49"/>
            <p:cNvSpPr txBox="1"/>
            <p:nvPr/>
          </p:nvSpPr>
          <p:spPr>
            <a:xfrm>
              <a:off x="6620255" y="3341541"/>
              <a:ext cx="2075687"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Contact reason (CR Lv4)</a:t>
              </a:r>
            </a:p>
          </p:txBody>
        </p:sp>
        <p:sp>
          <p:nvSpPr>
            <p:cNvPr id="51" name="TextBox 50"/>
            <p:cNvSpPr txBox="1"/>
            <p:nvPr/>
          </p:nvSpPr>
          <p:spPr>
            <a:xfrm>
              <a:off x="8951975" y="3341541"/>
              <a:ext cx="502919" cy="174920"/>
            </a:xfrm>
            <a:prstGeom prst="rect">
              <a:avLst/>
            </a:prstGeom>
            <a:noFill/>
          </p:spPr>
          <p:txBody>
            <a:bodyPr wrap="square" lIns="0" tIns="0" rIns="0" bIns="0" anchor="ctr">
              <a:spAutoFit/>
            </a:bodyPr>
            <a:lstStyle/>
            <a:p>
              <a:pPr algn="ctr">
                <a:lnSpc>
                  <a:spcPct val="115000"/>
                </a:lnSpc>
                <a:spcAft>
                  <a:spcPts val="0"/>
                </a:spcAft>
              </a:pPr>
              <a:r>
                <a:rPr sz="1050" b="1" dirty="0">
                  <a:solidFill>
                    <a:srgbClr val="FFFFFF"/>
                  </a:solidFill>
                  <a:latin typeface="Inter"/>
                </a:rPr>
                <a:t>Blended</a:t>
              </a:r>
            </a:p>
          </p:txBody>
        </p:sp>
        <p:sp>
          <p:nvSpPr>
            <p:cNvPr id="52" name="TextBox 51"/>
            <p:cNvSpPr txBox="1"/>
            <p:nvPr/>
          </p:nvSpPr>
          <p:spPr>
            <a:xfrm>
              <a:off x="9646919" y="3341541"/>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Phone</a:t>
              </a:r>
            </a:p>
          </p:txBody>
        </p:sp>
        <p:sp>
          <p:nvSpPr>
            <p:cNvPr id="53" name="TextBox 52"/>
            <p:cNvSpPr txBox="1"/>
            <p:nvPr/>
          </p:nvSpPr>
          <p:spPr>
            <a:xfrm>
              <a:off x="10305288" y="3341541"/>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Chat</a:t>
              </a:r>
            </a:p>
          </p:txBody>
        </p:sp>
        <p:sp>
          <p:nvSpPr>
            <p:cNvPr id="54" name="TextBox 53"/>
            <p:cNvSpPr txBox="1"/>
            <p:nvPr/>
          </p:nvSpPr>
          <p:spPr>
            <a:xfrm>
              <a:off x="10963656" y="3341541"/>
              <a:ext cx="640080"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Surveys</a:t>
              </a:r>
            </a:p>
          </p:txBody>
        </p:sp>
        <p:sp>
          <p:nvSpPr>
            <p:cNvPr id="55" name="TextBox 54"/>
            <p:cNvSpPr txBox="1"/>
            <p:nvPr/>
          </p:nvSpPr>
          <p:spPr>
            <a:xfrm>
              <a:off x="6620255" y="3684037"/>
              <a:ext cx="2075687" cy="166584"/>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Order status / delay inform…</a:t>
              </a:r>
            </a:p>
          </p:txBody>
        </p:sp>
        <p:sp>
          <p:nvSpPr>
            <p:cNvPr id="56" name="Rounded Rectangle 55"/>
            <p:cNvSpPr/>
            <p:nvPr/>
          </p:nvSpPr>
          <p:spPr>
            <a:xfrm>
              <a:off x="8887967" y="3642969"/>
              <a:ext cx="566928"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8951976" y="3684037"/>
              <a:ext cx="43891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67.8%</a:t>
              </a:r>
            </a:p>
          </p:txBody>
        </p:sp>
        <p:sp>
          <p:nvSpPr>
            <p:cNvPr id="58" name="Rounded Rectangle 57"/>
            <p:cNvSpPr/>
            <p:nvPr/>
          </p:nvSpPr>
          <p:spPr>
            <a:xfrm>
              <a:off x="9582911" y="3642969"/>
              <a:ext cx="530352" cy="248716"/>
            </a:xfrm>
            <a:prstGeom prst="roundRect">
              <a:avLst>
                <a:gd name="adj" fmla="val 18382"/>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9646919" y="368403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80.3%</a:t>
              </a:r>
            </a:p>
          </p:txBody>
        </p:sp>
        <p:sp>
          <p:nvSpPr>
            <p:cNvPr id="60" name="Rounded Rectangle 59"/>
            <p:cNvSpPr/>
            <p:nvPr/>
          </p:nvSpPr>
          <p:spPr>
            <a:xfrm>
              <a:off x="10241280" y="364296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10305288" y="368403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62.8%</a:t>
              </a:r>
            </a:p>
          </p:txBody>
        </p:sp>
        <p:sp>
          <p:nvSpPr>
            <p:cNvPr id="62" name="TextBox 61"/>
            <p:cNvSpPr txBox="1"/>
            <p:nvPr/>
          </p:nvSpPr>
          <p:spPr>
            <a:xfrm>
              <a:off x="10963656" y="3684037"/>
              <a:ext cx="64008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9,918</a:t>
              </a:r>
            </a:p>
          </p:txBody>
        </p:sp>
        <p:sp>
          <p:nvSpPr>
            <p:cNvPr id="63" name="Rectangle 62"/>
            <p:cNvSpPr/>
            <p:nvPr/>
          </p:nvSpPr>
          <p:spPr>
            <a:xfrm>
              <a:off x="6492240" y="394544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4" name="Rectangle 63"/>
            <p:cNvSpPr/>
            <p:nvPr/>
          </p:nvSpPr>
          <p:spPr>
            <a:xfrm>
              <a:off x="6492240" y="3950208"/>
              <a:ext cx="5239511"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6620255" y="4049797"/>
              <a:ext cx="207568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Disagrees with cancellation…</a:t>
              </a:r>
            </a:p>
          </p:txBody>
        </p:sp>
        <p:sp>
          <p:nvSpPr>
            <p:cNvPr id="66" name="Rounded Rectangle 65"/>
            <p:cNvSpPr/>
            <p:nvPr/>
          </p:nvSpPr>
          <p:spPr>
            <a:xfrm>
              <a:off x="8887967" y="4008729"/>
              <a:ext cx="566928"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8951976" y="4049797"/>
              <a:ext cx="43891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67.4%</a:t>
              </a:r>
            </a:p>
          </p:txBody>
        </p:sp>
        <p:sp>
          <p:nvSpPr>
            <p:cNvPr id="68" name="Rounded Rectangle 67"/>
            <p:cNvSpPr/>
            <p:nvPr/>
          </p:nvSpPr>
          <p:spPr>
            <a:xfrm>
              <a:off x="9582911" y="400872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9646919" y="404979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77.6%</a:t>
              </a:r>
            </a:p>
          </p:txBody>
        </p:sp>
        <p:sp>
          <p:nvSpPr>
            <p:cNvPr id="70" name="Rounded Rectangle 69"/>
            <p:cNvSpPr/>
            <p:nvPr/>
          </p:nvSpPr>
          <p:spPr>
            <a:xfrm>
              <a:off x="10241280" y="400872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10305288" y="404979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63.6%</a:t>
              </a:r>
            </a:p>
          </p:txBody>
        </p:sp>
        <p:sp>
          <p:nvSpPr>
            <p:cNvPr id="72" name="TextBox 71"/>
            <p:cNvSpPr txBox="1"/>
            <p:nvPr/>
          </p:nvSpPr>
          <p:spPr>
            <a:xfrm>
              <a:off x="10963656" y="4049797"/>
              <a:ext cx="64008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5,992</a:t>
              </a:r>
            </a:p>
          </p:txBody>
        </p:sp>
        <p:sp>
          <p:nvSpPr>
            <p:cNvPr id="73" name="Rectangle 72"/>
            <p:cNvSpPr/>
            <p:nvPr/>
          </p:nvSpPr>
          <p:spPr>
            <a:xfrm>
              <a:off x="6492240" y="431120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4" name="TextBox 73"/>
            <p:cNvSpPr txBox="1"/>
            <p:nvPr/>
          </p:nvSpPr>
          <p:spPr>
            <a:xfrm>
              <a:off x="6620255" y="4415557"/>
              <a:ext cx="2075687" cy="166584"/>
            </a:xfrm>
            <a:prstGeom prst="rect">
              <a:avLst/>
            </a:prstGeom>
            <a:noFill/>
          </p:spPr>
          <p:txBody>
            <a:bodyPr wrap="square" lIns="0" tIns="0" rIns="0" bIns="0" anchor="ctr">
              <a:spAutoFit/>
            </a:bodyPr>
            <a:lstStyle/>
            <a:p>
              <a:pPr algn="ctr">
                <a:lnSpc>
                  <a:spcPct val="115000"/>
                </a:lnSpc>
                <a:spcAft>
                  <a:spcPts val="0"/>
                </a:spcAft>
              </a:pPr>
              <a:r>
                <a:rPr sz="1000" b="0" dirty="0">
                  <a:solidFill>
                    <a:srgbClr val="4B5563"/>
                  </a:solidFill>
                  <a:latin typeface="Inter"/>
                </a:rPr>
                <a:t>order status &amp; delays</a:t>
              </a:r>
            </a:p>
          </p:txBody>
        </p:sp>
        <p:sp>
          <p:nvSpPr>
            <p:cNvPr id="75" name="Rounded Rectangle 74"/>
            <p:cNvSpPr/>
            <p:nvPr/>
          </p:nvSpPr>
          <p:spPr>
            <a:xfrm>
              <a:off x="8887967" y="4374489"/>
              <a:ext cx="566928"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6" name="TextBox 75"/>
            <p:cNvSpPr txBox="1"/>
            <p:nvPr/>
          </p:nvSpPr>
          <p:spPr>
            <a:xfrm>
              <a:off x="8951976" y="4415557"/>
              <a:ext cx="43891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64.7%</a:t>
              </a:r>
            </a:p>
          </p:txBody>
        </p:sp>
        <p:sp>
          <p:nvSpPr>
            <p:cNvPr id="77" name="Rounded Rectangle 76"/>
            <p:cNvSpPr/>
            <p:nvPr/>
          </p:nvSpPr>
          <p:spPr>
            <a:xfrm>
              <a:off x="9582911" y="437448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8" name="TextBox 77"/>
            <p:cNvSpPr txBox="1"/>
            <p:nvPr/>
          </p:nvSpPr>
          <p:spPr>
            <a:xfrm>
              <a:off x="9646919" y="441555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79.8%</a:t>
              </a:r>
            </a:p>
          </p:txBody>
        </p:sp>
        <p:sp>
          <p:nvSpPr>
            <p:cNvPr id="79" name="Rounded Rectangle 78"/>
            <p:cNvSpPr/>
            <p:nvPr/>
          </p:nvSpPr>
          <p:spPr>
            <a:xfrm>
              <a:off x="10241280" y="437448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0" name="TextBox 79"/>
            <p:cNvSpPr txBox="1"/>
            <p:nvPr/>
          </p:nvSpPr>
          <p:spPr>
            <a:xfrm>
              <a:off x="10305288" y="441555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60.3%</a:t>
              </a:r>
            </a:p>
          </p:txBody>
        </p:sp>
        <p:sp>
          <p:nvSpPr>
            <p:cNvPr id="81" name="TextBox 80"/>
            <p:cNvSpPr txBox="1"/>
            <p:nvPr/>
          </p:nvSpPr>
          <p:spPr>
            <a:xfrm>
              <a:off x="10963656" y="4415557"/>
              <a:ext cx="64008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5,096</a:t>
              </a:r>
            </a:p>
          </p:txBody>
        </p:sp>
        <p:sp>
          <p:nvSpPr>
            <p:cNvPr id="82" name="Rectangle 81"/>
            <p:cNvSpPr/>
            <p:nvPr/>
          </p:nvSpPr>
          <p:spPr>
            <a:xfrm>
              <a:off x="6492240" y="467696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3" name="Rectangle 82"/>
            <p:cNvSpPr/>
            <p:nvPr/>
          </p:nvSpPr>
          <p:spPr>
            <a:xfrm>
              <a:off x="6492240" y="4681728"/>
              <a:ext cx="5239511"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4" name="TextBox 83"/>
            <p:cNvSpPr txBox="1"/>
            <p:nvPr/>
          </p:nvSpPr>
          <p:spPr>
            <a:xfrm>
              <a:off x="6620255" y="4781317"/>
              <a:ext cx="207568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No longer wants the order</a:t>
              </a:r>
            </a:p>
          </p:txBody>
        </p:sp>
        <p:sp>
          <p:nvSpPr>
            <p:cNvPr id="85" name="Rounded Rectangle 84"/>
            <p:cNvSpPr/>
            <p:nvPr/>
          </p:nvSpPr>
          <p:spPr>
            <a:xfrm>
              <a:off x="8887967" y="4740249"/>
              <a:ext cx="566928" cy="248716"/>
            </a:xfrm>
            <a:prstGeom prst="roundRect">
              <a:avLst>
                <a:gd name="adj" fmla="val 18382"/>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6" name="TextBox 85"/>
            <p:cNvSpPr txBox="1"/>
            <p:nvPr/>
          </p:nvSpPr>
          <p:spPr>
            <a:xfrm>
              <a:off x="8951976" y="4781317"/>
              <a:ext cx="43891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88.3%</a:t>
              </a:r>
            </a:p>
          </p:txBody>
        </p:sp>
        <p:sp>
          <p:nvSpPr>
            <p:cNvPr id="87" name="Rounded Rectangle 86"/>
            <p:cNvSpPr/>
            <p:nvPr/>
          </p:nvSpPr>
          <p:spPr>
            <a:xfrm>
              <a:off x="9582911" y="4740249"/>
              <a:ext cx="530352" cy="248716"/>
            </a:xfrm>
            <a:prstGeom prst="roundRect">
              <a:avLst>
                <a:gd name="adj" fmla="val 18382"/>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8" name="TextBox 87"/>
            <p:cNvSpPr txBox="1"/>
            <p:nvPr/>
          </p:nvSpPr>
          <p:spPr>
            <a:xfrm>
              <a:off x="9646919" y="478131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6A34A"/>
                  </a:solidFill>
                  <a:latin typeface="Inter"/>
                </a:rPr>
                <a:t>94.2%</a:t>
              </a:r>
            </a:p>
          </p:txBody>
        </p:sp>
        <p:sp>
          <p:nvSpPr>
            <p:cNvPr id="89" name="Rounded Rectangle 88"/>
            <p:cNvSpPr/>
            <p:nvPr/>
          </p:nvSpPr>
          <p:spPr>
            <a:xfrm>
              <a:off x="10241280" y="4740249"/>
              <a:ext cx="530352" cy="248716"/>
            </a:xfrm>
            <a:prstGeom prst="roundRect">
              <a:avLst>
                <a:gd name="adj" fmla="val 18382"/>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0" name="TextBox 89"/>
            <p:cNvSpPr txBox="1"/>
            <p:nvPr/>
          </p:nvSpPr>
          <p:spPr>
            <a:xfrm>
              <a:off x="10305288" y="478131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81.9%</a:t>
              </a:r>
            </a:p>
          </p:txBody>
        </p:sp>
        <p:sp>
          <p:nvSpPr>
            <p:cNvPr id="91" name="TextBox 90"/>
            <p:cNvSpPr txBox="1"/>
            <p:nvPr/>
          </p:nvSpPr>
          <p:spPr>
            <a:xfrm>
              <a:off x="10963656" y="4781317"/>
              <a:ext cx="64008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10,518</a:t>
              </a:r>
            </a:p>
          </p:txBody>
        </p:sp>
        <p:sp>
          <p:nvSpPr>
            <p:cNvPr id="92" name="Rectangle 91"/>
            <p:cNvSpPr/>
            <p:nvPr/>
          </p:nvSpPr>
          <p:spPr>
            <a:xfrm>
              <a:off x="6492240" y="504272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3" name="TextBox 92"/>
            <p:cNvSpPr txBox="1"/>
            <p:nvPr/>
          </p:nvSpPr>
          <p:spPr>
            <a:xfrm>
              <a:off x="6620255" y="5147077"/>
              <a:ext cx="207568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refund status and conditions</a:t>
              </a:r>
            </a:p>
          </p:txBody>
        </p:sp>
        <p:sp>
          <p:nvSpPr>
            <p:cNvPr id="94" name="Rounded Rectangle 93"/>
            <p:cNvSpPr/>
            <p:nvPr/>
          </p:nvSpPr>
          <p:spPr>
            <a:xfrm>
              <a:off x="8887967" y="5106009"/>
              <a:ext cx="566928"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5" name="TextBox 94"/>
            <p:cNvSpPr txBox="1"/>
            <p:nvPr/>
          </p:nvSpPr>
          <p:spPr>
            <a:xfrm>
              <a:off x="8951976" y="5147077"/>
              <a:ext cx="43891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67.0%</a:t>
              </a:r>
            </a:p>
          </p:txBody>
        </p:sp>
        <p:sp>
          <p:nvSpPr>
            <p:cNvPr id="96" name="Rounded Rectangle 95"/>
            <p:cNvSpPr/>
            <p:nvPr/>
          </p:nvSpPr>
          <p:spPr>
            <a:xfrm>
              <a:off x="9582911" y="510600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7" name="TextBox 96"/>
            <p:cNvSpPr txBox="1"/>
            <p:nvPr/>
          </p:nvSpPr>
          <p:spPr>
            <a:xfrm>
              <a:off x="9646919" y="514707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78.7%</a:t>
              </a:r>
            </a:p>
          </p:txBody>
        </p:sp>
        <p:sp>
          <p:nvSpPr>
            <p:cNvPr id="98" name="Rounded Rectangle 97"/>
            <p:cNvSpPr/>
            <p:nvPr/>
          </p:nvSpPr>
          <p:spPr>
            <a:xfrm>
              <a:off x="10241280" y="5106009"/>
              <a:ext cx="530352"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9" name="TextBox 98"/>
            <p:cNvSpPr txBox="1"/>
            <p:nvPr/>
          </p:nvSpPr>
          <p:spPr>
            <a:xfrm>
              <a:off x="10305288" y="5147077"/>
              <a:ext cx="402335"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57.0%</a:t>
              </a:r>
            </a:p>
          </p:txBody>
        </p:sp>
        <p:sp>
          <p:nvSpPr>
            <p:cNvPr id="100" name="TextBox 99"/>
            <p:cNvSpPr txBox="1"/>
            <p:nvPr/>
          </p:nvSpPr>
          <p:spPr>
            <a:xfrm>
              <a:off x="10963656" y="5147077"/>
              <a:ext cx="64008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3,582</a:t>
              </a:r>
            </a:p>
          </p:txBody>
        </p:sp>
        <p:sp>
          <p:nvSpPr>
            <p:cNvPr id="101" name="Rectangle 100"/>
            <p:cNvSpPr/>
            <p:nvPr/>
          </p:nvSpPr>
          <p:spPr>
            <a:xfrm>
              <a:off x="6492240" y="5408485"/>
              <a:ext cx="5239511"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grpSp>
      <p:sp>
        <p:nvSpPr>
          <p:cNvPr id="109" name="CuadroTexto 108">
            <a:extLst>
              <a:ext uri="{FF2B5EF4-FFF2-40B4-BE49-F238E27FC236}">
                <a16:creationId xmlns:a16="http://schemas.microsoft.com/office/drawing/2014/main" id="{0DFBFFC5-E51C-4ED5-C163-959565FFBBE1}"/>
              </a:ext>
            </a:extLst>
          </p:cNvPr>
          <p:cNvSpPr txBox="1"/>
          <p:nvPr/>
        </p:nvSpPr>
        <p:spPr>
          <a:xfrm>
            <a:off x="6351880" y="1725521"/>
            <a:ext cx="5239511" cy="577081"/>
          </a:xfrm>
          <a:prstGeom prst="rect">
            <a:avLst/>
          </a:prstGeom>
          <a:noFill/>
        </p:spPr>
        <p:txBody>
          <a:bodyPr wrap="square">
            <a:spAutoFit/>
          </a:bodyPr>
          <a:lstStyle/>
          <a:p>
            <a:pPr marL="171450" indent="-171450">
              <a:buFont typeface="Arial" panose="020B0604020202020204" pitchFamily="34" charset="0"/>
              <a:buChar char="•"/>
            </a:pPr>
            <a:r>
              <a:rPr lang="en-US" sz="1050" b="1" dirty="0"/>
              <a:t>Channel Volume Drag:</a:t>
            </a:r>
            <a:r>
              <a:rPr lang="en-US" sz="1050" dirty="0"/>
              <a:t> Live Chat dominates customer sentiment with </a:t>
            </a:r>
            <a:r>
              <a:rPr lang="en-US" sz="1050" b="1" dirty="0"/>
              <a:t>72.4% of total surveys (55,962)</a:t>
            </a:r>
            <a:r>
              <a:rPr lang="en-US" sz="1050" dirty="0"/>
              <a:t>. Its failing score of </a:t>
            </a:r>
            <a:r>
              <a:rPr lang="en-US" sz="1050" b="1" dirty="0"/>
              <a:t>77.6% (-7.45 pp vs. goal)</a:t>
            </a:r>
            <a:r>
              <a:rPr lang="en-US" sz="1050" dirty="0"/>
              <a:t> completely drags down Phone's passing performance of </a:t>
            </a:r>
            <a:r>
              <a:rPr lang="en-US" sz="1050" b="1" dirty="0"/>
              <a:t>86.3% (+1.26 pp vs. goal)</a:t>
            </a:r>
            <a:r>
              <a:rPr lang="en-US" sz="1050" dirty="0"/>
              <a:t> to a blended </a:t>
            </a:r>
            <a:r>
              <a:rPr lang="en-US" sz="1050" b="1" dirty="0"/>
              <a:t>80.0%</a:t>
            </a:r>
            <a:r>
              <a:rPr lang="en-US" sz="1050" dirty="0"/>
              <a:t>.</a:t>
            </a:r>
          </a:p>
        </p:txBody>
      </p:sp>
      <p:sp>
        <p:nvSpPr>
          <p:cNvPr id="110" name="CuadroTexto 109">
            <a:extLst>
              <a:ext uri="{FF2B5EF4-FFF2-40B4-BE49-F238E27FC236}">
                <a16:creationId xmlns:a16="http://schemas.microsoft.com/office/drawing/2014/main" id="{557857DF-013B-C45F-4D12-C681F2E326DB}"/>
              </a:ext>
            </a:extLst>
          </p:cNvPr>
          <p:cNvSpPr txBox="1"/>
          <p:nvPr/>
        </p:nvSpPr>
        <p:spPr>
          <a:xfrm>
            <a:off x="6394162" y="4097022"/>
            <a:ext cx="5239511" cy="1708160"/>
          </a:xfrm>
          <a:prstGeom prst="rect">
            <a:avLst/>
          </a:prstGeom>
          <a:noFill/>
        </p:spPr>
        <p:txBody>
          <a:bodyPr wrap="square">
            <a:spAutoFit/>
          </a:bodyPr>
          <a:lstStyle/>
          <a:p>
            <a:r>
              <a:rPr lang="es-CO" sz="1050" b="1" dirty="0" err="1"/>
              <a:t>Systemic</a:t>
            </a:r>
            <a:r>
              <a:rPr lang="es-CO" sz="1050" b="1" dirty="0"/>
              <a:t> Chat </a:t>
            </a:r>
            <a:r>
              <a:rPr lang="es-CO" sz="1050" b="1" dirty="0" err="1"/>
              <a:t>Vulnerability</a:t>
            </a:r>
            <a:r>
              <a:rPr lang="es-CO" sz="1050" b="1" dirty="0"/>
              <a:t> in High-</a:t>
            </a:r>
            <a:r>
              <a:rPr lang="es-CO" sz="1050" b="1" dirty="0" err="1"/>
              <a:t>Friction</a:t>
            </a:r>
            <a:r>
              <a:rPr lang="es-CO" sz="1050" b="1" dirty="0"/>
              <a:t> Cases:</a:t>
            </a:r>
            <a:r>
              <a:rPr lang="es-CO" sz="1050" dirty="0"/>
              <a:t> </a:t>
            </a:r>
            <a:r>
              <a:rPr lang="es-CO" sz="1050" dirty="0" err="1"/>
              <a:t>Across</a:t>
            </a:r>
            <a:r>
              <a:rPr lang="es-CO" sz="1050" dirty="0"/>
              <a:t> </a:t>
            </a:r>
            <a:r>
              <a:rPr lang="es-CO" sz="1050" dirty="0" err="1"/>
              <a:t>all</a:t>
            </a:r>
            <a:r>
              <a:rPr lang="es-CO" sz="1050" dirty="0"/>
              <a:t> bottom-</a:t>
            </a:r>
            <a:r>
              <a:rPr lang="es-CO" sz="1050" dirty="0" err="1"/>
              <a:t>performing</a:t>
            </a:r>
            <a:r>
              <a:rPr lang="es-CO" sz="1050" dirty="0"/>
              <a:t> </a:t>
            </a:r>
            <a:r>
              <a:rPr lang="es-CO" sz="1050" dirty="0" err="1"/>
              <a:t>contact</a:t>
            </a:r>
            <a:r>
              <a:rPr lang="es-CO" sz="1050" dirty="0"/>
              <a:t> </a:t>
            </a:r>
            <a:r>
              <a:rPr lang="es-CO" sz="1050" dirty="0" err="1"/>
              <a:t>reasons</a:t>
            </a:r>
            <a:r>
              <a:rPr lang="es-CO" sz="1050" dirty="0"/>
              <a:t>, </a:t>
            </a:r>
            <a:r>
              <a:rPr lang="es-CO" sz="1050" dirty="0" err="1"/>
              <a:t>Phone</a:t>
            </a:r>
            <a:r>
              <a:rPr lang="es-CO" sz="1050" dirty="0"/>
              <a:t> </a:t>
            </a:r>
            <a:r>
              <a:rPr lang="es-CO" sz="1050" dirty="0" err="1"/>
              <a:t>outperforms</a:t>
            </a:r>
            <a:r>
              <a:rPr lang="es-CO" sz="1050" dirty="0"/>
              <a:t> Live Chat </a:t>
            </a:r>
            <a:r>
              <a:rPr lang="es-CO" sz="1050" dirty="0" err="1"/>
              <a:t>by</a:t>
            </a:r>
            <a:r>
              <a:rPr lang="es-CO" sz="1050" dirty="0"/>
              <a:t> </a:t>
            </a:r>
            <a:r>
              <a:rPr lang="es-CO" sz="1050" b="1" dirty="0"/>
              <a:t>12.3 </a:t>
            </a:r>
            <a:r>
              <a:rPr lang="es-CO" sz="1050" b="1" dirty="0" err="1"/>
              <a:t>to</a:t>
            </a:r>
            <a:r>
              <a:rPr lang="es-CO" sz="1050" b="1" dirty="0"/>
              <a:t> 21.7 </a:t>
            </a:r>
            <a:r>
              <a:rPr lang="es-CO" sz="1050" b="1" dirty="0" err="1"/>
              <a:t>percentage</a:t>
            </a:r>
            <a:r>
              <a:rPr lang="es-CO" sz="1050" b="1" dirty="0"/>
              <a:t> </a:t>
            </a:r>
            <a:r>
              <a:rPr lang="es-CO" sz="1050" b="1" dirty="0" err="1"/>
              <a:t>points</a:t>
            </a:r>
            <a:r>
              <a:rPr lang="es-CO" sz="1050" dirty="0"/>
              <a:t>:</a:t>
            </a:r>
          </a:p>
          <a:p>
            <a:endParaRPr lang="es-CO" sz="1050" dirty="0"/>
          </a:p>
          <a:p>
            <a:pPr>
              <a:buFont typeface="Arial" panose="020B0604020202020204" pitchFamily="34" charset="0"/>
              <a:buChar char="•"/>
            </a:pPr>
            <a:r>
              <a:rPr lang="es-CO" sz="1050" b="1" dirty="0" err="1"/>
              <a:t>Refund</a:t>
            </a:r>
            <a:r>
              <a:rPr lang="es-CO" sz="1050" b="1" dirty="0"/>
              <a:t> Status &amp; </a:t>
            </a:r>
            <a:r>
              <a:rPr lang="es-CO" sz="1050" b="1" dirty="0" err="1"/>
              <a:t>Conditions</a:t>
            </a:r>
            <a:r>
              <a:rPr lang="es-CO" sz="1050" b="1" dirty="0"/>
              <a:t>:</a:t>
            </a:r>
            <a:r>
              <a:rPr lang="es-CO" sz="1050" dirty="0"/>
              <a:t> Chat </a:t>
            </a:r>
            <a:r>
              <a:rPr lang="es-CO" sz="1050" dirty="0" err="1"/>
              <a:t>collapses</a:t>
            </a:r>
            <a:r>
              <a:rPr lang="es-CO" sz="1050" dirty="0"/>
              <a:t> </a:t>
            </a:r>
            <a:r>
              <a:rPr lang="es-CO" sz="1050" dirty="0" err="1"/>
              <a:t>to</a:t>
            </a:r>
            <a:r>
              <a:rPr lang="es-CO" sz="1050" dirty="0"/>
              <a:t> </a:t>
            </a:r>
            <a:r>
              <a:rPr lang="es-CO" sz="1050" b="1" dirty="0"/>
              <a:t>57.0% CSAT</a:t>
            </a:r>
            <a:r>
              <a:rPr lang="es-CO" sz="1050" dirty="0"/>
              <a:t> vs. </a:t>
            </a:r>
            <a:r>
              <a:rPr lang="es-CO" sz="1050" dirty="0" err="1"/>
              <a:t>Phone's</a:t>
            </a:r>
            <a:r>
              <a:rPr lang="es-CO" sz="1050" dirty="0"/>
              <a:t> </a:t>
            </a:r>
            <a:r>
              <a:rPr lang="es-CO" sz="1050" b="1" dirty="0"/>
              <a:t>78.7%</a:t>
            </a:r>
            <a:r>
              <a:rPr lang="es-CO" sz="1050" dirty="0"/>
              <a:t> (a </a:t>
            </a:r>
            <a:r>
              <a:rPr lang="es-CO" sz="1050" b="1" dirty="0"/>
              <a:t>21.7 </a:t>
            </a:r>
            <a:r>
              <a:rPr lang="es-CO" sz="1050" b="1" dirty="0" err="1"/>
              <a:t>pp</a:t>
            </a:r>
            <a:r>
              <a:rPr lang="es-CO" sz="1050" b="1" dirty="0"/>
              <a:t> gap</a:t>
            </a:r>
            <a:r>
              <a:rPr lang="es-CO" sz="1050" dirty="0"/>
              <a:t>).</a:t>
            </a:r>
          </a:p>
          <a:p>
            <a:endParaRPr lang="es-CO" sz="1050" dirty="0"/>
          </a:p>
          <a:p>
            <a:pPr>
              <a:buFont typeface="Arial" panose="020B0604020202020204" pitchFamily="34" charset="0"/>
              <a:buChar char="•"/>
            </a:pPr>
            <a:r>
              <a:rPr lang="es-CO" sz="1050" b="1" dirty="0" err="1"/>
              <a:t>Order</a:t>
            </a:r>
            <a:r>
              <a:rPr lang="es-CO" sz="1050" b="1" dirty="0"/>
              <a:t> Status &amp; </a:t>
            </a:r>
            <a:r>
              <a:rPr lang="es-CO" sz="1050" b="1" dirty="0" err="1"/>
              <a:t>Delays</a:t>
            </a:r>
            <a:r>
              <a:rPr lang="es-CO" sz="1050" b="1" dirty="0"/>
              <a:t>:</a:t>
            </a:r>
            <a:r>
              <a:rPr lang="es-CO" sz="1050" dirty="0"/>
              <a:t> Chat </a:t>
            </a:r>
            <a:r>
              <a:rPr lang="es-CO" sz="1050" dirty="0" err="1"/>
              <a:t>drops</a:t>
            </a:r>
            <a:r>
              <a:rPr lang="es-CO" sz="1050" dirty="0"/>
              <a:t> </a:t>
            </a:r>
            <a:r>
              <a:rPr lang="es-CO" sz="1050" dirty="0" err="1"/>
              <a:t>to</a:t>
            </a:r>
            <a:r>
              <a:rPr lang="es-CO" sz="1050" dirty="0"/>
              <a:t> </a:t>
            </a:r>
            <a:r>
              <a:rPr lang="es-CO" sz="1050" b="1" dirty="0"/>
              <a:t>60.3% CSAT</a:t>
            </a:r>
            <a:r>
              <a:rPr lang="es-CO" sz="1050" dirty="0"/>
              <a:t> vs. </a:t>
            </a:r>
            <a:r>
              <a:rPr lang="es-CO" sz="1050" dirty="0" err="1"/>
              <a:t>Phone's</a:t>
            </a:r>
            <a:r>
              <a:rPr lang="es-CO" sz="1050" dirty="0"/>
              <a:t> </a:t>
            </a:r>
            <a:r>
              <a:rPr lang="es-CO" sz="1050" b="1" dirty="0"/>
              <a:t>79.8%</a:t>
            </a:r>
            <a:r>
              <a:rPr lang="es-CO" sz="1050" dirty="0"/>
              <a:t> (a </a:t>
            </a:r>
            <a:r>
              <a:rPr lang="es-CO" sz="1050" b="1" dirty="0"/>
              <a:t>19.5 </a:t>
            </a:r>
            <a:r>
              <a:rPr lang="es-CO" sz="1050" b="1" dirty="0" err="1"/>
              <a:t>pp</a:t>
            </a:r>
            <a:r>
              <a:rPr lang="es-CO" sz="1050" b="1" dirty="0"/>
              <a:t> gap</a:t>
            </a:r>
            <a:r>
              <a:rPr lang="es-CO" sz="1050" dirty="0"/>
              <a:t>).</a:t>
            </a:r>
          </a:p>
          <a:p>
            <a:endParaRPr lang="es-CO" sz="1050" dirty="0"/>
          </a:p>
          <a:p>
            <a:pPr>
              <a:buFont typeface="Arial" panose="020B0604020202020204" pitchFamily="34" charset="0"/>
              <a:buChar char="•"/>
            </a:pPr>
            <a:r>
              <a:rPr lang="es-CO" sz="1050" b="1" dirty="0" err="1"/>
              <a:t>Order</a:t>
            </a:r>
            <a:r>
              <a:rPr lang="es-CO" sz="1050" b="1" dirty="0"/>
              <a:t> Status / </a:t>
            </a:r>
            <a:r>
              <a:rPr lang="es-CO" sz="1050" b="1" dirty="0" err="1"/>
              <a:t>Delay</a:t>
            </a:r>
            <a:r>
              <a:rPr lang="es-CO" sz="1050" b="1" dirty="0"/>
              <a:t> </a:t>
            </a:r>
            <a:r>
              <a:rPr lang="es-CO" sz="1050" b="1" dirty="0" err="1"/>
              <a:t>Info</a:t>
            </a:r>
            <a:r>
              <a:rPr lang="es-CO" sz="1050" b="1" dirty="0"/>
              <a:t>:</a:t>
            </a:r>
            <a:r>
              <a:rPr lang="es-CO" sz="1050" dirty="0"/>
              <a:t> Chat </a:t>
            </a:r>
            <a:r>
              <a:rPr lang="es-CO" sz="1050" dirty="0" err="1"/>
              <a:t>records</a:t>
            </a:r>
            <a:r>
              <a:rPr lang="es-CO" sz="1050" dirty="0"/>
              <a:t> </a:t>
            </a:r>
            <a:r>
              <a:rPr lang="es-CO" sz="1050" b="1" dirty="0"/>
              <a:t>62.8% CSAT</a:t>
            </a:r>
            <a:r>
              <a:rPr lang="es-CO" sz="1050" dirty="0"/>
              <a:t> vs. </a:t>
            </a:r>
            <a:r>
              <a:rPr lang="es-CO" sz="1050" dirty="0" err="1"/>
              <a:t>Phone's</a:t>
            </a:r>
            <a:r>
              <a:rPr lang="es-CO" sz="1050" dirty="0"/>
              <a:t> </a:t>
            </a:r>
            <a:r>
              <a:rPr lang="es-CO" sz="1050" b="1" dirty="0"/>
              <a:t>80.3%</a:t>
            </a:r>
            <a:r>
              <a:rPr lang="es-CO" sz="1050" dirty="0"/>
              <a:t> (a </a:t>
            </a:r>
            <a:r>
              <a:rPr lang="es-CO" sz="1050" b="1" dirty="0"/>
              <a:t>17.5 </a:t>
            </a:r>
            <a:r>
              <a:rPr lang="es-CO" sz="1050" b="1" dirty="0" err="1"/>
              <a:t>pp</a:t>
            </a:r>
            <a:r>
              <a:rPr lang="es-CO" sz="1050" b="1" dirty="0"/>
              <a:t> gap</a:t>
            </a:r>
            <a:r>
              <a:rPr lang="es-CO" sz="1050" dirty="0"/>
              <a:t> </a:t>
            </a:r>
            <a:r>
              <a:rPr lang="es-CO" sz="1050" dirty="0" err="1"/>
              <a:t>across</a:t>
            </a:r>
            <a:r>
              <a:rPr lang="es-CO" sz="1050" dirty="0"/>
              <a:t> 9,918 </a:t>
            </a:r>
            <a:r>
              <a:rPr lang="es-CO" sz="1050" dirty="0" err="1"/>
              <a:t>surveys</a:t>
            </a:r>
            <a:r>
              <a:rPr lang="es-CO" sz="1050" dirty="0"/>
              <a:t>).</a:t>
            </a:r>
          </a:p>
        </p:txBody>
      </p:sp>
      <p:sp>
        <p:nvSpPr>
          <p:cNvPr id="111" name="Rectángulo 110">
            <a:extLst>
              <a:ext uri="{FF2B5EF4-FFF2-40B4-BE49-F238E27FC236}">
                <a16:creationId xmlns:a16="http://schemas.microsoft.com/office/drawing/2014/main" id="{E60D50B8-2324-4367-C48F-4A07102D074C}"/>
              </a:ext>
            </a:extLst>
          </p:cNvPr>
          <p:cNvSpPr/>
          <p:nvPr/>
        </p:nvSpPr>
        <p:spPr>
          <a:xfrm>
            <a:off x="558328" y="3513582"/>
            <a:ext cx="11176168" cy="2667383"/>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 name="Rectángulo 112">
            <a:extLst>
              <a:ext uri="{FF2B5EF4-FFF2-40B4-BE49-F238E27FC236}">
                <a16:creationId xmlns:a16="http://schemas.microsoft.com/office/drawing/2014/main" id="{FA86D7AC-C736-4C85-41AE-4F1BECF97808}"/>
              </a:ext>
            </a:extLst>
          </p:cNvPr>
          <p:cNvSpPr/>
          <p:nvPr/>
        </p:nvSpPr>
        <p:spPr>
          <a:xfrm>
            <a:off x="558327" y="1279847"/>
            <a:ext cx="10856925" cy="1817684"/>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2419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Rectangle 36">
            <a:extLst>
              <a:ext uri="{FF2B5EF4-FFF2-40B4-BE49-F238E27FC236}">
                <a16:creationId xmlns:a16="http://schemas.microsoft.com/office/drawing/2014/main" id="{F6AF082E-67A7-013C-6D63-8E4C57CC1175}"/>
              </a:ext>
            </a:extLst>
          </p:cNvPr>
          <p:cNvSpPr/>
          <p:nvPr/>
        </p:nvSpPr>
        <p:spPr>
          <a:xfrm>
            <a:off x="969461" y="4988100"/>
            <a:ext cx="4479380" cy="822765"/>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36">
            <a:extLst>
              <a:ext uri="{FF2B5EF4-FFF2-40B4-BE49-F238E27FC236}">
                <a16:creationId xmlns:a16="http://schemas.microsoft.com/office/drawing/2014/main" id="{72D56878-5578-64BE-F48F-9EB4C02EF8B5}"/>
              </a:ext>
            </a:extLst>
          </p:cNvPr>
          <p:cNvSpPr/>
          <p:nvPr/>
        </p:nvSpPr>
        <p:spPr>
          <a:xfrm>
            <a:off x="6371539" y="4975545"/>
            <a:ext cx="5092874" cy="601359"/>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CSAT analysis</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Blended 79.95% vs 85%  ·  Phone 86.26%  ·  Chat 77.55%  ·  77,266 surveys</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15</a:t>
            </a:r>
          </a:p>
        </p:txBody>
      </p:sp>
      <p:sp>
        <p:nvSpPr>
          <p:cNvPr id="10" name="TextBox 9"/>
          <p:cNvSpPr txBox="1"/>
          <p:nvPr/>
        </p:nvSpPr>
        <p:spPr>
          <a:xfrm>
            <a:off x="457200" y="665683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bar_stars.png"/>
          <p:cNvPicPr>
            <a:picLocks noChangeAspect="1"/>
          </p:cNvPicPr>
          <p:nvPr/>
        </p:nvPicPr>
        <p:blipFill>
          <a:blip r:embed="rId3"/>
          <a:stretch>
            <a:fillRect/>
          </a:stretch>
        </p:blipFill>
        <p:spPr>
          <a:xfrm>
            <a:off x="1056181" y="1626186"/>
            <a:ext cx="4392660" cy="2644478"/>
          </a:xfrm>
          <a:prstGeom prst="rect">
            <a:avLst/>
          </a:prstGeom>
          <a:effectLst>
            <a:outerShdw blurRad="50800" dist="38100" dir="2700000" algn="tl" rotWithShape="0">
              <a:prstClr val="black">
                <a:alpha val="40000"/>
              </a:prstClr>
            </a:outerShdw>
          </a:effectLst>
        </p:spPr>
      </p:pic>
      <p:pic>
        <p:nvPicPr>
          <p:cNvPr id="12" name="Picture 11" descr="bar_business_type.png"/>
          <p:cNvPicPr>
            <a:picLocks noChangeAspect="1"/>
          </p:cNvPicPr>
          <p:nvPr/>
        </p:nvPicPr>
        <p:blipFill>
          <a:blip r:embed="rId4"/>
          <a:stretch>
            <a:fillRect/>
          </a:stretch>
        </p:blipFill>
        <p:spPr>
          <a:xfrm>
            <a:off x="5966935" y="1659985"/>
            <a:ext cx="5749296" cy="2653523"/>
          </a:xfrm>
          <a:prstGeom prst="rect">
            <a:avLst/>
          </a:prstGeom>
          <a:effectLst>
            <a:outerShdw blurRad="50800" dist="38100" dir="2700000" algn="tl" rotWithShape="0">
              <a:prstClr val="black">
                <a:alpha val="40000"/>
              </a:prstClr>
            </a:outerShdw>
          </a:effectLst>
        </p:spPr>
      </p:pic>
      <p:sp>
        <p:nvSpPr>
          <p:cNvPr id="108" name="CuadroTexto 107">
            <a:extLst>
              <a:ext uri="{FF2B5EF4-FFF2-40B4-BE49-F238E27FC236}">
                <a16:creationId xmlns:a16="http://schemas.microsoft.com/office/drawing/2014/main" id="{8F2FE7A3-AABF-F9B9-A2B5-B05A4B379976}"/>
              </a:ext>
            </a:extLst>
          </p:cNvPr>
          <p:cNvSpPr txBox="1"/>
          <p:nvPr/>
        </p:nvSpPr>
        <p:spPr>
          <a:xfrm>
            <a:off x="969461" y="4988100"/>
            <a:ext cx="4479380" cy="738664"/>
          </a:xfrm>
          <a:prstGeom prst="rect">
            <a:avLst/>
          </a:prstGeom>
          <a:noFill/>
        </p:spPr>
        <p:txBody>
          <a:bodyPr wrap="square">
            <a:spAutoFit/>
          </a:bodyPr>
          <a:lstStyle/>
          <a:p>
            <a:pPr algn="ctr"/>
            <a:r>
              <a:rPr lang="en-US" sz="1050" b="1" dirty="0"/>
              <a:t>Bimodal Rating Polarization:</a:t>
            </a:r>
            <a:r>
              <a:rPr lang="en-US" sz="1050" dirty="0"/>
              <a:t> Customer perception follows an "all-or-nothing" distribution: </a:t>
            </a:r>
            <a:r>
              <a:rPr lang="en-US" sz="1050" b="1" dirty="0"/>
              <a:t>92.2% of ratings are binary extremes</a:t>
            </a:r>
            <a:r>
              <a:rPr lang="en-US" sz="1050" dirty="0"/>
              <a:t> (75.7% 5-star vs. 16.5% 1-star). Neutral/mid-tier ratings (2–4 stars) represent only 7.8%, proving customers evaluate contacts as total success or complete failure.</a:t>
            </a:r>
            <a:endParaRPr lang="es-CO" sz="1050" dirty="0"/>
          </a:p>
        </p:txBody>
      </p:sp>
      <p:sp>
        <p:nvSpPr>
          <p:cNvPr id="111" name="CuadroTexto 110">
            <a:extLst>
              <a:ext uri="{FF2B5EF4-FFF2-40B4-BE49-F238E27FC236}">
                <a16:creationId xmlns:a16="http://schemas.microsoft.com/office/drawing/2014/main" id="{A051C754-E3A4-C1E5-AEB1-C2AEDF4F762B}"/>
              </a:ext>
            </a:extLst>
          </p:cNvPr>
          <p:cNvSpPr txBox="1"/>
          <p:nvPr/>
        </p:nvSpPr>
        <p:spPr>
          <a:xfrm>
            <a:off x="6371539" y="5031610"/>
            <a:ext cx="5239511" cy="415498"/>
          </a:xfrm>
          <a:prstGeom prst="rect">
            <a:avLst/>
          </a:prstGeom>
          <a:noFill/>
        </p:spPr>
        <p:txBody>
          <a:bodyPr wrap="square">
            <a:spAutoFit/>
          </a:bodyPr>
          <a:lstStyle/>
          <a:p>
            <a:pPr algn="ctr">
              <a:buFont typeface="Arial" panose="020B0604020202020204" pitchFamily="34" charset="0"/>
              <a:buChar char="•"/>
            </a:pPr>
            <a:r>
              <a:rPr lang="en-US" sz="1050" b="1" dirty="0"/>
              <a:t>Uniform LOB Deficit:</a:t>
            </a:r>
            <a:r>
              <a:rPr lang="en-US" sz="1050" dirty="0"/>
              <a:t> Underperformance is consistent across all business lines (79.7%–80.7%), with </a:t>
            </a:r>
            <a:r>
              <a:rPr lang="en-US" sz="1050" b="1" dirty="0"/>
              <a:t>Food generating 59.6% of total survey volume (46,071)</a:t>
            </a:r>
            <a:r>
              <a:rPr lang="en-US" sz="1050" dirty="0"/>
              <a:t> at 80.7% CSAT.</a:t>
            </a:r>
          </a:p>
        </p:txBody>
      </p:sp>
      <p:sp>
        <p:nvSpPr>
          <p:cNvPr id="117" name="CuadroTexto 116">
            <a:extLst>
              <a:ext uri="{FF2B5EF4-FFF2-40B4-BE49-F238E27FC236}">
                <a16:creationId xmlns:a16="http://schemas.microsoft.com/office/drawing/2014/main" id="{6AC18B19-93AA-24F4-E5D1-01D5C158ABB8}"/>
              </a:ext>
            </a:extLst>
          </p:cNvPr>
          <p:cNvSpPr txBox="1"/>
          <p:nvPr/>
        </p:nvSpPr>
        <p:spPr>
          <a:xfrm>
            <a:off x="2327905" y="4506027"/>
            <a:ext cx="6096000" cy="276999"/>
          </a:xfrm>
          <a:prstGeom prst="rect">
            <a:avLst/>
          </a:prstGeom>
          <a:noFill/>
        </p:spPr>
        <p:txBody>
          <a:bodyPr wrap="square">
            <a:spAutoFit/>
          </a:bodyPr>
          <a:lstStyle/>
          <a:p>
            <a:r>
              <a:rPr lang="en-US" sz="1200" b="1" dirty="0"/>
              <a:t>Customer Sentiment </a:t>
            </a:r>
          </a:p>
        </p:txBody>
      </p:sp>
      <p:sp>
        <p:nvSpPr>
          <p:cNvPr id="119" name="CuadroTexto 118">
            <a:extLst>
              <a:ext uri="{FF2B5EF4-FFF2-40B4-BE49-F238E27FC236}">
                <a16:creationId xmlns:a16="http://schemas.microsoft.com/office/drawing/2014/main" id="{FAB1B97F-E63F-4907-9533-AE0C8DD8B8D8}"/>
              </a:ext>
            </a:extLst>
          </p:cNvPr>
          <p:cNvSpPr txBox="1"/>
          <p:nvPr/>
        </p:nvSpPr>
        <p:spPr>
          <a:xfrm>
            <a:off x="8120462" y="4562092"/>
            <a:ext cx="6096000" cy="276999"/>
          </a:xfrm>
          <a:prstGeom prst="rect">
            <a:avLst/>
          </a:prstGeom>
          <a:noFill/>
        </p:spPr>
        <p:txBody>
          <a:bodyPr wrap="square">
            <a:spAutoFit/>
          </a:bodyPr>
          <a:lstStyle/>
          <a:p>
            <a:r>
              <a:rPr lang="en-US" sz="1200" b="1" dirty="0"/>
              <a:t>Line of Business </a:t>
            </a:r>
            <a:endParaRPr lang="en-US" sz="1200" dirty="0"/>
          </a:p>
        </p:txBody>
      </p:sp>
      <p:sp>
        <p:nvSpPr>
          <p:cNvPr id="120" name="Rectángulo 119">
            <a:extLst>
              <a:ext uri="{FF2B5EF4-FFF2-40B4-BE49-F238E27FC236}">
                <a16:creationId xmlns:a16="http://schemas.microsoft.com/office/drawing/2014/main" id="{4CCB090F-4CC5-14F4-C36D-73B9EC450091}"/>
              </a:ext>
            </a:extLst>
          </p:cNvPr>
          <p:cNvSpPr/>
          <p:nvPr/>
        </p:nvSpPr>
        <p:spPr>
          <a:xfrm>
            <a:off x="859536" y="1484234"/>
            <a:ext cx="4744851" cy="4434785"/>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1" name="Rectángulo 120">
            <a:extLst>
              <a:ext uri="{FF2B5EF4-FFF2-40B4-BE49-F238E27FC236}">
                <a16:creationId xmlns:a16="http://schemas.microsoft.com/office/drawing/2014/main" id="{9FAD12D8-2A3B-83AF-58B6-792AF3F4C663}"/>
              </a:ext>
            </a:extLst>
          </p:cNvPr>
          <p:cNvSpPr/>
          <p:nvPr/>
        </p:nvSpPr>
        <p:spPr>
          <a:xfrm>
            <a:off x="5811390" y="1471890"/>
            <a:ext cx="6096000" cy="4434785"/>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4" name="Rectangle 37">
            <a:extLst>
              <a:ext uri="{FF2B5EF4-FFF2-40B4-BE49-F238E27FC236}">
                <a16:creationId xmlns:a16="http://schemas.microsoft.com/office/drawing/2014/main" id="{5D721074-60A0-9D99-D3BB-B64FF2B34AFC}"/>
              </a:ext>
            </a:extLst>
          </p:cNvPr>
          <p:cNvSpPr/>
          <p:nvPr/>
        </p:nvSpPr>
        <p:spPr>
          <a:xfrm>
            <a:off x="969461" y="4975544"/>
            <a:ext cx="45719" cy="83942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37">
            <a:extLst>
              <a:ext uri="{FF2B5EF4-FFF2-40B4-BE49-F238E27FC236}">
                <a16:creationId xmlns:a16="http://schemas.microsoft.com/office/drawing/2014/main" id="{8C73C4A7-ED8C-18C4-E3DD-5123C9CCD9A2}"/>
              </a:ext>
            </a:extLst>
          </p:cNvPr>
          <p:cNvSpPr/>
          <p:nvPr/>
        </p:nvSpPr>
        <p:spPr>
          <a:xfrm>
            <a:off x="6371539" y="4975544"/>
            <a:ext cx="45719" cy="603506"/>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Voice of the customer</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2,749 classified comments from 1–3★ surveys</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16</a:t>
            </a:r>
          </a:p>
        </p:txBody>
      </p:sp>
      <p:sp>
        <p:nvSpPr>
          <p:cNvPr id="10" name="TextBox 9"/>
          <p:cNvSpPr txBox="1"/>
          <p:nvPr/>
        </p:nvSpPr>
        <p:spPr>
          <a:xfrm>
            <a:off x="151180" y="6638544"/>
            <a:ext cx="11277295" cy="219456"/>
          </a:xfrm>
          <a:prstGeom prst="rect">
            <a:avLst/>
          </a:prstGeom>
          <a:noFill/>
        </p:spPr>
        <p:txBody>
          <a:bodyPr wrap="square" lIns="0" tIns="0" rIns="0" bIns="0" anchor="t">
            <a:spAutoFit/>
          </a:bodyPr>
          <a:lstStyle/>
          <a:p>
            <a:pPr algn="l">
              <a:lnSpc>
                <a:spcPct val="115000"/>
              </a:lnSpc>
              <a:spcAft>
                <a:spcPts val="0"/>
              </a:spcAft>
            </a:pPr>
            <a:r>
              <a:rPr sz="750" b="0" dirty="0" err="1">
                <a:solidFill>
                  <a:srgbClr val="9CA3AF"/>
                </a:solidFill>
                <a:latin typeface="Inter"/>
              </a:rPr>
              <a:t>DiDi</a:t>
            </a:r>
            <a:r>
              <a:rPr sz="750" b="0" dirty="0">
                <a:solidFill>
                  <a:srgbClr val="9CA3AF"/>
                </a:solidFill>
                <a:latin typeface="Inter"/>
              </a:rPr>
              <a:t> Global, CX Service Operations   |   Confidential. Internal use only</a:t>
            </a:r>
          </a:p>
        </p:txBody>
      </p:sp>
      <p:pic>
        <p:nvPicPr>
          <p:cNvPr id="11" name="Picture 10" descr="bar_voc.png"/>
          <p:cNvPicPr>
            <a:picLocks noChangeAspect="1"/>
          </p:cNvPicPr>
          <p:nvPr/>
        </p:nvPicPr>
        <p:blipFill>
          <a:blip r:embed="rId3"/>
          <a:stretch>
            <a:fillRect/>
          </a:stretch>
        </p:blipFill>
        <p:spPr>
          <a:xfrm>
            <a:off x="495604" y="1211580"/>
            <a:ext cx="5806440" cy="2915972"/>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7265058" y="1537988"/>
            <a:ext cx="5257800" cy="174920"/>
          </a:xfrm>
          <a:prstGeom prst="rect">
            <a:avLst/>
          </a:prstGeom>
          <a:noFill/>
        </p:spPr>
        <p:txBody>
          <a:bodyPr wrap="square" lIns="0" tIns="0" rIns="0" bIns="0" anchor="t">
            <a:spAutoFit/>
          </a:bodyPr>
          <a:lstStyle/>
          <a:p>
            <a:pPr algn="l">
              <a:lnSpc>
                <a:spcPct val="115000"/>
              </a:lnSpc>
              <a:spcAft>
                <a:spcPts val="0"/>
              </a:spcAft>
            </a:pPr>
            <a:r>
              <a:rPr lang="en-US" sz="1050" b="1" dirty="0"/>
              <a:t>Detractor Driver Disconnect: Resolution vs. Soft Skills</a:t>
            </a:r>
            <a:endParaRPr sz="1050" b="1" dirty="0">
              <a:solidFill>
                <a:srgbClr val="1A1A1A"/>
              </a:solidFill>
              <a:latin typeface="Inter"/>
            </a:endParaRPr>
          </a:p>
        </p:txBody>
      </p:sp>
      <p:sp>
        <p:nvSpPr>
          <p:cNvPr id="13" name="TextBox 12"/>
          <p:cNvSpPr txBox="1"/>
          <p:nvPr/>
        </p:nvSpPr>
        <p:spPr>
          <a:xfrm>
            <a:off x="5656350" y="2033445"/>
            <a:ext cx="5870447" cy="1231106"/>
          </a:xfrm>
          <a:prstGeom prst="rect">
            <a:avLst/>
          </a:prstGeom>
          <a:noFill/>
        </p:spPr>
        <p:txBody>
          <a:bodyPr wrap="square" lIns="0" tIns="0" rIns="0" bIns="0" anchor="t">
            <a:spAutoFit/>
          </a:bodyPr>
          <a:lstStyle/>
          <a:p>
            <a:pPr marL="1085850" lvl="2" indent="-171450">
              <a:buFont typeface="Arial" panose="020B0604020202020204" pitchFamily="34" charset="0"/>
              <a:buChar char="•"/>
            </a:pPr>
            <a:r>
              <a:rPr lang="en-US" sz="1000" b="1" dirty="0"/>
              <a:t>Resolution Deficit Dominates (35.4%):</a:t>
            </a:r>
            <a:r>
              <a:rPr lang="en-US" sz="1000" dirty="0"/>
              <a:t> Missing refunds (18.8%) and lack of solution (16.6%) drive over a third of all negative verbatim feedback.</a:t>
            </a:r>
          </a:p>
          <a:p>
            <a:pPr lvl="2"/>
            <a:endParaRPr lang="en-US" sz="1000" dirty="0"/>
          </a:p>
          <a:p>
            <a:pPr marL="1085850" lvl="2" indent="-171450">
              <a:buFont typeface="Arial" panose="020B0604020202020204" pitchFamily="34" charset="0"/>
              <a:buChar char="•"/>
            </a:pPr>
            <a:r>
              <a:rPr lang="en-US" sz="1000" b="1" dirty="0"/>
              <a:t>Soft Skills Over-Weighting (4.3%):</a:t>
            </a:r>
            <a:r>
              <a:rPr lang="en-US" sz="1000" dirty="0"/>
              <a:t> "Agent attitude" accounts for only 4.3% of detractor complaints (171 comments), despite being heavily weighted in traditional QA rubrics.</a:t>
            </a:r>
          </a:p>
          <a:p>
            <a:pPr lvl="2"/>
            <a:endParaRPr lang="en-US" sz="1000" dirty="0"/>
          </a:p>
          <a:p>
            <a:pPr marL="1085850" lvl="2" indent="-171450">
              <a:buFont typeface="Arial" panose="020B0604020202020204" pitchFamily="34" charset="0"/>
              <a:buChar char="•"/>
            </a:pPr>
            <a:r>
              <a:rPr lang="en-US" sz="1000" b="1" dirty="0"/>
              <a:t>Operational Takeaway:</a:t>
            </a:r>
            <a:r>
              <a:rPr lang="en-US" sz="1000" dirty="0"/>
              <a:t> Customers evaluate experience based on functional problem-solving, not conversational politeness.</a:t>
            </a:r>
          </a:p>
        </p:txBody>
      </p:sp>
      <p:sp>
        <p:nvSpPr>
          <p:cNvPr id="14" name="TextBox 13"/>
          <p:cNvSpPr txBox="1"/>
          <p:nvPr/>
        </p:nvSpPr>
        <p:spPr>
          <a:xfrm>
            <a:off x="7861876" y="3510915"/>
            <a:ext cx="5257800" cy="174920"/>
          </a:xfrm>
          <a:prstGeom prst="rect">
            <a:avLst/>
          </a:prstGeom>
          <a:noFill/>
        </p:spPr>
        <p:txBody>
          <a:bodyPr wrap="square" lIns="0" tIns="0" rIns="0" bIns="0" anchor="t">
            <a:spAutoFit/>
          </a:bodyPr>
          <a:lstStyle/>
          <a:p>
            <a:pPr algn="l">
              <a:lnSpc>
                <a:spcPct val="115000"/>
              </a:lnSpc>
              <a:spcAft>
                <a:spcPts val="0"/>
              </a:spcAft>
            </a:pPr>
            <a:r>
              <a:rPr lang="es-CO" sz="1050" b="1" dirty="0" err="1">
                <a:solidFill>
                  <a:srgbClr val="1A1A1A"/>
                </a:solidFill>
                <a:latin typeface="Inter"/>
              </a:rPr>
              <a:t>Dissatisfaction</a:t>
            </a:r>
            <a:r>
              <a:rPr lang="es-CO" sz="1050" b="1" dirty="0">
                <a:solidFill>
                  <a:srgbClr val="1A1A1A"/>
                </a:solidFill>
                <a:latin typeface="Inter"/>
              </a:rPr>
              <a:t> </a:t>
            </a:r>
            <a:r>
              <a:rPr lang="es-CO" sz="1050" b="1" dirty="0" err="1">
                <a:solidFill>
                  <a:srgbClr val="1A1A1A"/>
                </a:solidFill>
                <a:latin typeface="Inter"/>
              </a:rPr>
              <a:t>Ownership</a:t>
            </a:r>
            <a:r>
              <a:rPr lang="es-CO" sz="1050" b="1" dirty="0">
                <a:solidFill>
                  <a:srgbClr val="1A1A1A"/>
                </a:solidFill>
                <a:latin typeface="Inter"/>
              </a:rPr>
              <a:t> </a:t>
            </a:r>
            <a:r>
              <a:rPr lang="es-CO" sz="1050" b="1" dirty="0" err="1">
                <a:solidFill>
                  <a:srgbClr val="1A1A1A"/>
                </a:solidFill>
                <a:latin typeface="Inter"/>
              </a:rPr>
              <a:t>Breakdown</a:t>
            </a:r>
            <a:endParaRPr sz="1050" b="1" dirty="0">
              <a:solidFill>
                <a:srgbClr val="1A1A1A"/>
              </a:solidFill>
              <a:latin typeface="Inter"/>
            </a:endParaRPr>
          </a:p>
        </p:txBody>
      </p:sp>
      <p:grpSp>
        <p:nvGrpSpPr>
          <p:cNvPr id="41" name="Grupo 40">
            <a:extLst>
              <a:ext uri="{FF2B5EF4-FFF2-40B4-BE49-F238E27FC236}">
                <a16:creationId xmlns:a16="http://schemas.microsoft.com/office/drawing/2014/main" id="{B4FE966D-A401-994E-FBFF-7D044B7178C1}"/>
              </a:ext>
            </a:extLst>
          </p:cNvPr>
          <p:cNvGrpSpPr/>
          <p:nvPr/>
        </p:nvGrpSpPr>
        <p:grpSpPr>
          <a:xfrm>
            <a:off x="6670699" y="3838099"/>
            <a:ext cx="4389120" cy="1943290"/>
            <a:chOff x="6492240" y="3529584"/>
            <a:chExt cx="4389120" cy="1943290"/>
          </a:xfrm>
        </p:grpSpPr>
        <p:sp>
          <p:nvSpPr>
            <p:cNvPr id="15" name="Rectangle 14"/>
            <p:cNvSpPr/>
            <p:nvPr/>
          </p:nvSpPr>
          <p:spPr>
            <a:xfrm>
              <a:off x="6492240" y="3529584"/>
              <a:ext cx="438912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6620255" y="3610885"/>
              <a:ext cx="257860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Owner the auditor tagged</a:t>
              </a:r>
            </a:p>
          </p:txBody>
        </p:sp>
        <p:sp>
          <p:nvSpPr>
            <p:cNvPr id="17" name="TextBox 16"/>
            <p:cNvSpPr txBox="1"/>
            <p:nvPr/>
          </p:nvSpPr>
          <p:spPr>
            <a:xfrm>
              <a:off x="9454896" y="3610885"/>
              <a:ext cx="5212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Cases</a:t>
              </a:r>
            </a:p>
          </p:txBody>
        </p:sp>
        <p:sp>
          <p:nvSpPr>
            <p:cNvPr id="18" name="TextBox 17"/>
            <p:cNvSpPr txBox="1"/>
            <p:nvPr/>
          </p:nvSpPr>
          <p:spPr>
            <a:xfrm>
              <a:off x="10232136" y="3610885"/>
              <a:ext cx="5212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Share</a:t>
              </a:r>
            </a:p>
          </p:txBody>
        </p:sp>
        <p:sp>
          <p:nvSpPr>
            <p:cNvPr id="19" name="TextBox 18"/>
            <p:cNvSpPr txBox="1"/>
            <p:nvPr/>
          </p:nvSpPr>
          <p:spPr>
            <a:xfrm>
              <a:off x="6620255" y="3976645"/>
              <a:ext cx="257860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CX Process</a:t>
              </a:r>
            </a:p>
          </p:txBody>
        </p:sp>
        <p:sp>
          <p:nvSpPr>
            <p:cNvPr id="20" name="TextBox 19"/>
            <p:cNvSpPr txBox="1"/>
            <p:nvPr/>
          </p:nvSpPr>
          <p:spPr>
            <a:xfrm>
              <a:off x="9454896" y="3976645"/>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54</a:t>
              </a:r>
            </a:p>
          </p:txBody>
        </p:sp>
        <p:sp>
          <p:nvSpPr>
            <p:cNvPr id="21" name="TextBox 20"/>
            <p:cNvSpPr txBox="1"/>
            <p:nvPr/>
          </p:nvSpPr>
          <p:spPr>
            <a:xfrm>
              <a:off x="10232136" y="3976645"/>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49.5%</a:t>
              </a:r>
            </a:p>
          </p:txBody>
        </p:sp>
        <p:sp>
          <p:nvSpPr>
            <p:cNvPr id="22" name="Rectangle 21"/>
            <p:cNvSpPr/>
            <p:nvPr/>
          </p:nvSpPr>
          <p:spPr>
            <a:xfrm>
              <a:off x="6492240" y="4256341"/>
              <a:ext cx="43891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Rectangle 22"/>
            <p:cNvSpPr/>
            <p:nvPr/>
          </p:nvSpPr>
          <p:spPr>
            <a:xfrm>
              <a:off x="6492240" y="4261104"/>
              <a:ext cx="4389120" cy="40233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6620255" y="4378981"/>
              <a:ext cx="257860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People (CSR)</a:t>
              </a:r>
            </a:p>
          </p:txBody>
        </p:sp>
        <p:sp>
          <p:nvSpPr>
            <p:cNvPr id="25" name="TextBox 24"/>
            <p:cNvSpPr txBox="1"/>
            <p:nvPr/>
          </p:nvSpPr>
          <p:spPr>
            <a:xfrm>
              <a:off x="9454896" y="4378981"/>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24</a:t>
              </a:r>
            </a:p>
          </p:txBody>
        </p:sp>
        <p:sp>
          <p:nvSpPr>
            <p:cNvPr id="26" name="TextBox 25"/>
            <p:cNvSpPr txBox="1"/>
            <p:nvPr/>
          </p:nvSpPr>
          <p:spPr>
            <a:xfrm>
              <a:off x="10232136" y="4378981"/>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22.0%</a:t>
              </a:r>
            </a:p>
          </p:txBody>
        </p:sp>
        <p:sp>
          <p:nvSpPr>
            <p:cNvPr id="27" name="Rectangle 26"/>
            <p:cNvSpPr/>
            <p:nvPr/>
          </p:nvSpPr>
          <p:spPr>
            <a:xfrm>
              <a:off x="6492240" y="4658677"/>
              <a:ext cx="43891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TextBox 27"/>
            <p:cNvSpPr txBox="1"/>
            <p:nvPr/>
          </p:nvSpPr>
          <p:spPr>
            <a:xfrm>
              <a:off x="6620255" y="4781317"/>
              <a:ext cx="257860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End User</a:t>
              </a:r>
            </a:p>
          </p:txBody>
        </p:sp>
        <p:sp>
          <p:nvSpPr>
            <p:cNvPr id="29" name="TextBox 28"/>
            <p:cNvSpPr txBox="1"/>
            <p:nvPr/>
          </p:nvSpPr>
          <p:spPr>
            <a:xfrm>
              <a:off x="9454896" y="4781317"/>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11</a:t>
              </a:r>
            </a:p>
          </p:txBody>
        </p:sp>
        <p:sp>
          <p:nvSpPr>
            <p:cNvPr id="30" name="TextBox 29"/>
            <p:cNvSpPr txBox="1"/>
            <p:nvPr/>
          </p:nvSpPr>
          <p:spPr>
            <a:xfrm>
              <a:off x="10232136" y="4781317"/>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10.1%</a:t>
              </a:r>
            </a:p>
          </p:txBody>
        </p:sp>
        <p:sp>
          <p:nvSpPr>
            <p:cNvPr id="31" name="Rectangle 30"/>
            <p:cNvSpPr/>
            <p:nvPr/>
          </p:nvSpPr>
          <p:spPr>
            <a:xfrm>
              <a:off x="6492240" y="5061013"/>
              <a:ext cx="43891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Rectangle 31"/>
            <p:cNvSpPr/>
            <p:nvPr/>
          </p:nvSpPr>
          <p:spPr>
            <a:xfrm>
              <a:off x="6492240" y="5065776"/>
              <a:ext cx="4389120" cy="40233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TextBox 32"/>
            <p:cNvSpPr txBox="1"/>
            <p:nvPr/>
          </p:nvSpPr>
          <p:spPr>
            <a:xfrm>
              <a:off x="6620255" y="5183653"/>
              <a:ext cx="257860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External Factors</a:t>
              </a:r>
            </a:p>
          </p:txBody>
        </p:sp>
        <p:sp>
          <p:nvSpPr>
            <p:cNvPr id="34" name="TextBox 33"/>
            <p:cNvSpPr txBox="1"/>
            <p:nvPr/>
          </p:nvSpPr>
          <p:spPr>
            <a:xfrm>
              <a:off x="9454896" y="5183653"/>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10</a:t>
              </a:r>
            </a:p>
          </p:txBody>
        </p:sp>
        <p:sp>
          <p:nvSpPr>
            <p:cNvPr id="35" name="TextBox 34"/>
            <p:cNvSpPr txBox="1"/>
            <p:nvPr/>
          </p:nvSpPr>
          <p:spPr>
            <a:xfrm>
              <a:off x="10232136" y="5183653"/>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9.2%</a:t>
              </a:r>
            </a:p>
          </p:txBody>
        </p:sp>
        <p:sp>
          <p:nvSpPr>
            <p:cNvPr id="36" name="Rectangle 35"/>
            <p:cNvSpPr/>
            <p:nvPr/>
          </p:nvSpPr>
          <p:spPr>
            <a:xfrm>
              <a:off x="6492240" y="5463349"/>
              <a:ext cx="43891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p>
          </p:txBody>
        </p:sp>
      </p:grpSp>
      <p:grpSp>
        <p:nvGrpSpPr>
          <p:cNvPr id="44" name="Grupo 43">
            <a:extLst>
              <a:ext uri="{FF2B5EF4-FFF2-40B4-BE49-F238E27FC236}">
                <a16:creationId xmlns:a16="http://schemas.microsoft.com/office/drawing/2014/main" id="{CCACE839-D7B0-2B96-E068-AD2D94F96537}"/>
              </a:ext>
            </a:extLst>
          </p:cNvPr>
          <p:cNvGrpSpPr/>
          <p:nvPr/>
        </p:nvGrpSpPr>
        <p:grpSpPr>
          <a:xfrm>
            <a:off x="457199" y="4334255"/>
            <a:ext cx="5957467" cy="2228755"/>
            <a:chOff x="457199" y="4334255"/>
            <a:chExt cx="5957467" cy="2228755"/>
          </a:xfrm>
        </p:grpSpPr>
        <p:sp>
          <p:nvSpPr>
            <p:cNvPr id="37" name="Rectangle 36"/>
            <p:cNvSpPr/>
            <p:nvPr/>
          </p:nvSpPr>
          <p:spPr>
            <a:xfrm>
              <a:off x="457200" y="4334255"/>
              <a:ext cx="5957466" cy="2228755"/>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57199" y="4334256"/>
              <a:ext cx="54863" cy="222875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39" name="TextBox 38"/>
          <p:cNvSpPr txBox="1"/>
          <p:nvPr/>
        </p:nvSpPr>
        <p:spPr>
          <a:xfrm>
            <a:off x="768096" y="4517136"/>
            <a:ext cx="5239512" cy="199927"/>
          </a:xfrm>
          <a:prstGeom prst="rect">
            <a:avLst/>
          </a:prstGeom>
          <a:noFill/>
        </p:spPr>
        <p:txBody>
          <a:bodyPr wrap="square" lIns="0" tIns="0" rIns="0" bIns="0" anchor="t">
            <a:spAutoFit/>
          </a:bodyPr>
          <a:lstStyle/>
          <a:p>
            <a:pPr algn="l">
              <a:lnSpc>
                <a:spcPct val="115000"/>
              </a:lnSpc>
              <a:spcAft>
                <a:spcPts val="0"/>
              </a:spcAft>
            </a:pPr>
            <a:r>
              <a:rPr lang="en-US" sz="1200" b="1" dirty="0">
                <a:solidFill>
                  <a:srgbClr val="1A1A1A"/>
                </a:solidFill>
                <a:latin typeface="Inter"/>
              </a:rPr>
              <a:t>Does higher QA mean better customer outcomes?</a:t>
            </a:r>
          </a:p>
        </p:txBody>
      </p:sp>
      <p:sp>
        <p:nvSpPr>
          <p:cNvPr id="40" name="TextBox 39"/>
          <p:cNvSpPr txBox="1"/>
          <p:nvPr/>
        </p:nvSpPr>
        <p:spPr>
          <a:xfrm>
            <a:off x="-253727" y="4753833"/>
            <a:ext cx="6399717" cy="1621982"/>
          </a:xfrm>
          <a:prstGeom prst="rect">
            <a:avLst/>
          </a:prstGeom>
          <a:noFill/>
        </p:spPr>
        <p:txBody>
          <a:bodyPr wrap="square" lIns="0" tIns="0" rIns="0" bIns="0" anchor="t">
            <a:spAutoFit/>
          </a:bodyPr>
          <a:lstStyle/>
          <a:p>
            <a:pPr>
              <a:spcBef>
                <a:spcPts val="0"/>
              </a:spcBef>
              <a:spcAft>
                <a:spcPts val="0"/>
              </a:spcAft>
            </a:pPr>
            <a:endParaRPr lang="es-CO" sz="1400" dirty="0">
              <a:effectLst/>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050" b="1" kern="0" dirty="0">
                <a:effectLst/>
                <a:latin typeface="Arial" panose="020B0604020202020204" pitchFamily="34" charset="0"/>
                <a:ea typeface="Times New Roman" panose="02020603050405020304" pitchFamily="18" charset="0"/>
                <a:cs typeface="Times New Roman" panose="02020603050405020304" pitchFamily="18" charset="0"/>
              </a:rPr>
              <a:t>CSAT Correlation (r = -0.151, R2 = 0.023):</a:t>
            </a:r>
            <a:r>
              <a:rPr lang="en-US" sz="1050" kern="0" dirty="0">
                <a:effectLst/>
                <a:latin typeface="Arial" panose="020B0604020202020204" pitchFamily="34" charset="0"/>
                <a:ea typeface="Times New Roman" panose="02020603050405020304" pitchFamily="18" charset="0"/>
                <a:cs typeface="Times New Roman" panose="02020603050405020304" pitchFamily="18" charset="0"/>
              </a:rPr>
              <a:t> QA scores explain only 2.3% of CSAT variance across 45 contact reasons.</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050" b="1" kern="0" dirty="0">
                <a:effectLst/>
                <a:latin typeface="Arial" panose="020B0604020202020204" pitchFamily="34" charset="0"/>
                <a:ea typeface="Times New Roman" panose="02020603050405020304" pitchFamily="18" charset="0"/>
                <a:cs typeface="Times New Roman" panose="02020603050405020304" pitchFamily="18" charset="0"/>
              </a:rPr>
              <a:t>Recontact Correlation (r = -0.078):</a:t>
            </a:r>
            <a:r>
              <a:rPr lang="en-US" sz="1050" kern="0" dirty="0">
                <a:effectLst/>
                <a:latin typeface="Arial" panose="020B0604020202020204" pitchFamily="34" charset="0"/>
                <a:ea typeface="Times New Roman" panose="02020603050405020304" pitchFamily="18" charset="0"/>
                <a:cs typeface="Times New Roman" panose="02020603050405020304" pitchFamily="18" charset="0"/>
              </a:rPr>
              <a:t> QA compliance shows a slightly negative correlation with recontact reduction.</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050" b="1" kern="0" dirty="0">
                <a:effectLst/>
                <a:latin typeface="Arial" panose="020B0604020202020204" pitchFamily="34" charset="0"/>
                <a:ea typeface="Times New Roman" panose="02020603050405020304" pitchFamily="18" charset="0"/>
                <a:cs typeface="Times New Roman" panose="02020603050405020304" pitchFamily="18" charset="0"/>
              </a:rPr>
              <a:t>Strategic Conclusion:</a:t>
            </a:r>
            <a:r>
              <a:rPr lang="en-US" sz="1050" kern="0" dirty="0">
                <a:effectLst/>
                <a:latin typeface="Arial" panose="020B0604020202020204" pitchFamily="34" charset="0"/>
                <a:ea typeface="Times New Roman" panose="02020603050405020304" pitchFamily="18" charset="0"/>
                <a:cs typeface="Times New Roman" panose="02020603050405020304" pitchFamily="18" charset="0"/>
              </a:rPr>
              <a:t> Optimizing for current QA metrics will not shift CSAT or lower repeat contacts, as standard audits measure compliance rather than the process resolution required by customers.</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3" name="Rectángulo 42">
            <a:extLst>
              <a:ext uri="{FF2B5EF4-FFF2-40B4-BE49-F238E27FC236}">
                <a16:creationId xmlns:a16="http://schemas.microsoft.com/office/drawing/2014/main" id="{FC4C372A-12EF-A163-1F62-240833B5FB2C}"/>
              </a:ext>
            </a:extLst>
          </p:cNvPr>
          <p:cNvSpPr/>
          <p:nvPr/>
        </p:nvSpPr>
        <p:spPr>
          <a:xfrm>
            <a:off x="6469529" y="1252729"/>
            <a:ext cx="5190296" cy="4736591"/>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48840"/>
            <a:ext cx="2743200" cy="1005840"/>
          </a:xfrm>
          <a:prstGeom prst="rect">
            <a:avLst/>
          </a:prstGeom>
          <a:noFill/>
        </p:spPr>
        <p:txBody>
          <a:bodyPr wrap="square" lIns="0" tIns="0" rIns="0" bIns="0" anchor="t">
            <a:spAutoFit/>
          </a:bodyPr>
          <a:lstStyle/>
          <a:p>
            <a:pPr algn="l">
              <a:lnSpc>
                <a:spcPct val="115000"/>
              </a:lnSpc>
              <a:spcAft>
                <a:spcPts val="0"/>
              </a:spcAft>
            </a:pPr>
            <a:r>
              <a:rPr sz="6400" b="1">
                <a:solidFill>
                  <a:srgbClr val="FF6600"/>
                </a:solidFill>
                <a:latin typeface="Inter"/>
              </a:rPr>
              <a:t>03</a:t>
            </a:r>
          </a:p>
        </p:txBody>
      </p:sp>
      <p:sp>
        <p:nvSpPr>
          <p:cNvPr id="5" name="TextBox 4"/>
          <p:cNvSpPr txBox="1"/>
          <p:nvPr/>
        </p:nvSpPr>
        <p:spPr>
          <a:xfrm>
            <a:off x="1188720" y="3246120"/>
            <a:ext cx="8686800" cy="548640"/>
          </a:xfrm>
          <a:prstGeom prst="rect">
            <a:avLst/>
          </a:prstGeom>
          <a:noFill/>
        </p:spPr>
        <p:txBody>
          <a:bodyPr wrap="square" lIns="0" tIns="0" rIns="0" bIns="0" anchor="t">
            <a:spAutoFit/>
          </a:bodyPr>
          <a:lstStyle/>
          <a:p>
            <a:pPr algn="l">
              <a:lnSpc>
                <a:spcPct val="115000"/>
              </a:lnSpc>
              <a:spcAft>
                <a:spcPts val="0"/>
              </a:spcAft>
            </a:pPr>
            <a:r>
              <a:rPr sz="3000" b="1">
                <a:solidFill>
                  <a:srgbClr val="FFFFFF"/>
                </a:solidFill>
                <a:latin typeface="Inter"/>
              </a:rPr>
              <a:t>Recontact analysis</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4187952"/>
            <a:ext cx="7863840" cy="822960"/>
          </a:xfrm>
          <a:prstGeom prst="rect">
            <a:avLst/>
          </a:prstGeom>
          <a:noFill/>
        </p:spPr>
        <p:txBody>
          <a:bodyPr wrap="square" lIns="0" tIns="0" rIns="0" bIns="0" anchor="t">
            <a:spAutoFit/>
          </a:bodyPr>
          <a:lstStyle/>
          <a:p>
            <a:pPr algn="l">
              <a:lnSpc>
                <a:spcPct val="140000"/>
              </a:lnSpc>
              <a:spcAft>
                <a:spcPts val="0"/>
              </a:spcAft>
            </a:pPr>
            <a:r>
              <a:rPr sz="1300" b="0">
                <a:solidFill>
                  <a:srgbClr val="C9CCD1"/>
                </a:solidFill>
                <a:latin typeface="Inter"/>
              </a:rPr>
              <a:t>Rate against goal. Which channels and contact reasons drive repeat contacts.</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tIns="0" rIns="0" bIns="0" anchor="ctr">
            <a:spAutoFit/>
          </a:bodyPr>
          <a:lstStyle/>
          <a:p>
            <a:pPr algn="l">
              <a:lnSpc>
                <a:spcPct val="115000"/>
              </a:lnSpc>
              <a:spcAft>
                <a:spcPts val="0"/>
              </a:spcAft>
            </a:pPr>
            <a:r>
              <a:rPr sz="1500" b="1">
                <a:solidFill>
                  <a:srgbClr val="FFFFFF"/>
                </a:solidFill>
                <a:latin typeface="Inter"/>
              </a:rPr>
              <a:t>DiDi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Recontact analysis</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5.83% is global (all 12 channels) vs 5.44% goal  ·  Human channels (Phone + Chat): 15.56%</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18</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bar_rc_scope.png"/>
          <p:cNvPicPr>
            <a:picLocks noChangeAspect="1"/>
          </p:cNvPicPr>
          <p:nvPr/>
        </p:nvPicPr>
        <p:blipFill>
          <a:blip r:embed="rId3"/>
          <a:stretch>
            <a:fillRect/>
          </a:stretch>
        </p:blipFill>
        <p:spPr>
          <a:xfrm>
            <a:off x="621792" y="1017842"/>
            <a:ext cx="5127956" cy="2563978"/>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7644384" y="1235116"/>
            <a:ext cx="5394960" cy="219456"/>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Rate by channel: where customers contact us again</a:t>
            </a:r>
          </a:p>
        </p:txBody>
      </p:sp>
      <p:sp>
        <p:nvSpPr>
          <p:cNvPr id="13" name="Rectangle 12"/>
          <p:cNvSpPr/>
          <p:nvPr/>
        </p:nvSpPr>
        <p:spPr>
          <a:xfrm>
            <a:off x="6355080" y="1517904"/>
            <a:ext cx="5394960" cy="34747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355080" y="2281237"/>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355080" y="2286000"/>
            <a:ext cx="539496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355080" y="2701861"/>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355080" y="3122485"/>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355080" y="3127248"/>
            <a:ext cx="539496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355080" y="3543109"/>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0" name="Grupo 69">
            <a:extLst>
              <a:ext uri="{FF2B5EF4-FFF2-40B4-BE49-F238E27FC236}">
                <a16:creationId xmlns:a16="http://schemas.microsoft.com/office/drawing/2014/main" id="{84AC9143-0851-75BE-D900-A89D578DC19F}"/>
              </a:ext>
            </a:extLst>
          </p:cNvPr>
          <p:cNvGrpSpPr/>
          <p:nvPr/>
        </p:nvGrpSpPr>
        <p:grpSpPr>
          <a:xfrm>
            <a:off x="6483096" y="1616684"/>
            <a:ext cx="5138927" cy="2287803"/>
            <a:chOff x="6483096" y="1616684"/>
            <a:chExt cx="5138927" cy="2287803"/>
          </a:xfrm>
        </p:grpSpPr>
        <p:sp>
          <p:nvSpPr>
            <p:cNvPr id="14" name="TextBox 13"/>
            <p:cNvSpPr txBox="1"/>
            <p:nvPr/>
          </p:nvSpPr>
          <p:spPr>
            <a:xfrm>
              <a:off x="6483096" y="1616684"/>
              <a:ext cx="13441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FFFFFF"/>
                  </a:solidFill>
                  <a:latin typeface="Inter"/>
                </a:rPr>
                <a:t>Channel</a:t>
              </a:r>
            </a:p>
          </p:txBody>
        </p:sp>
        <p:sp>
          <p:nvSpPr>
            <p:cNvPr id="15" name="TextBox 14"/>
            <p:cNvSpPr txBox="1"/>
            <p:nvPr/>
          </p:nvSpPr>
          <p:spPr>
            <a:xfrm>
              <a:off x="8083296" y="1616684"/>
              <a:ext cx="704088" cy="149913"/>
            </a:xfrm>
            <a:prstGeom prst="rect">
              <a:avLst/>
            </a:prstGeom>
            <a:noFill/>
          </p:spPr>
          <p:txBody>
            <a:bodyPr wrap="square" lIns="0" tIns="0" rIns="0" bIns="0" anchor="ctr">
              <a:spAutoFit/>
            </a:bodyPr>
            <a:lstStyle/>
            <a:p>
              <a:pPr algn="ctr">
                <a:lnSpc>
                  <a:spcPct val="115000"/>
                </a:lnSpc>
                <a:spcAft>
                  <a:spcPts val="0"/>
                </a:spcAft>
              </a:pPr>
              <a:r>
                <a:rPr sz="900" b="1">
                  <a:solidFill>
                    <a:srgbClr val="FFFFFF"/>
                  </a:solidFill>
                  <a:latin typeface="Inter"/>
                </a:rPr>
                <a:t>Contacts</a:t>
              </a:r>
            </a:p>
          </p:txBody>
        </p:sp>
        <p:sp>
          <p:nvSpPr>
            <p:cNvPr id="16" name="TextBox 15"/>
            <p:cNvSpPr txBox="1"/>
            <p:nvPr/>
          </p:nvSpPr>
          <p:spPr>
            <a:xfrm>
              <a:off x="9043416" y="1616684"/>
              <a:ext cx="612647" cy="149913"/>
            </a:xfrm>
            <a:prstGeom prst="rect">
              <a:avLst/>
            </a:prstGeom>
            <a:noFill/>
          </p:spPr>
          <p:txBody>
            <a:bodyPr wrap="square" lIns="0" tIns="0" rIns="0" bIns="0" anchor="ctr">
              <a:spAutoFit/>
            </a:bodyPr>
            <a:lstStyle/>
            <a:p>
              <a:pPr algn="ctr">
                <a:lnSpc>
                  <a:spcPct val="115000"/>
                </a:lnSpc>
                <a:spcAft>
                  <a:spcPts val="0"/>
                </a:spcAft>
              </a:pPr>
              <a:r>
                <a:rPr sz="900" b="1">
                  <a:solidFill>
                    <a:srgbClr val="FFFFFF"/>
                  </a:solidFill>
                  <a:latin typeface="Inter"/>
                </a:rPr>
                <a:t>Repeats</a:t>
              </a:r>
            </a:p>
          </p:txBody>
        </p:sp>
        <p:sp>
          <p:nvSpPr>
            <p:cNvPr id="17" name="TextBox 16"/>
            <p:cNvSpPr txBox="1"/>
            <p:nvPr/>
          </p:nvSpPr>
          <p:spPr>
            <a:xfrm>
              <a:off x="9912096" y="1616684"/>
              <a:ext cx="4297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FFFFFF"/>
                  </a:solidFill>
                  <a:latin typeface="Inter"/>
                </a:rPr>
                <a:t>Rate</a:t>
              </a:r>
            </a:p>
          </p:txBody>
        </p:sp>
        <p:sp>
          <p:nvSpPr>
            <p:cNvPr id="18" name="TextBox 17"/>
            <p:cNvSpPr txBox="1"/>
            <p:nvPr/>
          </p:nvSpPr>
          <p:spPr>
            <a:xfrm>
              <a:off x="10597896" y="1616684"/>
              <a:ext cx="1024127" cy="149913"/>
            </a:xfrm>
            <a:prstGeom prst="rect">
              <a:avLst/>
            </a:prstGeom>
            <a:noFill/>
          </p:spPr>
          <p:txBody>
            <a:bodyPr wrap="square" lIns="0" tIns="0" rIns="0" bIns="0" anchor="ctr">
              <a:spAutoFit/>
            </a:bodyPr>
            <a:lstStyle/>
            <a:p>
              <a:pPr algn="ctr">
                <a:lnSpc>
                  <a:spcPct val="115000"/>
                </a:lnSpc>
                <a:spcAft>
                  <a:spcPts val="0"/>
                </a:spcAft>
              </a:pPr>
              <a:r>
                <a:rPr sz="900" b="1">
                  <a:solidFill>
                    <a:srgbClr val="FFFFFF"/>
                  </a:solidFill>
                  <a:latin typeface="Inter"/>
                </a:rPr>
                <a:t>Share of repeats</a:t>
              </a:r>
            </a:p>
          </p:txBody>
        </p:sp>
        <p:sp>
          <p:nvSpPr>
            <p:cNvPr id="19" name="TextBox 18"/>
            <p:cNvSpPr txBox="1"/>
            <p:nvPr/>
          </p:nvSpPr>
          <p:spPr>
            <a:xfrm>
              <a:off x="6483096" y="2000732"/>
              <a:ext cx="13441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1A1A1A"/>
                  </a:solidFill>
                  <a:latin typeface="Inter"/>
                </a:rPr>
                <a:t>Live Chat</a:t>
              </a:r>
            </a:p>
          </p:txBody>
        </p:sp>
        <p:sp>
          <p:nvSpPr>
            <p:cNvPr id="20" name="TextBox 19"/>
            <p:cNvSpPr txBox="1"/>
            <p:nvPr/>
          </p:nvSpPr>
          <p:spPr>
            <a:xfrm>
              <a:off x="8083296" y="2000732"/>
              <a:ext cx="70408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243,626</a:t>
              </a:r>
            </a:p>
          </p:txBody>
        </p:sp>
        <p:sp>
          <p:nvSpPr>
            <p:cNvPr id="21" name="TextBox 20"/>
            <p:cNvSpPr txBox="1"/>
            <p:nvPr/>
          </p:nvSpPr>
          <p:spPr>
            <a:xfrm>
              <a:off x="9043416" y="2000732"/>
              <a:ext cx="61264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38,961</a:t>
              </a:r>
            </a:p>
          </p:txBody>
        </p:sp>
        <p:sp>
          <p:nvSpPr>
            <p:cNvPr id="22" name="Rounded Rectangle 21"/>
            <p:cNvSpPr/>
            <p:nvPr/>
          </p:nvSpPr>
          <p:spPr>
            <a:xfrm>
              <a:off x="9848088" y="1929384"/>
              <a:ext cx="55778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TextBox 22"/>
            <p:cNvSpPr txBox="1"/>
            <p:nvPr/>
          </p:nvSpPr>
          <p:spPr>
            <a:xfrm>
              <a:off x="9912096" y="2000732"/>
              <a:ext cx="4297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15.99%</a:t>
              </a:r>
            </a:p>
          </p:txBody>
        </p:sp>
        <p:sp>
          <p:nvSpPr>
            <p:cNvPr id="24" name="TextBox 23"/>
            <p:cNvSpPr txBox="1"/>
            <p:nvPr/>
          </p:nvSpPr>
          <p:spPr>
            <a:xfrm>
              <a:off x="10597896" y="2000732"/>
              <a:ext cx="102412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67.2%</a:t>
              </a:r>
            </a:p>
          </p:txBody>
        </p:sp>
        <p:sp>
          <p:nvSpPr>
            <p:cNvPr id="27" name="TextBox 26"/>
            <p:cNvSpPr txBox="1"/>
            <p:nvPr/>
          </p:nvSpPr>
          <p:spPr>
            <a:xfrm>
              <a:off x="6483096" y="2421356"/>
              <a:ext cx="13441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1A1A1A"/>
                  </a:solidFill>
                  <a:latin typeface="Inter"/>
                </a:rPr>
                <a:t>Self Help</a:t>
              </a:r>
            </a:p>
          </p:txBody>
        </p:sp>
        <p:sp>
          <p:nvSpPr>
            <p:cNvPr id="28" name="TextBox 27"/>
            <p:cNvSpPr txBox="1"/>
            <p:nvPr/>
          </p:nvSpPr>
          <p:spPr>
            <a:xfrm>
              <a:off x="8083296" y="2421356"/>
              <a:ext cx="70408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666,650</a:t>
              </a:r>
            </a:p>
          </p:txBody>
        </p:sp>
        <p:sp>
          <p:nvSpPr>
            <p:cNvPr id="29" name="TextBox 28"/>
            <p:cNvSpPr txBox="1"/>
            <p:nvPr/>
          </p:nvSpPr>
          <p:spPr>
            <a:xfrm>
              <a:off x="9043416" y="2421356"/>
              <a:ext cx="61264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8,154</a:t>
              </a:r>
            </a:p>
          </p:txBody>
        </p:sp>
        <p:sp>
          <p:nvSpPr>
            <p:cNvPr id="30" name="Rounded Rectangle 29"/>
            <p:cNvSpPr/>
            <p:nvPr/>
          </p:nvSpPr>
          <p:spPr>
            <a:xfrm>
              <a:off x="9848088" y="2350008"/>
              <a:ext cx="557784" cy="292608"/>
            </a:xfrm>
            <a:prstGeom prst="roundRect">
              <a:avLst>
                <a:gd name="adj" fmla="val 15625"/>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1" name="TextBox 30"/>
            <p:cNvSpPr txBox="1"/>
            <p:nvPr/>
          </p:nvSpPr>
          <p:spPr>
            <a:xfrm>
              <a:off x="9912096" y="2421356"/>
              <a:ext cx="4297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16A34A"/>
                  </a:solidFill>
                  <a:latin typeface="Inter"/>
                </a:rPr>
                <a:t>1.22%</a:t>
              </a:r>
            </a:p>
          </p:txBody>
        </p:sp>
        <p:sp>
          <p:nvSpPr>
            <p:cNvPr id="32" name="TextBox 31"/>
            <p:cNvSpPr txBox="1"/>
            <p:nvPr/>
          </p:nvSpPr>
          <p:spPr>
            <a:xfrm>
              <a:off x="10597896" y="2421356"/>
              <a:ext cx="102412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14.1%</a:t>
              </a:r>
            </a:p>
          </p:txBody>
        </p:sp>
        <p:sp>
          <p:nvSpPr>
            <p:cNvPr id="34" name="TextBox 33"/>
            <p:cNvSpPr txBox="1"/>
            <p:nvPr/>
          </p:nvSpPr>
          <p:spPr>
            <a:xfrm>
              <a:off x="6483096" y="2841980"/>
              <a:ext cx="13441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1A1A1A"/>
                  </a:solidFill>
                  <a:latin typeface="Inter"/>
                </a:rPr>
                <a:t>Phone</a:t>
              </a:r>
            </a:p>
          </p:txBody>
        </p:sp>
        <p:sp>
          <p:nvSpPr>
            <p:cNvPr id="35" name="TextBox 34"/>
            <p:cNvSpPr txBox="1"/>
            <p:nvPr/>
          </p:nvSpPr>
          <p:spPr>
            <a:xfrm>
              <a:off x="8083296" y="2841980"/>
              <a:ext cx="70408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49,674</a:t>
              </a:r>
            </a:p>
          </p:txBody>
        </p:sp>
        <p:sp>
          <p:nvSpPr>
            <p:cNvPr id="36" name="TextBox 35"/>
            <p:cNvSpPr txBox="1"/>
            <p:nvPr/>
          </p:nvSpPr>
          <p:spPr>
            <a:xfrm>
              <a:off x="9043416" y="2841980"/>
              <a:ext cx="61264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6,690</a:t>
              </a:r>
            </a:p>
          </p:txBody>
        </p:sp>
        <p:sp>
          <p:nvSpPr>
            <p:cNvPr id="37" name="Rounded Rectangle 36"/>
            <p:cNvSpPr/>
            <p:nvPr/>
          </p:nvSpPr>
          <p:spPr>
            <a:xfrm>
              <a:off x="9848088" y="2770632"/>
              <a:ext cx="55778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8" name="TextBox 37"/>
            <p:cNvSpPr txBox="1"/>
            <p:nvPr/>
          </p:nvSpPr>
          <p:spPr>
            <a:xfrm>
              <a:off x="9912096" y="2841980"/>
              <a:ext cx="4297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13.47%</a:t>
              </a:r>
            </a:p>
          </p:txBody>
        </p:sp>
        <p:sp>
          <p:nvSpPr>
            <p:cNvPr id="39" name="TextBox 38"/>
            <p:cNvSpPr txBox="1"/>
            <p:nvPr/>
          </p:nvSpPr>
          <p:spPr>
            <a:xfrm>
              <a:off x="10597896" y="2841980"/>
              <a:ext cx="102412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11.5%</a:t>
              </a:r>
            </a:p>
          </p:txBody>
        </p:sp>
        <p:sp>
          <p:nvSpPr>
            <p:cNvPr id="42" name="TextBox 41"/>
            <p:cNvSpPr txBox="1"/>
            <p:nvPr/>
          </p:nvSpPr>
          <p:spPr>
            <a:xfrm>
              <a:off x="6483096" y="3262604"/>
              <a:ext cx="13441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1A1A1A"/>
                  </a:solidFill>
                  <a:latin typeface="Inter"/>
                </a:rPr>
                <a:t>GPTBot</a:t>
              </a:r>
            </a:p>
          </p:txBody>
        </p:sp>
        <p:sp>
          <p:nvSpPr>
            <p:cNvPr id="43" name="TextBox 42"/>
            <p:cNvSpPr txBox="1"/>
            <p:nvPr/>
          </p:nvSpPr>
          <p:spPr>
            <a:xfrm>
              <a:off x="8083296" y="3262604"/>
              <a:ext cx="70408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19,508</a:t>
              </a:r>
            </a:p>
          </p:txBody>
        </p:sp>
        <p:sp>
          <p:nvSpPr>
            <p:cNvPr id="44" name="TextBox 43"/>
            <p:cNvSpPr txBox="1"/>
            <p:nvPr/>
          </p:nvSpPr>
          <p:spPr>
            <a:xfrm>
              <a:off x="9043416" y="3262604"/>
              <a:ext cx="61264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2,679</a:t>
              </a:r>
            </a:p>
          </p:txBody>
        </p:sp>
        <p:sp>
          <p:nvSpPr>
            <p:cNvPr id="45" name="Rounded Rectangle 44"/>
            <p:cNvSpPr/>
            <p:nvPr/>
          </p:nvSpPr>
          <p:spPr>
            <a:xfrm>
              <a:off x="9848088" y="3191256"/>
              <a:ext cx="55778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6" name="TextBox 45"/>
            <p:cNvSpPr txBox="1"/>
            <p:nvPr/>
          </p:nvSpPr>
          <p:spPr>
            <a:xfrm>
              <a:off x="9912096" y="3262604"/>
              <a:ext cx="4297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13.73%</a:t>
              </a:r>
            </a:p>
          </p:txBody>
        </p:sp>
        <p:sp>
          <p:nvSpPr>
            <p:cNvPr id="47" name="TextBox 46"/>
            <p:cNvSpPr txBox="1"/>
            <p:nvPr/>
          </p:nvSpPr>
          <p:spPr>
            <a:xfrm>
              <a:off x="10597896" y="3262604"/>
              <a:ext cx="102412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4.6%</a:t>
              </a:r>
            </a:p>
          </p:txBody>
        </p:sp>
        <p:sp>
          <p:nvSpPr>
            <p:cNvPr id="49" name="TextBox 48"/>
            <p:cNvSpPr txBox="1"/>
            <p:nvPr/>
          </p:nvSpPr>
          <p:spPr>
            <a:xfrm>
              <a:off x="6483096" y="3683228"/>
              <a:ext cx="13441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1A1A1A"/>
                  </a:solidFill>
                  <a:latin typeface="Inter"/>
                </a:rPr>
                <a:t>Help Center</a:t>
              </a:r>
            </a:p>
          </p:txBody>
        </p:sp>
        <p:sp>
          <p:nvSpPr>
            <p:cNvPr id="50" name="TextBox 49"/>
            <p:cNvSpPr txBox="1"/>
            <p:nvPr/>
          </p:nvSpPr>
          <p:spPr>
            <a:xfrm>
              <a:off x="8083296" y="3683228"/>
              <a:ext cx="704088"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12,224</a:t>
              </a:r>
            </a:p>
          </p:txBody>
        </p:sp>
        <p:sp>
          <p:nvSpPr>
            <p:cNvPr id="51" name="TextBox 50"/>
            <p:cNvSpPr txBox="1"/>
            <p:nvPr/>
          </p:nvSpPr>
          <p:spPr>
            <a:xfrm>
              <a:off x="9043416" y="3683228"/>
              <a:ext cx="61264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941</a:t>
              </a:r>
            </a:p>
          </p:txBody>
        </p:sp>
        <p:sp>
          <p:nvSpPr>
            <p:cNvPr id="52" name="Rounded Rectangle 51"/>
            <p:cNvSpPr/>
            <p:nvPr/>
          </p:nvSpPr>
          <p:spPr>
            <a:xfrm>
              <a:off x="9848088" y="3611879"/>
              <a:ext cx="557784" cy="292608"/>
            </a:xfrm>
            <a:prstGeom prst="roundRect">
              <a:avLst>
                <a:gd name="adj" fmla="val 15625"/>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3" name="TextBox 52"/>
            <p:cNvSpPr txBox="1"/>
            <p:nvPr/>
          </p:nvSpPr>
          <p:spPr>
            <a:xfrm>
              <a:off x="9912096" y="3683228"/>
              <a:ext cx="429768" cy="149913"/>
            </a:xfrm>
            <a:prstGeom prst="rect">
              <a:avLst/>
            </a:prstGeom>
            <a:noFill/>
          </p:spPr>
          <p:txBody>
            <a:bodyPr wrap="square" lIns="0" tIns="0" rIns="0" bIns="0" anchor="ctr">
              <a:spAutoFit/>
            </a:bodyPr>
            <a:lstStyle/>
            <a:p>
              <a:pPr algn="ctr">
                <a:lnSpc>
                  <a:spcPct val="115000"/>
                </a:lnSpc>
                <a:spcAft>
                  <a:spcPts val="0"/>
                </a:spcAft>
              </a:pPr>
              <a:r>
                <a:rPr sz="900" b="1">
                  <a:solidFill>
                    <a:srgbClr val="F59E0B"/>
                  </a:solidFill>
                  <a:latin typeface="Inter"/>
                </a:rPr>
                <a:t>7.70%</a:t>
              </a:r>
            </a:p>
          </p:txBody>
        </p:sp>
        <p:sp>
          <p:nvSpPr>
            <p:cNvPr id="54" name="TextBox 53"/>
            <p:cNvSpPr txBox="1"/>
            <p:nvPr/>
          </p:nvSpPr>
          <p:spPr>
            <a:xfrm>
              <a:off x="10597896" y="3683228"/>
              <a:ext cx="1024127"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1.6%</a:t>
              </a:r>
            </a:p>
          </p:txBody>
        </p:sp>
      </p:grpSp>
      <p:sp>
        <p:nvSpPr>
          <p:cNvPr id="55" name="Rectangle 54"/>
          <p:cNvSpPr/>
          <p:nvPr/>
        </p:nvSpPr>
        <p:spPr>
          <a:xfrm>
            <a:off x="6355080" y="3963733"/>
            <a:ext cx="539496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55080" y="4206240"/>
            <a:ext cx="5394960" cy="174920"/>
          </a:xfrm>
          <a:prstGeom prst="rect">
            <a:avLst/>
          </a:prstGeom>
          <a:noFill/>
        </p:spPr>
        <p:txBody>
          <a:bodyPr wrap="square" lIns="0" tIns="0" rIns="0" bIns="0" anchor="t">
            <a:spAutoFit/>
          </a:bodyPr>
          <a:lstStyle/>
          <a:p>
            <a:pPr algn="l">
              <a:lnSpc>
                <a:spcPct val="115000"/>
              </a:lnSpc>
              <a:spcAft>
                <a:spcPts val="0"/>
              </a:spcAft>
            </a:pPr>
            <a:r>
              <a:rPr lang="es-CO" sz="1050" b="1" dirty="0"/>
              <a:t>Dual-</a:t>
            </a:r>
            <a:r>
              <a:rPr lang="es-CO" sz="1050" b="1" dirty="0" err="1"/>
              <a:t>Metric</a:t>
            </a:r>
            <a:r>
              <a:rPr lang="es-CO" sz="1050" b="1" dirty="0"/>
              <a:t> </a:t>
            </a:r>
            <a:r>
              <a:rPr lang="es-CO" sz="1050" b="1" dirty="0" err="1"/>
              <a:t>Governance</a:t>
            </a:r>
            <a:r>
              <a:rPr lang="es-CO" sz="1050" b="1" dirty="0"/>
              <a:t>: </a:t>
            </a:r>
            <a:r>
              <a:rPr lang="es-CO" sz="1050" b="1" dirty="0" err="1"/>
              <a:t>Reporting</a:t>
            </a:r>
            <a:r>
              <a:rPr lang="es-CO" sz="1050" b="1" dirty="0"/>
              <a:t> vs. </a:t>
            </a:r>
            <a:r>
              <a:rPr lang="es-CO" sz="1050" b="1" dirty="0" err="1"/>
              <a:t>Operational</a:t>
            </a:r>
            <a:r>
              <a:rPr lang="es-CO" sz="1050" b="1" dirty="0"/>
              <a:t> Performance</a:t>
            </a:r>
            <a:endParaRPr sz="1050" b="1" dirty="0">
              <a:solidFill>
                <a:srgbClr val="1A1A1A"/>
              </a:solidFill>
              <a:latin typeface="Inter"/>
            </a:endParaRPr>
          </a:p>
        </p:txBody>
      </p:sp>
      <p:sp>
        <p:nvSpPr>
          <p:cNvPr id="57" name="Rectangle 56"/>
          <p:cNvSpPr/>
          <p:nvPr/>
        </p:nvSpPr>
        <p:spPr>
          <a:xfrm>
            <a:off x="6355080" y="4585716"/>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592824" y="4489703"/>
            <a:ext cx="5157216" cy="378565"/>
          </a:xfrm>
          <a:prstGeom prst="rect">
            <a:avLst/>
          </a:prstGeom>
          <a:noFill/>
        </p:spPr>
        <p:txBody>
          <a:bodyPr wrap="square" lIns="0" tIns="0" rIns="0" bIns="0" anchor="t">
            <a:spAutoFit/>
          </a:bodyPr>
          <a:lstStyle/>
          <a:p>
            <a:pPr algn="l">
              <a:lnSpc>
                <a:spcPct val="128000"/>
              </a:lnSpc>
              <a:spcAft>
                <a:spcPts val="0"/>
              </a:spcAft>
            </a:pPr>
            <a:r>
              <a:rPr lang="en-US" sz="1000" b="1" dirty="0">
                <a:effectLst/>
                <a:latin typeface="Calibri" panose="020F0502020204030204" pitchFamily="34" charset="0"/>
                <a:ea typeface="Calibri" panose="020F0502020204030204" pitchFamily="34" charset="0"/>
                <a:cs typeface="Times New Roman" panose="02020603050405020304" pitchFamily="18" charset="0"/>
              </a:rPr>
              <a:t>Volume Skewing:</a:t>
            </a:r>
            <a:r>
              <a:rPr lang="en-US" sz="1000" dirty="0">
                <a:effectLst/>
                <a:latin typeface="Calibri" panose="020F0502020204030204" pitchFamily="34" charset="0"/>
                <a:ea typeface="Calibri" panose="020F0502020204030204" pitchFamily="34" charset="0"/>
                <a:cs typeface="Times New Roman" panose="02020603050405020304" pitchFamily="18" charset="0"/>
              </a:rPr>
              <a:t> Self-Service absorbs 67.0% of total volume with a 1.22% recontact rate, masking operational friction in human channels.</a:t>
            </a:r>
            <a:endParaRPr sz="950" b="0" dirty="0">
              <a:solidFill>
                <a:srgbClr val="4B5563"/>
              </a:solidFill>
              <a:latin typeface="Inter"/>
            </a:endParaRPr>
          </a:p>
        </p:txBody>
      </p:sp>
      <p:sp>
        <p:nvSpPr>
          <p:cNvPr id="59" name="Rectangle 58"/>
          <p:cNvSpPr/>
          <p:nvPr/>
        </p:nvSpPr>
        <p:spPr>
          <a:xfrm>
            <a:off x="6364224" y="5051870"/>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577279" y="4965890"/>
            <a:ext cx="5157216" cy="307777"/>
          </a:xfrm>
          <a:prstGeom prst="rect">
            <a:avLst/>
          </a:prstGeom>
          <a:noFill/>
        </p:spPr>
        <p:txBody>
          <a:bodyPr wrap="square" lIns="0" tIns="0" rIns="0" bIns="0" anchor="t">
            <a:spAutoFit/>
          </a:bodyPr>
          <a:lstStyle/>
          <a:p>
            <a:pPr marL="0" marR="0"/>
            <a:r>
              <a:rPr lang="en-US" sz="1000" b="1" dirty="0">
                <a:effectLst/>
                <a:ea typeface="Times New Roman" panose="02020603050405020304" pitchFamily="18" charset="0"/>
              </a:rPr>
              <a:t>1-in-6 Recontact Ratio:</a:t>
            </a:r>
            <a:r>
              <a:rPr lang="en-US" sz="1000" dirty="0">
                <a:effectLst/>
                <a:ea typeface="Times New Roman" panose="02020603050405020304" pitchFamily="18" charset="0"/>
              </a:rPr>
              <a:t> Human-assisted channels operate at </a:t>
            </a:r>
            <a:r>
              <a:rPr lang="en-US" sz="1000" b="1" dirty="0">
                <a:effectLst/>
                <a:ea typeface="Times New Roman" panose="02020603050405020304" pitchFamily="18" charset="0"/>
              </a:rPr>
              <a:t>15.56% recontact</a:t>
            </a:r>
            <a:r>
              <a:rPr lang="en-US" sz="1000" dirty="0">
                <a:effectLst/>
                <a:ea typeface="Times New Roman" panose="02020603050405020304" pitchFamily="18" charset="0"/>
              </a:rPr>
              <a:t>, meaning 1 out of every 6 customers contacting an agent requires a repeat interaction.</a:t>
            </a:r>
            <a:endParaRPr lang="es-CO" sz="1000" dirty="0">
              <a:effectLst/>
              <a:ea typeface="Times New Roman" panose="02020603050405020304" pitchFamily="18" charset="0"/>
            </a:endParaRPr>
          </a:p>
        </p:txBody>
      </p:sp>
      <p:sp>
        <p:nvSpPr>
          <p:cNvPr id="61" name="Rectangle 60"/>
          <p:cNvSpPr/>
          <p:nvPr/>
        </p:nvSpPr>
        <p:spPr>
          <a:xfrm>
            <a:off x="6364224" y="549996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577279" y="5363867"/>
            <a:ext cx="5157216" cy="307777"/>
          </a:xfrm>
          <a:prstGeom prst="rect">
            <a:avLst/>
          </a:prstGeom>
          <a:noFill/>
        </p:spPr>
        <p:txBody>
          <a:bodyPr wrap="square" lIns="0" tIns="0" rIns="0" bIns="0" anchor="t">
            <a:spAutoFit/>
          </a:bodyPr>
          <a:lstStyle/>
          <a:p>
            <a:pPr marL="0" marR="0"/>
            <a:r>
              <a:rPr lang="en-US" sz="1000" b="1" dirty="0">
                <a:effectLst/>
                <a:ea typeface="Times New Roman" panose="02020603050405020304" pitchFamily="18" charset="0"/>
              </a:rPr>
              <a:t>Digital</a:t>
            </a:r>
            <a:r>
              <a:rPr lang="en-US" sz="1000" b="1" dirty="0">
                <a:effectLst/>
                <a:latin typeface="Times New Roman" panose="02020603050405020304" pitchFamily="18" charset="0"/>
                <a:ea typeface="Times New Roman" panose="02020603050405020304" pitchFamily="18" charset="0"/>
              </a:rPr>
              <a:t> Channel Friction:</a:t>
            </a:r>
            <a:r>
              <a:rPr lang="en-US" sz="1000" dirty="0">
                <a:effectLst/>
                <a:latin typeface="Times New Roman" panose="02020603050405020304" pitchFamily="18" charset="0"/>
                <a:ea typeface="Times New Roman" panose="02020603050405020304" pitchFamily="18" charset="0"/>
              </a:rPr>
              <a:t> Live Chat (</a:t>
            </a:r>
            <a:r>
              <a:rPr lang="en-US" sz="1000" b="1" dirty="0">
                <a:effectLst/>
                <a:latin typeface="Times New Roman" panose="02020603050405020304" pitchFamily="18" charset="0"/>
                <a:ea typeface="Times New Roman" panose="02020603050405020304" pitchFamily="18" charset="0"/>
              </a:rPr>
              <a:t>15.99%</a:t>
            </a:r>
            <a:r>
              <a:rPr lang="en-US" sz="1000" dirty="0">
                <a:effectLst/>
                <a:latin typeface="Times New Roman" panose="02020603050405020304" pitchFamily="18" charset="0"/>
                <a:ea typeface="Times New Roman" panose="02020603050405020304" pitchFamily="18" charset="0"/>
              </a:rPr>
              <a:t>) and </a:t>
            </a:r>
            <a:r>
              <a:rPr lang="en-US" sz="1000" dirty="0" err="1">
                <a:effectLst/>
                <a:latin typeface="Times New Roman" panose="02020603050405020304" pitchFamily="18" charset="0"/>
                <a:ea typeface="Times New Roman" panose="02020603050405020304" pitchFamily="18" charset="0"/>
              </a:rPr>
              <a:t>GPTBot</a:t>
            </a:r>
            <a:r>
              <a:rPr lang="en-US" sz="1000" dirty="0">
                <a:effectLst/>
                <a:latin typeface="Times New Roman" panose="02020603050405020304" pitchFamily="18" charset="0"/>
                <a:ea typeface="Times New Roman" panose="02020603050405020304" pitchFamily="18" charset="0"/>
              </a:rPr>
              <a:t> (</a:t>
            </a:r>
            <a:r>
              <a:rPr lang="en-US" sz="1000" b="1" dirty="0">
                <a:effectLst/>
                <a:latin typeface="Times New Roman" panose="02020603050405020304" pitchFamily="18" charset="0"/>
                <a:ea typeface="Times New Roman" panose="02020603050405020304" pitchFamily="18" charset="0"/>
              </a:rPr>
              <a:t>13.73%</a:t>
            </a:r>
            <a:r>
              <a:rPr lang="en-US" sz="1000" dirty="0">
                <a:effectLst/>
                <a:latin typeface="Times New Roman" panose="02020603050405020304" pitchFamily="18" charset="0"/>
                <a:ea typeface="Times New Roman" panose="02020603050405020304" pitchFamily="18" charset="0"/>
              </a:rPr>
              <a:t>) exhibit higher recontact rates than Phone (</a:t>
            </a:r>
            <a:r>
              <a:rPr lang="en-US" sz="1000" b="1" dirty="0">
                <a:effectLst/>
                <a:latin typeface="Times New Roman" panose="02020603050405020304" pitchFamily="18" charset="0"/>
                <a:ea typeface="Times New Roman" panose="02020603050405020304" pitchFamily="18" charset="0"/>
              </a:rPr>
              <a:t>13.47%</a:t>
            </a:r>
            <a:r>
              <a:rPr lang="en-US" sz="1000" dirty="0">
                <a:effectLst/>
                <a:latin typeface="Times New Roman" panose="02020603050405020304" pitchFamily="18" charset="0"/>
                <a:ea typeface="Times New Roman" panose="02020603050405020304" pitchFamily="18" charset="0"/>
              </a:rPr>
              <a:t>), proving digital channels are the main source of repeat contact.</a:t>
            </a:r>
            <a:endParaRPr lang="es-CO" sz="1000" dirty="0">
              <a:effectLst/>
              <a:latin typeface="Times New Roman" panose="02020603050405020304" pitchFamily="18" charset="0"/>
              <a:ea typeface="Times New Roman" panose="02020603050405020304" pitchFamily="18" charset="0"/>
            </a:endParaRPr>
          </a:p>
        </p:txBody>
      </p:sp>
      <p:sp>
        <p:nvSpPr>
          <p:cNvPr id="63" name="Rectangle 62"/>
          <p:cNvSpPr/>
          <p:nvPr/>
        </p:nvSpPr>
        <p:spPr>
          <a:xfrm>
            <a:off x="457200" y="3749039"/>
            <a:ext cx="5669280" cy="1920240"/>
          </a:xfrm>
          <a:prstGeom prst="rect">
            <a:avLst/>
          </a:prstGeom>
          <a:solidFill>
            <a:srgbClr val="F4F5F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457200" y="3749039"/>
            <a:ext cx="38404" cy="192024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8174" y="3831146"/>
            <a:ext cx="5102352" cy="199927"/>
          </a:xfrm>
          <a:prstGeom prst="rect">
            <a:avLst/>
          </a:prstGeom>
          <a:noFill/>
        </p:spPr>
        <p:txBody>
          <a:bodyPr wrap="square" lIns="0" tIns="0" rIns="0" bIns="0" anchor="t">
            <a:spAutoFit/>
          </a:bodyPr>
          <a:lstStyle/>
          <a:p>
            <a:pPr algn="l">
              <a:lnSpc>
                <a:spcPct val="115000"/>
              </a:lnSpc>
              <a:spcAft>
                <a:spcPts val="0"/>
              </a:spcAft>
            </a:pPr>
            <a:r>
              <a:rPr lang="en-US" sz="1200" b="1" dirty="0"/>
              <a:t>Automation Masking Effect: Self-Help Disguises Human Channel Deficit</a:t>
            </a:r>
            <a:endParaRPr sz="1200" b="1" dirty="0">
              <a:solidFill>
                <a:srgbClr val="1A1A1A"/>
              </a:solidFill>
              <a:latin typeface="Inter"/>
            </a:endParaRPr>
          </a:p>
        </p:txBody>
      </p:sp>
      <p:sp>
        <p:nvSpPr>
          <p:cNvPr id="67" name="Rectangle 1">
            <a:extLst>
              <a:ext uri="{FF2B5EF4-FFF2-40B4-BE49-F238E27FC236}">
                <a16:creationId xmlns:a16="http://schemas.microsoft.com/office/drawing/2014/main" id="{AE1ACA4C-77D2-2431-E928-486B5CE1D15F}"/>
              </a:ext>
            </a:extLst>
          </p:cNvPr>
          <p:cNvSpPr>
            <a:spLocks noChangeArrowheads="1"/>
          </p:cNvSpPr>
          <p:nvPr/>
        </p:nvSpPr>
        <p:spPr bwMode="auto">
          <a:xfrm>
            <a:off x="555954" y="4165366"/>
            <a:ext cx="560039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rPr>
              <a:t>Metric</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Masking</a:t>
            </a:r>
            <a:r>
              <a:rPr kumimoji="0" lang="es-CO" altLang="es-CO" sz="1000" b="1" i="0" u="none" strike="noStrike" cap="none" normalizeH="0" baseline="0" dirty="0">
                <a:ln>
                  <a:noFill/>
                </a:ln>
                <a:solidFill>
                  <a:schemeClr val="tx1"/>
                </a:solidFill>
                <a:effectLst/>
              </a:rPr>
              <a: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Massive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Self</a:t>
            </a:r>
            <a:r>
              <a:rPr kumimoji="0" lang="es-CO" altLang="es-CO" sz="1000" b="0" i="0" u="none" strike="noStrike" cap="none" normalizeH="0" baseline="0" dirty="0">
                <a:ln>
                  <a:noFill/>
                </a:ln>
                <a:solidFill>
                  <a:schemeClr val="tx1"/>
                </a:solidFill>
                <a:effectLst/>
              </a:rPr>
              <a:t>-Help </a:t>
            </a:r>
            <a:r>
              <a:rPr kumimoji="0" lang="es-CO" altLang="es-CO" sz="1000" b="0" i="0" u="none" strike="noStrike" cap="none" normalizeH="0" baseline="0" dirty="0" err="1">
                <a:ln>
                  <a:noFill/>
                </a:ln>
                <a:solidFill>
                  <a:schemeClr val="tx1"/>
                </a:solidFill>
                <a:effectLst/>
              </a:rPr>
              <a:t>volume</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666.6k </a:t>
            </a:r>
            <a:r>
              <a:rPr kumimoji="0" lang="es-CO" altLang="es-CO" sz="1000" b="1" i="0" u="none" strike="noStrike" cap="none" normalizeH="0" baseline="0" dirty="0" err="1">
                <a:ln>
                  <a:noFill/>
                </a:ln>
                <a:solidFill>
                  <a:schemeClr val="tx1"/>
                </a:solidFill>
                <a:effectLst/>
              </a:rPr>
              <a:t>contacts</a:t>
            </a:r>
            <a:r>
              <a:rPr kumimoji="0" lang="es-CO" altLang="es-CO" sz="1000" b="1" i="0" u="none" strike="noStrike" cap="none" normalizeH="0" baseline="0" dirty="0">
                <a:ln>
                  <a:noFill/>
                </a:ln>
                <a:solidFill>
                  <a:schemeClr val="tx1"/>
                </a:solidFill>
                <a:effectLst/>
              </a:rPr>
              <a:t> / 67.0% share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maintains</a:t>
            </a:r>
            <a:r>
              <a:rPr kumimoji="0" lang="es-CO" altLang="es-CO" sz="1000" b="0" i="0" u="none" strike="noStrike" cap="none" normalizeH="0" baseline="0" dirty="0">
                <a:ln>
                  <a:noFill/>
                </a:ln>
                <a:solidFill>
                  <a:schemeClr val="tx1"/>
                </a:solidFill>
                <a:effectLst/>
              </a:rPr>
              <a:t> a </a:t>
            </a:r>
            <a:r>
              <a:rPr kumimoji="0" lang="es-CO" altLang="es-CO" sz="1000" b="0" i="0" u="none" strike="noStrike" cap="none" normalizeH="0" baseline="0" dirty="0" err="1">
                <a:ln>
                  <a:noFill/>
                </a:ln>
                <a:solidFill>
                  <a:schemeClr val="tx1"/>
                </a:solidFill>
                <a:effectLst/>
              </a:rPr>
              <a:t>low</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1.22% </a:t>
            </a:r>
            <a:r>
              <a:rPr kumimoji="0" lang="es-CO" altLang="es-CO" sz="1000" b="1" i="0" u="none" strike="noStrike" cap="none" normalizeH="0" baseline="0" dirty="0" err="1">
                <a:ln>
                  <a:noFill/>
                </a:ln>
                <a:solidFill>
                  <a:schemeClr val="tx1"/>
                </a:solidFill>
                <a:effectLst/>
              </a:rPr>
              <a:t>recontact</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rate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artificially</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keeping</a:t>
            </a:r>
            <a:r>
              <a:rPr kumimoji="0" lang="es-CO" altLang="es-CO" sz="1000" b="0" i="0" u="none" strike="noStrike" cap="none" normalizeH="0" baseline="0" dirty="0">
                <a:ln>
                  <a:noFill/>
                </a:ln>
                <a:solidFill>
                  <a:schemeClr val="tx1"/>
                </a:solidFill>
                <a:effectLst/>
              </a:rPr>
              <a:t> global </a:t>
            </a:r>
            <a:r>
              <a:rPr kumimoji="0" lang="es-CO" altLang="es-CO" sz="1000" b="0" i="0" u="none" strike="noStrike" cap="none" normalizeH="0" baseline="0" dirty="0" err="1">
                <a:ln>
                  <a:noFill/>
                </a:ln>
                <a:solidFill>
                  <a:schemeClr val="tx1"/>
                </a:solidFill>
                <a:effectLst/>
              </a:rPr>
              <a:t>business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reporting</a:t>
            </a:r>
            <a:r>
              <a:rPr kumimoji="0" lang="es-CO" altLang="es-CO" sz="1000" b="0" i="0" u="none" strike="noStrike" cap="none" normalizeH="0" baseline="0" dirty="0">
                <a:ln>
                  <a:noFill/>
                </a:ln>
                <a:solidFill>
                  <a:schemeClr val="tx1"/>
                </a:solidFill>
                <a:effectLst/>
              </a:rPr>
              <a:t> at </a:t>
            </a:r>
            <a:r>
              <a:rPr kumimoji="0" lang="es-CO" altLang="es-CO" sz="1000" b="1" i="0" u="none" strike="noStrike" cap="none" normalizeH="0" baseline="0" dirty="0">
                <a:ln>
                  <a:noFill/>
                </a:ln>
                <a:solidFill>
                  <a:schemeClr val="tx1"/>
                </a:solidFill>
                <a:effectLst/>
              </a:rPr>
              <a:t>5.83%</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near</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the</a:t>
            </a:r>
            <a:r>
              <a:rPr kumimoji="0" lang="es-CO" altLang="es-CO" sz="1000" b="0" i="0" u="none" strike="noStrike" cap="none" normalizeH="0" baseline="0" dirty="0">
                <a:ln>
                  <a:noFill/>
                </a:ln>
                <a:solidFill>
                  <a:schemeClr val="tx1"/>
                </a:solidFill>
                <a:effectLst/>
              </a:rPr>
              <a:t> 5.44% target).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rPr>
              <a:t>Assisted</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Channel</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Deficit</a:t>
            </a:r>
            <a:r>
              <a:rPr kumimoji="0" lang="es-CO" altLang="es-CO" sz="1000" b="1" i="0" u="none" strike="noStrike" cap="none" normalizeH="0" baseline="0" dirty="0">
                <a:ln>
                  <a:noFill/>
                </a:ln>
                <a:solidFill>
                  <a:schemeClr val="tx1"/>
                </a:solidFill>
                <a:effectLst/>
              </a:rPr>
              <a: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Removing</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Self</a:t>
            </a:r>
            <a:r>
              <a:rPr kumimoji="0" lang="es-CO" altLang="es-CO" sz="1000" b="0" i="0" u="none" strike="noStrike" cap="none" normalizeH="0" baseline="0" dirty="0">
                <a:ln>
                  <a:noFill/>
                </a:ln>
                <a:solidFill>
                  <a:schemeClr val="tx1"/>
                </a:solidFill>
                <a:effectLst/>
              </a:rPr>
              <a:t>-Help </a:t>
            </a:r>
            <a:r>
              <a:rPr kumimoji="0" lang="es-CO" altLang="es-CO" sz="1000" b="0" i="0" u="none" strike="noStrike" cap="none" normalizeH="0" baseline="0" dirty="0" err="1">
                <a:ln>
                  <a:noFill/>
                </a:ln>
                <a:solidFill>
                  <a:schemeClr val="tx1"/>
                </a:solidFill>
                <a:effectLst/>
              </a:rPr>
              <a:t>exposes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an</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assisted</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recontact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rate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of</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15.19%</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peaking</a:t>
            </a:r>
            <a:r>
              <a:rPr kumimoji="0" lang="es-CO" altLang="es-CO" sz="1000" b="0" i="0" u="none" strike="noStrike" cap="none" normalizeH="0" baseline="0" dirty="0">
                <a:ln>
                  <a:noFill/>
                </a:ln>
                <a:solidFill>
                  <a:schemeClr val="tx1"/>
                </a:solidFill>
                <a:effectLst/>
              </a:rPr>
              <a:t> at </a:t>
            </a:r>
            <a:r>
              <a:rPr kumimoji="0" lang="es-CO" altLang="es-CO" sz="1000" b="1" i="0" u="none" strike="noStrike" cap="none" normalizeH="0" baseline="0" dirty="0">
                <a:ln>
                  <a:noFill/>
                </a:ln>
                <a:solidFill>
                  <a:schemeClr val="tx1"/>
                </a:solidFill>
                <a:effectLst/>
              </a:rPr>
              <a:t>15.56% </a:t>
            </a:r>
            <a:r>
              <a:rPr kumimoji="0" lang="es-CO" altLang="es-CO" sz="1000" b="1" i="0" u="none" strike="noStrike" cap="none" normalizeH="0" baseline="0" dirty="0" err="1">
                <a:ln>
                  <a:noFill/>
                </a:ln>
                <a:solidFill>
                  <a:schemeClr val="tx1"/>
                </a:solidFill>
                <a:effectLst/>
              </a:rPr>
              <a:t>for</a:t>
            </a:r>
            <a:r>
              <a:rPr kumimoji="0" lang="es-CO" altLang="es-CO" sz="1000" b="1" i="0" u="none" strike="noStrike" cap="none" normalizeH="0" baseline="0" dirty="0">
                <a:ln>
                  <a:noFill/>
                </a:ln>
                <a:solidFill>
                  <a:schemeClr val="tx1"/>
                </a:solidFill>
                <a:effectLst/>
              </a:rPr>
              <a:t> human </a:t>
            </a:r>
            <a:r>
              <a:rPr kumimoji="0" lang="es-CO" altLang="es-CO" sz="1000" b="1" i="0" u="none" strike="noStrike" cap="none" normalizeH="0" baseline="0" dirty="0" err="1">
                <a:ln>
                  <a:noFill/>
                </a:ln>
                <a:solidFill>
                  <a:schemeClr val="tx1"/>
                </a:solidFill>
                <a:effectLst/>
              </a:rPr>
              <a:t>channels</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Phone</a:t>
            </a:r>
            <a:r>
              <a:rPr kumimoji="0" lang="es-CO" altLang="es-CO" sz="1000" b="0" i="0" u="none" strike="noStrike" cap="none" normalizeH="0" baseline="0" dirty="0">
                <a:ln>
                  <a:noFill/>
                </a:ln>
                <a:solidFill>
                  <a:schemeClr val="tx1"/>
                </a:solidFill>
                <a:effectLst/>
              </a:rPr>
              <a:t> + Live Chat)—</a:t>
            </a:r>
            <a:r>
              <a:rPr kumimoji="0" lang="es-CO" altLang="es-CO" sz="1000" b="0" i="0" u="none" strike="noStrike" cap="none" normalizeH="0" baseline="0" dirty="0" err="1">
                <a:ln>
                  <a:noFill/>
                </a:ln>
                <a:solidFill>
                  <a:schemeClr val="tx1"/>
                </a:solidFill>
                <a:effectLst/>
              </a:rPr>
              <a:t>nearly</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3x </a:t>
            </a:r>
            <a:r>
              <a:rPr kumimoji="0" lang="es-CO" altLang="es-CO" sz="1000" b="1" i="0" u="none" strike="noStrike" cap="none" normalizeH="0" baseline="0" dirty="0" err="1">
                <a:ln>
                  <a:noFill/>
                </a:ln>
                <a:solidFill>
                  <a:schemeClr val="tx1"/>
                </a:solidFill>
                <a:effectLst/>
              </a:rPr>
              <a:t>the</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maximum</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operational</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tolerance</a:t>
            </a:r>
            <a:r>
              <a:rPr kumimoji="0" lang="es-CO" altLang="es-CO" sz="1000" b="1" i="0" u="none" strike="noStrike" cap="none" normalizeH="0" baseline="0" dirty="0">
                <a:ln>
                  <a:noFill/>
                </a:ln>
                <a:solidFill>
                  <a:schemeClr val="tx1"/>
                </a:solidFill>
                <a:effectLst/>
              </a:rPr>
              <a:t> (5.44%)</a:t>
            </a:r>
            <a:r>
              <a:rPr kumimoji="0" lang="es-CO" altLang="es-CO" sz="10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rPr>
              <a:t>Volume</a:t>
            </a:r>
            <a:r>
              <a:rPr kumimoji="0" lang="es-CO" altLang="es-CO" sz="1000" b="1" i="0" u="none" strike="noStrike" cap="none" normalizeH="0" baseline="0" dirty="0">
                <a:ln>
                  <a:noFill/>
                </a:ln>
                <a:solidFill>
                  <a:schemeClr val="tx1"/>
                </a:solidFill>
                <a:effectLst/>
              </a:rPr>
              <a:t> Driver:</a:t>
            </a:r>
            <a:r>
              <a:rPr kumimoji="0" lang="es-CO" altLang="es-CO" sz="1000" b="0" i="0" u="none" strike="noStrike" cap="none" normalizeH="0" baseline="0" dirty="0">
                <a:ln>
                  <a:noFill/>
                </a:ln>
                <a:solidFill>
                  <a:schemeClr val="tx1"/>
                </a:solidFill>
                <a:effectLst/>
              </a:rPr>
              <a:t> Live Chat single-</a:t>
            </a:r>
            <a:r>
              <a:rPr kumimoji="0" lang="es-CO" altLang="es-CO" sz="1000" b="0" i="0" u="none" strike="noStrike" cap="none" normalizeH="0" baseline="0" dirty="0" err="1">
                <a:ln>
                  <a:noFill/>
                </a:ln>
                <a:solidFill>
                  <a:schemeClr val="tx1"/>
                </a:solidFill>
                <a:effectLst/>
              </a:rPr>
              <a:t>handedly</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generates</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67.2% </a:t>
            </a:r>
            <a:r>
              <a:rPr kumimoji="0" lang="es-CO" altLang="es-CO" sz="1000" b="1" i="0" u="none" strike="noStrike" cap="none" normalizeH="0" baseline="0" dirty="0" err="1">
                <a:ln>
                  <a:noFill/>
                </a:ln>
                <a:solidFill>
                  <a:schemeClr val="tx1"/>
                </a:solidFill>
                <a:effectLst/>
              </a:rPr>
              <a:t>of</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all</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repeat</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contacts</a:t>
            </a:r>
            <a:r>
              <a:rPr kumimoji="0" lang="es-CO" altLang="es-CO" sz="1000" b="0" i="0" u="none" strike="noStrike" cap="none" normalizeH="0" baseline="0" dirty="0">
                <a:ln>
                  <a:noFill/>
                </a:ln>
                <a:solidFill>
                  <a:schemeClr val="tx1"/>
                </a:solidFill>
                <a:effectLst/>
              </a:rPr>
              <a:t> in </a:t>
            </a:r>
            <a:r>
              <a:rPr kumimoji="0" lang="es-CO" altLang="es-CO" sz="1000" b="0" i="0" u="none" strike="noStrike" cap="none" normalizeH="0" baseline="0" dirty="0" err="1">
                <a:ln>
                  <a:noFill/>
                </a:ln>
                <a:solidFill>
                  <a:schemeClr val="tx1"/>
                </a:solidFill>
                <a:effectLst/>
              </a:rPr>
              <a:t>the</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business</a:t>
            </a:r>
            <a:r>
              <a:rPr kumimoji="0" lang="es-CO" altLang="es-CO" sz="1000" b="0" i="0" u="none" strike="noStrike" cap="none" normalizeH="0" baseline="0" dirty="0">
                <a:ln>
                  <a:noFill/>
                </a:ln>
                <a:solidFill>
                  <a:schemeClr val="tx1"/>
                </a:solidFill>
                <a:effectLst/>
              </a:rPr>
              <a:t> (38,961 </a:t>
            </a:r>
            <a:r>
              <a:rPr kumimoji="0" lang="es-CO" altLang="es-CO" sz="1000" b="0" i="0" u="none" strike="noStrike" cap="none" normalizeH="0" baseline="0" dirty="0" err="1">
                <a:ln>
                  <a:noFill/>
                </a:ln>
                <a:solidFill>
                  <a:schemeClr val="tx1"/>
                </a:solidFill>
                <a:effectLst/>
              </a:rPr>
              <a:t>repeat</a:t>
            </a:r>
            <a:r>
              <a:rPr kumimoji="0" lang="es-CO" altLang="es-CO" sz="1000" b="0" i="0" u="none" strike="noStrike" cap="none" normalizeH="0" baseline="0" dirty="0">
                <a:ln>
                  <a:noFill/>
                </a:ln>
                <a:solidFill>
                  <a:schemeClr val="tx1"/>
                </a:solidFill>
                <a:effectLst/>
              </a:rPr>
              <a:t> cases).</a:t>
            </a:r>
          </a:p>
        </p:txBody>
      </p:sp>
      <p:sp>
        <p:nvSpPr>
          <p:cNvPr id="71" name="Rectángulo 70">
            <a:extLst>
              <a:ext uri="{FF2B5EF4-FFF2-40B4-BE49-F238E27FC236}">
                <a16:creationId xmlns:a16="http://schemas.microsoft.com/office/drawing/2014/main" id="{D8429666-46BD-2437-6872-29C3233945EC}"/>
              </a:ext>
            </a:extLst>
          </p:cNvPr>
          <p:cNvSpPr/>
          <p:nvPr/>
        </p:nvSpPr>
        <p:spPr>
          <a:xfrm>
            <a:off x="6239256" y="1068639"/>
            <a:ext cx="5669280" cy="4920682"/>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Recontact by contact reason</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Granular recontact driver analysis: Pareto concentration, friction rate isolation, and QA/CSAT metric decoupling.</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19</a:t>
            </a:r>
          </a:p>
        </p:txBody>
      </p:sp>
      <p:sp>
        <p:nvSpPr>
          <p:cNvPr id="10" name="TextBox 9"/>
          <p:cNvSpPr txBox="1"/>
          <p:nvPr/>
        </p:nvSpPr>
        <p:spPr>
          <a:xfrm>
            <a:off x="344729" y="6754922"/>
            <a:ext cx="11277295" cy="219456"/>
          </a:xfrm>
          <a:prstGeom prst="rect">
            <a:avLst/>
          </a:prstGeom>
          <a:noFill/>
        </p:spPr>
        <p:txBody>
          <a:bodyPr wrap="square" lIns="0" tIns="0" rIns="0" bIns="0" anchor="t">
            <a:spAutoFit/>
          </a:bodyPr>
          <a:lstStyle/>
          <a:p>
            <a:pPr algn="l">
              <a:lnSpc>
                <a:spcPct val="115000"/>
              </a:lnSpc>
              <a:spcAft>
                <a:spcPts val="0"/>
              </a:spcAft>
            </a:pPr>
            <a:r>
              <a:rPr sz="750" b="0" dirty="0" err="1">
                <a:solidFill>
                  <a:srgbClr val="9CA3AF"/>
                </a:solidFill>
                <a:latin typeface="Inter"/>
              </a:rPr>
              <a:t>DiDi</a:t>
            </a:r>
            <a:r>
              <a:rPr sz="750" b="0" dirty="0">
                <a:solidFill>
                  <a:srgbClr val="9CA3AF"/>
                </a:solidFill>
                <a:latin typeface="Inter"/>
              </a:rPr>
              <a:t> Global, CX Service Operations   |   Confidential. Internal use only</a:t>
            </a:r>
          </a:p>
        </p:txBody>
      </p:sp>
      <p:pic>
        <p:nvPicPr>
          <p:cNvPr id="11" name="Picture 10" descr="pareto_recontact.png"/>
          <p:cNvPicPr>
            <a:picLocks noChangeAspect="1"/>
          </p:cNvPicPr>
          <p:nvPr/>
        </p:nvPicPr>
        <p:blipFill>
          <a:blip r:embed="rId3"/>
          <a:stretch>
            <a:fillRect/>
          </a:stretch>
        </p:blipFill>
        <p:spPr>
          <a:xfrm>
            <a:off x="434451" y="1176226"/>
            <a:ext cx="5920681" cy="3546951"/>
          </a:xfrm>
          <a:prstGeom prst="rect">
            <a:avLst/>
          </a:prstGeom>
        </p:spPr>
      </p:pic>
      <p:sp>
        <p:nvSpPr>
          <p:cNvPr id="12" name="TextBox 11"/>
          <p:cNvSpPr txBox="1"/>
          <p:nvPr/>
        </p:nvSpPr>
        <p:spPr>
          <a:xfrm>
            <a:off x="8608722" y="1326356"/>
            <a:ext cx="4434840" cy="219456"/>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Highest recontact rates</a:t>
            </a:r>
          </a:p>
        </p:txBody>
      </p:sp>
      <p:grpSp>
        <p:nvGrpSpPr>
          <p:cNvPr id="85" name="Grupo 84">
            <a:extLst>
              <a:ext uri="{FF2B5EF4-FFF2-40B4-BE49-F238E27FC236}">
                <a16:creationId xmlns:a16="http://schemas.microsoft.com/office/drawing/2014/main" id="{DD40738B-9706-E291-5246-CC07A565C70B}"/>
              </a:ext>
            </a:extLst>
          </p:cNvPr>
          <p:cNvGrpSpPr/>
          <p:nvPr/>
        </p:nvGrpSpPr>
        <p:grpSpPr>
          <a:xfrm>
            <a:off x="6865620" y="1588312"/>
            <a:ext cx="4910023" cy="2601631"/>
            <a:chOff x="7315200" y="1517904"/>
            <a:chExt cx="4460443" cy="2672040"/>
          </a:xfrm>
        </p:grpSpPr>
        <p:sp>
          <p:nvSpPr>
            <p:cNvPr id="13" name="Rectangle 12"/>
            <p:cNvSpPr/>
            <p:nvPr/>
          </p:nvSpPr>
          <p:spPr>
            <a:xfrm>
              <a:off x="7315200" y="1517904"/>
              <a:ext cx="443484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7443216" y="1599205"/>
              <a:ext cx="1280160"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Contact reason</a:t>
              </a:r>
            </a:p>
          </p:txBody>
        </p:sp>
        <p:sp>
          <p:nvSpPr>
            <p:cNvPr id="15" name="TextBox 14"/>
            <p:cNvSpPr txBox="1"/>
            <p:nvPr/>
          </p:nvSpPr>
          <p:spPr>
            <a:xfrm>
              <a:off x="8979408" y="1599205"/>
              <a:ext cx="457200"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Contacts</a:t>
              </a:r>
            </a:p>
          </p:txBody>
        </p:sp>
        <p:sp>
          <p:nvSpPr>
            <p:cNvPr id="16" name="TextBox 15"/>
            <p:cNvSpPr txBox="1"/>
            <p:nvPr/>
          </p:nvSpPr>
          <p:spPr>
            <a:xfrm>
              <a:off x="9692640" y="1599205"/>
              <a:ext cx="457200" cy="166584"/>
            </a:xfrm>
            <a:prstGeom prst="rect">
              <a:avLst/>
            </a:prstGeom>
            <a:noFill/>
          </p:spPr>
          <p:txBody>
            <a:bodyPr wrap="square" lIns="0" tIns="0" rIns="0" bIns="0" anchor="ctr">
              <a:spAutoFit/>
            </a:bodyPr>
            <a:lstStyle/>
            <a:p>
              <a:pPr algn="ctr">
                <a:lnSpc>
                  <a:spcPct val="115000"/>
                </a:lnSpc>
                <a:spcAft>
                  <a:spcPts val="0"/>
                </a:spcAft>
              </a:pPr>
              <a:r>
                <a:rPr sz="1000" b="1" dirty="0">
                  <a:solidFill>
                    <a:srgbClr val="FFFFFF"/>
                  </a:solidFill>
                  <a:latin typeface="Inter"/>
                </a:rPr>
                <a:t>Repeats</a:t>
              </a:r>
            </a:p>
          </p:txBody>
        </p:sp>
        <p:sp>
          <p:nvSpPr>
            <p:cNvPr id="17" name="TextBox 16"/>
            <p:cNvSpPr txBox="1"/>
            <p:nvPr/>
          </p:nvSpPr>
          <p:spPr>
            <a:xfrm>
              <a:off x="10351008" y="1599205"/>
              <a:ext cx="310896"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Rate</a:t>
              </a:r>
            </a:p>
          </p:txBody>
        </p:sp>
        <p:sp>
          <p:nvSpPr>
            <p:cNvPr id="18" name="TextBox 17"/>
            <p:cNvSpPr txBox="1"/>
            <p:nvPr/>
          </p:nvSpPr>
          <p:spPr>
            <a:xfrm>
              <a:off x="10917936" y="1599205"/>
              <a:ext cx="70408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Status</a:t>
              </a:r>
            </a:p>
          </p:txBody>
        </p:sp>
        <p:sp>
          <p:nvSpPr>
            <p:cNvPr id="19" name="TextBox 18"/>
            <p:cNvSpPr txBox="1"/>
            <p:nvPr/>
          </p:nvSpPr>
          <p:spPr>
            <a:xfrm>
              <a:off x="7443216" y="1982444"/>
              <a:ext cx="128016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After-sales fraud review</a:t>
              </a:r>
            </a:p>
          </p:txBody>
        </p:sp>
        <p:sp>
          <p:nvSpPr>
            <p:cNvPr id="20" name="TextBox 19"/>
            <p:cNvSpPr txBox="1"/>
            <p:nvPr/>
          </p:nvSpPr>
          <p:spPr>
            <a:xfrm>
              <a:off x="8979408" y="1982444"/>
              <a:ext cx="45720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3,146</a:t>
              </a:r>
            </a:p>
          </p:txBody>
        </p:sp>
        <p:sp>
          <p:nvSpPr>
            <p:cNvPr id="21" name="TextBox 20"/>
            <p:cNvSpPr txBox="1"/>
            <p:nvPr/>
          </p:nvSpPr>
          <p:spPr>
            <a:xfrm>
              <a:off x="9692640" y="1982444"/>
              <a:ext cx="402335"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895</a:t>
              </a:r>
            </a:p>
          </p:txBody>
        </p:sp>
        <p:sp>
          <p:nvSpPr>
            <p:cNvPr id="22" name="Rounded Rectangle 21"/>
            <p:cNvSpPr/>
            <p:nvPr/>
          </p:nvSpPr>
          <p:spPr>
            <a:xfrm>
              <a:off x="10287000" y="1911095"/>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TextBox 22"/>
            <p:cNvSpPr txBox="1"/>
            <p:nvPr/>
          </p:nvSpPr>
          <p:spPr>
            <a:xfrm>
              <a:off x="10351009" y="1952867"/>
              <a:ext cx="374904" cy="153970"/>
            </a:xfrm>
            <a:prstGeom prst="rect">
              <a:avLst/>
            </a:prstGeom>
            <a:noFill/>
          </p:spPr>
          <p:txBody>
            <a:bodyPr wrap="square" lIns="0" tIns="0" rIns="0" bIns="0" anchor="ctr">
              <a:spAutoFit/>
            </a:bodyPr>
            <a:lstStyle/>
            <a:p>
              <a:pPr algn="ctr">
                <a:lnSpc>
                  <a:spcPct val="115000"/>
                </a:lnSpc>
                <a:spcAft>
                  <a:spcPts val="0"/>
                </a:spcAft>
              </a:pPr>
              <a:r>
                <a:rPr sz="900" b="1" dirty="0">
                  <a:solidFill>
                    <a:srgbClr val="E11D2E"/>
                  </a:solidFill>
                  <a:latin typeface="Inter"/>
                </a:rPr>
                <a:t>28.45%</a:t>
              </a:r>
            </a:p>
          </p:txBody>
        </p:sp>
        <p:sp>
          <p:nvSpPr>
            <p:cNvPr id="24" name="Rounded Rectangle 23"/>
            <p:cNvSpPr/>
            <p:nvPr/>
          </p:nvSpPr>
          <p:spPr>
            <a:xfrm>
              <a:off x="10917936" y="1920240"/>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Oval 24"/>
            <p:cNvSpPr/>
            <p:nvPr/>
          </p:nvSpPr>
          <p:spPr>
            <a:xfrm>
              <a:off x="11027664" y="2007107"/>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TextBox 25"/>
            <p:cNvSpPr txBox="1"/>
            <p:nvPr/>
          </p:nvSpPr>
          <p:spPr>
            <a:xfrm>
              <a:off x="11192256" y="1982444"/>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27" name="Rectangle 26"/>
            <p:cNvSpPr/>
            <p:nvPr/>
          </p:nvSpPr>
          <p:spPr>
            <a:xfrm>
              <a:off x="7315200" y="2262949"/>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Rectangle 27"/>
            <p:cNvSpPr/>
            <p:nvPr/>
          </p:nvSpPr>
          <p:spPr>
            <a:xfrm>
              <a:off x="7315200" y="2267712"/>
              <a:ext cx="443484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p:cNvSpPr txBox="1"/>
            <p:nvPr/>
          </p:nvSpPr>
          <p:spPr>
            <a:xfrm>
              <a:off x="7443216" y="2403068"/>
              <a:ext cx="128016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Cash order blocked (ant…</a:t>
              </a:r>
            </a:p>
          </p:txBody>
        </p:sp>
        <p:sp>
          <p:nvSpPr>
            <p:cNvPr id="30" name="TextBox 29"/>
            <p:cNvSpPr txBox="1"/>
            <p:nvPr/>
          </p:nvSpPr>
          <p:spPr>
            <a:xfrm>
              <a:off x="8979408" y="2403068"/>
              <a:ext cx="45720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7,278</a:t>
              </a:r>
            </a:p>
          </p:txBody>
        </p:sp>
        <p:sp>
          <p:nvSpPr>
            <p:cNvPr id="31" name="TextBox 30"/>
            <p:cNvSpPr txBox="1"/>
            <p:nvPr/>
          </p:nvSpPr>
          <p:spPr>
            <a:xfrm>
              <a:off x="9692640" y="2403068"/>
              <a:ext cx="402335"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1,776</a:t>
              </a:r>
            </a:p>
          </p:txBody>
        </p:sp>
        <p:sp>
          <p:nvSpPr>
            <p:cNvPr id="32" name="Rounded Rectangle 31"/>
            <p:cNvSpPr/>
            <p:nvPr/>
          </p:nvSpPr>
          <p:spPr>
            <a:xfrm>
              <a:off x="10287000" y="2331720"/>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TextBox 32"/>
            <p:cNvSpPr txBox="1"/>
            <p:nvPr/>
          </p:nvSpPr>
          <p:spPr>
            <a:xfrm>
              <a:off x="10351008" y="2323431"/>
              <a:ext cx="310896" cy="309187"/>
            </a:xfrm>
            <a:prstGeom prst="rect">
              <a:avLst/>
            </a:prstGeom>
            <a:noFill/>
          </p:spPr>
          <p:txBody>
            <a:bodyPr wrap="square" lIns="0" tIns="0" rIns="0" bIns="0" anchor="ctr">
              <a:spAutoFit/>
            </a:bodyPr>
            <a:lstStyle/>
            <a:p>
              <a:pPr algn="ctr">
                <a:lnSpc>
                  <a:spcPct val="115000"/>
                </a:lnSpc>
                <a:spcAft>
                  <a:spcPts val="0"/>
                </a:spcAft>
              </a:pPr>
              <a:r>
                <a:rPr sz="900" b="1" dirty="0">
                  <a:solidFill>
                    <a:srgbClr val="E11D2E"/>
                  </a:solidFill>
                  <a:latin typeface="Inter"/>
                </a:rPr>
                <a:t>24.40%</a:t>
              </a:r>
            </a:p>
          </p:txBody>
        </p:sp>
        <p:sp>
          <p:nvSpPr>
            <p:cNvPr id="34" name="Rounded Rectangle 33"/>
            <p:cNvSpPr/>
            <p:nvPr/>
          </p:nvSpPr>
          <p:spPr>
            <a:xfrm>
              <a:off x="10917936" y="2340864"/>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Oval 34"/>
            <p:cNvSpPr/>
            <p:nvPr/>
          </p:nvSpPr>
          <p:spPr>
            <a:xfrm>
              <a:off x="11027664" y="2427732"/>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TextBox 35"/>
            <p:cNvSpPr txBox="1"/>
            <p:nvPr/>
          </p:nvSpPr>
          <p:spPr>
            <a:xfrm>
              <a:off x="11192256" y="2403068"/>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37" name="Rectangle 36"/>
            <p:cNvSpPr/>
            <p:nvPr/>
          </p:nvSpPr>
          <p:spPr>
            <a:xfrm>
              <a:off x="7315200" y="2683573"/>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8" name="TextBox 37"/>
            <p:cNvSpPr txBox="1"/>
            <p:nvPr/>
          </p:nvSpPr>
          <p:spPr>
            <a:xfrm>
              <a:off x="7443216" y="2823692"/>
              <a:ext cx="128016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order status &amp; delays</a:t>
              </a:r>
            </a:p>
          </p:txBody>
        </p:sp>
        <p:sp>
          <p:nvSpPr>
            <p:cNvPr id="39" name="TextBox 38"/>
            <p:cNvSpPr txBox="1"/>
            <p:nvPr/>
          </p:nvSpPr>
          <p:spPr>
            <a:xfrm>
              <a:off x="8979408" y="2823692"/>
              <a:ext cx="45720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39,706</a:t>
              </a:r>
            </a:p>
          </p:txBody>
        </p:sp>
        <p:sp>
          <p:nvSpPr>
            <p:cNvPr id="40" name="TextBox 39"/>
            <p:cNvSpPr txBox="1"/>
            <p:nvPr/>
          </p:nvSpPr>
          <p:spPr>
            <a:xfrm>
              <a:off x="9692640" y="2823692"/>
              <a:ext cx="402335"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7,680</a:t>
              </a:r>
            </a:p>
          </p:txBody>
        </p:sp>
        <p:sp>
          <p:nvSpPr>
            <p:cNvPr id="41" name="Rounded Rectangle 40"/>
            <p:cNvSpPr/>
            <p:nvPr/>
          </p:nvSpPr>
          <p:spPr>
            <a:xfrm>
              <a:off x="10287000" y="2752344"/>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2" name="TextBox 41"/>
            <p:cNvSpPr txBox="1"/>
            <p:nvPr/>
          </p:nvSpPr>
          <p:spPr>
            <a:xfrm>
              <a:off x="10351008" y="2744055"/>
              <a:ext cx="310896" cy="309187"/>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19.34%</a:t>
              </a:r>
            </a:p>
          </p:txBody>
        </p:sp>
        <p:sp>
          <p:nvSpPr>
            <p:cNvPr id="43" name="Rounded Rectangle 42"/>
            <p:cNvSpPr/>
            <p:nvPr/>
          </p:nvSpPr>
          <p:spPr>
            <a:xfrm>
              <a:off x="10917936" y="276148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Oval 43"/>
            <p:cNvSpPr/>
            <p:nvPr/>
          </p:nvSpPr>
          <p:spPr>
            <a:xfrm>
              <a:off x="11027664" y="284835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5" name="TextBox 44"/>
            <p:cNvSpPr txBox="1"/>
            <p:nvPr/>
          </p:nvSpPr>
          <p:spPr>
            <a:xfrm>
              <a:off x="11192256" y="2823692"/>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46" name="Rectangle 45"/>
            <p:cNvSpPr/>
            <p:nvPr/>
          </p:nvSpPr>
          <p:spPr>
            <a:xfrm>
              <a:off x="7315200" y="3104197"/>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7" name="Rectangle 46"/>
            <p:cNvSpPr/>
            <p:nvPr/>
          </p:nvSpPr>
          <p:spPr>
            <a:xfrm>
              <a:off x="7315200" y="3108960"/>
              <a:ext cx="443484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8" name="TextBox 47"/>
            <p:cNvSpPr txBox="1"/>
            <p:nvPr/>
          </p:nvSpPr>
          <p:spPr>
            <a:xfrm>
              <a:off x="7443216" y="3244316"/>
              <a:ext cx="128016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Order status / delay in…</a:t>
              </a:r>
            </a:p>
          </p:txBody>
        </p:sp>
        <p:sp>
          <p:nvSpPr>
            <p:cNvPr id="49" name="TextBox 48"/>
            <p:cNvSpPr txBox="1"/>
            <p:nvPr/>
          </p:nvSpPr>
          <p:spPr>
            <a:xfrm>
              <a:off x="8979408" y="3244316"/>
              <a:ext cx="45720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76,911</a:t>
              </a:r>
            </a:p>
          </p:txBody>
        </p:sp>
        <p:sp>
          <p:nvSpPr>
            <p:cNvPr id="50" name="TextBox 49"/>
            <p:cNvSpPr txBox="1"/>
            <p:nvPr/>
          </p:nvSpPr>
          <p:spPr>
            <a:xfrm>
              <a:off x="9692640" y="3244316"/>
              <a:ext cx="402335"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13,014</a:t>
              </a:r>
            </a:p>
          </p:txBody>
        </p:sp>
        <p:sp>
          <p:nvSpPr>
            <p:cNvPr id="51" name="Rounded Rectangle 50"/>
            <p:cNvSpPr/>
            <p:nvPr/>
          </p:nvSpPr>
          <p:spPr>
            <a:xfrm>
              <a:off x="10287000" y="3172968"/>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TextBox 51"/>
            <p:cNvSpPr txBox="1"/>
            <p:nvPr/>
          </p:nvSpPr>
          <p:spPr>
            <a:xfrm>
              <a:off x="10351008" y="3164679"/>
              <a:ext cx="310896" cy="309187"/>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16.92%</a:t>
              </a:r>
            </a:p>
          </p:txBody>
        </p:sp>
        <p:sp>
          <p:nvSpPr>
            <p:cNvPr id="53" name="Rounded Rectangle 52"/>
            <p:cNvSpPr/>
            <p:nvPr/>
          </p:nvSpPr>
          <p:spPr>
            <a:xfrm>
              <a:off x="10917936" y="3182112"/>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4" name="Oval 53"/>
            <p:cNvSpPr/>
            <p:nvPr/>
          </p:nvSpPr>
          <p:spPr>
            <a:xfrm>
              <a:off x="11027664" y="3268979"/>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5" name="TextBox 54"/>
            <p:cNvSpPr txBox="1"/>
            <p:nvPr/>
          </p:nvSpPr>
          <p:spPr>
            <a:xfrm>
              <a:off x="11192256" y="3244316"/>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56" name="Rectangle 55"/>
            <p:cNvSpPr/>
            <p:nvPr/>
          </p:nvSpPr>
          <p:spPr>
            <a:xfrm>
              <a:off x="7315200" y="3524821"/>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7" name="TextBox 56"/>
            <p:cNvSpPr txBox="1"/>
            <p:nvPr/>
          </p:nvSpPr>
          <p:spPr>
            <a:xfrm>
              <a:off x="7443216" y="3664940"/>
              <a:ext cx="128016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refund status and condi…</a:t>
              </a:r>
            </a:p>
          </p:txBody>
        </p:sp>
        <p:sp>
          <p:nvSpPr>
            <p:cNvPr id="58" name="TextBox 57"/>
            <p:cNvSpPr txBox="1"/>
            <p:nvPr/>
          </p:nvSpPr>
          <p:spPr>
            <a:xfrm>
              <a:off x="8979408" y="3664940"/>
              <a:ext cx="457200"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18,484</a:t>
              </a:r>
            </a:p>
          </p:txBody>
        </p:sp>
        <p:sp>
          <p:nvSpPr>
            <p:cNvPr id="59" name="TextBox 58"/>
            <p:cNvSpPr txBox="1"/>
            <p:nvPr/>
          </p:nvSpPr>
          <p:spPr>
            <a:xfrm>
              <a:off x="9692640" y="3664940"/>
              <a:ext cx="402335" cy="149913"/>
            </a:xfrm>
            <a:prstGeom prst="rect">
              <a:avLst/>
            </a:prstGeom>
            <a:noFill/>
          </p:spPr>
          <p:txBody>
            <a:bodyPr wrap="square" lIns="0" tIns="0" rIns="0" bIns="0" anchor="ctr">
              <a:spAutoFit/>
            </a:bodyPr>
            <a:lstStyle/>
            <a:p>
              <a:pPr algn="ctr">
                <a:lnSpc>
                  <a:spcPct val="115000"/>
                </a:lnSpc>
                <a:spcAft>
                  <a:spcPts val="0"/>
                </a:spcAft>
              </a:pPr>
              <a:r>
                <a:rPr sz="900" b="0">
                  <a:solidFill>
                    <a:srgbClr val="4B5563"/>
                  </a:solidFill>
                  <a:latin typeface="Inter"/>
                </a:rPr>
                <a:t>2,901</a:t>
              </a:r>
            </a:p>
          </p:txBody>
        </p:sp>
        <p:sp>
          <p:nvSpPr>
            <p:cNvPr id="60" name="Rounded Rectangle 59"/>
            <p:cNvSpPr/>
            <p:nvPr/>
          </p:nvSpPr>
          <p:spPr>
            <a:xfrm>
              <a:off x="10287000" y="3593591"/>
              <a:ext cx="438912"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1" name="TextBox 60"/>
            <p:cNvSpPr txBox="1"/>
            <p:nvPr/>
          </p:nvSpPr>
          <p:spPr>
            <a:xfrm>
              <a:off x="10351008" y="3585303"/>
              <a:ext cx="310896" cy="309187"/>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15.69%</a:t>
              </a:r>
            </a:p>
          </p:txBody>
        </p:sp>
        <p:sp>
          <p:nvSpPr>
            <p:cNvPr id="62" name="Rounded Rectangle 61"/>
            <p:cNvSpPr/>
            <p:nvPr/>
          </p:nvSpPr>
          <p:spPr>
            <a:xfrm>
              <a:off x="10917936" y="3602736"/>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3" name="Oval 62"/>
            <p:cNvSpPr/>
            <p:nvPr/>
          </p:nvSpPr>
          <p:spPr>
            <a:xfrm>
              <a:off x="11027664" y="368960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4" name="TextBox 63"/>
            <p:cNvSpPr txBox="1"/>
            <p:nvPr/>
          </p:nvSpPr>
          <p:spPr>
            <a:xfrm>
              <a:off x="11192256" y="3664940"/>
              <a:ext cx="546811" cy="149913"/>
            </a:xfrm>
            <a:prstGeom prst="rect">
              <a:avLst/>
            </a:prstGeom>
            <a:noFill/>
          </p:spPr>
          <p:txBody>
            <a:bodyPr wrap="square" lIns="0" tIns="0" rIns="0" bIns="0" anchor="ctr">
              <a:spAutoFit/>
            </a:bodyPr>
            <a:lstStyle/>
            <a:p>
              <a:pPr algn="ctr">
                <a:lnSpc>
                  <a:spcPct val="115000"/>
                </a:lnSpc>
                <a:spcAft>
                  <a:spcPts val="0"/>
                </a:spcAft>
              </a:pPr>
              <a:r>
                <a:rPr sz="900" b="1">
                  <a:solidFill>
                    <a:srgbClr val="E11D2E"/>
                  </a:solidFill>
                  <a:latin typeface="Inter"/>
                </a:rPr>
                <a:t>Off goal</a:t>
              </a:r>
            </a:p>
          </p:txBody>
        </p:sp>
        <p:sp>
          <p:nvSpPr>
            <p:cNvPr id="65" name="Rectangle 64"/>
            <p:cNvSpPr/>
            <p:nvPr/>
          </p:nvSpPr>
          <p:spPr>
            <a:xfrm>
              <a:off x="7315200" y="3945445"/>
              <a:ext cx="44348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6" name="TextBox 65"/>
            <p:cNvSpPr txBox="1"/>
            <p:nvPr/>
          </p:nvSpPr>
          <p:spPr>
            <a:xfrm>
              <a:off x="7315200" y="4023360"/>
              <a:ext cx="4434840" cy="166584"/>
            </a:xfrm>
            <a:prstGeom prst="rect">
              <a:avLst/>
            </a:prstGeom>
            <a:noFill/>
          </p:spPr>
          <p:txBody>
            <a:bodyPr wrap="square" lIns="0" tIns="0" rIns="0" bIns="0" anchor="t">
              <a:spAutoFit/>
            </a:bodyPr>
            <a:lstStyle/>
            <a:p>
              <a:pPr algn="ctr">
                <a:lnSpc>
                  <a:spcPct val="115000"/>
                </a:lnSpc>
                <a:spcAft>
                  <a:spcPts val="0"/>
                </a:spcAft>
              </a:pPr>
              <a:r>
                <a:rPr sz="1000" b="0">
                  <a:solidFill>
                    <a:srgbClr val="6B7280"/>
                  </a:solidFill>
                  <a:latin typeface="Inter"/>
                </a:rPr>
                <a:t>Rate = repeats ÷ contacts of that reason. More repeats ≠ higher rate.</a:t>
              </a:r>
            </a:p>
          </p:txBody>
        </p:sp>
      </p:grpSp>
      <p:sp>
        <p:nvSpPr>
          <p:cNvPr id="67" name="TextBox 66"/>
          <p:cNvSpPr txBox="1"/>
          <p:nvPr/>
        </p:nvSpPr>
        <p:spPr>
          <a:xfrm>
            <a:off x="7222447" y="4415746"/>
            <a:ext cx="4434840" cy="219456"/>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How this compares with QA and CSAT</a:t>
            </a:r>
          </a:p>
        </p:txBody>
      </p:sp>
      <p:sp>
        <p:nvSpPr>
          <p:cNvPr id="68" name="Rectangle 67"/>
          <p:cNvSpPr/>
          <p:nvPr/>
        </p:nvSpPr>
        <p:spPr>
          <a:xfrm>
            <a:off x="7315200" y="491809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552944" y="4667717"/>
            <a:ext cx="4197096" cy="575542"/>
          </a:xfrm>
          <a:prstGeom prst="rect">
            <a:avLst/>
          </a:prstGeom>
          <a:noFill/>
        </p:spPr>
        <p:txBody>
          <a:bodyPr wrap="square" lIns="0" tIns="0" rIns="0" bIns="0" anchor="t">
            <a:spAutoFit/>
          </a:bodyPr>
          <a:lstStyle/>
          <a:p>
            <a:pPr algn="l">
              <a:lnSpc>
                <a:spcPct val="128000"/>
              </a:lnSpc>
              <a:spcAft>
                <a:spcPts val="0"/>
              </a:spcAft>
            </a:pPr>
            <a:r>
              <a:rPr lang="en-US" sz="1000" b="1" dirty="0"/>
              <a:t>Phantom Compliance (93%–98% QA):</a:t>
            </a:r>
            <a:r>
              <a:rPr lang="en-US" sz="1000" dirty="0"/>
              <a:t> High-recontact reasons consistently achieve near-perfect QA scores (93%–98%), proving that QA rubrics reward procedural compliance while ignoring customer resolution gaps.</a:t>
            </a:r>
            <a:endParaRPr sz="950" b="0" dirty="0">
              <a:solidFill>
                <a:srgbClr val="4B5563"/>
              </a:solidFill>
              <a:latin typeface="Inter"/>
            </a:endParaRPr>
          </a:p>
        </p:txBody>
      </p:sp>
      <p:sp>
        <p:nvSpPr>
          <p:cNvPr id="70" name="Rectangle 69"/>
          <p:cNvSpPr/>
          <p:nvPr/>
        </p:nvSpPr>
        <p:spPr>
          <a:xfrm>
            <a:off x="7325032" y="566728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7315200" y="6284473"/>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517611" y="6097107"/>
            <a:ext cx="4197096" cy="575542"/>
          </a:xfrm>
          <a:prstGeom prst="rect">
            <a:avLst/>
          </a:prstGeom>
          <a:noFill/>
        </p:spPr>
        <p:txBody>
          <a:bodyPr wrap="square" lIns="0" tIns="0" rIns="0" bIns="0" anchor="t">
            <a:spAutoFit/>
          </a:bodyPr>
          <a:lstStyle/>
          <a:p>
            <a:pPr algn="l">
              <a:lnSpc>
                <a:spcPct val="128000"/>
              </a:lnSpc>
              <a:spcAft>
                <a:spcPts val="0"/>
              </a:spcAft>
            </a:pPr>
            <a:r>
              <a:rPr lang="en-US" sz="1000" b="1" dirty="0"/>
              <a:t>Strategic Diagnostic:</a:t>
            </a:r>
            <a:r>
              <a:rPr lang="en-US" sz="1000" dirty="0"/>
              <a:t> High QA scores mask unresolved customer friction. When an agent follows process without delivering immediate resolution or clear timelines, customer dissatisfaction and repeat contact remain inevitable.</a:t>
            </a:r>
            <a:endParaRPr sz="950" b="0" dirty="0">
              <a:solidFill>
                <a:srgbClr val="4B5563"/>
              </a:solidFill>
              <a:latin typeface="Inter"/>
            </a:endParaRPr>
          </a:p>
        </p:txBody>
      </p:sp>
      <p:sp>
        <p:nvSpPr>
          <p:cNvPr id="74" name="TextBox 73"/>
          <p:cNvSpPr txBox="1"/>
          <p:nvPr/>
        </p:nvSpPr>
        <p:spPr>
          <a:xfrm>
            <a:off x="344729" y="4806777"/>
            <a:ext cx="5294671" cy="174920"/>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Where the volume sits</a:t>
            </a:r>
          </a:p>
        </p:txBody>
      </p:sp>
      <p:sp>
        <p:nvSpPr>
          <p:cNvPr id="75" name="Rectangle 74"/>
          <p:cNvSpPr/>
          <p:nvPr/>
        </p:nvSpPr>
        <p:spPr>
          <a:xfrm>
            <a:off x="379773" y="5320412"/>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17517" y="5224400"/>
            <a:ext cx="4543880" cy="307777"/>
          </a:xfrm>
          <a:prstGeom prst="rect">
            <a:avLst/>
          </a:prstGeom>
          <a:noFill/>
        </p:spPr>
        <p:txBody>
          <a:bodyPr wrap="square" lIns="0" tIns="0" rIns="0" bIns="0" anchor="t">
            <a:spAutoFit/>
          </a:bodyPr>
          <a:lstStyle/>
          <a:p>
            <a:pPr marL="0" marR="0"/>
            <a:r>
              <a:rPr lang="en-US" sz="1000" b="1" dirty="0">
                <a:effectLst/>
                <a:latin typeface="Calibri" panose="020F0502020204030204" pitchFamily="34" charset="0"/>
                <a:ea typeface="Times New Roman" panose="02020603050405020304" pitchFamily="18" charset="0"/>
              </a:rPr>
              <a:t>Single Point Volumetric Driver:</a:t>
            </a:r>
            <a:r>
              <a:rPr lang="en-US" sz="1000" dirty="0">
                <a:effectLst/>
                <a:latin typeface="Calibri" panose="020F0502020204030204" pitchFamily="34" charset="0"/>
                <a:ea typeface="Times New Roman" panose="02020603050405020304" pitchFamily="18" charset="0"/>
              </a:rPr>
              <a:t> </a:t>
            </a:r>
            <a:r>
              <a:rPr lang="en-US" sz="1000" i="1" dirty="0">
                <a:effectLst/>
                <a:latin typeface="Calibri" panose="020F0502020204030204" pitchFamily="34" charset="0"/>
                <a:ea typeface="Times New Roman" panose="02020603050405020304" pitchFamily="18" charset="0"/>
              </a:rPr>
              <a:t>"Order status / delay information"</a:t>
            </a:r>
            <a:r>
              <a:rPr lang="en-US" sz="1000" dirty="0">
                <a:effectLst/>
                <a:latin typeface="Calibri" panose="020F0502020204030204" pitchFamily="34" charset="0"/>
                <a:ea typeface="Times New Roman" panose="02020603050405020304" pitchFamily="18" charset="0"/>
              </a:rPr>
              <a:t> generates </a:t>
            </a:r>
            <a:r>
              <a:rPr lang="en-US" sz="1000" b="1" dirty="0">
                <a:effectLst/>
                <a:latin typeface="Calibri" panose="020F0502020204030204" pitchFamily="34" charset="0"/>
                <a:ea typeface="Times New Roman" panose="02020603050405020304" pitchFamily="18" charset="0"/>
              </a:rPr>
              <a:t>13,014 repeat cases alone (22.4% of total repeats)</a:t>
            </a:r>
            <a:r>
              <a:rPr lang="en-US" sz="1000" dirty="0">
                <a:effectLst/>
                <a:latin typeface="Calibri" panose="020F0502020204030204" pitchFamily="34" charset="0"/>
                <a:ea typeface="Times New Roman" panose="02020603050405020304" pitchFamily="18" charset="0"/>
              </a:rPr>
              <a:t> across 76,911 interactions.</a:t>
            </a:r>
            <a:endParaRPr lang="es-CO" sz="1000" dirty="0">
              <a:effectLst/>
              <a:latin typeface="Times New Roman" panose="02020603050405020304" pitchFamily="18" charset="0"/>
              <a:ea typeface="Times New Roman" panose="02020603050405020304" pitchFamily="18" charset="0"/>
            </a:endParaRPr>
          </a:p>
        </p:txBody>
      </p:sp>
      <p:sp>
        <p:nvSpPr>
          <p:cNvPr id="77" name="Rectangle 76"/>
          <p:cNvSpPr/>
          <p:nvPr/>
        </p:nvSpPr>
        <p:spPr>
          <a:xfrm>
            <a:off x="385393" y="5865451"/>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17517" y="5676169"/>
            <a:ext cx="5804681" cy="378565"/>
          </a:xfrm>
          <a:prstGeom prst="rect">
            <a:avLst/>
          </a:prstGeom>
          <a:noFill/>
        </p:spPr>
        <p:txBody>
          <a:bodyPr wrap="square" lIns="0" tIns="0" rIns="0" bIns="0" anchor="t">
            <a:spAutoFit/>
          </a:bodyPr>
          <a:lstStyle/>
          <a:p>
            <a:pPr algn="l">
              <a:lnSpc>
                <a:spcPct val="128000"/>
              </a:lnSpc>
              <a:spcAft>
                <a:spcPts val="0"/>
              </a:spcAft>
            </a:pPr>
            <a:r>
              <a:rPr lang="en-US" sz="1000" b="1" dirty="0">
                <a:effectLst/>
                <a:latin typeface="Calibri" panose="020F0502020204030204" pitchFamily="34" charset="0"/>
                <a:ea typeface="Calibri" panose="020F0502020204030204" pitchFamily="34" charset="0"/>
              </a:rPr>
              <a:t>Top 3 Concentration (47.0%):</a:t>
            </a:r>
            <a:r>
              <a:rPr lang="en-US" sz="1000" dirty="0">
                <a:effectLst/>
                <a:latin typeface="Calibri" panose="020F0502020204030204" pitchFamily="34" charset="0"/>
                <a:ea typeface="Calibri" panose="020F0502020204030204" pitchFamily="34" charset="0"/>
              </a:rPr>
              <a:t> Combined with </a:t>
            </a:r>
            <a:r>
              <a:rPr lang="en-US" sz="1000" i="1" dirty="0">
                <a:effectLst/>
                <a:latin typeface="Calibri" panose="020F0502020204030204" pitchFamily="34" charset="0"/>
                <a:ea typeface="Calibri" panose="020F0502020204030204" pitchFamily="34" charset="0"/>
              </a:rPr>
              <a:t>"Order status &amp; delays"</a:t>
            </a:r>
            <a:r>
              <a:rPr lang="en-US" sz="1000" dirty="0">
                <a:effectLst/>
                <a:latin typeface="Calibri" panose="020F0502020204030204" pitchFamily="34" charset="0"/>
                <a:ea typeface="Calibri" panose="020F0502020204030204" pitchFamily="34" charset="0"/>
              </a:rPr>
              <a:t> (7,680) and </a:t>
            </a:r>
            <a:r>
              <a:rPr lang="en-US" sz="1000" i="1" dirty="0">
                <a:effectLst/>
                <a:latin typeface="Calibri" panose="020F0502020204030204" pitchFamily="34" charset="0"/>
                <a:ea typeface="Calibri" panose="020F0502020204030204" pitchFamily="34" charset="0"/>
              </a:rPr>
              <a:t>"Disagrees with cancellation charge"</a:t>
            </a:r>
            <a:r>
              <a:rPr lang="en-US" sz="1000" dirty="0">
                <a:effectLst/>
                <a:latin typeface="Calibri" panose="020F0502020204030204" pitchFamily="34" charset="0"/>
                <a:ea typeface="Calibri" panose="020F0502020204030204" pitchFamily="34" charset="0"/>
              </a:rPr>
              <a:t> (6,595), just 3 reasons account for </a:t>
            </a:r>
            <a:r>
              <a:rPr lang="en-US" sz="1000" b="1" dirty="0">
                <a:effectLst/>
                <a:latin typeface="Calibri" panose="020F0502020204030204" pitchFamily="34" charset="0"/>
                <a:ea typeface="Calibri" panose="020F0502020204030204" pitchFamily="34" charset="0"/>
              </a:rPr>
              <a:t>27,289 repeat contacts</a:t>
            </a:r>
            <a:r>
              <a:rPr lang="en-US" sz="1000" dirty="0">
                <a:effectLst/>
                <a:latin typeface="Calibri" panose="020F0502020204030204" pitchFamily="34" charset="0"/>
                <a:ea typeface="Calibri" panose="020F0502020204030204" pitchFamily="34" charset="0"/>
              </a:rPr>
              <a:t>.</a:t>
            </a:r>
            <a:endParaRPr sz="1000" b="0" dirty="0">
              <a:solidFill>
                <a:srgbClr val="4B5563"/>
              </a:solidFill>
              <a:latin typeface="Inter"/>
            </a:endParaRPr>
          </a:p>
        </p:txBody>
      </p:sp>
      <p:sp>
        <p:nvSpPr>
          <p:cNvPr id="83" name="CuadroTexto 82">
            <a:extLst>
              <a:ext uri="{FF2B5EF4-FFF2-40B4-BE49-F238E27FC236}">
                <a16:creationId xmlns:a16="http://schemas.microsoft.com/office/drawing/2014/main" id="{101E0065-4BCF-22A0-3FD3-15A401152D4D}"/>
              </a:ext>
            </a:extLst>
          </p:cNvPr>
          <p:cNvSpPr txBox="1"/>
          <p:nvPr/>
        </p:nvSpPr>
        <p:spPr>
          <a:xfrm>
            <a:off x="498645" y="6134895"/>
            <a:ext cx="6096000" cy="400110"/>
          </a:xfrm>
          <a:prstGeom prst="rect">
            <a:avLst/>
          </a:prstGeom>
          <a:noFill/>
        </p:spPr>
        <p:txBody>
          <a:bodyPr wrap="square">
            <a:spAutoFit/>
          </a:bodyPr>
          <a:lstStyle/>
          <a:p>
            <a:r>
              <a:rPr lang="en-US" sz="1000" b="1" dirty="0"/>
              <a:t>80/20 Rule Validation:</a:t>
            </a:r>
            <a:r>
              <a:rPr lang="en-US" sz="1000" dirty="0"/>
              <a:t> Expanding the scope to </a:t>
            </a:r>
            <a:r>
              <a:rPr lang="en-US" sz="1000" b="1" dirty="0"/>
              <a:t>6 contact reasons accounts for 81.0% of total recontact volume</a:t>
            </a:r>
            <a:r>
              <a:rPr lang="en-US" sz="1000" dirty="0"/>
              <a:t>, defining the exact operational scope needed to restore FCR (First Contact Resolution).</a:t>
            </a:r>
          </a:p>
        </p:txBody>
      </p:sp>
      <p:sp>
        <p:nvSpPr>
          <p:cNvPr id="84" name="Rectangle 76">
            <a:extLst>
              <a:ext uri="{FF2B5EF4-FFF2-40B4-BE49-F238E27FC236}">
                <a16:creationId xmlns:a16="http://schemas.microsoft.com/office/drawing/2014/main" id="{84B710ED-E0DA-9186-EC5D-CB320CFB39F2}"/>
              </a:ext>
            </a:extLst>
          </p:cNvPr>
          <p:cNvSpPr/>
          <p:nvPr/>
        </p:nvSpPr>
        <p:spPr>
          <a:xfrm>
            <a:off x="379773" y="6309347"/>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4">
            <a:extLst>
              <a:ext uri="{FF2B5EF4-FFF2-40B4-BE49-F238E27FC236}">
                <a16:creationId xmlns:a16="http://schemas.microsoft.com/office/drawing/2014/main" id="{FA0FDF96-747E-B8BE-842F-EF64CC9BA684}"/>
              </a:ext>
            </a:extLst>
          </p:cNvPr>
          <p:cNvSpPr>
            <a:spLocks noChangeArrowheads="1"/>
          </p:cNvSpPr>
          <p:nvPr/>
        </p:nvSpPr>
        <p:spPr bwMode="auto">
          <a:xfrm>
            <a:off x="7443904" y="5398154"/>
            <a:ext cx="427080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CO" altLang="es-CO" sz="1000" b="1" i="0" u="none" strike="noStrike" cap="none" normalizeH="0" baseline="0" dirty="0">
                <a:ln>
                  <a:noFill/>
                </a:ln>
                <a:solidFill>
                  <a:schemeClr val="tx1"/>
                </a:solidFill>
                <a:effectLst/>
              </a:rPr>
              <a:t>CSAT </a:t>
            </a:r>
            <a:r>
              <a:rPr kumimoji="0" lang="es-CO" altLang="es-CO" sz="1000" b="1" i="0" u="none" strike="noStrike" cap="none" normalizeH="0" baseline="0" dirty="0" err="1">
                <a:ln>
                  <a:noFill/>
                </a:ln>
                <a:solidFill>
                  <a:schemeClr val="tx1"/>
                </a:solidFill>
                <a:effectLst/>
              </a:rPr>
              <a:t>Collapse</a:t>
            </a:r>
            <a:r>
              <a:rPr kumimoji="0" lang="es-CO" altLang="es-CO" sz="1000" b="1" i="0" u="none" strike="noStrike" cap="none" normalizeH="0" baseline="0" dirty="0">
                <a:ln>
                  <a:noFill/>
                </a:ln>
                <a:solidFill>
                  <a:schemeClr val="tx1"/>
                </a:solidFill>
                <a:effectLst/>
              </a:rPr>
              <a:t> </a:t>
            </a:r>
            <a:r>
              <a:rPr kumimoji="0" lang="es-CO" altLang="es-CO" sz="1000" b="1" i="0" u="none" strike="noStrike" cap="none" normalizeH="0" baseline="0" dirty="0" err="1">
                <a:ln>
                  <a:noFill/>
                </a:ln>
                <a:solidFill>
                  <a:schemeClr val="tx1"/>
                </a:solidFill>
                <a:effectLst/>
              </a:rPr>
              <a:t>Alignment</a:t>
            </a:r>
            <a:r>
              <a:rPr kumimoji="0" lang="es-CO" altLang="es-CO" sz="1000" b="1" i="0" u="none" strike="noStrike" cap="none" normalizeH="0" baseline="0" dirty="0">
                <a:ln>
                  <a:noFill/>
                </a:ln>
                <a:solidFill>
                  <a:schemeClr val="tx1"/>
                </a:solidFill>
                <a:effectLst/>
              </a:rPr>
              <a:t>:</a:t>
            </a:r>
            <a:r>
              <a:rPr kumimoji="0" lang="es-CO" altLang="es-CO" sz="1000" b="0" i="0" u="none" strike="noStrike" cap="none" normalizeH="0" baseline="0" dirty="0">
                <a:ln>
                  <a:noFill/>
                </a:ln>
                <a:solidFill>
                  <a:schemeClr val="tx1"/>
                </a:solidFill>
                <a:effectLst/>
              </a:rPr>
              <a:t> High </a:t>
            </a:r>
            <a:r>
              <a:rPr kumimoji="0" lang="es-CO" altLang="es-CO" sz="1000" b="0" i="0" u="none" strike="noStrike" cap="none" normalizeH="0" baseline="0" dirty="0" err="1">
                <a:ln>
                  <a:noFill/>
                </a:ln>
                <a:solidFill>
                  <a:schemeClr val="tx1"/>
                </a:solidFill>
                <a:effectLst/>
              </a:rPr>
              <a:t>recontact</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directly</a:t>
            </a:r>
            <a:r>
              <a:rPr kumimoji="0" lang="es-CO" altLang="es-CO" sz="1000" b="0" i="0" u="none" strike="noStrike" cap="none" normalizeH="0" baseline="0" dirty="0">
                <a:ln>
                  <a:noFill/>
                </a:ln>
                <a:solidFill>
                  <a:schemeClr val="tx1"/>
                </a:solidFill>
                <a:effectLst/>
              </a:rPr>
              <a:t> </a:t>
            </a:r>
            <a:r>
              <a:rPr kumimoji="0" lang="es-CO" altLang="es-CO" sz="1000" b="0" i="0" u="none" strike="noStrike" cap="none" normalizeH="0" baseline="0" dirty="0" err="1">
                <a:ln>
                  <a:noFill/>
                </a:ln>
                <a:solidFill>
                  <a:schemeClr val="tx1"/>
                </a:solidFill>
                <a:effectLst/>
              </a:rPr>
              <a:t>mirrors</a:t>
            </a:r>
            <a:r>
              <a:rPr kumimoji="0" lang="es-CO" altLang="es-CO" sz="1000" b="0" i="0" u="none" strike="noStrike" cap="none" normalizeH="0" baseline="0" dirty="0">
                <a:ln>
                  <a:noFill/>
                </a:ln>
                <a:solidFill>
                  <a:schemeClr val="tx1"/>
                </a:solidFill>
                <a:effectLst/>
              </a:rPr>
              <a:t> severe CSAT </a:t>
            </a:r>
            <a:r>
              <a:rPr kumimoji="0" lang="es-CO" altLang="es-CO" sz="1000" b="0" i="0" u="none" strike="noStrike" cap="none" normalizeH="0" baseline="0" dirty="0" err="1">
                <a:ln>
                  <a:noFill/>
                </a:ln>
                <a:solidFill>
                  <a:schemeClr val="tx1"/>
                </a:solidFill>
                <a:effectLst/>
              </a:rPr>
              <a:t>failure</a:t>
            </a:r>
            <a:r>
              <a:rPr kumimoji="0" lang="es-CO" altLang="es-CO" sz="1000" b="0" i="0" u="none" strike="noStrike" cap="none" normalizeH="0" baseline="0" dirty="0">
                <a:ln>
                  <a:noFill/>
                </a:ln>
                <a:solidFill>
                  <a:schemeClr val="tx1"/>
                </a:solidFill>
                <a:effectLst/>
              </a:rPr>
              <a:t>—</a:t>
            </a:r>
            <a:r>
              <a:rPr kumimoji="0" lang="es-CO" altLang="es-CO" sz="1000" b="0" i="0" u="none" strike="noStrike" cap="none" normalizeH="0" baseline="0" dirty="0" err="1">
                <a:ln>
                  <a:noFill/>
                </a:ln>
                <a:solidFill>
                  <a:schemeClr val="tx1"/>
                </a:solidFill>
                <a:effectLst/>
              </a:rPr>
              <a:t>notably</a:t>
            </a:r>
            <a:r>
              <a:rPr kumimoji="0" lang="es-CO" altLang="es-CO" sz="1000" b="0" i="0" u="none" strike="noStrike" cap="none" normalizeH="0" baseline="0" dirty="0">
                <a:ln>
                  <a:noFill/>
                </a:ln>
                <a:solidFill>
                  <a:schemeClr val="tx1"/>
                </a:solidFill>
                <a:effectLst/>
              </a:rPr>
              <a:t> in </a:t>
            </a:r>
            <a:r>
              <a:rPr kumimoji="0" lang="es-CO" altLang="es-CO" sz="1000" b="0" i="1" u="none" strike="noStrike" cap="none" normalizeH="0" baseline="0" dirty="0">
                <a:ln>
                  <a:noFill/>
                </a:ln>
                <a:solidFill>
                  <a:schemeClr val="tx1"/>
                </a:solidFill>
                <a:effectLst/>
              </a:rPr>
              <a:t>"</a:t>
            </a:r>
            <a:r>
              <a:rPr kumimoji="0" lang="es-CO" altLang="es-CO" sz="1000" b="0" i="1" u="none" strike="noStrike" cap="none" normalizeH="0" baseline="0" dirty="0" err="1">
                <a:ln>
                  <a:noFill/>
                </a:ln>
                <a:solidFill>
                  <a:schemeClr val="tx1"/>
                </a:solidFill>
                <a:effectLst/>
              </a:rPr>
              <a:t>Order</a:t>
            </a:r>
            <a:r>
              <a:rPr kumimoji="0" lang="es-CO" altLang="es-CO" sz="1000" b="0" i="1" u="none" strike="noStrike" cap="none" normalizeH="0" baseline="0" dirty="0">
                <a:ln>
                  <a:noFill/>
                </a:ln>
                <a:solidFill>
                  <a:schemeClr val="tx1"/>
                </a:solidFill>
                <a:effectLst/>
              </a:rPr>
              <a:t> Status"</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64.7% CSAT</a:t>
            </a:r>
            <a:r>
              <a:rPr kumimoji="0" lang="es-CO" altLang="es-CO" sz="1000" b="0" i="0" u="none" strike="noStrike" cap="none" normalizeH="0" baseline="0" dirty="0">
                <a:ln>
                  <a:noFill/>
                </a:ln>
                <a:solidFill>
                  <a:schemeClr val="tx1"/>
                </a:solidFill>
                <a:effectLst/>
              </a:rPr>
              <a:t>) and </a:t>
            </a:r>
            <a:r>
              <a:rPr kumimoji="0" lang="es-CO" altLang="es-CO" sz="1000" b="0" i="1" u="none" strike="noStrike" cap="none" normalizeH="0" baseline="0" dirty="0">
                <a:ln>
                  <a:noFill/>
                </a:ln>
                <a:solidFill>
                  <a:schemeClr val="tx1"/>
                </a:solidFill>
                <a:effectLst/>
              </a:rPr>
              <a:t>"</a:t>
            </a:r>
            <a:r>
              <a:rPr kumimoji="0" lang="es-CO" altLang="es-CO" sz="1000" b="0" i="1" u="none" strike="noStrike" cap="none" normalizeH="0" baseline="0" dirty="0" err="1">
                <a:ln>
                  <a:noFill/>
                </a:ln>
                <a:solidFill>
                  <a:schemeClr val="tx1"/>
                </a:solidFill>
                <a:effectLst/>
              </a:rPr>
              <a:t>Refund</a:t>
            </a:r>
            <a:r>
              <a:rPr kumimoji="0" lang="es-CO" altLang="es-CO" sz="1000" b="0" i="1" u="none" strike="noStrike" cap="none" normalizeH="0" baseline="0" dirty="0">
                <a:ln>
                  <a:noFill/>
                </a:ln>
                <a:solidFill>
                  <a:schemeClr val="tx1"/>
                </a:solidFill>
                <a:effectLst/>
              </a:rPr>
              <a:t> Status"</a:t>
            </a:r>
            <a:r>
              <a:rPr kumimoji="0" lang="es-CO" altLang="es-CO" sz="1000" b="0" i="0" u="none" strike="noStrike" cap="none" normalizeH="0" baseline="0" dirty="0">
                <a:ln>
                  <a:noFill/>
                </a:ln>
                <a:solidFill>
                  <a:schemeClr val="tx1"/>
                </a:solidFill>
                <a:effectLst/>
              </a:rPr>
              <a:t> (</a:t>
            </a:r>
            <a:r>
              <a:rPr kumimoji="0" lang="es-CO" altLang="es-CO" sz="1000" b="1" i="0" u="none" strike="noStrike" cap="none" normalizeH="0" baseline="0" dirty="0">
                <a:ln>
                  <a:noFill/>
                </a:ln>
                <a:solidFill>
                  <a:schemeClr val="tx1"/>
                </a:solidFill>
                <a:effectLst/>
              </a:rPr>
              <a:t>67.0% CSAT</a:t>
            </a:r>
            <a:r>
              <a:rPr kumimoji="0" lang="es-CO" altLang="es-CO" sz="10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1000" b="0" i="0" u="none" strike="noStrike" cap="none" normalizeH="0" baseline="0" dirty="0">
              <a:ln>
                <a:noFill/>
              </a:ln>
              <a:solidFill>
                <a:schemeClr val="tx1"/>
              </a:solidFill>
              <a:effectLst/>
            </a:endParaRPr>
          </a:p>
        </p:txBody>
      </p:sp>
      <p:sp>
        <p:nvSpPr>
          <p:cNvPr id="89" name="Rectángulo 88">
            <a:extLst>
              <a:ext uri="{FF2B5EF4-FFF2-40B4-BE49-F238E27FC236}">
                <a16:creationId xmlns:a16="http://schemas.microsoft.com/office/drawing/2014/main" id="{D54A2713-6ABB-4017-F158-2C319E731604}"/>
              </a:ext>
            </a:extLst>
          </p:cNvPr>
          <p:cNvSpPr/>
          <p:nvPr/>
        </p:nvSpPr>
        <p:spPr>
          <a:xfrm>
            <a:off x="6774426" y="1265880"/>
            <a:ext cx="5134110" cy="5489041"/>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48840"/>
            <a:ext cx="2743200" cy="1005840"/>
          </a:xfrm>
          <a:prstGeom prst="rect">
            <a:avLst/>
          </a:prstGeom>
          <a:noFill/>
        </p:spPr>
        <p:txBody>
          <a:bodyPr wrap="square" lIns="0" tIns="0" rIns="0" bIns="0" anchor="t">
            <a:spAutoFit/>
          </a:bodyPr>
          <a:lstStyle/>
          <a:p>
            <a:pPr algn="l">
              <a:lnSpc>
                <a:spcPct val="115000"/>
              </a:lnSpc>
              <a:spcAft>
                <a:spcPts val="0"/>
              </a:spcAft>
            </a:pPr>
            <a:r>
              <a:rPr sz="6400" b="1">
                <a:solidFill>
                  <a:srgbClr val="FF6600"/>
                </a:solidFill>
                <a:latin typeface="Inter"/>
              </a:rPr>
              <a:t>04</a:t>
            </a:r>
          </a:p>
        </p:txBody>
      </p:sp>
      <p:sp>
        <p:nvSpPr>
          <p:cNvPr id="5" name="TextBox 4"/>
          <p:cNvSpPr txBox="1"/>
          <p:nvPr/>
        </p:nvSpPr>
        <p:spPr>
          <a:xfrm>
            <a:off x="1188720" y="3246120"/>
            <a:ext cx="8686800" cy="548640"/>
          </a:xfrm>
          <a:prstGeom prst="rect">
            <a:avLst/>
          </a:prstGeom>
          <a:noFill/>
        </p:spPr>
        <p:txBody>
          <a:bodyPr wrap="square" lIns="0" tIns="0" rIns="0" bIns="0" anchor="t">
            <a:spAutoFit/>
          </a:bodyPr>
          <a:lstStyle/>
          <a:p>
            <a:pPr algn="l">
              <a:lnSpc>
                <a:spcPct val="115000"/>
              </a:lnSpc>
              <a:spcAft>
                <a:spcPts val="0"/>
              </a:spcAft>
            </a:pPr>
            <a:r>
              <a:rPr sz="3000" b="1">
                <a:solidFill>
                  <a:srgbClr val="FFFFFF"/>
                </a:solidFill>
                <a:latin typeface="Inter"/>
              </a:rPr>
              <a:t>People: where coaching should focus</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4187952"/>
            <a:ext cx="7863840" cy="822960"/>
          </a:xfrm>
          <a:prstGeom prst="rect">
            <a:avLst/>
          </a:prstGeom>
          <a:noFill/>
        </p:spPr>
        <p:txBody>
          <a:bodyPr wrap="square" lIns="0" tIns="0" rIns="0" bIns="0" anchor="t">
            <a:spAutoFit/>
          </a:bodyPr>
          <a:lstStyle/>
          <a:p>
            <a:pPr algn="l">
              <a:lnSpc>
                <a:spcPct val="140000"/>
              </a:lnSpc>
              <a:spcAft>
                <a:spcPts val="0"/>
              </a:spcAft>
            </a:pPr>
            <a:r>
              <a:rPr sz="1300" b="0">
                <a:solidFill>
                  <a:srgbClr val="C9CCD1"/>
                </a:solidFill>
                <a:latin typeface="Inter"/>
              </a:rPr>
              <a:t>Which agents sit outside the pack. Which teams carry the coaching load.</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tIns="0" rIns="0" bIns="0" anchor="ctr">
            <a:spAutoFit/>
          </a:bodyPr>
          <a:lstStyle/>
          <a:p>
            <a:pPr algn="l">
              <a:lnSpc>
                <a:spcPct val="115000"/>
              </a:lnSpc>
              <a:spcAft>
                <a:spcPts val="0"/>
              </a:spcAft>
            </a:pPr>
            <a:r>
              <a:rPr sz="1500" b="1">
                <a:solidFill>
                  <a:srgbClr val="FFFFFF"/>
                </a:solidFill>
                <a:latin typeface="Inter"/>
              </a:rPr>
              <a:t>DiDi</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Who needs attention: agent quartiles</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Comparative variance analysis: Metric score-ceiling saturation vs. operational performance dispersion (171 QA-audited / 304 CSAT-evaluated agents).</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21</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quartiles.png"/>
          <p:cNvPicPr>
            <a:picLocks noChangeAspect="1"/>
          </p:cNvPicPr>
          <p:nvPr/>
        </p:nvPicPr>
        <p:blipFill>
          <a:blip r:embed="rId3"/>
          <a:stretch>
            <a:fillRect/>
          </a:stretch>
        </p:blipFill>
        <p:spPr>
          <a:xfrm>
            <a:off x="457200" y="1227230"/>
            <a:ext cx="6203569" cy="2736504"/>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7872984" y="1041824"/>
            <a:ext cx="4846320" cy="174920"/>
          </a:xfrm>
          <a:prstGeom prst="rect">
            <a:avLst/>
          </a:prstGeom>
          <a:noFill/>
        </p:spPr>
        <p:txBody>
          <a:bodyPr wrap="square" lIns="0" tIns="0" rIns="0" bIns="0" anchor="t">
            <a:spAutoFit/>
          </a:bodyPr>
          <a:lstStyle/>
          <a:p>
            <a:pPr algn="l">
              <a:lnSpc>
                <a:spcPct val="115000"/>
              </a:lnSpc>
              <a:spcAft>
                <a:spcPts val="0"/>
              </a:spcAft>
            </a:pPr>
            <a:r>
              <a:rPr lang="en-US" sz="1050" b="1" dirty="0">
                <a:solidFill>
                  <a:srgbClr val="1A1A1A"/>
                </a:solidFill>
                <a:latin typeface="Inter"/>
              </a:rPr>
              <a:t>High-Liability Outliers: Priority Coaching Matrix</a:t>
            </a:r>
            <a:endParaRPr sz="1050" b="1" dirty="0">
              <a:solidFill>
                <a:srgbClr val="1A1A1A"/>
              </a:solidFill>
              <a:latin typeface="Inter"/>
            </a:endParaRPr>
          </a:p>
        </p:txBody>
      </p:sp>
      <p:grpSp>
        <p:nvGrpSpPr>
          <p:cNvPr id="70" name="Grupo 69">
            <a:extLst>
              <a:ext uri="{FF2B5EF4-FFF2-40B4-BE49-F238E27FC236}">
                <a16:creationId xmlns:a16="http://schemas.microsoft.com/office/drawing/2014/main" id="{60601FC4-5CE9-FCC7-E0D2-8E7BCDE2DDCF}"/>
              </a:ext>
            </a:extLst>
          </p:cNvPr>
          <p:cNvGrpSpPr/>
          <p:nvPr/>
        </p:nvGrpSpPr>
        <p:grpSpPr>
          <a:xfrm>
            <a:off x="7013448" y="1245040"/>
            <a:ext cx="4206240" cy="2437066"/>
            <a:chOff x="6903720" y="1517904"/>
            <a:chExt cx="4206240" cy="2437066"/>
          </a:xfrm>
        </p:grpSpPr>
        <p:sp>
          <p:nvSpPr>
            <p:cNvPr id="13" name="Rectangle 12"/>
            <p:cNvSpPr/>
            <p:nvPr/>
          </p:nvSpPr>
          <p:spPr>
            <a:xfrm>
              <a:off x="6903720" y="1517904"/>
              <a:ext cx="420624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7031736" y="1599205"/>
              <a:ext cx="70408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Agent</a:t>
              </a:r>
            </a:p>
          </p:txBody>
        </p:sp>
        <p:sp>
          <p:nvSpPr>
            <p:cNvPr id="15" name="TextBox 14"/>
            <p:cNvSpPr txBox="1"/>
            <p:nvPr/>
          </p:nvSpPr>
          <p:spPr>
            <a:xfrm>
              <a:off x="7991856" y="1599205"/>
              <a:ext cx="2926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QA</a:t>
              </a:r>
            </a:p>
          </p:txBody>
        </p:sp>
        <p:sp>
          <p:nvSpPr>
            <p:cNvPr id="16" name="TextBox 15"/>
            <p:cNvSpPr txBox="1"/>
            <p:nvPr/>
          </p:nvSpPr>
          <p:spPr>
            <a:xfrm>
              <a:off x="8540495" y="1599205"/>
              <a:ext cx="438913"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Audits</a:t>
              </a:r>
            </a:p>
          </p:txBody>
        </p:sp>
        <p:sp>
          <p:nvSpPr>
            <p:cNvPr id="17" name="TextBox 16"/>
            <p:cNvSpPr txBox="1"/>
            <p:nvPr/>
          </p:nvSpPr>
          <p:spPr>
            <a:xfrm>
              <a:off x="9107424" y="1599205"/>
              <a:ext cx="70408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Team</a:t>
              </a:r>
            </a:p>
          </p:txBody>
        </p:sp>
        <p:sp>
          <p:nvSpPr>
            <p:cNvPr id="18" name="TextBox 17"/>
            <p:cNvSpPr txBox="1"/>
            <p:nvPr/>
          </p:nvSpPr>
          <p:spPr>
            <a:xfrm>
              <a:off x="10067544" y="1599205"/>
              <a:ext cx="914400"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Coaching priority</a:t>
              </a:r>
            </a:p>
          </p:txBody>
        </p:sp>
        <p:sp>
          <p:nvSpPr>
            <p:cNvPr id="19" name="TextBox 18"/>
            <p:cNvSpPr txBox="1"/>
            <p:nvPr/>
          </p:nvSpPr>
          <p:spPr>
            <a:xfrm>
              <a:off x="7031736" y="1974109"/>
              <a:ext cx="70408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Agent 228</a:t>
              </a:r>
            </a:p>
          </p:txBody>
        </p:sp>
        <p:sp>
          <p:nvSpPr>
            <p:cNvPr id="20" name="Rounded Rectangle 19"/>
            <p:cNvSpPr/>
            <p:nvPr/>
          </p:nvSpPr>
          <p:spPr>
            <a:xfrm>
              <a:off x="7927848" y="1911095"/>
              <a:ext cx="420623"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TextBox 20"/>
            <p:cNvSpPr txBox="1"/>
            <p:nvPr/>
          </p:nvSpPr>
          <p:spPr>
            <a:xfrm>
              <a:off x="7991856" y="1974109"/>
              <a:ext cx="2926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36.0</a:t>
              </a:r>
            </a:p>
          </p:txBody>
        </p:sp>
        <p:sp>
          <p:nvSpPr>
            <p:cNvPr id="22" name="TextBox 21"/>
            <p:cNvSpPr txBox="1"/>
            <p:nvPr/>
          </p:nvSpPr>
          <p:spPr>
            <a:xfrm>
              <a:off x="8540496" y="1974109"/>
              <a:ext cx="310896"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5</a:t>
              </a:r>
            </a:p>
          </p:txBody>
        </p:sp>
        <p:sp>
          <p:nvSpPr>
            <p:cNvPr id="23" name="TextBox 22"/>
            <p:cNvSpPr txBox="1"/>
            <p:nvPr/>
          </p:nvSpPr>
          <p:spPr>
            <a:xfrm>
              <a:off x="9107424" y="1974109"/>
              <a:ext cx="7040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S13</a:t>
              </a:r>
            </a:p>
          </p:txBody>
        </p:sp>
        <p:sp>
          <p:nvSpPr>
            <p:cNvPr id="24" name="TextBox 23"/>
            <p:cNvSpPr txBox="1"/>
            <p:nvPr/>
          </p:nvSpPr>
          <p:spPr>
            <a:xfrm>
              <a:off x="10067544" y="1974109"/>
              <a:ext cx="91440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245</a:t>
              </a:r>
            </a:p>
          </p:txBody>
        </p:sp>
        <p:sp>
          <p:nvSpPr>
            <p:cNvPr id="25" name="Rectangle 24"/>
            <p:cNvSpPr/>
            <p:nvPr/>
          </p:nvSpPr>
          <p:spPr>
            <a:xfrm>
              <a:off x="6903720" y="2262949"/>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Rectangle 25"/>
            <p:cNvSpPr/>
            <p:nvPr/>
          </p:nvSpPr>
          <p:spPr>
            <a:xfrm>
              <a:off x="6903720" y="2267712"/>
              <a:ext cx="420624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7031736" y="2394733"/>
              <a:ext cx="70408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Agent 21</a:t>
              </a:r>
            </a:p>
          </p:txBody>
        </p:sp>
        <p:sp>
          <p:nvSpPr>
            <p:cNvPr id="28" name="Rounded Rectangle 27"/>
            <p:cNvSpPr/>
            <p:nvPr/>
          </p:nvSpPr>
          <p:spPr>
            <a:xfrm>
              <a:off x="7927848" y="2331720"/>
              <a:ext cx="420623"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p:cNvSpPr txBox="1"/>
            <p:nvPr/>
          </p:nvSpPr>
          <p:spPr>
            <a:xfrm>
              <a:off x="7991856" y="2394733"/>
              <a:ext cx="2926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61.7</a:t>
              </a:r>
            </a:p>
          </p:txBody>
        </p:sp>
        <p:sp>
          <p:nvSpPr>
            <p:cNvPr id="30" name="TextBox 29"/>
            <p:cNvSpPr txBox="1"/>
            <p:nvPr/>
          </p:nvSpPr>
          <p:spPr>
            <a:xfrm>
              <a:off x="8540496" y="2394733"/>
              <a:ext cx="310896"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6</a:t>
              </a:r>
            </a:p>
          </p:txBody>
        </p:sp>
        <p:sp>
          <p:nvSpPr>
            <p:cNvPr id="31" name="TextBox 30"/>
            <p:cNvSpPr txBox="1"/>
            <p:nvPr/>
          </p:nvSpPr>
          <p:spPr>
            <a:xfrm>
              <a:off x="9107424" y="2394733"/>
              <a:ext cx="7040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S9</a:t>
              </a:r>
            </a:p>
          </p:txBody>
        </p:sp>
        <p:sp>
          <p:nvSpPr>
            <p:cNvPr id="32" name="TextBox 31"/>
            <p:cNvSpPr txBox="1"/>
            <p:nvPr/>
          </p:nvSpPr>
          <p:spPr>
            <a:xfrm>
              <a:off x="10067544" y="2394733"/>
              <a:ext cx="91440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140</a:t>
              </a:r>
            </a:p>
          </p:txBody>
        </p:sp>
        <p:sp>
          <p:nvSpPr>
            <p:cNvPr id="33" name="Rectangle 32"/>
            <p:cNvSpPr/>
            <p:nvPr/>
          </p:nvSpPr>
          <p:spPr>
            <a:xfrm>
              <a:off x="6903720" y="2683573"/>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4" name="TextBox 33"/>
            <p:cNvSpPr txBox="1"/>
            <p:nvPr/>
          </p:nvSpPr>
          <p:spPr>
            <a:xfrm>
              <a:off x="7031736" y="2815357"/>
              <a:ext cx="70408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Agent 135</a:t>
              </a:r>
            </a:p>
          </p:txBody>
        </p:sp>
        <p:sp>
          <p:nvSpPr>
            <p:cNvPr id="35" name="Rounded Rectangle 34"/>
            <p:cNvSpPr/>
            <p:nvPr/>
          </p:nvSpPr>
          <p:spPr>
            <a:xfrm>
              <a:off x="7927848" y="2752344"/>
              <a:ext cx="420623"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TextBox 35"/>
            <p:cNvSpPr txBox="1"/>
            <p:nvPr/>
          </p:nvSpPr>
          <p:spPr>
            <a:xfrm>
              <a:off x="7991856" y="2815357"/>
              <a:ext cx="2926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66.7</a:t>
              </a:r>
            </a:p>
          </p:txBody>
        </p:sp>
        <p:sp>
          <p:nvSpPr>
            <p:cNvPr id="37" name="TextBox 36"/>
            <p:cNvSpPr txBox="1"/>
            <p:nvPr/>
          </p:nvSpPr>
          <p:spPr>
            <a:xfrm>
              <a:off x="8540496" y="2815357"/>
              <a:ext cx="310896"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6</a:t>
              </a:r>
            </a:p>
          </p:txBody>
        </p:sp>
        <p:sp>
          <p:nvSpPr>
            <p:cNvPr id="38" name="TextBox 37"/>
            <p:cNvSpPr txBox="1"/>
            <p:nvPr/>
          </p:nvSpPr>
          <p:spPr>
            <a:xfrm>
              <a:off x="9107424" y="2815357"/>
              <a:ext cx="7040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S12</a:t>
              </a:r>
            </a:p>
          </p:txBody>
        </p:sp>
        <p:sp>
          <p:nvSpPr>
            <p:cNvPr id="39" name="TextBox 38"/>
            <p:cNvSpPr txBox="1"/>
            <p:nvPr/>
          </p:nvSpPr>
          <p:spPr>
            <a:xfrm>
              <a:off x="10067544" y="2815357"/>
              <a:ext cx="91440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110</a:t>
              </a:r>
            </a:p>
          </p:txBody>
        </p:sp>
        <p:sp>
          <p:nvSpPr>
            <p:cNvPr id="40" name="Rectangle 39"/>
            <p:cNvSpPr/>
            <p:nvPr/>
          </p:nvSpPr>
          <p:spPr>
            <a:xfrm>
              <a:off x="6903720" y="3104197"/>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1" name="Rectangle 40"/>
            <p:cNvSpPr/>
            <p:nvPr/>
          </p:nvSpPr>
          <p:spPr>
            <a:xfrm>
              <a:off x="6903720" y="3108960"/>
              <a:ext cx="420624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2" name="TextBox 41"/>
            <p:cNvSpPr txBox="1"/>
            <p:nvPr/>
          </p:nvSpPr>
          <p:spPr>
            <a:xfrm>
              <a:off x="7031736" y="3235981"/>
              <a:ext cx="70408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Agent 44</a:t>
              </a:r>
            </a:p>
          </p:txBody>
        </p:sp>
        <p:sp>
          <p:nvSpPr>
            <p:cNvPr id="43" name="Rounded Rectangle 42"/>
            <p:cNvSpPr/>
            <p:nvPr/>
          </p:nvSpPr>
          <p:spPr>
            <a:xfrm>
              <a:off x="7927848" y="3172968"/>
              <a:ext cx="420623"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7991856" y="3235981"/>
              <a:ext cx="2926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71.4</a:t>
              </a:r>
            </a:p>
          </p:txBody>
        </p:sp>
        <p:sp>
          <p:nvSpPr>
            <p:cNvPr id="45" name="TextBox 44"/>
            <p:cNvSpPr txBox="1"/>
            <p:nvPr/>
          </p:nvSpPr>
          <p:spPr>
            <a:xfrm>
              <a:off x="8540496" y="3235981"/>
              <a:ext cx="310896"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7</a:t>
              </a:r>
            </a:p>
          </p:txBody>
        </p:sp>
        <p:sp>
          <p:nvSpPr>
            <p:cNvPr id="46" name="TextBox 45"/>
            <p:cNvSpPr txBox="1"/>
            <p:nvPr/>
          </p:nvSpPr>
          <p:spPr>
            <a:xfrm>
              <a:off x="9107424" y="3235981"/>
              <a:ext cx="7040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S7</a:t>
              </a:r>
            </a:p>
          </p:txBody>
        </p:sp>
        <p:sp>
          <p:nvSpPr>
            <p:cNvPr id="47" name="TextBox 46"/>
            <p:cNvSpPr txBox="1"/>
            <p:nvPr/>
          </p:nvSpPr>
          <p:spPr>
            <a:xfrm>
              <a:off x="10067544" y="3235981"/>
              <a:ext cx="91440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95</a:t>
              </a:r>
            </a:p>
          </p:txBody>
        </p:sp>
        <p:sp>
          <p:nvSpPr>
            <p:cNvPr id="48" name="Rectangle 47"/>
            <p:cNvSpPr/>
            <p:nvPr/>
          </p:nvSpPr>
          <p:spPr>
            <a:xfrm>
              <a:off x="6903720" y="3524821"/>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TextBox 48"/>
            <p:cNvSpPr txBox="1"/>
            <p:nvPr/>
          </p:nvSpPr>
          <p:spPr>
            <a:xfrm>
              <a:off x="7031736" y="3656605"/>
              <a:ext cx="70408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1A1A1A"/>
                  </a:solidFill>
                  <a:latin typeface="Inter"/>
                </a:rPr>
                <a:t>Agent 171</a:t>
              </a:r>
            </a:p>
          </p:txBody>
        </p:sp>
        <p:sp>
          <p:nvSpPr>
            <p:cNvPr id="50" name="Rounded Rectangle 49"/>
            <p:cNvSpPr/>
            <p:nvPr/>
          </p:nvSpPr>
          <p:spPr>
            <a:xfrm>
              <a:off x="7927848" y="3593591"/>
              <a:ext cx="420623" cy="292608"/>
            </a:xfrm>
            <a:prstGeom prst="roundRect">
              <a:avLst>
                <a:gd name="adj" fmla="val 15625"/>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1" name="TextBox 50"/>
            <p:cNvSpPr txBox="1"/>
            <p:nvPr/>
          </p:nvSpPr>
          <p:spPr>
            <a:xfrm>
              <a:off x="7991856" y="3656605"/>
              <a:ext cx="2926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80.0</a:t>
              </a:r>
            </a:p>
          </p:txBody>
        </p:sp>
        <p:sp>
          <p:nvSpPr>
            <p:cNvPr id="52" name="TextBox 51"/>
            <p:cNvSpPr txBox="1"/>
            <p:nvPr/>
          </p:nvSpPr>
          <p:spPr>
            <a:xfrm>
              <a:off x="8540496" y="3656605"/>
              <a:ext cx="310896"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17</a:t>
              </a:r>
            </a:p>
          </p:txBody>
        </p:sp>
        <p:sp>
          <p:nvSpPr>
            <p:cNvPr id="53" name="TextBox 52"/>
            <p:cNvSpPr txBox="1"/>
            <p:nvPr/>
          </p:nvSpPr>
          <p:spPr>
            <a:xfrm>
              <a:off x="9107424" y="3656605"/>
              <a:ext cx="7040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S20</a:t>
              </a:r>
            </a:p>
          </p:txBody>
        </p:sp>
        <p:sp>
          <p:nvSpPr>
            <p:cNvPr id="54" name="TextBox 53"/>
            <p:cNvSpPr txBox="1"/>
            <p:nvPr/>
          </p:nvSpPr>
          <p:spPr>
            <a:xfrm>
              <a:off x="10067544" y="3656605"/>
              <a:ext cx="914400"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85</a:t>
              </a:r>
            </a:p>
          </p:txBody>
        </p:sp>
        <p:sp>
          <p:nvSpPr>
            <p:cNvPr id="55" name="Rectangle 54"/>
            <p:cNvSpPr/>
            <p:nvPr/>
          </p:nvSpPr>
          <p:spPr>
            <a:xfrm>
              <a:off x="6903720" y="3945445"/>
              <a:ext cx="420624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sp>
        <p:nvSpPr>
          <p:cNvPr id="56" name="TextBox 55"/>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     ·     Coaching priority = (85 − QA) × audits, summed. Higher = coach this team/agent first. It weights a real sample, not a one-off.</a:t>
            </a:r>
          </a:p>
        </p:txBody>
      </p:sp>
      <p:sp>
        <p:nvSpPr>
          <p:cNvPr id="57" name="TextBox 56"/>
          <p:cNvSpPr txBox="1"/>
          <p:nvPr/>
        </p:nvSpPr>
        <p:spPr>
          <a:xfrm>
            <a:off x="6903720" y="4187952"/>
            <a:ext cx="4846320" cy="174920"/>
          </a:xfrm>
          <a:prstGeom prst="rect">
            <a:avLst/>
          </a:prstGeom>
          <a:noFill/>
        </p:spPr>
        <p:txBody>
          <a:bodyPr wrap="square" lIns="0" tIns="0" rIns="0" bIns="0" anchor="t">
            <a:spAutoFit/>
          </a:bodyPr>
          <a:lstStyle/>
          <a:p>
            <a:pPr algn="l">
              <a:lnSpc>
                <a:spcPct val="115000"/>
              </a:lnSpc>
              <a:spcAft>
                <a:spcPts val="0"/>
              </a:spcAft>
            </a:pPr>
            <a:r>
              <a:rPr lang="es-CO" sz="1050" b="1" dirty="0" err="1"/>
              <a:t>Targeted</a:t>
            </a:r>
            <a:r>
              <a:rPr lang="es-CO" sz="1050" b="1" dirty="0"/>
              <a:t> Coaching </a:t>
            </a:r>
            <a:r>
              <a:rPr lang="es-CO" sz="1050" b="1" dirty="0" err="1"/>
              <a:t>Allocation</a:t>
            </a:r>
            <a:endParaRPr sz="1050" b="1" dirty="0">
              <a:solidFill>
                <a:srgbClr val="1A1A1A"/>
              </a:solidFill>
              <a:latin typeface="Inter"/>
            </a:endParaRPr>
          </a:p>
        </p:txBody>
      </p:sp>
      <p:sp>
        <p:nvSpPr>
          <p:cNvPr id="66" name="Rectangle 65"/>
          <p:cNvSpPr/>
          <p:nvPr/>
        </p:nvSpPr>
        <p:spPr>
          <a:xfrm>
            <a:off x="457200" y="4206240"/>
            <a:ext cx="6327648" cy="2121408"/>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457200" y="4206240"/>
            <a:ext cx="164592" cy="212140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26948" y="4301761"/>
            <a:ext cx="5788152" cy="199927"/>
          </a:xfrm>
          <a:prstGeom prst="rect">
            <a:avLst/>
          </a:prstGeom>
          <a:noFill/>
        </p:spPr>
        <p:txBody>
          <a:bodyPr wrap="square" lIns="0" tIns="0" rIns="0" bIns="0" anchor="t">
            <a:spAutoFit/>
          </a:bodyPr>
          <a:lstStyle/>
          <a:p>
            <a:pPr algn="l">
              <a:lnSpc>
                <a:spcPct val="115000"/>
              </a:lnSpc>
              <a:spcAft>
                <a:spcPts val="0"/>
              </a:spcAft>
            </a:pPr>
            <a:r>
              <a:rPr lang="en-US" sz="1200" b="1" dirty="0">
                <a:solidFill>
                  <a:srgbClr val="1A1A1A"/>
                </a:solidFill>
                <a:latin typeface="Inter"/>
              </a:rPr>
              <a:t>Metric Ceiling Compression: QA Homogeneity vs. CSAT Dispersion</a:t>
            </a:r>
            <a:endParaRPr sz="1200" b="1" dirty="0">
              <a:solidFill>
                <a:srgbClr val="1A1A1A"/>
              </a:solidFill>
              <a:latin typeface="Inter"/>
            </a:endParaRPr>
          </a:p>
        </p:txBody>
      </p:sp>
      <p:sp>
        <p:nvSpPr>
          <p:cNvPr id="71" name="Rectangle 1">
            <a:extLst>
              <a:ext uri="{FF2B5EF4-FFF2-40B4-BE49-F238E27FC236}">
                <a16:creationId xmlns:a16="http://schemas.microsoft.com/office/drawing/2014/main" id="{87457F9B-E1AC-5905-60B4-E13466F2AB0B}"/>
              </a:ext>
            </a:extLst>
          </p:cNvPr>
          <p:cNvSpPr>
            <a:spLocks noChangeArrowheads="1"/>
          </p:cNvSpPr>
          <p:nvPr/>
        </p:nvSpPr>
        <p:spPr bwMode="auto">
          <a:xfrm>
            <a:off x="744793" y="4698452"/>
            <a:ext cx="591597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a:ln>
                  <a:noFill/>
                </a:ln>
                <a:solidFill>
                  <a:schemeClr val="tx1"/>
                </a:solidFill>
                <a:effectLst/>
                <a:latin typeface="Arial" panose="020B0604020202020204" pitchFamily="34" charset="0"/>
              </a:rPr>
              <a:t>Score </a:t>
            </a:r>
            <a:r>
              <a:rPr kumimoji="0" lang="es-CO" altLang="es-CO" sz="1000" b="1" i="0" u="none" strike="noStrike" cap="none" normalizeH="0" baseline="0" dirty="0" err="1">
                <a:ln>
                  <a:noFill/>
                </a:ln>
                <a:solidFill>
                  <a:schemeClr val="tx1"/>
                </a:solidFill>
                <a:effectLst/>
                <a:latin typeface="Arial" panose="020B0604020202020204" pitchFamily="34" charset="0"/>
              </a:rPr>
              <a:t>Ceiling</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Saturation</a:t>
            </a:r>
            <a:r>
              <a:rPr kumimoji="0" lang="es-CO" altLang="es-CO" sz="1000" b="1" i="0" u="none" strike="noStrike" cap="none" normalizeH="0" baseline="0" dirty="0">
                <a:ln>
                  <a:noFill/>
                </a:ln>
                <a:solidFill>
                  <a:schemeClr val="tx1"/>
                </a:solidFill>
                <a:effectLst/>
                <a:latin typeface="Arial" panose="020B0604020202020204" pitchFamily="34" charset="0"/>
              </a:rPr>
              <a:t> (88% </a:t>
            </a:r>
            <a:r>
              <a:rPr kumimoji="0" lang="es-CO" altLang="es-CO" sz="1000" b="1" i="0" u="none" strike="noStrike" cap="none" normalizeH="0" baseline="0" dirty="0" err="1">
                <a:ln>
                  <a:noFill/>
                </a:ln>
                <a:solidFill>
                  <a:schemeClr val="tx1"/>
                </a:solidFill>
                <a:effectLst/>
                <a:latin typeface="Arial" panose="020B0604020202020204" pitchFamily="34" charset="0"/>
              </a:rPr>
              <a:t>Ceiling</a:t>
            </a:r>
            <a:r>
              <a:rPr kumimoji="0" lang="es-CO" altLang="es-CO" sz="1000" b="1" i="0" u="none" strike="noStrike" cap="none" normalizeH="0" baseline="0" dirty="0">
                <a:ln>
                  <a:noFill/>
                </a:ln>
                <a:solidFill>
                  <a:schemeClr val="tx1"/>
                </a:solidFill>
                <a:effectLst/>
                <a:latin typeface="Arial" panose="020B0604020202020204" pitchFamily="34" charset="0"/>
              </a:rPr>
              <a:t>):</a:t>
            </a:r>
            <a:r>
              <a:rPr kumimoji="0" lang="es-CO" altLang="es-CO" sz="1000" b="0" i="0" u="none" strike="noStrike" cap="none" normalizeH="0" baseline="0" dirty="0">
                <a:ln>
                  <a:noFill/>
                </a:ln>
                <a:solidFill>
                  <a:schemeClr val="tx1"/>
                </a:solidFill>
                <a:effectLst/>
                <a:latin typeface="Arial" panose="020B0604020202020204" pitchFamily="34" charset="0"/>
              </a:rPr>
              <a:t> 75% </a:t>
            </a:r>
            <a:r>
              <a:rPr kumimoji="0" lang="es-CO" altLang="es-CO" sz="1000" b="0" i="0" u="none" strike="noStrike" cap="none" normalizeH="0" baseline="0" dirty="0" err="1">
                <a:ln>
                  <a:noFill/>
                </a:ln>
                <a:solidFill>
                  <a:schemeClr val="tx1"/>
                </a:solidFill>
                <a:effectLst/>
                <a:latin typeface="Arial" panose="020B0604020202020204" pitchFamily="34" charset="0"/>
              </a:rPr>
              <a:t>of</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the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agent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floor</a:t>
            </a:r>
            <a:r>
              <a:rPr kumimoji="0" lang="es-CO" altLang="es-CO" sz="1000" b="0" i="0" u="none" strike="noStrike" cap="none" normalizeH="0" baseline="0" dirty="0">
                <a:ln>
                  <a:noFill/>
                </a:ln>
                <a:solidFill>
                  <a:schemeClr val="tx1"/>
                </a:solidFill>
                <a:effectLst/>
                <a:latin typeface="Arial" panose="020B0604020202020204" pitchFamily="34" charset="0"/>
              </a:rPr>
              <a:t> (Q1–Q3) scores </a:t>
            </a:r>
            <a:r>
              <a:rPr kumimoji="0" lang="es-CO" altLang="es-CO" sz="1000" b="0" i="0" u="none" strike="noStrike" cap="none" normalizeH="0" baseline="0" dirty="0" err="1">
                <a:ln>
                  <a:noFill/>
                </a:ln>
                <a:solidFill>
                  <a:schemeClr val="tx1"/>
                </a:solidFill>
                <a:effectLst/>
                <a:latin typeface="Arial" panose="020B0604020202020204" pitchFamily="34" charset="0"/>
              </a:rPr>
              <a:t>between</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a:ln>
                  <a:noFill/>
                </a:ln>
                <a:solidFill>
                  <a:schemeClr val="tx1"/>
                </a:solidFill>
                <a:effectLst/>
                <a:latin typeface="Arial" panose="020B0604020202020204" pitchFamily="34" charset="0"/>
              </a:rPr>
              <a:t>94.9 and 99.9 </a:t>
            </a:r>
            <a:r>
              <a:rPr kumimoji="0" lang="es-CO" altLang="es-CO" sz="1000" b="1" i="0" u="none" strike="noStrike" cap="none" normalizeH="0" baseline="0" dirty="0" err="1">
                <a:ln>
                  <a:noFill/>
                </a:ln>
                <a:solidFill>
                  <a:schemeClr val="tx1"/>
                </a:solidFill>
                <a:effectLst/>
                <a:latin typeface="Arial" panose="020B0604020202020204" pitchFamily="34" charset="0"/>
              </a:rPr>
              <a:t>on</a:t>
            </a:r>
            <a:r>
              <a:rPr kumimoji="0" lang="es-CO" altLang="es-CO" sz="1000" b="1" i="0" u="none" strike="noStrike" cap="none" normalizeH="0" baseline="0" dirty="0">
                <a:ln>
                  <a:noFill/>
                </a:ln>
                <a:solidFill>
                  <a:schemeClr val="tx1"/>
                </a:solidFill>
                <a:effectLst/>
                <a:latin typeface="Arial" panose="020B0604020202020204" pitchFamily="34" charset="0"/>
              </a:rPr>
              <a:t> QA</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driven</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by</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rubric</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leniency</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where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a:ln>
                  <a:noFill/>
                </a:ln>
                <a:solidFill>
                  <a:schemeClr val="tx1"/>
                </a:solidFill>
                <a:effectLst/>
                <a:latin typeface="Arial" panose="020B0604020202020204" pitchFamily="34" charset="0"/>
              </a:rPr>
              <a:t>88% </a:t>
            </a:r>
            <a:r>
              <a:rPr kumimoji="0" lang="es-CO" altLang="es-CO" sz="1000" b="1" i="0" u="none" strike="noStrike" cap="none" normalizeH="0" baseline="0" dirty="0" err="1">
                <a:ln>
                  <a:noFill/>
                </a:ln>
                <a:solidFill>
                  <a:schemeClr val="tx1"/>
                </a:solidFill>
                <a:effectLst/>
                <a:latin typeface="Arial" panose="020B0604020202020204" pitchFamily="34" charset="0"/>
              </a:rPr>
              <a:t>of</a:t>
            </a:r>
            <a:r>
              <a:rPr kumimoji="0" lang="es-CO" altLang="es-CO" sz="1000" b="1" i="0" u="none" strike="noStrike" cap="none" normalizeH="0" baseline="0" dirty="0">
                <a:ln>
                  <a:noFill/>
                </a:ln>
                <a:solidFill>
                  <a:schemeClr val="tx1"/>
                </a:solidFill>
                <a:effectLst/>
                <a:latin typeface="Arial" panose="020B0604020202020204" pitchFamily="34" charset="0"/>
              </a:rPr>
              <a:t> Chat </a:t>
            </a:r>
            <a:r>
              <a:rPr kumimoji="0" lang="es-CO" altLang="es-CO" sz="1000" b="1" i="0" u="none" strike="noStrike" cap="none" normalizeH="0" baseline="0" dirty="0" err="1">
                <a:ln>
                  <a:noFill/>
                </a:ln>
                <a:solidFill>
                  <a:schemeClr val="tx1"/>
                </a:solidFill>
                <a:effectLst/>
                <a:latin typeface="Arial" panose="020B0604020202020204" pitchFamily="34" charset="0"/>
              </a:rPr>
              <a:t>audits</a:t>
            </a:r>
            <a:r>
              <a:rPr kumimoji="0" lang="es-CO" altLang="es-CO" sz="1000" b="1" i="0" u="none" strike="noStrike" cap="none" normalizeH="0" baseline="0" dirty="0">
                <a:ln>
                  <a:noFill/>
                </a:ln>
                <a:solidFill>
                  <a:schemeClr val="tx1"/>
                </a:solidFill>
                <a:effectLst/>
                <a:latin typeface="Arial" panose="020B0604020202020204" pitchFamily="34" charset="0"/>
              </a:rPr>
              <a:t> hit </a:t>
            </a:r>
            <a:r>
              <a:rPr kumimoji="0" lang="es-CO" altLang="es-CO" sz="1000" b="1" i="0" u="none" strike="noStrike" cap="none" normalizeH="0" baseline="0" dirty="0" err="1">
                <a:ln>
                  <a:noFill/>
                </a:ln>
                <a:solidFill>
                  <a:schemeClr val="tx1"/>
                </a:solidFill>
                <a:effectLst/>
                <a:latin typeface="Arial" panose="020B0604020202020204" pitchFamily="34" charset="0"/>
              </a:rPr>
              <a:t>the</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maximum</a:t>
            </a:r>
            <a:r>
              <a:rPr kumimoji="0" lang="es-CO" altLang="es-CO" sz="1000" b="1" i="0" u="none" strike="noStrike" cap="none" normalizeH="0" baseline="0" dirty="0">
                <a:ln>
                  <a:noFill/>
                </a:ln>
                <a:solidFill>
                  <a:schemeClr val="tx1"/>
                </a:solidFill>
                <a:effectLst/>
                <a:latin typeface="Arial" panose="020B0604020202020204" pitchFamily="34" charset="0"/>
              </a:rPr>
              <a:t> score (100)</a:t>
            </a:r>
            <a:r>
              <a:rPr kumimoji="0" lang="es-CO" altLang="es-CO"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a:ln>
                  <a:noFill/>
                </a:ln>
                <a:solidFill>
                  <a:schemeClr val="tx1"/>
                </a:solidFill>
                <a:effectLst/>
                <a:latin typeface="Arial" panose="020B0604020202020204" pitchFamily="34" charset="0"/>
              </a:rPr>
              <a:t>Severe CSAT </a:t>
            </a:r>
            <a:r>
              <a:rPr kumimoji="0" lang="es-CO" altLang="es-CO" sz="1000" b="1" i="0" u="none" strike="noStrike" cap="none" normalizeH="0" baseline="0" dirty="0" err="1">
                <a:ln>
                  <a:noFill/>
                </a:ln>
                <a:solidFill>
                  <a:schemeClr val="tx1"/>
                </a:solidFill>
                <a:effectLst/>
                <a:latin typeface="Arial" panose="020B0604020202020204" pitchFamily="34" charset="0"/>
              </a:rPr>
              <a:t>Dispersion</a:t>
            </a:r>
            <a:r>
              <a:rPr kumimoji="0" lang="es-CO" altLang="es-CO" sz="1000" b="1" i="0" u="none" strike="noStrike" cap="none" normalizeH="0" baseline="0" dirty="0">
                <a:ln>
                  <a:noFill/>
                </a:ln>
                <a:solidFill>
                  <a:schemeClr val="tx1"/>
                </a:solidFill>
                <a:effectLst/>
                <a:latin typeface="Arial" panose="020B0604020202020204" pitchFamily="34" charset="0"/>
              </a:rPr>
              <a:t> (27.1% – 96.9%):</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While</a:t>
            </a:r>
            <a:r>
              <a:rPr kumimoji="0" lang="es-CO" altLang="es-CO" sz="1000" b="0" i="0" u="none" strike="noStrike" cap="none" normalizeH="0" baseline="0" dirty="0">
                <a:ln>
                  <a:noFill/>
                </a:ln>
                <a:solidFill>
                  <a:schemeClr val="tx1"/>
                </a:solidFill>
                <a:effectLst/>
                <a:latin typeface="Arial" panose="020B0604020202020204" pitchFamily="34" charset="0"/>
              </a:rPr>
              <a:t> QA </a:t>
            </a:r>
            <a:r>
              <a:rPr kumimoji="0" lang="es-CO" altLang="es-CO" sz="1000" b="0" i="0" u="none" strike="noStrike" cap="none" normalizeH="0" baseline="0" dirty="0" err="1">
                <a:ln>
                  <a:noFill/>
                </a:ln>
                <a:solidFill>
                  <a:schemeClr val="tx1"/>
                </a:solidFill>
                <a:effectLst/>
                <a:latin typeface="Arial" panose="020B0604020202020204" pitchFamily="34" charset="0"/>
              </a:rPr>
              <a:t>appears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uniformly</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compliant</a:t>
            </a:r>
            <a:r>
              <a:rPr kumimoji="0" lang="es-CO" altLang="es-CO" sz="1000" b="0" i="0" u="none" strike="noStrike" cap="none" normalizeH="0" baseline="0" dirty="0">
                <a:ln>
                  <a:noFill/>
                </a:ln>
                <a:solidFill>
                  <a:schemeClr val="tx1"/>
                </a:solidFill>
                <a:effectLst/>
                <a:latin typeface="Arial" panose="020B0604020202020204" pitchFamily="34" charset="0"/>
              </a:rPr>
              <a:t>, CSAT </a:t>
            </a:r>
            <a:r>
              <a:rPr kumimoji="0" lang="es-CO" altLang="es-CO" sz="1000" b="0" i="0" u="none" strike="noStrike" cap="none" normalizeH="0" baseline="0" dirty="0" err="1">
                <a:ln>
                  <a:noFill/>
                </a:ln>
                <a:solidFill>
                  <a:schemeClr val="tx1"/>
                </a:solidFill>
                <a:effectLst/>
                <a:latin typeface="Arial" panose="020B0604020202020204" pitchFamily="34" charset="0"/>
              </a:rPr>
              <a:t>exposes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massive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execution</a:t>
            </a:r>
            <a:r>
              <a:rPr kumimoji="0" lang="es-CO" altLang="es-CO" sz="1000" b="0" i="0" u="none" strike="noStrike" cap="none" normalizeH="0" baseline="0" dirty="0">
                <a:ln>
                  <a:noFill/>
                </a:ln>
                <a:solidFill>
                  <a:schemeClr val="tx1"/>
                </a:solidFill>
                <a:effectLst/>
                <a:latin typeface="Arial" panose="020B0604020202020204" pitchFamily="34" charset="0"/>
              </a:rPr>
              <a:t> gaps. </a:t>
            </a:r>
            <a:r>
              <a:rPr kumimoji="0" lang="es-CO" altLang="es-CO" sz="1000" b="0" i="0" u="none" strike="noStrike" cap="none" normalizeH="0" baseline="0" dirty="0" err="1">
                <a:ln>
                  <a:noFill/>
                </a:ln>
                <a:solidFill>
                  <a:schemeClr val="tx1"/>
                </a:solidFill>
                <a:effectLst/>
                <a:latin typeface="Arial" panose="020B0604020202020204" pitchFamily="34" charset="0"/>
              </a:rPr>
              <a:t>Only</a:t>
            </a:r>
            <a:r>
              <a:rPr kumimoji="0" lang="es-CO" altLang="es-CO" sz="1000" b="0" i="0" u="none" strike="noStrike" cap="none" normalizeH="0" baseline="0" dirty="0">
                <a:ln>
                  <a:noFill/>
                </a:ln>
                <a:solidFill>
                  <a:schemeClr val="tx1"/>
                </a:solidFill>
                <a:effectLst/>
                <a:latin typeface="Arial" panose="020B0604020202020204" pitchFamily="34" charset="0"/>
              </a:rPr>
              <a:t> Q1 (89.3%) </a:t>
            </a:r>
            <a:r>
              <a:rPr kumimoji="0" lang="es-CO" altLang="es-CO" sz="1000" b="0" i="0" u="none" strike="noStrike" cap="none" normalizeH="0" baseline="0" dirty="0" err="1">
                <a:ln>
                  <a:noFill/>
                </a:ln>
                <a:solidFill>
                  <a:schemeClr val="tx1"/>
                </a:solidFill>
                <a:effectLst/>
                <a:latin typeface="Arial" panose="020B0604020202020204" pitchFamily="34" charset="0"/>
              </a:rPr>
              <a:t>meets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the</a:t>
            </a:r>
            <a:r>
              <a:rPr kumimoji="0" lang="es-CO" altLang="es-CO" sz="1000" b="0" i="0" u="none" strike="noStrike" cap="none" normalizeH="0" baseline="0" dirty="0">
                <a:ln>
                  <a:noFill/>
                </a:ln>
                <a:solidFill>
                  <a:schemeClr val="tx1"/>
                </a:solidFill>
                <a:effectLst/>
                <a:latin typeface="Arial" panose="020B0604020202020204" pitchFamily="34" charset="0"/>
              </a:rPr>
              <a:t> 85.0% CSAT </a:t>
            </a:r>
            <a:r>
              <a:rPr kumimoji="0" lang="es-CO" altLang="es-CO" sz="1000" b="0" i="0" u="none" strike="noStrike" cap="none" normalizeH="0" baseline="0" dirty="0" err="1">
                <a:ln>
                  <a:noFill/>
                </a:ln>
                <a:solidFill>
                  <a:schemeClr val="tx1"/>
                </a:solidFill>
                <a:effectLst/>
                <a:latin typeface="Arial" panose="020B0604020202020204" pitchFamily="34" charset="0"/>
              </a:rPr>
              <a:t>goal</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a:ln>
                  <a:noFill/>
                </a:ln>
                <a:solidFill>
                  <a:schemeClr val="tx1"/>
                </a:solidFill>
                <a:effectLst/>
                <a:latin typeface="Arial" panose="020B0604020202020204" pitchFamily="34" charset="0"/>
              </a:rPr>
              <a:t>Q2, Q3, and Q4 </a:t>
            </a:r>
            <a:r>
              <a:rPr kumimoji="0" lang="es-CO" altLang="es-CO" sz="1000" b="1" i="0" u="none" strike="noStrike" cap="none" normalizeH="0" baseline="0" dirty="0" err="1">
                <a:ln>
                  <a:noFill/>
                </a:ln>
                <a:solidFill>
                  <a:schemeClr val="tx1"/>
                </a:solidFill>
                <a:effectLst/>
                <a:latin typeface="Arial" panose="020B0604020202020204" pitchFamily="34" charset="0"/>
              </a:rPr>
              <a:t>all</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fail</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the</a:t>
            </a:r>
            <a:r>
              <a:rPr kumimoji="0" lang="es-CO" altLang="es-CO" sz="1000" b="1" i="0" u="none" strike="noStrike" cap="none" normalizeH="0" baseline="0" dirty="0">
                <a:ln>
                  <a:noFill/>
                </a:ln>
                <a:solidFill>
                  <a:schemeClr val="tx1"/>
                </a:solidFill>
                <a:effectLst/>
                <a:latin typeface="Arial" panose="020B0604020202020204" pitchFamily="34" charset="0"/>
              </a:rPr>
              <a:t> target (64.4%–82.1%)</a:t>
            </a:r>
            <a:r>
              <a:rPr kumimoji="0" lang="es-CO" altLang="es-CO"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latin typeface="Arial" panose="020B0604020202020204" pitchFamily="34" charset="0"/>
              </a:rPr>
              <a:t>Diagnostic</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Invalidation</a:t>
            </a:r>
            <a:r>
              <a:rPr kumimoji="0" lang="es-CO" altLang="es-CO" sz="1000" b="1" i="0" u="none" strike="noStrike" cap="none" normalizeH="0" baseline="0" dirty="0">
                <a:ln>
                  <a:noFill/>
                </a:ln>
                <a:solidFill>
                  <a:schemeClr val="tx1"/>
                </a:solidFill>
                <a:effectLst/>
                <a:latin typeface="Arial" panose="020B0604020202020204" pitchFamily="34" charset="0"/>
              </a:rPr>
              <a:t>:</a:t>
            </a:r>
            <a:r>
              <a:rPr kumimoji="0" lang="es-CO" altLang="es-CO" sz="1000" b="0" i="0" u="none" strike="noStrike" cap="none" normalizeH="0" baseline="0" dirty="0">
                <a:ln>
                  <a:noFill/>
                </a:ln>
                <a:solidFill>
                  <a:schemeClr val="tx1"/>
                </a:solidFill>
                <a:effectLst/>
                <a:latin typeface="Arial" panose="020B0604020202020204" pitchFamily="34" charset="0"/>
              </a:rPr>
              <a:t> QA </a:t>
            </a:r>
            <a:r>
              <a:rPr kumimoji="0" lang="es-CO" altLang="es-CO" sz="1000" b="0" i="0" u="none" strike="noStrike" cap="none" normalizeH="0" baseline="0" dirty="0" err="1">
                <a:ln>
                  <a:noFill/>
                </a:ln>
                <a:solidFill>
                  <a:schemeClr val="tx1"/>
                </a:solidFill>
                <a:effectLst/>
                <a:latin typeface="Arial" panose="020B0604020202020204" pitchFamily="34" charset="0"/>
              </a:rPr>
              <a:t>fails</a:t>
            </a:r>
            <a:r>
              <a:rPr kumimoji="0" lang="es-CO" altLang="es-CO" sz="1000" b="0" i="0" u="none" strike="noStrike" cap="none" normalizeH="0" baseline="0" dirty="0">
                <a:ln>
                  <a:noFill/>
                </a:ln>
                <a:solidFill>
                  <a:schemeClr val="tx1"/>
                </a:solidFill>
                <a:effectLst/>
                <a:latin typeface="Arial" panose="020B0604020202020204" pitchFamily="34" charset="0"/>
              </a:rPr>
              <a:t> as a performance </a:t>
            </a:r>
            <a:r>
              <a:rPr kumimoji="0" lang="es-CO" altLang="es-CO" sz="1000" b="0" i="0" u="none" strike="noStrike" cap="none" normalizeH="0" baseline="0" dirty="0" err="1">
                <a:ln>
                  <a:noFill/>
                </a:ln>
                <a:solidFill>
                  <a:schemeClr val="tx1"/>
                </a:solidFill>
                <a:effectLst/>
                <a:latin typeface="Arial" panose="020B0604020202020204" pitchFamily="34" charset="0"/>
              </a:rPr>
              <a:t>discriminator</a:t>
            </a:r>
            <a:r>
              <a:rPr kumimoji="0" lang="es-CO" altLang="es-CO" sz="1000" b="0" i="0" u="none" strike="noStrike" cap="none" normalizeH="0" baseline="0" dirty="0">
                <a:ln>
                  <a:noFill/>
                </a:ln>
                <a:solidFill>
                  <a:schemeClr val="tx1"/>
                </a:solidFill>
                <a:effectLst/>
                <a:latin typeface="Arial" panose="020B0604020202020204" pitchFamily="34" charset="0"/>
              </a:rPr>
              <a:t>. Ranking </a:t>
            </a:r>
            <a:r>
              <a:rPr kumimoji="0" lang="es-CO" altLang="es-CO" sz="1000" b="0" i="0" u="none" strike="noStrike" cap="none" normalizeH="0" baseline="0" dirty="0" err="1">
                <a:ln>
                  <a:noFill/>
                </a:ln>
                <a:solidFill>
                  <a:schemeClr val="tx1"/>
                </a:solidFill>
                <a:effectLst/>
                <a:latin typeface="Arial" panose="020B0604020202020204" pitchFamily="34" charset="0"/>
              </a:rPr>
              <a:t>agents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by</a:t>
            </a:r>
            <a:r>
              <a:rPr kumimoji="0" lang="es-CO" altLang="es-CO" sz="1000" b="0" i="0" u="none" strike="noStrike" cap="none" normalizeH="0" baseline="0" dirty="0">
                <a:ln>
                  <a:noFill/>
                </a:ln>
                <a:solidFill>
                  <a:schemeClr val="tx1"/>
                </a:solidFill>
                <a:effectLst/>
                <a:latin typeface="Arial" panose="020B0604020202020204" pitchFamily="34" charset="0"/>
              </a:rPr>
              <a:t> QA </a:t>
            </a:r>
            <a:r>
              <a:rPr kumimoji="0" lang="es-CO" altLang="es-CO" sz="1000" b="0" i="0" u="none" strike="noStrike" cap="none" normalizeH="0" baseline="0" dirty="0" err="1">
                <a:ln>
                  <a:noFill/>
                </a:ln>
                <a:solidFill>
                  <a:schemeClr val="tx1"/>
                </a:solidFill>
                <a:effectLst/>
                <a:latin typeface="Arial" panose="020B0604020202020204" pitchFamily="34" charset="0"/>
              </a:rPr>
              <a:t>masks</a:t>
            </a:r>
            <a:r>
              <a:rPr kumimoji="0" lang="es-CO" altLang="es-CO" sz="1000" b="0" i="0" u="none" strike="noStrike" cap="none" normalizeH="0" baseline="0" dirty="0">
                <a:ln>
                  <a:noFill/>
                </a:ln>
                <a:solidFill>
                  <a:schemeClr val="tx1"/>
                </a:solidFill>
                <a:effectLst/>
                <a:latin typeface="Arial" panose="020B0604020202020204" pitchFamily="34" charset="0"/>
              </a:rPr>
              <a:t> real </a:t>
            </a:r>
            <a:r>
              <a:rPr kumimoji="0" lang="es-CO" altLang="es-CO" sz="1000" b="0" i="0" u="none" strike="noStrike" cap="none" normalizeH="0" baseline="0" dirty="0" err="1">
                <a:ln>
                  <a:noFill/>
                </a:ln>
                <a:solidFill>
                  <a:schemeClr val="tx1"/>
                </a:solidFill>
                <a:effectLst/>
                <a:latin typeface="Arial" panose="020B0604020202020204" pitchFamily="34" charset="0"/>
              </a:rPr>
              <a:t>underperformance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that</a:t>
            </a:r>
            <a:r>
              <a:rPr kumimoji="0" lang="es-CO" altLang="es-CO" sz="1000" b="0" i="0" u="none" strike="noStrike" cap="none" normalizeH="0" baseline="0" dirty="0">
                <a:ln>
                  <a:noFill/>
                </a:ln>
                <a:solidFill>
                  <a:schemeClr val="tx1"/>
                </a:solidFill>
                <a:effectLst/>
                <a:latin typeface="Arial" panose="020B0604020202020204" pitchFamily="34" charset="0"/>
              </a:rPr>
              <a:t> CSAT </a:t>
            </a:r>
            <a:r>
              <a:rPr kumimoji="0" lang="es-CO" altLang="es-CO" sz="1000" b="0" i="0" u="none" strike="noStrike" cap="none" normalizeH="0" baseline="0" dirty="0" err="1">
                <a:ln>
                  <a:noFill/>
                </a:ln>
                <a:solidFill>
                  <a:schemeClr val="tx1"/>
                </a:solidFill>
                <a:effectLst/>
                <a:latin typeface="Arial" panose="020B0604020202020204" pitchFamily="34" charset="0"/>
              </a:rPr>
              <a:t>clearly</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isolates</a:t>
            </a:r>
            <a:r>
              <a:rPr kumimoji="0" lang="es-CO" altLang="es-CO" sz="1000" b="0" i="0" u="none" strike="noStrike" cap="none" normalizeH="0" baseline="0" dirty="0">
                <a:ln>
                  <a:noFill/>
                </a:ln>
                <a:solidFill>
                  <a:schemeClr val="tx1"/>
                </a:solidFill>
                <a:effectLst/>
                <a:latin typeface="Arial" panose="020B0604020202020204" pitchFamily="34" charset="0"/>
              </a:rPr>
              <a:t>.</a:t>
            </a:r>
          </a:p>
        </p:txBody>
      </p:sp>
      <p:sp>
        <p:nvSpPr>
          <p:cNvPr id="73" name="Rectangle 3">
            <a:extLst>
              <a:ext uri="{FF2B5EF4-FFF2-40B4-BE49-F238E27FC236}">
                <a16:creationId xmlns:a16="http://schemas.microsoft.com/office/drawing/2014/main" id="{49295FE6-438A-8D62-7868-8880B304BE16}"/>
              </a:ext>
            </a:extLst>
          </p:cNvPr>
          <p:cNvSpPr>
            <a:spLocks noChangeArrowheads="1"/>
          </p:cNvSpPr>
          <p:nvPr/>
        </p:nvSpPr>
        <p:spPr bwMode="auto">
          <a:xfrm>
            <a:off x="6940438" y="4406294"/>
            <a:ext cx="466235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a:ln>
                  <a:noFill/>
                </a:ln>
                <a:solidFill>
                  <a:schemeClr val="tx1"/>
                </a:solidFill>
                <a:effectLst/>
                <a:latin typeface="Arial" panose="020B0604020202020204" pitchFamily="34" charset="0"/>
              </a:rPr>
              <a:t>High-</a:t>
            </a:r>
            <a:r>
              <a:rPr kumimoji="0" lang="es-CO" altLang="es-CO" sz="1000" b="1" i="0" u="none" strike="noStrike" cap="none" normalizeH="0" baseline="0" dirty="0" err="1">
                <a:ln>
                  <a:noFill/>
                </a:ln>
                <a:solidFill>
                  <a:schemeClr val="tx1"/>
                </a:solidFill>
                <a:effectLst/>
                <a:latin typeface="Arial" panose="020B0604020202020204" pitchFamily="34" charset="0"/>
              </a:rPr>
              <a:t>Concentration</a:t>
            </a:r>
            <a:r>
              <a:rPr kumimoji="0" lang="es-CO" altLang="es-CO" sz="1000" b="1" i="0" u="none" strike="noStrike" cap="none" normalizeH="0" baseline="0" dirty="0">
                <a:ln>
                  <a:noFill/>
                </a:ln>
                <a:solidFill>
                  <a:schemeClr val="tx1"/>
                </a:solidFill>
                <a:effectLst/>
                <a:latin typeface="Arial" panose="020B0604020202020204" pitchFamily="34" charset="0"/>
              </a:rPr>
              <a:t> QA </a:t>
            </a:r>
            <a:r>
              <a:rPr kumimoji="0" lang="es-CO" altLang="es-CO" sz="1000" b="1" i="0" u="none" strike="noStrike" cap="none" normalizeH="0" baseline="0" dirty="0" err="1">
                <a:ln>
                  <a:noFill/>
                </a:ln>
                <a:solidFill>
                  <a:schemeClr val="tx1"/>
                </a:solidFill>
                <a:effectLst/>
                <a:latin typeface="Arial" panose="020B0604020202020204" pitchFamily="34" charset="0"/>
              </a:rPr>
              <a:t>Liability</a:t>
            </a:r>
            <a:r>
              <a:rPr kumimoji="0" lang="es-CO" altLang="es-CO" sz="1000" b="1" i="0" u="none" strike="noStrike" cap="none" normalizeH="0" baseline="0" dirty="0">
                <a:ln>
                  <a:noFill/>
                </a:ln>
                <a:solidFill>
                  <a:schemeClr val="tx1"/>
                </a:solidFill>
                <a:effectLst/>
                <a:latin typeface="Arial" panose="020B0604020202020204" pitchFamily="34" charset="0"/>
              </a:rPr>
              <a:t>:</a:t>
            </a:r>
            <a:r>
              <a:rPr kumimoji="0" lang="es-CO" altLang="es-CO" sz="1000" b="0" i="0" u="none" strike="noStrike" cap="none" normalizeH="0" baseline="0" dirty="0">
                <a:ln>
                  <a:noFill/>
                </a:ln>
                <a:solidFill>
                  <a:schemeClr val="tx1"/>
                </a:solidFill>
                <a:effectLst/>
                <a:latin typeface="Arial" panose="020B0604020202020204" pitchFamily="34" charset="0"/>
              </a:rPr>
              <a:t> 26 </a:t>
            </a:r>
            <a:r>
              <a:rPr kumimoji="0" lang="es-CO" altLang="es-CO" sz="1000" b="0" i="0" u="none" strike="noStrike" cap="none" normalizeH="0" baseline="0" dirty="0" err="1">
                <a:ln>
                  <a:noFill/>
                </a:ln>
                <a:solidFill>
                  <a:schemeClr val="tx1"/>
                </a:solidFill>
                <a:effectLst/>
                <a:latin typeface="Arial" panose="020B0604020202020204" pitchFamily="34" charset="0"/>
              </a:rPr>
              <a:t>agents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fail</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the</a:t>
            </a:r>
            <a:r>
              <a:rPr kumimoji="0" lang="es-CO" altLang="es-CO" sz="1000" b="0" i="0" u="none" strike="noStrike" cap="none" normalizeH="0" baseline="0" dirty="0">
                <a:ln>
                  <a:noFill/>
                </a:ln>
                <a:solidFill>
                  <a:schemeClr val="tx1"/>
                </a:solidFill>
                <a:effectLst/>
                <a:latin typeface="Arial" panose="020B0604020202020204" pitchFamily="34" charset="0"/>
              </a:rPr>
              <a:t> 85.0 QA </a:t>
            </a:r>
            <a:r>
              <a:rPr kumimoji="0" lang="es-CO" altLang="es-CO" sz="1000" b="0" i="0" u="none" strike="noStrike" cap="none" normalizeH="0" baseline="0" dirty="0" err="1">
                <a:ln>
                  <a:noFill/>
                </a:ln>
                <a:solidFill>
                  <a:schemeClr val="tx1"/>
                </a:solidFill>
                <a:effectLst/>
                <a:latin typeface="Arial" panose="020B0604020202020204" pitchFamily="34" charset="0"/>
              </a:rPr>
              <a:t>goal</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Concentrating</a:t>
            </a:r>
            <a:r>
              <a:rPr kumimoji="0" lang="es-CO" altLang="es-CO" sz="1000" b="0" i="0" u="none" strike="noStrike" cap="none" normalizeH="0" baseline="0" dirty="0">
                <a:ln>
                  <a:noFill/>
                </a:ln>
                <a:solidFill>
                  <a:schemeClr val="tx1"/>
                </a:solidFill>
                <a:effectLst/>
                <a:latin typeface="Arial" panose="020B0604020202020204" pitchFamily="34" charset="0"/>
              </a:rPr>
              <a:t> coaching </a:t>
            </a:r>
            <a:r>
              <a:rPr kumimoji="0" lang="es-CO" altLang="es-CO" sz="1000" b="0" i="0" u="none" strike="noStrike" cap="none" normalizeH="0" baseline="0" dirty="0" err="1">
                <a:ln>
                  <a:noFill/>
                </a:ln>
                <a:solidFill>
                  <a:schemeClr val="tx1"/>
                </a:solidFill>
                <a:effectLst/>
                <a:latin typeface="Arial" panose="020B0604020202020204" pitchFamily="34" charset="0"/>
              </a:rPr>
              <a:t>on</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the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a:ln>
                  <a:noFill/>
                </a:ln>
                <a:solidFill>
                  <a:schemeClr val="tx1"/>
                </a:solidFill>
                <a:effectLst/>
                <a:latin typeface="Arial" panose="020B0604020202020204" pitchFamily="34" charset="0"/>
              </a:rPr>
              <a:t>top 5 </a:t>
            </a:r>
            <a:r>
              <a:rPr kumimoji="0" lang="es-CO" altLang="es-CO" sz="1000" b="1" i="0" u="none" strike="noStrike" cap="none" normalizeH="0" baseline="0" dirty="0" err="1">
                <a:ln>
                  <a:noFill/>
                </a:ln>
                <a:solidFill>
                  <a:schemeClr val="tx1"/>
                </a:solidFill>
                <a:effectLst/>
                <a:latin typeface="Arial" panose="020B0604020202020204" pitchFamily="34" charset="0"/>
              </a:rPr>
              <a:t>outliers</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resolves</a:t>
            </a:r>
            <a:r>
              <a:rPr kumimoji="0" lang="es-CO" altLang="es-CO" sz="1000" b="1" i="0" u="none" strike="noStrike" cap="none" normalizeH="0" baseline="0" dirty="0">
                <a:ln>
                  <a:noFill/>
                </a:ln>
                <a:solidFill>
                  <a:schemeClr val="tx1"/>
                </a:solidFill>
                <a:effectLst/>
                <a:latin typeface="Arial" panose="020B0604020202020204" pitchFamily="34" charset="0"/>
              </a:rPr>
              <a:t> 55% </a:t>
            </a:r>
            <a:r>
              <a:rPr kumimoji="0" lang="es-CO" altLang="es-CO" sz="1000" b="1" i="0" u="none" strike="noStrike" cap="none" normalizeH="0" baseline="0" dirty="0" err="1">
                <a:ln>
                  <a:noFill/>
                </a:ln>
                <a:solidFill>
                  <a:schemeClr val="tx1"/>
                </a:solidFill>
                <a:effectLst/>
                <a:latin typeface="Arial" panose="020B0604020202020204" pitchFamily="34" charset="0"/>
              </a:rPr>
              <a:t>of</a:t>
            </a:r>
            <a:r>
              <a:rPr kumimoji="0" lang="es-CO" altLang="es-CO" sz="1000" b="1" i="0" u="none" strike="noStrike" cap="none" normalizeH="0" baseline="0" dirty="0">
                <a:ln>
                  <a:noFill/>
                </a:ln>
                <a:solidFill>
                  <a:schemeClr val="tx1"/>
                </a:solidFill>
                <a:effectLst/>
                <a:latin typeface="Arial" panose="020B0604020202020204" pitchFamily="34" charset="0"/>
              </a:rPr>
              <a:t> total </a:t>
            </a:r>
            <a:r>
              <a:rPr kumimoji="0" lang="es-CO" altLang="es-CO" sz="1000" b="1" i="0" u="none" strike="noStrike" cap="none" normalizeH="0" baseline="0" dirty="0" err="1">
                <a:ln>
                  <a:noFill/>
                </a:ln>
                <a:solidFill>
                  <a:schemeClr val="tx1"/>
                </a:solidFill>
                <a:effectLst/>
                <a:latin typeface="Arial" panose="020B0604020202020204" pitchFamily="34" charset="0"/>
              </a:rPr>
              <a:t>floor</a:t>
            </a:r>
            <a:r>
              <a:rPr kumimoji="0" lang="es-CO" altLang="es-CO" sz="1000" b="1" i="0" u="none" strike="noStrike" cap="none" normalizeH="0" baseline="0" dirty="0">
                <a:ln>
                  <a:noFill/>
                </a:ln>
                <a:solidFill>
                  <a:schemeClr val="tx1"/>
                </a:solidFill>
                <a:effectLst/>
                <a:latin typeface="Arial" panose="020B0604020202020204" pitchFamily="34" charset="0"/>
              </a:rPr>
              <a:t> coaching </a:t>
            </a:r>
            <a:r>
              <a:rPr kumimoji="0" lang="es-CO" altLang="es-CO" sz="1000" b="1" i="0" u="none" strike="noStrike" cap="none" normalizeH="0" baseline="0" dirty="0" err="1">
                <a:ln>
                  <a:noFill/>
                </a:ln>
                <a:solidFill>
                  <a:schemeClr val="tx1"/>
                </a:solidFill>
                <a:effectLst/>
                <a:latin typeface="Arial" panose="020B0604020202020204" pitchFamily="34" charset="0"/>
              </a:rPr>
              <a:t>liability</a:t>
            </a:r>
            <a:r>
              <a:rPr kumimoji="0" lang="es-CO" altLang="es-CO" sz="1000" b="0" i="0" u="none" strike="noStrike" cap="none" normalizeH="0" baseline="0" dirty="0">
                <a:ln>
                  <a:noFill/>
                </a:ln>
                <a:solidFill>
                  <a:schemeClr val="tx1"/>
                </a:solidFill>
                <a:effectLst/>
                <a:latin typeface="Arial" panose="020B0604020202020204" pitchFamily="34" charset="0"/>
              </a:rPr>
              <a:t> (led </a:t>
            </a:r>
            <a:r>
              <a:rPr kumimoji="0" lang="es-CO" altLang="es-CO" sz="1000" b="0" i="0" u="none" strike="noStrike" cap="none" normalizeH="0" baseline="0" dirty="0" err="1">
                <a:ln>
                  <a:noFill/>
                </a:ln>
                <a:solidFill>
                  <a:schemeClr val="tx1"/>
                </a:solidFill>
                <a:effectLst/>
                <a:latin typeface="Arial" panose="020B0604020202020204" pitchFamily="34" charset="0"/>
              </a:rPr>
              <a:t>by</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Agent</a:t>
            </a:r>
            <a:r>
              <a:rPr kumimoji="0" lang="es-CO" altLang="es-CO" sz="1000" b="0" i="0" u="none" strike="noStrike" cap="none" normalizeH="0" baseline="0" dirty="0">
                <a:ln>
                  <a:noFill/>
                </a:ln>
                <a:solidFill>
                  <a:schemeClr val="tx1"/>
                </a:solidFill>
                <a:effectLst/>
                <a:latin typeface="Arial" panose="020B0604020202020204" pitchFamily="34" charset="0"/>
              </a:rPr>
              <a:t> 228 </a:t>
            </a:r>
            <a:r>
              <a:rPr kumimoji="0" lang="es-CO" altLang="es-CO" sz="1000" b="0" i="0" u="none" strike="noStrike" cap="none" normalizeH="0" baseline="0" dirty="0" err="1">
                <a:ln>
                  <a:noFill/>
                </a:ln>
                <a:solidFill>
                  <a:schemeClr val="tx1"/>
                </a:solidFill>
                <a:effectLst/>
                <a:latin typeface="Arial" panose="020B0604020202020204" pitchFamily="34" charset="0"/>
              </a:rPr>
              <a:t>with</a:t>
            </a:r>
            <a:r>
              <a:rPr kumimoji="0" lang="es-CO" altLang="es-CO" sz="1000" b="0" i="0" u="none" strike="noStrike" cap="none" normalizeH="0" baseline="0" dirty="0">
                <a:ln>
                  <a:noFill/>
                </a:ln>
                <a:solidFill>
                  <a:schemeClr val="tx1"/>
                </a:solidFill>
                <a:effectLst/>
                <a:latin typeface="Arial" panose="020B0604020202020204" pitchFamily="34" charset="0"/>
              </a:rPr>
              <a:t> a </a:t>
            </a:r>
            <a:r>
              <a:rPr kumimoji="0" lang="es-CO" altLang="es-CO" sz="1000" b="0" i="0" u="none" strike="noStrike" cap="none" normalizeH="0" baseline="0" dirty="0" err="1">
                <a:ln>
                  <a:noFill/>
                </a:ln>
                <a:solidFill>
                  <a:schemeClr val="tx1"/>
                </a:solidFill>
                <a:effectLst/>
                <a:latin typeface="Arial" panose="020B0604020202020204" pitchFamily="34" charset="0"/>
              </a:rPr>
              <a:t>priority</a:t>
            </a:r>
            <a:r>
              <a:rPr kumimoji="0" lang="es-CO" altLang="es-CO" sz="1000" b="0" i="0" u="none" strike="noStrike" cap="none" normalizeH="0" baseline="0" dirty="0">
                <a:ln>
                  <a:noFill/>
                </a:ln>
                <a:solidFill>
                  <a:schemeClr val="tx1"/>
                </a:solidFill>
                <a:effectLst/>
                <a:latin typeface="Arial" panose="020B0604020202020204" pitchFamily="34" charset="0"/>
              </a:rPr>
              <a:t> score </a:t>
            </a:r>
            <a:r>
              <a:rPr kumimoji="0" lang="es-CO" altLang="es-CO" sz="1000" b="0" i="0" u="none" strike="noStrike" cap="none" normalizeH="0" baseline="0" dirty="0" err="1">
                <a:ln>
                  <a:noFill/>
                </a:ln>
                <a:solidFill>
                  <a:schemeClr val="tx1"/>
                </a:solidFill>
                <a:effectLst/>
                <a:latin typeface="Arial" panose="020B0604020202020204" pitchFamily="34" charset="0"/>
              </a:rPr>
              <a:t>of</a:t>
            </a:r>
            <a:r>
              <a:rPr kumimoji="0" lang="es-CO" altLang="es-CO" sz="1000" b="0" i="0" u="none" strike="noStrike" cap="none" normalizeH="0" baseline="0" dirty="0">
                <a:ln>
                  <a:noFill/>
                </a:ln>
                <a:solidFill>
                  <a:schemeClr val="tx1"/>
                </a:solidFill>
                <a:effectLst/>
                <a:latin typeface="Arial" panose="020B0604020202020204" pitchFamily="34" charset="0"/>
              </a:rPr>
              <a:t> 245).</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latin typeface="Arial" panose="020B0604020202020204" pitchFamily="34" charset="0"/>
              </a:rPr>
              <a:t>Cohort</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Disconnect</a:t>
            </a:r>
            <a:r>
              <a:rPr kumimoji="0" lang="es-CO" altLang="es-CO" sz="1000" b="1" i="0" u="none" strike="noStrike" cap="none" normalizeH="0" baseline="0" dirty="0">
                <a:ln>
                  <a:noFill/>
                </a:ln>
                <a:solidFill>
                  <a:schemeClr val="tx1"/>
                </a:solidFill>
                <a:effectLst/>
                <a:latin typeface="Arial" panose="020B0604020202020204" pitchFamily="34" charset="0"/>
              </a:rPr>
              <a:t> (QA vs. CSAT):</a:t>
            </a:r>
            <a:r>
              <a:rPr kumimoji="0" lang="es-CO" altLang="es-CO" sz="1000" b="0" i="0" u="none" strike="noStrike" cap="none" normalizeH="0" baseline="0" dirty="0">
                <a:ln>
                  <a:noFill/>
                </a:ln>
                <a:solidFill>
                  <a:schemeClr val="tx1"/>
                </a:solidFill>
                <a:effectLst/>
                <a:latin typeface="Arial" panose="020B0604020202020204" pitchFamily="34" charset="0"/>
              </a:rPr>
              <a:t> QA Q4 (42 </a:t>
            </a:r>
            <a:r>
              <a:rPr kumimoji="0" lang="es-CO" altLang="es-CO" sz="1000" b="0" i="0" u="none" strike="noStrike" cap="none" normalizeH="0" baseline="0" dirty="0" err="1">
                <a:ln>
                  <a:noFill/>
                </a:ln>
                <a:solidFill>
                  <a:schemeClr val="tx1"/>
                </a:solidFill>
                <a:effectLst/>
                <a:latin typeface="Arial" panose="020B0604020202020204" pitchFamily="34" charset="0"/>
              </a:rPr>
              <a:t>agents</a:t>
            </a:r>
            <a:r>
              <a:rPr kumimoji="0" lang="es-CO" altLang="es-CO" sz="1000" b="0" i="0" u="none" strike="noStrike" cap="none" normalizeH="0" baseline="0" dirty="0">
                <a:ln>
                  <a:noFill/>
                </a:ln>
                <a:solidFill>
                  <a:schemeClr val="tx1"/>
                </a:solidFill>
                <a:effectLst/>
                <a:latin typeface="Arial" panose="020B0604020202020204" pitchFamily="34" charset="0"/>
              </a:rPr>
              <a:t>, 82.4 </a:t>
            </a:r>
            <a:r>
              <a:rPr kumimoji="0" lang="es-CO" altLang="es-CO" sz="1000" b="0" i="0" u="none" strike="noStrike" cap="none" normalizeH="0" baseline="0" dirty="0" err="1">
                <a:ln>
                  <a:noFill/>
                </a:ln>
                <a:solidFill>
                  <a:schemeClr val="tx1"/>
                </a:solidFill>
                <a:effectLst/>
                <a:latin typeface="Arial" panose="020B0604020202020204" pitchFamily="34" charset="0"/>
              </a:rPr>
              <a:t>avg</a:t>
            </a:r>
            <a:r>
              <a:rPr kumimoji="0" lang="es-CO" altLang="es-CO" sz="1000" b="0" i="0" u="none" strike="noStrike" cap="none" normalizeH="0" baseline="0" dirty="0">
                <a:ln>
                  <a:noFill/>
                </a:ln>
                <a:solidFill>
                  <a:schemeClr val="tx1"/>
                </a:solidFill>
                <a:effectLst/>
                <a:latin typeface="Arial" panose="020B0604020202020204" pitchFamily="34" charset="0"/>
              </a:rPr>
              <a:t>) and CSAT Q4 (76 </a:t>
            </a:r>
            <a:r>
              <a:rPr kumimoji="0" lang="es-CO" altLang="es-CO" sz="1000" b="0" i="0" u="none" strike="noStrike" cap="none" normalizeH="0" baseline="0" dirty="0" err="1">
                <a:ln>
                  <a:noFill/>
                </a:ln>
                <a:solidFill>
                  <a:schemeClr val="tx1"/>
                </a:solidFill>
                <a:effectLst/>
                <a:latin typeface="Arial" panose="020B0604020202020204" pitchFamily="34" charset="0"/>
              </a:rPr>
              <a:t>agents</a:t>
            </a:r>
            <a:r>
              <a:rPr kumimoji="0" lang="es-CO" altLang="es-CO" sz="1000" b="0" i="0" u="none" strike="noStrike" cap="none" normalizeH="0" baseline="0" dirty="0">
                <a:ln>
                  <a:noFill/>
                </a:ln>
                <a:solidFill>
                  <a:schemeClr val="tx1"/>
                </a:solidFill>
                <a:effectLst/>
                <a:latin typeface="Arial" panose="020B0604020202020204" pitchFamily="34" charset="0"/>
              </a:rPr>
              <a:t>, 64.4% </a:t>
            </a:r>
            <a:r>
              <a:rPr kumimoji="0" lang="es-CO" altLang="es-CO" sz="1000" b="0" i="0" u="none" strike="noStrike" cap="none" normalizeH="0" baseline="0" dirty="0" err="1">
                <a:ln>
                  <a:noFill/>
                </a:ln>
                <a:solidFill>
                  <a:schemeClr val="tx1"/>
                </a:solidFill>
                <a:effectLst/>
                <a:latin typeface="Arial" panose="020B0604020202020204" pitchFamily="34" charset="0"/>
              </a:rPr>
              <a:t>avg</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comprise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mostly</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different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individuals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proving</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compliance</a:t>
            </a:r>
            <a:r>
              <a:rPr kumimoji="0" lang="es-CO" altLang="es-CO" sz="1000" b="0" i="0" u="none" strike="noStrike" cap="none" normalizeH="0" baseline="0" dirty="0">
                <a:ln>
                  <a:noFill/>
                </a:ln>
                <a:solidFill>
                  <a:schemeClr val="tx1"/>
                </a:solidFill>
                <a:effectLst/>
                <a:latin typeface="Arial" panose="020B0604020202020204" pitchFamily="34" charset="0"/>
              </a:rPr>
              <a:t> coaching </a:t>
            </a:r>
            <a:r>
              <a:rPr kumimoji="0" lang="es-CO" altLang="es-CO" sz="1000" b="0" i="0" u="none" strike="noStrike" cap="none" normalizeH="0" baseline="0" dirty="0" err="1">
                <a:ln>
                  <a:noFill/>
                </a:ln>
                <a:solidFill>
                  <a:schemeClr val="tx1"/>
                </a:solidFill>
                <a:effectLst/>
                <a:latin typeface="Arial" panose="020B0604020202020204" pitchFamily="34" charset="0"/>
              </a:rPr>
              <a:t>will</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not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automatically</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solve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customer</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dissatisfaction</a:t>
            </a:r>
            <a:r>
              <a:rPr kumimoji="0" lang="es-CO" altLang="es-CO"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latin typeface="Arial" panose="020B0604020202020204" pitchFamily="34" charset="0"/>
              </a:rPr>
              <a:t>Tenure</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Degradation</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Risk</a:t>
            </a:r>
            <a:r>
              <a:rPr kumimoji="0" lang="es-CO" altLang="es-CO" sz="1000" b="1" i="0" u="none" strike="noStrike" cap="none" normalizeH="0" baseline="0" dirty="0">
                <a:ln>
                  <a:noFill/>
                </a:ln>
                <a:solidFill>
                  <a:schemeClr val="tx1"/>
                </a:solidFill>
                <a:effectLst/>
                <a:latin typeface="Arial" panose="020B0604020202020204" pitchFamily="34" charset="0"/>
              </a:rPr>
              <a:t> (&gt;1 </a:t>
            </a:r>
            <a:r>
              <a:rPr kumimoji="0" lang="es-CO" altLang="es-CO" sz="1000" b="1" i="0" u="none" strike="noStrike" cap="none" normalizeH="0" baseline="0" dirty="0" err="1">
                <a:ln>
                  <a:noFill/>
                </a:ln>
                <a:solidFill>
                  <a:schemeClr val="tx1"/>
                </a:solidFill>
                <a:effectLst/>
                <a:latin typeface="Arial" panose="020B0604020202020204" pitchFamily="34" charset="0"/>
              </a:rPr>
              <a:t>Year</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Tenure</a:t>
            </a:r>
            <a:r>
              <a:rPr kumimoji="0" lang="es-CO" altLang="es-CO" sz="1000" b="1" i="0" u="none" strike="noStrike" cap="none" normalizeH="0" baseline="0" dirty="0">
                <a:ln>
                  <a:noFill/>
                </a:ln>
                <a:solidFill>
                  <a:schemeClr val="tx1"/>
                </a:solidFill>
                <a:effectLst/>
                <a:latin typeface="Arial" panose="020B0604020202020204" pitchFamily="34" charset="0"/>
              </a:rPr>
              <a: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Agents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with</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a:ln>
                  <a:noFill/>
                </a:ln>
                <a:solidFill>
                  <a:schemeClr val="tx1"/>
                </a:solidFill>
                <a:effectLst/>
                <a:latin typeface="Arial" panose="020B0604020202020204" pitchFamily="34" charset="0"/>
              </a:rPr>
              <a:t>&gt;1 </a:t>
            </a:r>
            <a:r>
              <a:rPr kumimoji="0" lang="es-CO" altLang="es-CO" sz="1000" b="1" i="0" u="none" strike="noStrike" cap="none" normalizeH="0" baseline="0" dirty="0" err="1">
                <a:ln>
                  <a:noFill/>
                </a:ln>
                <a:solidFill>
                  <a:schemeClr val="tx1"/>
                </a:solidFill>
                <a:effectLst/>
                <a:latin typeface="Arial" panose="020B0604020202020204" pitchFamily="34" charset="0"/>
              </a:rPr>
              <a:t>year</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tenure</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represent</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the</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worst-performing</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cohort</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across</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both</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metrics</a:t>
            </a:r>
            <a:r>
              <a:rPr kumimoji="0" lang="es-CO" altLang="es-CO" sz="1000" b="0" i="0" u="none" strike="noStrike" cap="none" normalizeH="0" baseline="0" dirty="0">
                <a:ln>
                  <a:noFill/>
                </a:ln>
                <a:solidFill>
                  <a:schemeClr val="tx1"/>
                </a:solidFill>
                <a:effectLst/>
                <a:latin typeface="Arial" panose="020B0604020202020204" pitchFamily="34" charset="0"/>
              </a:rPr>
              <a:t>—</a:t>
            </a:r>
            <a:r>
              <a:rPr kumimoji="0" lang="es-CO" altLang="es-CO" sz="1000" b="0" i="0" u="none" strike="noStrike" cap="none" normalizeH="0" baseline="0" dirty="0" err="1">
                <a:ln>
                  <a:noFill/>
                </a:ln>
                <a:solidFill>
                  <a:schemeClr val="tx1"/>
                </a:solidFill>
                <a:effectLst/>
                <a:latin typeface="Arial" panose="020B0604020202020204" pitchFamily="34" charset="0"/>
              </a:rPr>
              <a:t>registering</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the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only</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group</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below</a:t>
            </a:r>
            <a:r>
              <a:rPr kumimoji="0" lang="es-CO" altLang="es-CO" sz="1000" b="0" i="0" u="none" strike="noStrike" cap="none" normalizeH="0" baseline="0" dirty="0">
                <a:ln>
                  <a:noFill/>
                </a:ln>
                <a:solidFill>
                  <a:schemeClr val="tx1"/>
                </a:solidFill>
                <a:effectLst/>
                <a:latin typeface="Arial" panose="020B0604020202020204" pitchFamily="34" charset="0"/>
              </a:rPr>
              <a:t> QA target (</a:t>
            </a:r>
            <a:r>
              <a:rPr kumimoji="0" lang="es-CO" altLang="es-CO" sz="1000" b="1" i="0" u="none" strike="noStrike" cap="none" normalizeH="0" baseline="0" dirty="0">
                <a:ln>
                  <a:noFill/>
                </a:ln>
                <a:solidFill>
                  <a:schemeClr val="tx1"/>
                </a:solidFill>
                <a:effectLst/>
                <a:latin typeface="Arial" panose="020B0604020202020204" pitchFamily="34" charset="0"/>
              </a:rPr>
              <a:t>83.97</a:t>
            </a:r>
            <a:r>
              <a:rPr kumimoji="0" lang="es-CO" altLang="es-CO" sz="1000" b="0" i="0" u="none" strike="noStrike" cap="none" normalizeH="0" baseline="0" dirty="0">
                <a:ln>
                  <a:noFill/>
                </a:ln>
                <a:solidFill>
                  <a:schemeClr val="tx1"/>
                </a:solidFill>
                <a:effectLst/>
                <a:latin typeface="Arial" panose="020B0604020202020204" pitchFamily="34" charset="0"/>
              </a:rPr>
              <a:t>) and </a:t>
            </a:r>
            <a:r>
              <a:rPr kumimoji="0" lang="es-CO" altLang="es-CO" sz="1000" b="0" i="0" u="none" strike="noStrike" cap="none" normalizeH="0" baseline="0" dirty="0" err="1">
                <a:ln>
                  <a:noFill/>
                </a:ln>
                <a:solidFill>
                  <a:schemeClr val="tx1"/>
                </a:solidFill>
                <a:effectLst/>
                <a:latin typeface="Arial" panose="020B0604020202020204" pitchFamily="34" charset="0"/>
              </a:rPr>
              <a:t>the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lowest</a:t>
            </a:r>
            <a:r>
              <a:rPr kumimoji="0" lang="es-CO" altLang="es-CO" sz="1000" b="0" i="0" u="none" strike="noStrike" cap="none" normalizeH="0" baseline="0" dirty="0">
                <a:ln>
                  <a:noFill/>
                </a:ln>
                <a:solidFill>
                  <a:schemeClr val="tx1"/>
                </a:solidFill>
                <a:effectLst/>
                <a:latin typeface="Arial" panose="020B0604020202020204" pitchFamily="34" charset="0"/>
              </a:rPr>
              <a:t> CSAT </a:t>
            </a:r>
            <a:r>
              <a:rPr kumimoji="0" lang="es-CO" altLang="es-CO" sz="1000" b="0" i="0" u="none" strike="noStrike" cap="none" normalizeH="0" baseline="0" dirty="0" err="1">
                <a:ln>
                  <a:noFill/>
                </a:ln>
                <a:solidFill>
                  <a:schemeClr val="tx1"/>
                </a:solidFill>
                <a:effectLst/>
                <a:latin typeface="Arial" panose="020B0604020202020204" pitchFamily="34" charset="0"/>
              </a:rPr>
              <a:t>average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a:ln>
                  <a:noFill/>
                </a:ln>
                <a:solidFill>
                  <a:schemeClr val="tx1"/>
                </a:solidFill>
                <a:effectLst/>
                <a:latin typeface="Arial" panose="020B0604020202020204" pitchFamily="34" charset="0"/>
              </a:rPr>
              <a:t>74.1%</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signaling</a:t>
            </a:r>
            <a:r>
              <a:rPr kumimoji="0" lang="es-CO" altLang="es-CO" sz="1000" b="0" i="0" u="none" strike="noStrike" cap="none" normalizeH="0" baseline="0" dirty="0">
                <a:ln>
                  <a:noFill/>
                </a:ln>
                <a:solidFill>
                  <a:schemeClr val="tx1"/>
                </a:solidFill>
                <a:effectLst/>
                <a:latin typeface="Arial" panose="020B0604020202020204" pitchFamily="34" charset="0"/>
              </a:rPr>
              <a:t> procedural </a:t>
            </a:r>
            <a:r>
              <a:rPr kumimoji="0" lang="es-CO" altLang="es-CO" sz="1000" b="0" i="0" u="none" strike="noStrike" cap="none" normalizeH="0" baseline="0" dirty="0" err="1">
                <a:ln>
                  <a:noFill/>
                </a:ln>
                <a:solidFill>
                  <a:schemeClr val="tx1"/>
                </a:solidFill>
                <a:effectLst/>
                <a:latin typeface="Arial" panose="020B0604020202020204" pitchFamily="34" charset="0"/>
              </a:rPr>
              <a:t>drift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or</a:t>
            </a:r>
            <a:r>
              <a:rPr kumimoji="0" lang="es-CO" altLang="es-CO" sz="1000" b="0" i="0" u="none" strike="noStrike" cap="none" normalizeH="0" baseline="0" dirty="0">
                <a:ln>
                  <a:noFill/>
                </a:ln>
                <a:solidFill>
                  <a:schemeClr val="tx1"/>
                </a:solidFill>
                <a:effectLst/>
                <a:latin typeface="Arial" panose="020B0604020202020204" pitchFamily="34" charset="0"/>
              </a:rPr>
              <a:t> burnout.</a:t>
            </a:r>
          </a:p>
        </p:txBody>
      </p:sp>
      <p:sp>
        <p:nvSpPr>
          <p:cNvPr id="75" name="CuadroTexto 74">
            <a:extLst>
              <a:ext uri="{FF2B5EF4-FFF2-40B4-BE49-F238E27FC236}">
                <a16:creationId xmlns:a16="http://schemas.microsoft.com/office/drawing/2014/main" id="{9772475C-47AB-103A-6E22-6EBB3DEFF139}"/>
              </a:ext>
            </a:extLst>
          </p:cNvPr>
          <p:cNvSpPr txBox="1"/>
          <p:nvPr/>
        </p:nvSpPr>
        <p:spPr>
          <a:xfrm>
            <a:off x="7099554" y="3759639"/>
            <a:ext cx="4522175" cy="369332"/>
          </a:xfrm>
          <a:prstGeom prst="rect">
            <a:avLst/>
          </a:prstGeom>
          <a:noFill/>
        </p:spPr>
        <p:txBody>
          <a:bodyPr wrap="square">
            <a:spAutoFit/>
          </a:bodyPr>
          <a:lstStyle/>
          <a:p>
            <a:pPr algn="ctr"/>
            <a:r>
              <a:rPr lang="en-US" sz="900" dirty="0"/>
              <a:t>Coaching Priority Formula: (Target 85 – QA </a:t>
            </a:r>
            <a:r>
              <a:rPr lang="en-US" sz="900" dirty="0" err="1"/>
              <a:t>Scor</a:t>
            </a:r>
            <a:r>
              <a:rPr lang="en-US" sz="900" dirty="0"/>
              <a:t>) x Audits. Prioritizes high-volume operational liability </a:t>
            </a:r>
          </a:p>
        </p:txBody>
      </p:sp>
      <p:sp>
        <p:nvSpPr>
          <p:cNvPr id="76" name="Rectángulo 75">
            <a:extLst>
              <a:ext uri="{FF2B5EF4-FFF2-40B4-BE49-F238E27FC236}">
                <a16:creationId xmlns:a16="http://schemas.microsoft.com/office/drawing/2014/main" id="{2E3E2A11-3432-B805-637F-47069B660C84}"/>
              </a:ext>
            </a:extLst>
          </p:cNvPr>
          <p:cNvSpPr/>
          <p:nvPr/>
        </p:nvSpPr>
        <p:spPr>
          <a:xfrm>
            <a:off x="6819014" y="990353"/>
            <a:ext cx="5089522" cy="5442452"/>
          </a:xfrm>
          <a:prstGeom prst="rect">
            <a:avLst/>
          </a:prstGeom>
          <a:noFill/>
          <a:ln>
            <a:solidFill>
              <a:schemeClr val="tx1"/>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Who needs attention: supervisor view</a:t>
            </a:r>
          </a:p>
        </p:txBody>
      </p:sp>
      <p:sp>
        <p:nvSpPr>
          <p:cNvPr id="8" name="TextBox 7"/>
          <p:cNvSpPr txBox="1"/>
          <p:nvPr/>
        </p:nvSpPr>
        <p:spPr>
          <a:xfrm>
            <a:off x="1645920" y="530352"/>
            <a:ext cx="9601200" cy="158248"/>
          </a:xfrm>
          <a:prstGeom prst="rect">
            <a:avLst/>
          </a:prstGeom>
          <a:noFill/>
        </p:spPr>
        <p:txBody>
          <a:bodyPr wrap="square" lIns="0" tIns="0" rIns="0" bIns="0" anchor="t">
            <a:spAutoFit/>
          </a:bodyPr>
          <a:lstStyle/>
          <a:p>
            <a:pPr algn="l">
              <a:lnSpc>
                <a:spcPct val="115000"/>
              </a:lnSpc>
              <a:spcAft>
                <a:spcPts val="0"/>
              </a:spcAft>
            </a:pPr>
            <a:r>
              <a:rPr lang="en-US" sz="950" b="0" dirty="0">
                <a:solidFill>
                  <a:srgbClr val="9CA3AF"/>
                </a:solidFill>
                <a:latin typeface="Inter"/>
              </a:rPr>
              <a:t>Supervisor team matrix (31 supervisors / 20+ audits threshold): Compliance vs. CSAT execution disconnect and localized team risk.</a:t>
            </a:r>
            <a:endParaRPr sz="950" b="0" dirty="0">
              <a:solidFill>
                <a:srgbClr val="9CA3AF"/>
              </a:solidFill>
              <a:latin typeface="Inter"/>
            </a:endParaRP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22</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supervisor_scatter.png"/>
          <p:cNvPicPr>
            <a:picLocks noChangeAspect="1"/>
          </p:cNvPicPr>
          <p:nvPr/>
        </p:nvPicPr>
        <p:blipFill>
          <a:blip r:embed="rId3"/>
          <a:stretch>
            <a:fillRect/>
          </a:stretch>
        </p:blipFill>
        <p:spPr>
          <a:xfrm>
            <a:off x="661416" y="1147572"/>
            <a:ext cx="5293353" cy="3429000"/>
          </a:xfrm>
          <a:prstGeom prst="rect">
            <a:avLst/>
          </a:prstGeom>
          <a:effectLst>
            <a:outerShdw blurRad="50800" dist="38100" dir="2700000" algn="tl" rotWithShape="0">
              <a:prstClr val="black">
                <a:alpha val="40000"/>
              </a:prstClr>
            </a:outerShdw>
          </a:effectLst>
        </p:spPr>
      </p:pic>
      <p:sp>
        <p:nvSpPr>
          <p:cNvPr id="12" name="TextBox 11"/>
          <p:cNvSpPr txBox="1"/>
          <p:nvPr/>
        </p:nvSpPr>
        <p:spPr>
          <a:xfrm>
            <a:off x="6629400" y="1207008"/>
            <a:ext cx="5120640" cy="174920"/>
          </a:xfrm>
          <a:prstGeom prst="rect">
            <a:avLst/>
          </a:prstGeom>
          <a:noFill/>
        </p:spPr>
        <p:txBody>
          <a:bodyPr wrap="square" lIns="0" tIns="0" rIns="0" bIns="0" anchor="t">
            <a:spAutoFit/>
          </a:bodyPr>
          <a:lstStyle/>
          <a:p>
            <a:pPr algn="l">
              <a:lnSpc>
                <a:spcPct val="115000"/>
              </a:lnSpc>
              <a:spcAft>
                <a:spcPts val="0"/>
              </a:spcAft>
            </a:pPr>
            <a:r>
              <a:rPr lang="en-US" sz="1050" b="1" dirty="0">
                <a:solidFill>
                  <a:srgbClr val="1A1A1A"/>
                </a:solidFill>
                <a:latin typeface="Inter"/>
              </a:rPr>
              <a:t>Supervisor Quadrant Analysis &amp; Structural Team Clustering</a:t>
            </a:r>
            <a:endParaRPr sz="1050" b="1" dirty="0">
              <a:solidFill>
                <a:srgbClr val="1A1A1A"/>
              </a:solidFill>
              <a:latin typeface="Inter"/>
            </a:endParaRPr>
          </a:p>
        </p:txBody>
      </p:sp>
      <p:grpSp>
        <p:nvGrpSpPr>
          <p:cNvPr id="70" name="Grupo 69">
            <a:extLst>
              <a:ext uri="{FF2B5EF4-FFF2-40B4-BE49-F238E27FC236}">
                <a16:creationId xmlns:a16="http://schemas.microsoft.com/office/drawing/2014/main" id="{A9DBA0FB-CAC2-AFBD-CC5A-C7DC3593A26E}"/>
              </a:ext>
            </a:extLst>
          </p:cNvPr>
          <p:cNvGrpSpPr/>
          <p:nvPr/>
        </p:nvGrpSpPr>
        <p:grpSpPr>
          <a:xfrm>
            <a:off x="6629400" y="1517904"/>
            <a:ext cx="5029200" cy="2437066"/>
            <a:chOff x="6629400" y="1517904"/>
            <a:chExt cx="5029200" cy="2437066"/>
          </a:xfrm>
        </p:grpSpPr>
        <p:sp>
          <p:nvSpPr>
            <p:cNvPr id="13" name="Rectangle 12"/>
            <p:cNvSpPr/>
            <p:nvPr/>
          </p:nvSpPr>
          <p:spPr>
            <a:xfrm>
              <a:off x="6629400" y="1517904"/>
              <a:ext cx="502920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57416" y="1611675"/>
              <a:ext cx="704088" cy="141642"/>
            </a:xfrm>
            <a:prstGeom prst="rect">
              <a:avLst/>
            </a:prstGeom>
            <a:noFill/>
          </p:spPr>
          <p:txBody>
            <a:bodyPr wrap="square" lIns="0" tIns="0" rIns="0" bIns="0" anchor="ctr">
              <a:spAutoFit/>
            </a:bodyPr>
            <a:lstStyle/>
            <a:p>
              <a:pPr algn="ctr">
                <a:lnSpc>
                  <a:spcPct val="115000"/>
                </a:lnSpc>
                <a:spcAft>
                  <a:spcPts val="0"/>
                </a:spcAft>
              </a:pPr>
              <a:r>
                <a:rPr sz="850" b="1">
                  <a:solidFill>
                    <a:srgbClr val="FFFFFF"/>
                  </a:solidFill>
                  <a:latin typeface="Inter"/>
                </a:rPr>
                <a:t>Team</a:t>
              </a:r>
            </a:p>
          </p:txBody>
        </p:sp>
        <p:sp>
          <p:nvSpPr>
            <p:cNvPr id="15" name="TextBox 14"/>
            <p:cNvSpPr txBox="1"/>
            <p:nvPr/>
          </p:nvSpPr>
          <p:spPr>
            <a:xfrm>
              <a:off x="7717536" y="1611675"/>
              <a:ext cx="1042415" cy="141642"/>
            </a:xfrm>
            <a:prstGeom prst="rect">
              <a:avLst/>
            </a:prstGeom>
            <a:noFill/>
          </p:spPr>
          <p:txBody>
            <a:bodyPr wrap="square" lIns="0" tIns="0" rIns="0" bIns="0" anchor="ctr">
              <a:spAutoFit/>
            </a:bodyPr>
            <a:lstStyle/>
            <a:p>
              <a:pPr algn="ctr">
                <a:lnSpc>
                  <a:spcPct val="115000"/>
                </a:lnSpc>
                <a:spcAft>
                  <a:spcPts val="0"/>
                </a:spcAft>
              </a:pPr>
              <a:r>
                <a:rPr sz="850" b="1">
                  <a:solidFill>
                    <a:srgbClr val="FFFFFF"/>
                  </a:solidFill>
                  <a:latin typeface="Inter"/>
                </a:rPr>
                <a:t>Below QA 85</a:t>
              </a:r>
            </a:p>
          </p:txBody>
        </p:sp>
        <p:sp>
          <p:nvSpPr>
            <p:cNvPr id="16" name="TextBox 15"/>
            <p:cNvSpPr txBox="1"/>
            <p:nvPr/>
          </p:nvSpPr>
          <p:spPr>
            <a:xfrm>
              <a:off x="9015984" y="1611675"/>
              <a:ext cx="384047" cy="141642"/>
            </a:xfrm>
            <a:prstGeom prst="rect">
              <a:avLst/>
            </a:prstGeom>
            <a:noFill/>
          </p:spPr>
          <p:txBody>
            <a:bodyPr wrap="square" lIns="0" tIns="0" rIns="0" bIns="0" anchor="ctr">
              <a:spAutoFit/>
            </a:bodyPr>
            <a:lstStyle/>
            <a:p>
              <a:pPr algn="ctr">
                <a:lnSpc>
                  <a:spcPct val="115000"/>
                </a:lnSpc>
                <a:spcAft>
                  <a:spcPts val="0"/>
                </a:spcAft>
              </a:pPr>
              <a:r>
                <a:rPr sz="850" b="1">
                  <a:solidFill>
                    <a:srgbClr val="FFFFFF"/>
                  </a:solidFill>
                  <a:latin typeface="Inter"/>
                </a:rPr>
                <a:t>Audits</a:t>
              </a:r>
            </a:p>
          </p:txBody>
        </p:sp>
        <p:sp>
          <p:nvSpPr>
            <p:cNvPr id="17" name="TextBox 16"/>
            <p:cNvSpPr txBox="1"/>
            <p:nvPr/>
          </p:nvSpPr>
          <p:spPr>
            <a:xfrm>
              <a:off x="9656064" y="1611675"/>
              <a:ext cx="704088" cy="141642"/>
            </a:xfrm>
            <a:prstGeom prst="rect">
              <a:avLst/>
            </a:prstGeom>
            <a:noFill/>
          </p:spPr>
          <p:txBody>
            <a:bodyPr wrap="square" lIns="0" tIns="0" rIns="0" bIns="0" anchor="ctr">
              <a:spAutoFit/>
            </a:bodyPr>
            <a:lstStyle/>
            <a:p>
              <a:pPr algn="ctr">
                <a:lnSpc>
                  <a:spcPct val="115000"/>
                </a:lnSpc>
                <a:spcAft>
                  <a:spcPts val="0"/>
                </a:spcAft>
              </a:pPr>
              <a:r>
                <a:rPr sz="850" b="1">
                  <a:solidFill>
                    <a:srgbClr val="FFFFFF"/>
                  </a:solidFill>
                  <a:latin typeface="Inter"/>
                </a:rPr>
                <a:t>Worst QA</a:t>
              </a:r>
            </a:p>
          </p:txBody>
        </p:sp>
        <p:sp>
          <p:nvSpPr>
            <p:cNvPr id="18" name="TextBox 17"/>
            <p:cNvSpPr txBox="1"/>
            <p:nvPr/>
          </p:nvSpPr>
          <p:spPr>
            <a:xfrm>
              <a:off x="10616184" y="1611675"/>
              <a:ext cx="914400" cy="141642"/>
            </a:xfrm>
            <a:prstGeom prst="rect">
              <a:avLst/>
            </a:prstGeom>
            <a:noFill/>
          </p:spPr>
          <p:txBody>
            <a:bodyPr wrap="square" lIns="0" tIns="0" rIns="0" bIns="0" anchor="ctr">
              <a:spAutoFit/>
            </a:bodyPr>
            <a:lstStyle/>
            <a:p>
              <a:pPr algn="ctr">
                <a:lnSpc>
                  <a:spcPct val="115000"/>
                </a:lnSpc>
                <a:spcAft>
                  <a:spcPts val="0"/>
                </a:spcAft>
              </a:pPr>
              <a:r>
                <a:rPr sz="850" b="1">
                  <a:solidFill>
                    <a:srgbClr val="FFFFFF"/>
                  </a:solidFill>
                  <a:latin typeface="Inter"/>
                </a:rPr>
                <a:t>Coaching priority</a:t>
              </a:r>
            </a:p>
          </p:txBody>
        </p:sp>
        <p:sp>
          <p:nvSpPr>
            <p:cNvPr id="19" name="TextBox 18"/>
            <p:cNvSpPr txBox="1"/>
            <p:nvPr/>
          </p:nvSpPr>
          <p:spPr>
            <a:xfrm>
              <a:off x="6757416" y="1990747"/>
              <a:ext cx="704088" cy="133306"/>
            </a:xfrm>
            <a:prstGeom prst="rect">
              <a:avLst/>
            </a:prstGeom>
            <a:noFill/>
          </p:spPr>
          <p:txBody>
            <a:bodyPr wrap="square" lIns="0" tIns="0" rIns="0" bIns="0" anchor="ctr">
              <a:spAutoFit/>
            </a:bodyPr>
            <a:lstStyle/>
            <a:p>
              <a:pPr algn="ctr">
                <a:lnSpc>
                  <a:spcPct val="115000"/>
                </a:lnSpc>
                <a:spcAft>
                  <a:spcPts val="0"/>
                </a:spcAft>
              </a:pPr>
              <a:r>
                <a:rPr sz="800" b="1">
                  <a:solidFill>
                    <a:srgbClr val="1A1A1A"/>
                  </a:solidFill>
                  <a:latin typeface="Inter"/>
                </a:rPr>
                <a:t>S13</a:t>
              </a:r>
            </a:p>
          </p:txBody>
        </p:sp>
        <p:sp>
          <p:nvSpPr>
            <p:cNvPr id="20" name="TextBox 19"/>
            <p:cNvSpPr txBox="1"/>
            <p:nvPr/>
          </p:nvSpPr>
          <p:spPr>
            <a:xfrm>
              <a:off x="7717536" y="1990747"/>
              <a:ext cx="1042415" cy="133306"/>
            </a:xfrm>
            <a:prstGeom prst="rect">
              <a:avLst/>
            </a:prstGeom>
            <a:noFill/>
          </p:spPr>
          <p:txBody>
            <a:bodyPr wrap="square" lIns="0" tIns="0" rIns="0" bIns="0" anchor="ctr">
              <a:spAutoFit/>
            </a:bodyPr>
            <a:lstStyle/>
            <a:p>
              <a:pPr algn="ctr">
                <a:lnSpc>
                  <a:spcPct val="115000"/>
                </a:lnSpc>
                <a:spcAft>
                  <a:spcPts val="0"/>
                </a:spcAft>
              </a:pPr>
              <a:r>
                <a:rPr sz="800" b="0">
                  <a:solidFill>
                    <a:srgbClr val="4B5563"/>
                  </a:solidFill>
                  <a:latin typeface="Inter"/>
                </a:rPr>
                <a:t>3</a:t>
              </a:r>
            </a:p>
          </p:txBody>
        </p:sp>
        <p:sp>
          <p:nvSpPr>
            <p:cNvPr id="21" name="TextBox 20"/>
            <p:cNvSpPr txBox="1"/>
            <p:nvPr/>
          </p:nvSpPr>
          <p:spPr>
            <a:xfrm>
              <a:off x="9015984" y="1990747"/>
              <a:ext cx="384047" cy="133306"/>
            </a:xfrm>
            <a:prstGeom prst="rect">
              <a:avLst/>
            </a:prstGeom>
            <a:noFill/>
          </p:spPr>
          <p:txBody>
            <a:bodyPr wrap="square" lIns="0" tIns="0" rIns="0" bIns="0" anchor="ctr">
              <a:spAutoFit/>
            </a:bodyPr>
            <a:lstStyle/>
            <a:p>
              <a:pPr algn="ctr">
                <a:lnSpc>
                  <a:spcPct val="115000"/>
                </a:lnSpc>
                <a:spcAft>
                  <a:spcPts val="0"/>
                </a:spcAft>
              </a:pPr>
              <a:r>
                <a:rPr sz="800" b="0">
                  <a:solidFill>
                    <a:srgbClr val="4B5563"/>
                  </a:solidFill>
                  <a:latin typeface="Inter"/>
                </a:rPr>
                <a:t>22</a:t>
              </a:r>
            </a:p>
          </p:txBody>
        </p:sp>
        <p:sp>
          <p:nvSpPr>
            <p:cNvPr id="22" name="Rounded Rectangle 21"/>
            <p:cNvSpPr/>
            <p:nvPr/>
          </p:nvSpPr>
          <p:spPr>
            <a:xfrm>
              <a:off x="9592056" y="1911095"/>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56064" y="1990747"/>
              <a:ext cx="704088" cy="133306"/>
            </a:xfrm>
            <a:prstGeom prst="rect">
              <a:avLst/>
            </a:prstGeom>
            <a:noFill/>
          </p:spPr>
          <p:txBody>
            <a:bodyPr wrap="square" lIns="0" tIns="0" rIns="0" bIns="0" anchor="ctr">
              <a:spAutoFit/>
            </a:bodyPr>
            <a:lstStyle/>
            <a:p>
              <a:pPr algn="ctr">
                <a:lnSpc>
                  <a:spcPct val="115000"/>
                </a:lnSpc>
                <a:spcAft>
                  <a:spcPts val="0"/>
                </a:spcAft>
              </a:pPr>
              <a:r>
                <a:rPr sz="800" b="1">
                  <a:solidFill>
                    <a:srgbClr val="E11D2E"/>
                  </a:solidFill>
                  <a:latin typeface="Inter"/>
                </a:rPr>
                <a:t>36.0</a:t>
              </a:r>
            </a:p>
          </p:txBody>
        </p:sp>
        <p:sp>
          <p:nvSpPr>
            <p:cNvPr id="24" name="TextBox 23"/>
            <p:cNvSpPr txBox="1"/>
            <p:nvPr/>
          </p:nvSpPr>
          <p:spPr>
            <a:xfrm>
              <a:off x="10616184" y="1990747"/>
              <a:ext cx="914400" cy="133306"/>
            </a:xfrm>
            <a:prstGeom prst="rect">
              <a:avLst/>
            </a:prstGeom>
            <a:noFill/>
          </p:spPr>
          <p:txBody>
            <a:bodyPr wrap="square" lIns="0" tIns="0" rIns="0" bIns="0" anchor="ctr">
              <a:spAutoFit/>
            </a:bodyPr>
            <a:lstStyle/>
            <a:p>
              <a:pPr algn="ctr">
                <a:lnSpc>
                  <a:spcPct val="115000"/>
                </a:lnSpc>
                <a:spcAft>
                  <a:spcPts val="0"/>
                </a:spcAft>
              </a:pPr>
              <a:r>
                <a:rPr sz="800" b="0">
                  <a:solidFill>
                    <a:srgbClr val="4B5563"/>
                  </a:solidFill>
                  <a:latin typeface="Inter"/>
                </a:rPr>
                <a:t>280</a:t>
              </a:r>
            </a:p>
          </p:txBody>
        </p:sp>
        <p:sp>
          <p:nvSpPr>
            <p:cNvPr id="25" name="Rectangle 24"/>
            <p:cNvSpPr/>
            <p:nvPr/>
          </p:nvSpPr>
          <p:spPr>
            <a:xfrm>
              <a:off x="6629400" y="2262949"/>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629400" y="2267712"/>
              <a:ext cx="502920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57416" y="2411371"/>
              <a:ext cx="704088" cy="133306"/>
            </a:xfrm>
            <a:prstGeom prst="rect">
              <a:avLst/>
            </a:prstGeom>
            <a:noFill/>
          </p:spPr>
          <p:txBody>
            <a:bodyPr wrap="square" lIns="0" tIns="0" rIns="0" bIns="0" anchor="ctr">
              <a:spAutoFit/>
            </a:bodyPr>
            <a:lstStyle/>
            <a:p>
              <a:pPr algn="ctr">
                <a:lnSpc>
                  <a:spcPct val="115000"/>
                </a:lnSpc>
                <a:spcAft>
                  <a:spcPts val="0"/>
                </a:spcAft>
              </a:pPr>
              <a:r>
                <a:rPr sz="800" b="1">
                  <a:solidFill>
                    <a:srgbClr val="1A1A1A"/>
                  </a:solidFill>
                  <a:latin typeface="Inter"/>
                </a:rPr>
                <a:t>S9</a:t>
              </a:r>
            </a:p>
          </p:txBody>
        </p:sp>
        <p:sp>
          <p:nvSpPr>
            <p:cNvPr id="28" name="TextBox 27"/>
            <p:cNvSpPr txBox="1"/>
            <p:nvPr/>
          </p:nvSpPr>
          <p:spPr>
            <a:xfrm>
              <a:off x="7717536" y="2411371"/>
              <a:ext cx="1042415" cy="133306"/>
            </a:xfrm>
            <a:prstGeom prst="rect">
              <a:avLst/>
            </a:prstGeom>
            <a:noFill/>
          </p:spPr>
          <p:txBody>
            <a:bodyPr wrap="square" lIns="0" tIns="0" rIns="0" bIns="0" anchor="ctr">
              <a:spAutoFit/>
            </a:bodyPr>
            <a:lstStyle/>
            <a:p>
              <a:pPr algn="ctr">
                <a:lnSpc>
                  <a:spcPct val="115000"/>
                </a:lnSpc>
                <a:spcAft>
                  <a:spcPts val="0"/>
                </a:spcAft>
              </a:pPr>
              <a:r>
                <a:rPr sz="800" b="0">
                  <a:solidFill>
                    <a:srgbClr val="4B5563"/>
                  </a:solidFill>
                  <a:latin typeface="Inter"/>
                </a:rPr>
                <a:t>3</a:t>
              </a:r>
            </a:p>
          </p:txBody>
        </p:sp>
        <p:sp>
          <p:nvSpPr>
            <p:cNvPr id="29" name="TextBox 28"/>
            <p:cNvSpPr txBox="1"/>
            <p:nvPr/>
          </p:nvSpPr>
          <p:spPr>
            <a:xfrm>
              <a:off x="9015984" y="2411371"/>
              <a:ext cx="384047" cy="133306"/>
            </a:xfrm>
            <a:prstGeom prst="rect">
              <a:avLst/>
            </a:prstGeom>
            <a:noFill/>
          </p:spPr>
          <p:txBody>
            <a:bodyPr wrap="square" lIns="0" tIns="0" rIns="0" bIns="0" anchor="ctr">
              <a:spAutoFit/>
            </a:bodyPr>
            <a:lstStyle/>
            <a:p>
              <a:pPr algn="ctr">
                <a:lnSpc>
                  <a:spcPct val="115000"/>
                </a:lnSpc>
                <a:spcAft>
                  <a:spcPts val="0"/>
                </a:spcAft>
              </a:pPr>
              <a:r>
                <a:rPr sz="800" b="0">
                  <a:solidFill>
                    <a:srgbClr val="4B5563"/>
                  </a:solidFill>
                  <a:latin typeface="Inter"/>
                </a:rPr>
                <a:t>16</a:t>
              </a:r>
            </a:p>
          </p:txBody>
        </p:sp>
        <p:sp>
          <p:nvSpPr>
            <p:cNvPr id="30" name="Rounded Rectangle 29"/>
            <p:cNvSpPr/>
            <p:nvPr/>
          </p:nvSpPr>
          <p:spPr>
            <a:xfrm>
              <a:off x="9592056" y="2331720"/>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656064" y="2411371"/>
              <a:ext cx="704088" cy="133306"/>
            </a:xfrm>
            <a:prstGeom prst="rect">
              <a:avLst/>
            </a:prstGeom>
            <a:noFill/>
          </p:spPr>
          <p:txBody>
            <a:bodyPr wrap="square" lIns="0" tIns="0" rIns="0" bIns="0" anchor="ctr">
              <a:spAutoFit/>
            </a:bodyPr>
            <a:lstStyle/>
            <a:p>
              <a:pPr algn="ctr">
                <a:lnSpc>
                  <a:spcPct val="115000"/>
                </a:lnSpc>
                <a:spcAft>
                  <a:spcPts val="0"/>
                </a:spcAft>
              </a:pPr>
              <a:r>
                <a:rPr sz="800" b="1">
                  <a:solidFill>
                    <a:srgbClr val="E11D2E"/>
                  </a:solidFill>
                  <a:latin typeface="Inter"/>
                </a:rPr>
                <a:t>61.7</a:t>
              </a:r>
            </a:p>
          </p:txBody>
        </p:sp>
        <p:sp>
          <p:nvSpPr>
            <p:cNvPr id="32" name="TextBox 31"/>
            <p:cNvSpPr txBox="1"/>
            <p:nvPr/>
          </p:nvSpPr>
          <p:spPr>
            <a:xfrm>
              <a:off x="10616184" y="2411371"/>
              <a:ext cx="914400" cy="133306"/>
            </a:xfrm>
            <a:prstGeom prst="rect">
              <a:avLst/>
            </a:prstGeom>
            <a:noFill/>
          </p:spPr>
          <p:txBody>
            <a:bodyPr wrap="square" lIns="0" tIns="0" rIns="0" bIns="0" anchor="ctr">
              <a:spAutoFit/>
            </a:bodyPr>
            <a:lstStyle/>
            <a:p>
              <a:pPr algn="ctr">
                <a:lnSpc>
                  <a:spcPct val="115000"/>
                </a:lnSpc>
                <a:spcAft>
                  <a:spcPts val="0"/>
                </a:spcAft>
              </a:pPr>
              <a:r>
                <a:rPr sz="800" b="0">
                  <a:solidFill>
                    <a:srgbClr val="4B5563"/>
                  </a:solidFill>
                  <a:latin typeface="Inter"/>
                </a:rPr>
                <a:t>220</a:t>
              </a:r>
            </a:p>
          </p:txBody>
        </p:sp>
        <p:sp>
          <p:nvSpPr>
            <p:cNvPr id="33" name="Rectangle 32"/>
            <p:cNvSpPr/>
            <p:nvPr/>
          </p:nvSpPr>
          <p:spPr>
            <a:xfrm>
              <a:off x="6629400" y="2683573"/>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757416" y="2831995"/>
              <a:ext cx="704088" cy="133306"/>
            </a:xfrm>
            <a:prstGeom prst="rect">
              <a:avLst/>
            </a:prstGeom>
            <a:noFill/>
          </p:spPr>
          <p:txBody>
            <a:bodyPr wrap="square" lIns="0" tIns="0" rIns="0" bIns="0" anchor="ctr">
              <a:spAutoFit/>
            </a:bodyPr>
            <a:lstStyle/>
            <a:p>
              <a:pPr algn="ctr">
                <a:lnSpc>
                  <a:spcPct val="115000"/>
                </a:lnSpc>
                <a:spcAft>
                  <a:spcPts val="0"/>
                </a:spcAft>
              </a:pPr>
              <a:r>
                <a:rPr sz="800" b="1">
                  <a:solidFill>
                    <a:srgbClr val="1A1A1A"/>
                  </a:solidFill>
                  <a:latin typeface="Inter"/>
                </a:rPr>
                <a:t>S20</a:t>
              </a:r>
            </a:p>
          </p:txBody>
        </p:sp>
        <p:sp>
          <p:nvSpPr>
            <p:cNvPr id="35" name="TextBox 34"/>
            <p:cNvSpPr txBox="1"/>
            <p:nvPr/>
          </p:nvSpPr>
          <p:spPr>
            <a:xfrm>
              <a:off x="7717536" y="2831995"/>
              <a:ext cx="1042415" cy="133306"/>
            </a:xfrm>
            <a:prstGeom prst="rect">
              <a:avLst/>
            </a:prstGeom>
            <a:noFill/>
          </p:spPr>
          <p:txBody>
            <a:bodyPr wrap="square" lIns="0" tIns="0" rIns="0" bIns="0" anchor="ctr">
              <a:spAutoFit/>
            </a:bodyPr>
            <a:lstStyle/>
            <a:p>
              <a:pPr algn="ctr">
                <a:lnSpc>
                  <a:spcPct val="115000"/>
                </a:lnSpc>
                <a:spcAft>
                  <a:spcPts val="0"/>
                </a:spcAft>
              </a:pPr>
              <a:r>
                <a:rPr sz="800" b="0">
                  <a:solidFill>
                    <a:srgbClr val="4B5563"/>
                  </a:solidFill>
                  <a:latin typeface="Inter"/>
                </a:rPr>
                <a:t>2</a:t>
              </a:r>
            </a:p>
          </p:txBody>
        </p:sp>
        <p:sp>
          <p:nvSpPr>
            <p:cNvPr id="36" name="TextBox 35"/>
            <p:cNvSpPr txBox="1"/>
            <p:nvPr/>
          </p:nvSpPr>
          <p:spPr>
            <a:xfrm>
              <a:off x="9015984" y="2831995"/>
              <a:ext cx="384047" cy="133306"/>
            </a:xfrm>
            <a:prstGeom prst="rect">
              <a:avLst/>
            </a:prstGeom>
            <a:noFill/>
          </p:spPr>
          <p:txBody>
            <a:bodyPr wrap="square" lIns="0" tIns="0" rIns="0" bIns="0" anchor="ctr">
              <a:spAutoFit/>
            </a:bodyPr>
            <a:lstStyle/>
            <a:p>
              <a:pPr algn="ctr">
                <a:lnSpc>
                  <a:spcPct val="115000"/>
                </a:lnSpc>
                <a:spcAft>
                  <a:spcPts val="0"/>
                </a:spcAft>
              </a:pPr>
              <a:r>
                <a:rPr sz="800" b="0">
                  <a:solidFill>
                    <a:srgbClr val="4B5563"/>
                  </a:solidFill>
                  <a:latin typeface="Inter"/>
                </a:rPr>
                <a:t>28</a:t>
              </a:r>
            </a:p>
          </p:txBody>
        </p:sp>
        <p:sp>
          <p:nvSpPr>
            <p:cNvPr id="37" name="Rounded Rectangle 36"/>
            <p:cNvSpPr/>
            <p:nvPr/>
          </p:nvSpPr>
          <p:spPr>
            <a:xfrm>
              <a:off x="9592056" y="2752344"/>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56064" y="2831995"/>
              <a:ext cx="704088" cy="133306"/>
            </a:xfrm>
            <a:prstGeom prst="rect">
              <a:avLst/>
            </a:prstGeom>
            <a:noFill/>
          </p:spPr>
          <p:txBody>
            <a:bodyPr wrap="square" lIns="0" tIns="0" rIns="0" bIns="0" anchor="ctr">
              <a:spAutoFit/>
            </a:bodyPr>
            <a:lstStyle/>
            <a:p>
              <a:pPr algn="ctr">
                <a:lnSpc>
                  <a:spcPct val="115000"/>
                </a:lnSpc>
                <a:spcAft>
                  <a:spcPts val="0"/>
                </a:spcAft>
              </a:pPr>
              <a:r>
                <a:rPr sz="800" b="1">
                  <a:solidFill>
                    <a:srgbClr val="E11D2E"/>
                  </a:solidFill>
                  <a:latin typeface="Inter"/>
                </a:rPr>
                <a:t>79.1</a:t>
              </a:r>
            </a:p>
          </p:txBody>
        </p:sp>
        <p:sp>
          <p:nvSpPr>
            <p:cNvPr id="39" name="TextBox 38"/>
            <p:cNvSpPr txBox="1"/>
            <p:nvPr/>
          </p:nvSpPr>
          <p:spPr>
            <a:xfrm>
              <a:off x="10616184" y="2831995"/>
              <a:ext cx="914400" cy="133306"/>
            </a:xfrm>
            <a:prstGeom prst="rect">
              <a:avLst/>
            </a:prstGeom>
            <a:noFill/>
          </p:spPr>
          <p:txBody>
            <a:bodyPr wrap="square" lIns="0" tIns="0" rIns="0" bIns="0" anchor="ctr">
              <a:spAutoFit/>
            </a:bodyPr>
            <a:lstStyle/>
            <a:p>
              <a:pPr algn="ctr">
                <a:lnSpc>
                  <a:spcPct val="115000"/>
                </a:lnSpc>
                <a:spcAft>
                  <a:spcPts val="0"/>
                </a:spcAft>
              </a:pPr>
              <a:r>
                <a:rPr sz="800" b="0">
                  <a:solidFill>
                    <a:srgbClr val="4B5563"/>
                  </a:solidFill>
                  <a:latin typeface="Inter"/>
                </a:rPr>
                <a:t>150</a:t>
              </a:r>
            </a:p>
          </p:txBody>
        </p:sp>
        <p:sp>
          <p:nvSpPr>
            <p:cNvPr id="40" name="Rectangle 39"/>
            <p:cNvSpPr/>
            <p:nvPr/>
          </p:nvSpPr>
          <p:spPr>
            <a:xfrm>
              <a:off x="6629400" y="3104197"/>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629400" y="3108960"/>
              <a:ext cx="5029200" cy="42062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757416" y="3252619"/>
              <a:ext cx="704088" cy="133306"/>
            </a:xfrm>
            <a:prstGeom prst="rect">
              <a:avLst/>
            </a:prstGeom>
            <a:noFill/>
          </p:spPr>
          <p:txBody>
            <a:bodyPr wrap="square" lIns="0" tIns="0" rIns="0" bIns="0" anchor="ctr">
              <a:spAutoFit/>
            </a:bodyPr>
            <a:lstStyle/>
            <a:p>
              <a:pPr algn="ctr">
                <a:lnSpc>
                  <a:spcPct val="115000"/>
                </a:lnSpc>
                <a:spcAft>
                  <a:spcPts val="0"/>
                </a:spcAft>
              </a:pPr>
              <a:r>
                <a:rPr sz="800" b="1">
                  <a:solidFill>
                    <a:srgbClr val="1A1A1A"/>
                  </a:solidFill>
                  <a:latin typeface="Inter"/>
                </a:rPr>
                <a:t>S7</a:t>
              </a:r>
            </a:p>
          </p:txBody>
        </p:sp>
        <p:sp>
          <p:nvSpPr>
            <p:cNvPr id="43" name="TextBox 42"/>
            <p:cNvSpPr txBox="1"/>
            <p:nvPr/>
          </p:nvSpPr>
          <p:spPr>
            <a:xfrm>
              <a:off x="7717536" y="3252619"/>
              <a:ext cx="1042415" cy="133306"/>
            </a:xfrm>
            <a:prstGeom prst="rect">
              <a:avLst/>
            </a:prstGeom>
            <a:noFill/>
          </p:spPr>
          <p:txBody>
            <a:bodyPr wrap="square" lIns="0" tIns="0" rIns="0" bIns="0" anchor="ctr">
              <a:spAutoFit/>
            </a:bodyPr>
            <a:lstStyle/>
            <a:p>
              <a:pPr algn="ctr">
                <a:lnSpc>
                  <a:spcPct val="115000"/>
                </a:lnSpc>
                <a:spcAft>
                  <a:spcPts val="0"/>
                </a:spcAft>
              </a:pPr>
              <a:r>
                <a:rPr sz="800" b="0">
                  <a:solidFill>
                    <a:srgbClr val="4B5563"/>
                  </a:solidFill>
                  <a:latin typeface="Inter"/>
                </a:rPr>
                <a:t>4</a:t>
              </a:r>
            </a:p>
          </p:txBody>
        </p:sp>
        <p:sp>
          <p:nvSpPr>
            <p:cNvPr id="44" name="TextBox 43"/>
            <p:cNvSpPr txBox="1"/>
            <p:nvPr/>
          </p:nvSpPr>
          <p:spPr>
            <a:xfrm>
              <a:off x="9015984" y="3252619"/>
              <a:ext cx="384047" cy="133306"/>
            </a:xfrm>
            <a:prstGeom prst="rect">
              <a:avLst/>
            </a:prstGeom>
            <a:noFill/>
          </p:spPr>
          <p:txBody>
            <a:bodyPr wrap="square" lIns="0" tIns="0" rIns="0" bIns="0" anchor="ctr">
              <a:spAutoFit/>
            </a:bodyPr>
            <a:lstStyle/>
            <a:p>
              <a:pPr algn="ctr">
                <a:lnSpc>
                  <a:spcPct val="115000"/>
                </a:lnSpc>
                <a:spcAft>
                  <a:spcPts val="0"/>
                </a:spcAft>
              </a:pPr>
              <a:r>
                <a:rPr sz="800" b="0">
                  <a:solidFill>
                    <a:srgbClr val="4B5563"/>
                  </a:solidFill>
                  <a:latin typeface="Inter"/>
                </a:rPr>
                <a:t>23</a:t>
              </a:r>
            </a:p>
          </p:txBody>
        </p:sp>
        <p:sp>
          <p:nvSpPr>
            <p:cNvPr id="45" name="Rounded Rectangle 44"/>
            <p:cNvSpPr/>
            <p:nvPr/>
          </p:nvSpPr>
          <p:spPr>
            <a:xfrm>
              <a:off x="9592056" y="3172968"/>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656064" y="3252619"/>
              <a:ext cx="704088" cy="133306"/>
            </a:xfrm>
            <a:prstGeom prst="rect">
              <a:avLst/>
            </a:prstGeom>
            <a:noFill/>
          </p:spPr>
          <p:txBody>
            <a:bodyPr wrap="square" lIns="0" tIns="0" rIns="0" bIns="0" anchor="ctr">
              <a:spAutoFit/>
            </a:bodyPr>
            <a:lstStyle/>
            <a:p>
              <a:pPr algn="ctr">
                <a:lnSpc>
                  <a:spcPct val="115000"/>
                </a:lnSpc>
                <a:spcAft>
                  <a:spcPts val="0"/>
                </a:spcAft>
              </a:pPr>
              <a:r>
                <a:rPr sz="800" b="1">
                  <a:solidFill>
                    <a:srgbClr val="E11D2E"/>
                  </a:solidFill>
                  <a:latin typeface="Inter"/>
                </a:rPr>
                <a:t>71.4</a:t>
              </a:r>
            </a:p>
          </p:txBody>
        </p:sp>
        <p:sp>
          <p:nvSpPr>
            <p:cNvPr id="47" name="TextBox 46"/>
            <p:cNvSpPr txBox="1"/>
            <p:nvPr/>
          </p:nvSpPr>
          <p:spPr>
            <a:xfrm>
              <a:off x="10616184" y="3252619"/>
              <a:ext cx="914400" cy="133306"/>
            </a:xfrm>
            <a:prstGeom prst="rect">
              <a:avLst/>
            </a:prstGeom>
            <a:noFill/>
          </p:spPr>
          <p:txBody>
            <a:bodyPr wrap="square" lIns="0" tIns="0" rIns="0" bIns="0" anchor="ctr">
              <a:spAutoFit/>
            </a:bodyPr>
            <a:lstStyle/>
            <a:p>
              <a:pPr algn="ctr">
                <a:lnSpc>
                  <a:spcPct val="115000"/>
                </a:lnSpc>
                <a:spcAft>
                  <a:spcPts val="0"/>
                </a:spcAft>
              </a:pPr>
              <a:r>
                <a:rPr sz="800" b="0">
                  <a:solidFill>
                    <a:srgbClr val="4B5563"/>
                  </a:solidFill>
                  <a:latin typeface="Inter"/>
                </a:rPr>
                <a:t>145</a:t>
              </a:r>
            </a:p>
          </p:txBody>
        </p:sp>
        <p:sp>
          <p:nvSpPr>
            <p:cNvPr id="48" name="Rectangle 47"/>
            <p:cNvSpPr/>
            <p:nvPr/>
          </p:nvSpPr>
          <p:spPr>
            <a:xfrm>
              <a:off x="6629400" y="3524821"/>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757416" y="3673243"/>
              <a:ext cx="704088" cy="133306"/>
            </a:xfrm>
            <a:prstGeom prst="rect">
              <a:avLst/>
            </a:prstGeom>
            <a:noFill/>
          </p:spPr>
          <p:txBody>
            <a:bodyPr wrap="square" lIns="0" tIns="0" rIns="0" bIns="0" anchor="ctr">
              <a:spAutoFit/>
            </a:bodyPr>
            <a:lstStyle/>
            <a:p>
              <a:pPr algn="ctr">
                <a:lnSpc>
                  <a:spcPct val="115000"/>
                </a:lnSpc>
                <a:spcAft>
                  <a:spcPts val="0"/>
                </a:spcAft>
              </a:pPr>
              <a:r>
                <a:rPr sz="800" b="1">
                  <a:solidFill>
                    <a:srgbClr val="1A1A1A"/>
                  </a:solidFill>
                  <a:latin typeface="Inter"/>
                </a:rPr>
                <a:t>S12</a:t>
              </a:r>
            </a:p>
          </p:txBody>
        </p:sp>
        <p:sp>
          <p:nvSpPr>
            <p:cNvPr id="50" name="TextBox 49"/>
            <p:cNvSpPr txBox="1"/>
            <p:nvPr/>
          </p:nvSpPr>
          <p:spPr>
            <a:xfrm>
              <a:off x="7717536" y="3673243"/>
              <a:ext cx="1042415" cy="133306"/>
            </a:xfrm>
            <a:prstGeom prst="rect">
              <a:avLst/>
            </a:prstGeom>
            <a:noFill/>
          </p:spPr>
          <p:txBody>
            <a:bodyPr wrap="square" lIns="0" tIns="0" rIns="0" bIns="0" anchor="ctr">
              <a:spAutoFit/>
            </a:bodyPr>
            <a:lstStyle/>
            <a:p>
              <a:pPr algn="ctr">
                <a:lnSpc>
                  <a:spcPct val="115000"/>
                </a:lnSpc>
                <a:spcAft>
                  <a:spcPts val="0"/>
                </a:spcAft>
              </a:pPr>
              <a:r>
                <a:rPr sz="800" b="0">
                  <a:solidFill>
                    <a:srgbClr val="4B5563"/>
                  </a:solidFill>
                  <a:latin typeface="Inter"/>
                </a:rPr>
                <a:t>2</a:t>
              </a:r>
            </a:p>
          </p:txBody>
        </p:sp>
        <p:sp>
          <p:nvSpPr>
            <p:cNvPr id="51" name="TextBox 50"/>
            <p:cNvSpPr txBox="1"/>
            <p:nvPr/>
          </p:nvSpPr>
          <p:spPr>
            <a:xfrm>
              <a:off x="9015984" y="3673243"/>
              <a:ext cx="384047" cy="133306"/>
            </a:xfrm>
            <a:prstGeom prst="rect">
              <a:avLst/>
            </a:prstGeom>
            <a:noFill/>
          </p:spPr>
          <p:txBody>
            <a:bodyPr wrap="square" lIns="0" tIns="0" rIns="0" bIns="0" anchor="ctr">
              <a:spAutoFit/>
            </a:bodyPr>
            <a:lstStyle/>
            <a:p>
              <a:pPr algn="ctr">
                <a:lnSpc>
                  <a:spcPct val="115000"/>
                </a:lnSpc>
                <a:spcAft>
                  <a:spcPts val="0"/>
                </a:spcAft>
              </a:pPr>
              <a:r>
                <a:rPr sz="800" b="0">
                  <a:solidFill>
                    <a:srgbClr val="4B5563"/>
                  </a:solidFill>
                  <a:latin typeface="Inter"/>
                </a:rPr>
                <a:t>12</a:t>
              </a:r>
            </a:p>
          </p:txBody>
        </p:sp>
        <p:sp>
          <p:nvSpPr>
            <p:cNvPr id="52" name="Rounded Rectangle 51"/>
            <p:cNvSpPr/>
            <p:nvPr/>
          </p:nvSpPr>
          <p:spPr>
            <a:xfrm>
              <a:off x="9592056" y="3593591"/>
              <a:ext cx="832104" cy="292608"/>
            </a:xfrm>
            <a:prstGeom prst="roundRect">
              <a:avLst>
                <a:gd name="adj" fmla="val 15625"/>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656064" y="3673243"/>
              <a:ext cx="704088" cy="133306"/>
            </a:xfrm>
            <a:prstGeom prst="rect">
              <a:avLst/>
            </a:prstGeom>
            <a:noFill/>
          </p:spPr>
          <p:txBody>
            <a:bodyPr wrap="square" lIns="0" tIns="0" rIns="0" bIns="0" anchor="ctr">
              <a:spAutoFit/>
            </a:bodyPr>
            <a:lstStyle/>
            <a:p>
              <a:pPr algn="ctr">
                <a:lnSpc>
                  <a:spcPct val="115000"/>
                </a:lnSpc>
                <a:spcAft>
                  <a:spcPts val="0"/>
                </a:spcAft>
              </a:pPr>
              <a:r>
                <a:rPr sz="800" b="1">
                  <a:solidFill>
                    <a:srgbClr val="E11D2E"/>
                  </a:solidFill>
                  <a:latin typeface="Inter"/>
                </a:rPr>
                <a:t>66.7</a:t>
              </a:r>
            </a:p>
          </p:txBody>
        </p:sp>
        <p:sp>
          <p:nvSpPr>
            <p:cNvPr id="54" name="TextBox 53"/>
            <p:cNvSpPr txBox="1"/>
            <p:nvPr/>
          </p:nvSpPr>
          <p:spPr>
            <a:xfrm>
              <a:off x="10616184" y="3673243"/>
              <a:ext cx="914400" cy="133306"/>
            </a:xfrm>
            <a:prstGeom prst="rect">
              <a:avLst/>
            </a:prstGeom>
            <a:noFill/>
          </p:spPr>
          <p:txBody>
            <a:bodyPr wrap="square" lIns="0" tIns="0" rIns="0" bIns="0" anchor="ctr">
              <a:spAutoFit/>
            </a:bodyPr>
            <a:lstStyle/>
            <a:p>
              <a:pPr algn="ctr">
                <a:lnSpc>
                  <a:spcPct val="115000"/>
                </a:lnSpc>
                <a:spcAft>
                  <a:spcPts val="0"/>
                </a:spcAft>
              </a:pPr>
              <a:r>
                <a:rPr sz="800" b="0">
                  <a:solidFill>
                    <a:srgbClr val="4B5563"/>
                  </a:solidFill>
                  <a:latin typeface="Inter"/>
                </a:rPr>
                <a:t>120</a:t>
              </a:r>
            </a:p>
          </p:txBody>
        </p:sp>
        <p:sp>
          <p:nvSpPr>
            <p:cNvPr id="55" name="Rectangle 54"/>
            <p:cNvSpPr/>
            <p:nvPr/>
          </p:nvSpPr>
          <p:spPr>
            <a:xfrm>
              <a:off x="6629400" y="3945445"/>
              <a:ext cx="50292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56" name="TextBox 55"/>
          <p:cNvSpPr txBox="1"/>
          <p:nvPr/>
        </p:nvSpPr>
        <p:spPr>
          <a:xfrm>
            <a:off x="6629400" y="4187952"/>
            <a:ext cx="5120640" cy="219456"/>
          </a:xfrm>
          <a:prstGeom prst="rect">
            <a:avLst/>
          </a:prstGeom>
          <a:noFill/>
        </p:spPr>
        <p:txBody>
          <a:bodyPr wrap="square" lIns="0" tIns="0" rIns="0" bIns="0" anchor="t">
            <a:spAutoFit/>
          </a:bodyPr>
          <a:lstStyle/>
          <a:p>
            <a:pPr algn="l">
              <a:lnSpc>
                <a:spcPct val="115000"/>
              </a:lnSpc>
              <a:spcAft>
                <a:spcPts val="0"/>
              </a:spcAft>
            </a:pPr>
            <a:r>
              <a:rPr sz="1050" b="1" dirty="0">
                <a:solidFill>
                  <a:srgbClr val="1A1A1A"/>
                </a:solidFill>
                <a:latin typeface="Inter"/>
              </a:rPr>
              <a:t>What the team view shows</a:t>
            </a:r>
          </a:p>
        </p:txBody>
      </p:sp>
      <p:sp>
        <p:nvSpPr>
          <p:cNvPr id="57" name="Rectangle 56"/>
          <p:cNvSpPr/>
          <p:nvPr/>
        </p:nvSpPr>
        <p:spPr>
          <a:xfrm>
            <a:off x="6629400" y="456742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6629400" y="5066919"/>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629400" y="5860193"/>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457200" y="4736592"/>
            <a:ext cx="5989320" cy="1696212"/>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457200" y="4736592"/>
            <a:ext cx="157276" cy="169621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68096" y="4919472"/>
            <a:ext cx="5422392" cy="199927"/>
          </a:xfrm>
          <a:prstGeom prst="rect">
            <a:avLst/>
          </a:prstGeom>
          <a:noFill/>
        </p:spPr>
        <p:txBody>
          <a:bodyPr wrap="square" lIns="0" tIns="0" rIns="0" bIns="0" anchor="t">
            <a:spAutoFit/>
          </a:bodyPr>
          <a:lstStyle/>
          <a:p>
            <a:pPr algn="l">
              <a:lnSpc>
                <a:spcPct val="115000"/>
              </a:lnSpc>
              <a:spcAft>
                <a:spcPts val="0"/>
              </a:spcAft>
            </a:pPr>
            <a:r>
              <a:rPr lang="en-US" sz="1200" b="1" dirty="0"/>
              <a:t>Single-Agent Systemic Risk: Critical QA Audit Blindspot (Agent 212)</a:t>
            </a:r>
            <a:endParaRPr sz="1150" b="1" dirty="0">
              <a:solidFill>
                <a:srgbClr val="1A1A1A"/>
              </a:solidFill>
              <a:latin typeface="Inter"/>
            </a:endParaRPr>
          </a:p>
        </p:txBody>
      </p:sp>
      <p:sp>
        <p:nvSpPr>
          <p:cNvPr id="69" name="Rectangle 1">
            <a:extLst>
              <a:ext uri="{FF2B5EF4-FFF2-40B4-BE49-F238E27FC236}">
                <a16:creationId xmlns:a16="http://schemas.microsoft.com/office/drawing/2014/main" id="{FB8A9891-22CA-D5E8-B786-240794CF91C7}"/>
              </a:ext>
            </a:extLst>
          </p:cNvPr>
          <p:cNvSpPr>
            <a:spLocks noChangeArrowheads="1"/>
          </p:cNvSpPr>
          <p:nvPr/>
        </p:nvSpPr>
        <p:spPr bwMode="auto">
          <a:xfrm>
            <a:off x="614476" y="5205573"/>
            <a:ext cx="570082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err="1">
                <a:ln>
                  <a:noFill/>
                </a:ln>
                <a:solidFill>
                  <a:schemeClr val="tx1"/>
                </a:solidFill>
                <a:effectLst/>
                <a:latin typeface="+mj-lt"/>
              </a:rPr>
              <a:t>Outlier</a:t>
            </a:r>
            <a:r>
              <a:rPr kumimoji="0" lang="es-CO" altLang="es-CO" sz="1000" b="1" i="0" u="none" strike="noStrike" cap="none" normalizeH="0" baseline="0" dirty="0">
                <a:ln>
                  <a:noFill/>
                </a:ln>
                <a:solidFill>
                  <a:schemeClr val="tx1"/>
                </a:solidFill>
                <a:effectLst/>
                <a:latin typeface="+mj-lt"/>
              </a:rPr>
              <a:t> </a:t>
            </a:r>
            <a:r>
              <a:rPr kumimoji="0" lang="es-CO" altLang="es-CO" sz="1000" b="1" i="0" u="none" strike="noStrike" cap="none" normalizeH="0" baseline="0" dirty="0" err="1">
                <a:ln>
                  <a:noFill/>
                </a:ln>
                <a:solidFill>
                  <a:schemeClr val="tx1"/>
                </a:solidFill>
                <a:effectLst/>
                <a:latin typeface="+mj-lt"/>
              </a:rPr>
              <a:t>Impact</a:t>
            </a:r>
            <a:r>
              <a:rPr kumimoji="0" lang="es-CO" altLang="es-CO" sz="1000" b="1" i="0" u="none" strike="noStrike" cap="none" normalizeH="0" baseline="0" dirty="0">
                <a:ln>
                  <a:noFill/>
                </a:ln>
                <a:solidFill>
                  <a:schemeClr val="tx1"/>
                </a:solidFill>
                <a:effectLst/>
                <a:latin typeface="+mj-lt"/>
              </a:rPr>
              <a:t> (2.7% </a:t>
            </a:r>
            <a:r>
              <a:rPr kumimoji="0" lang="es-CO" altLang="es-CO" sz="1000" b="1" i="0" u="none" strike="noStrike" cap="none" normalizeH="0" baseline="0" dirty="0" err="1">
                <a:ln>
                  <a:noFill/>
                </a:ln>
                <a:solidFill>
                  <a:schemeClr val="tx1"/>
                </a:solidFill>
                <a:effectLst/>
                <a:latin typeface="+mj-lt"/>
              </a:rPr>
              <a:t>Floor</a:t>
            </a:r>
            <a:r>
              <a:rPr kumimoji="0" lang="es-CO" altLang="es-CO" sz="1000" b="1" i="0" u="none" strike="noStrike" cap="none" normalizeH="0" baseline="0" dirty="0">
                <a:ln>
                  <a:noFill/>
                </a:ln>
                <a:solidFill>
                  <a:schemeClr val="tx1"/>
                </a:solidFill>
                <a:effectLst/>
                <a:latin typeface="+mj-lt"/>
              </a:rPr>
              <a:t> </a:t>
            </a:r>
            <a:r>
              <a:rPr kumimoji="0" lang="es-CO" altLang="es-CO" sz="1000" b="1" i="0" u="none" strike="noStrike" cap="none" normalizeH="0" baseline="0" dirty="0" err="1">
                <a:ln>
                  <a:noFill/>
                </a:ln>
                <a:solidFill>
                  <a:schemeClr val="tx1"/>
                </a:solidFill>
                <a:effectLst/>
                <a:latin typeface="+mj-lt"/>
              </a:rPr>
              <a:t>Dissatisfaction</a:t>
            </a:r>
            <a:r>
              <a:rPr kumimoji="0" lang="es-CO" altLang="es-CO" sz="1000" b="1" i="0" u="none" strike="noStrike" cap="none" normalizeH="0" baseline="0" dirty="0">
                <a:ln>
                  <a:noFill/>
                </a:ln>
                <a:solidFill>
                  <a:schemeClr val="tx1"/>
                </a:solidFill>
                <a:effectLst/>
                <a:latin typeface="+mj-lt"/>
              </a:rPr>
              <a:t>):</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Agent</a:t>
            </a:r>
            <a:r>
              <a:rPr kumimoji="0" lang="es-CO" altLang="es-CO" sz="1000" b="0" i="0" u="none" strike="noStrike" cap="none" normalizeH="0" baseline="0" dirty="0">
                <a:ln>
                  <a:noFill/>
                </a:ln>
                <a:solidFill>
                  <a:schemeClr val="tx1"/>
                </a:solidFill>
                <a:effectLst/>
                <a:latin typeface="+mj-lt"/>
              </a:rPr>
              <a:t> 212 </a:t>
            </a:r>
            <a:r>
              <a:rPr kumimoji="0" lang="es-CO" altLang="es-CO" sz="1000" b="0" i="0" u="none" strike="noStrike" cap="none" normalizeH="0" baseline="0" dirty="0" err="1">
                <a:ln>
                  <a:noFill/>
                </a:ln>
                <a:solidFill>
                  <a:schemeClr val="tx1"/>
                </a:solidFill>
                <a:effectLst/>
                <a:latin typeface="+mj-lt"/>
              </a:rPr>
              <a:t>recorded</a:t>
            </a:r>
            <a:r>
              <a:rPr kumimoji="0" lang="es-CO" altLang="es-CO" sz="1000" b="0" i="0" u="none" strike="noStrike" cap="none" normalizeH="0" baseline="0" dirty="0">
                <a:ln>
                  <a:noFill/>
                </a:ln>
                <a:solidFill>
                  <a:schemeClr val="tx1"/>
                </a:solidFill>
                <a:effectLst/>
                <a:latin typeface="+mj-lt"/>
              </a:rPr>
              <a:t> a </a:t>
            </a:r>
            <a:r>
              <a:rPr kumimoji="0" lang="es-CO" altLang="es-CO" sz="1000" b="1" i="0" u="none" strike="noStrike" cap="none" normalizeH="0" baseline="0" dirty="0">
                <a:ln>
                  <a:noFill/>
                </a:ln>
                <a:solidFill>
                  <a:schemeClr val="tx1"/>
                </a:solidFill>
                <a:effectLst/>
                <a:latin typeface="+mj-lt"/>
              </a:rPr>
              <a:t>27.1% CSAT </a:t>
            </a:r>
            <a:r>
              <a:rPr kumimoji="0" lang="es-CO" altLang="es-CO" sz="1000" b="1" i="0" u="none" strike="noStrike" cap="none" normalizeH="0" baseline="0" dirty="0" err="1">
                <a:ln>
                  <a:noFill/>
                </a:ln>
                <a:solidFill>
                  <a:schemeClr val="tx1"/>
                </a:solidFill>
                <a:effectLst/>
                <a:latin typeface="+mj-lt"/>
              </a:rPr>
              <a:t>across</a:t>
            </a:r>
            <a:r>
              <a:rPr kumimoji="0" lang="es-CO" altLang="es-CO" sz="1000" b="1" i="0" u="none" strike="noStrike" cap="none" normalizeH="0" baseline="0" dirty="0">
                <a:ln>
                  <a:noFill/>
                </a:ln>
                <a:solidFill>
                  <a:schemeClr val="tx1"/>
                </a:solidFill>
                <a:effectLst/>
                <a:latin typeface="+mj-lt"/>
              </a:rPr>
              <a:t> 564 </a:t>
            </a:r>
            <a:r>
              <a:rPr kumimoji="0" lang="es-CO" altLang="es-CO" sz="1000" b="1" i="0" u="none" strike="noStrike" cap="none" normalizeH="0" baseline="0" dirty="0" err="1">
                <a:ln>
                  <a:noFill/>
                </a:ln>
                <a:solidFill>
                  <a:schemeClr val="tx1"/>
                </a:solidFill>
                <a:effectLst/>
                <a:latin typeface="+mj-lt"/>
              </a:rPr>
              <a:t>surveys</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accumulating</a:t>
            </a:r>
            <a:r>
              <a:rPr kumimoji="0" lang="es-CO" altLang="es-CO" sz="1000" b="0" i="0" u="none" strike="noStrike" cap="none" normalizeH="0" baseline="0" dirty="0">
                <a:ln>
                  <a:noFill/>
                </a:ln>
                <a:solidFill>
                  <a:schemeClr val="tx1"/>
                </a:solidFill>
                <a:effectLst/>
                <a:latin typeface="+mj-lt"/>
              </a:rPr>
              <a:t> </a:t>
            </a:r>
            <a:r>
              <a:rPr kumimoji="0" lang="es-CO" altLang="es-CO" sz="1000" b="1" i="0" u="none" strike="noStrike" cap="none" normalizeH="0" baseline="0" dirty="0">
                <a:ln>
                  <a:noFill/>
                </a:ln>
                <a:solidFill>
                  <a:schemeClr val="tx1"/>
                </a:solidFill>
                <a:effectLst/>
                <a:latin typeface="+mj-lt"/>
              </a:rPr>
              <a:t>411 detractor </a:t>
            </a:r>
            <a:r>
              <a:rPr kumimoji="0" lang="es-CO" altLang="es-CO" sz="1000" b="1" i="0" u="none" strike="noStrike" cap="none" normalizeH="0" baseline="0" dirty="0" err="1">
                <a:ln>
                  <a:noFill/>
                </a:ln>
                <a:solidFill>
                  <a:schemeClr val="tx1"/>
                </a:solidFill>
                <a:effectLst/>
                <a:latin typeface="+mj-lt"/>
              </a:rPr>
              <a:t>customers</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This</a:t>
            </a:r>
            <a:r>
              <a:rPr kumimoji="0" lang="es-CO" altLang="es-CO" sz="1000" b="0" i="0" u="none" strike="noStrike" cap="none" normalizeH="0" baseline="0" dirty="0">
                <a:ln>
                  <a:noFill/>
                </a:ln>
                <a:solidFill>
                  <a:schemeClr val="tx1"/>
                </a:solidFill>
                <a:effectLst/>
                <a:latin typeface="+mj-lt"/>
              </a:rPr>
              <a:t> single individual </a:t>
            </a:r>
            <a:r>
              <a:rPr kumimoji="0" lang="es-CO" altLang="es-CO" sz="1000" b="0" i="0" u="none" strike="noStrike" cap="none" normalizeH="0" baseline="0" dirty="0" err="1">
                <a:ln>
                  <a:noFill/>
                </a:ln>
                <a:solidFill>
                  <a:schemeClr val="tx1"/>
                </a:solidFill>
                <a:effectLst/>
                <a:latin typeface="+mj-lt"/>
              </a:rPr>
              <a:t>accounts</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for</a:t>
            </a:r>
            <a:r>
              <a:rPr kumimoji="0" lang="es-CO" altLang="es-CO" sz="1000" b="0" i="0" u="none" strike="noStrike" cap="none" normalizeH="0" baseline="0" dirty="0">
                <a:ln>
                  <a:noFill/>
                </a:ln>
                <a:solidFill>
                  <a:schemeClr val="tx1"/>
                </a:solidFill>
                <a:effectLst/>
                <a:latin typeface="+mj-lt"/>
              </a:rPr>
              <a:t> </a:t>
            </a:r>
            <a:r>
              <a:rPr kumimoji="0" lang="es-CO" altLang="es-CO" sz="1000" b="1" i="0" u="none" strike="noStrike" cap="none" normalizeH="0" baseline="0" dirty="0">
                <a:ln>
                  <a:noFill/>
                </a:ln>
                <a:solidFill>
                  <a:schemeClr val="tx1"/>
                </a:solidFill>
                <a:effectLst/>
                <a:latin typeface="+mj-lt"/>
              </a:rPr>
              <a:t>2.7% </a:t>
            </a:r>
            <a:r>
              <a:rPr kumimoji="0" lang="es-CO" altLang="es-CO" sz="1000" b="1" i="0" u="none" strike="noStrike" cap="none" normalizeH="0" baseline="0" dirty="0" err="1">
                <a:ln>
                  <a:noFill/>
                </a:ln>
                <a:solidFill>
                  <a:schemeClr val="tx1"/>
                </a:solidFill>
                <a:effectLst/>
                <a:latin typeface="+mj-lt"/>
              </a:rPr>
              <a:t>of</a:t>
            </a:r>
            <a:r>
              <a:rPr kumimoji="0" lang="es-CO" altLang="es-CO" sz="1000" b="1" i="0" u="none" strike="noStrike" cap="none" normalizeH="0" baseline="0" dirty="0">
                <a:ln>
                  <a:noFill/>
                </a:ln>
                <a:solidFill>
                  <a:schemeClr val="tx1"/>
                </a:solidFill>
                <a:effectLst/>
                <a:latin typeface="+mj-lt"/>
              </a:rPr>
              <a:t> </a:t>
            </a:r>
            <a:r>
              <a:rPr kumimoji="0" lang="es-CO" altLang="es-CO" sz="1000" b="1" i="0" u="none" strike="noStrike" cap="none" normalizeH="0" baseline="0" dirty="0" err="1">
                <a:ln>
                  <a:noFill/>
                </a:ln>
                <a:solidFill>
                  <a:schemeClr val="tx1"/>
                </a:solidFill>
                <a:effectLst/>
                <a:latin typeface="+mj-lt"/>
              </a:rPr>
              <a:t>all</a:t>
            </a:r>
            <a:r>
              <a:rPr kumimoji="0" lang="es-CO" altLang="es-CO" sz="1000" b="1" i="0" u="none" strike="noStrike" cap="none" normalizeH="0" baseline="0" dirty="0">
                <a:ln>
                  <a:noFill/>
                </a:ln>
                <a:solidFill>
                  <a:schemeClr val="tx1"/>
                </a:solidFill>
                <a:effectLst/>
                <a:latin typeface="+mj-lt"/>
              </a:rPr>
              <a:t> </a:t>
            </a:r>
            <a:r>
              <a:rPr kumimoji="0" lang="es-CO" altLang="es-CO" sz="1000" b="1" i="0" u="none" strike="noStrike" cap="none" normalizeH="0" baseline="0" dirty="0" err="1">
                <a:ln>
                  <a:noFill/>
                </a:ln>
                <a:solidFill>
                  <a:schemeClr val="tx1"/>
                </a:solidFill>
                <a:effectLst/>
                <a:latin typeface="+mj-lt"/>
              </a:rPr>
              <a:t>dissatisfied</a:t>
            </a:r>
            <a:r>
              <a:rPr kumimoji="0" lang="es-CO" altLang="es-CO" sz="1000" b="1" i="0" u="none" strike="noStrike" cap="none" normalizeH="0" baseline="0" dirty="0">
                <a:ln>
                  <a:noFill/>
                </a:ln>
                <a:solidFill>
                  <a:schemeClr val="tx1"/>
                </a:solidFill>
                <a:effectLst/>
                <a:latin typeface="+mj-lt"/>
              </a:rPr>
              <a:t> </a:t>
            </a:r>
            <a:r>
              <a:rPr kumimoji="0" lang="es-CO" altLang="es-CO" sz="1000" b="1" i="0" u="none" strike="noStrike" cap="none" normalizeH="0" baseline="0" dirty="0" err="1">
                <a:ln>
                  <a:noFill/>
                </a:ln>
                <a:solidFill>
                  <a:schemeClr val="tx1"/>
                </a:solidFill>
                <a:effectLst/>
                <a:latin typeface="+mj-lt"/>
              </a:rPr>
              <a:t>customers</a:t>
            </a:r>
            <a:r>
              <a:rPr kumimoji="0" lang="es-CO" altLang="es-CO" sz="1000" b="1" i="0" u="none" strike="noStrike" cap="none" normalizeH="0" baseline="0" dirty="0">
                <a:ln>
                  <a:noFill/>
                </a:ln>
                <a:solidFill>
                  <a:schemeClr val="tx1"/>
                </a:solidFill>
                <a:effectLst/>
                <a:latin typeface="+mj-lt"/>
              </a:rPr>
              <a:t> in </a:t>
            </a:r>
            <a:r>
              <a:rPr kumimoji="0" lang="es-CO" altLang="es-CO" sz="1000" b="1" i="0" u="none" strike="noStrike" cap="none" normalizeH="0" baseline="0" dirty="0" err="1">
                <a:ln>
                  <a:noFill/>
                </a:ln>
                <a:solidFill>
                  <a:schemeClr val="tx1"/>
                </a:solidFill>
                <a:effectLst/>
                <a:latin typeface="+mj-lt"/>
              </a:rPr>
              <a:t>the</a:t>
            </a:r>
            <a:r>
              <a:rPr kumimoji="0" lang="es-CO" altLang="es-CO" sz="1000" b="1" i="0" u="none" strike="noStrike" cap="none" normalizeH="0" baseline="0" dirty="0">
                <a:ln>
                  <a:noFill/>
                </a:ln>
                <a:solidFill>
                  <a:schemeClr val="tx1"/>
                </a:solidFill>
                <a:effectLst/>
                <a:latin typeface="+mj-lt"/>
              </a:rPr>
              <a:t> </a:t>
            </a:r>
            <a:r>
              <a:rPr kumimoji="0" lang="es-CO" altLang="es-CO" sz="1000" b="1" i="0" u="none" strike="noStrike" cap="none" normalizeH="0" baseline="0" dirty="0" err="1">
                <a:ln>
                  <a:noFill/>
                </a:ln>
                <a:solidFill>
                  <a:schemeClr val="tx1"/>
                </a:solidFill>
                <a:effectLst/>
                <a:latin typeface="+mj-lt"/>
              </a:rPr>
              <a:t>entire</a:t>
            </a:r>
            <a:r>
              <a:rPr kumimoji="0" lang="es-CO" altLang="es-CO" sz="1000" b="1" i="0" u="none" strike="noStrike" cap="none" normalizeH="0" baseline="0" dirty="0">
                <a:ln>
                  <a:noFill/>
                </a:ln>
                <a:solidFill>
                  <a:schemeClr val="tx1"/>
                </a:solidFill>
                <a:effectLst/>
                <a:latin typeface="+mj-lt"/>
              </a:rPr>
              <a:t> </a:t>
            </a:r>
            <a:r>
              <a:rPr kumimoji="0" lang="es-CO" altLang="es-CO" sz="1000" b="1" i="0" u="none" strike="noStrike" cap="none" normalizeH="0" baseline="0" dirty="0" err="1">
                <a:ln>
                  <a:noFill/>
                </a:ln>
                <a:solidFill>
                  <a:schemeClr val="tx1"/>
                </a:solidFill>
                <a:effectLst/>
                <a:latin typeface="+mj-lt"/>
              </a:rPr>
              <a:t>monthly</a:t>
            </a:r>
            <a:r>
              <a:rPr kumimoji="0" lang="es-CO" altLang="es-CO" sz="1000" b="1" i="0" u="none" strike="noStrike" cap="none" normalizeH="0" baseline="0" dirty="0">
                <a:ln>
                  <a:noFill/>
                </a:ln>
                <a:solidFill>
                  <a:schemeClr val="tx1"/>
                </a:solidFill>
                <a:effectLst/>
                <a:latin typeface="+mj-lt"/>
              </a:rPr>
              <a:t> </a:t>
            </a:r>
            <a:r>
              <a:rPr kumimoji="0" lang="es-CO" altLang="es-CO" sz="1000" b="1" i="0" u="none" strike="noStrike" cap="none" normalizeH="0" baseline="0" dirty="0" err="1">
                <a:ln>
                  <a:noFill/>
                </a:ln>
                <a:solidFill>
                  <a:schemeClr val="tx1"/>
                </a:solidFill>
                <a:effectLst/>
                <a:latin typeface="+mj-lt"/>
              </a:rPr>
              <a:t>operation</a:t>
            </a:r>
            <a:r>
              <a:rPr kumimoji="0" lang="es-CO" altLang="es-CO" sz="10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000" b="1" i="0" u="none" strike="noStrike" cap="none" normalizeH="0" baseline="0" dirty="0">
                <a:ln>
                  <a:noFill/>
                </a:ln>
                <a:solidFill>
                  <a:schemeClr val="tx1"/>
                </a:solidFill>
                <a:effectLst/>
                <a:latin typeface="+mj-lt"/>
              </a:rPr>
              <a:t>QA Audit </a:t>
            </a:r>
            <a:r>
              <a:rPr kumimoji="0" lang="es-CO" altLang="es-CO" sz="1000" b="1" i="0" u="none" strike="noStrike" cap="none" normalizeH="0" baseline="0" dirty="0" err="1">
                <a:ln>
                  <a:noFill/>
                </a:ln>
                <a:solidFill>
                  <a:schemeClr val="tx1"/>
                </a:solidFill>
                <a:effectLst/>
                <a:latin typeface="+mj-lt"/>
              </a:rPr>
              <a:t>Failure</a:t>
            </a:r>
            <a:r>
              <a:rPr kumimoji="0" lang="es-CO" altLang="es-CO" sz="1000" b="1" i="0" u="none" strike="noStrike" cap="none" normalizeH="0" baseline="0" dirty="0">
                <a:ln>
                  <a:noFill/>
                </a:ln>
                <a:solidFill>
                  <a:schemeClr val="tx1"/>
                </a:solidFill>
                <a:effectLst/>
                <a:latin typeface="+mj-lt"/>
              </a:rPr>
              <a:t>:</a:t>
            </a:r>
            <a:r>
              <a:rPr kumimoji="0" lang="es-CO" altLang="es-CO" sz="1000" b="0" i="0" u="none" strike="noStrike" cap="none" normalizeH="0" baseline="0" dirty="0">
                <a:ln>
                  <a:noFill/>
                </a:ln>
                <a:solidFill>
                  <a:schemeClr val="tx1"/>
                </a:solidFill>
                <a:effectLst/>
                <a:latin typeface="+mj-lt"/>
              </a:rPr>
              <a:t> Standard QA </a:t>
            </a:r>
            <a:r>
              <a:rPr kumimoji="0" lang="es-CO" altLang="es-CO" sz="1000" b="0" i="0" u="none" strike="noStrike" cap="none" normalizeH="0" baseline="0" dirty="0" err="1">
                <a:ln>
                  <a:noFill/>
                </a:ln>
                <a:solidFill>
                  <a:schemeClr val="tx1"/>
                </a:solidFill>
                <a:effectLst/>
                <a:latin typeface="+mj-lt"/>
              </a:rPr>
              <a:t>sampling</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failed</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to</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flag</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this</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agent</a:t>
            </a:r>
            <a:r>
              <a:rPr kumimoji="0" lang="es-CO" altLang="es-CO" sz="1000" b="0" i="0" u="none" strike="noStrike" cap="none" normalizeH="0" baseline="0" dirty="0">
                <a:ln>
                  <a:noFill/>
                </a:ln>
                <a:solidFill>
                  <a:schemeClr val="tx1"/>
                </a:solidFill>
                <a:effectLst/>
                <a:latin typeface="+mj-lt"/>
              </a:rPr>
              <a:t> a single time, </a:t>
            </a:r>
            <a:r>
              <a:rPr kumimoji="0" lang="es-CO" altLang="es-CO" sz="1000" b="0" i="0" u="none" strike="noStrike" cap="none" normalizeH="0" baseline="0" dirty="0" err="1">
                <a:ln>
                  <a:noFill/>
                </a:ln>
                <a:solidFill>
                  <a:schemeClr val="tx1"/>
                </a:solidFill>
                <a:effectLst/>
                <a:latin typeface="+mj-lt"/>
              </a:rPr>
              <a:t>proving</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current</a:t>
            </a:r>
            <a:r>
              <a:rPr kumimoji="0" lang="es-CO" altLang="es-CO" sz="1000" b="0" i="0" u="none" strike="noStrike" cap="none" normalizeH="0" baseline="0" dirty="0">
                <a:ln>
                  <a:noFill/>
                </a:ln>
                <a:solidFill>
                  <a:schemeClr val="tx1"/>
                </a:solidFill>
                <a:effectLst/>
                <a:latin typeface="+mj-lt"/>
              </a:rPr>
              <a:t> QA </a:t>
            </a:r>
            <a:r>
              <a:rPr kumimoji="0" lang="es-CO" altLang="es-CO" sz="1000" b="0" i="0" u="none" strike="noStrike" cap="none" normalizeH="0" baseline="0" dirty="0" err="1">
                <a:ln>
                  <a:noFill/>
                </a:ln>
                <a:solidFill>
                  <a:schemeClr val="tx1"/>
                </a:solidFill>
                <a:effectLst/>
                <a:latin typeface="+mj-lt"/>
              </a:rPr>
              <a:t>audit</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selection</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mechanisms</a:t>
            </a:r>
            <a:r>
              <a:rPr kumimoji="0" lang="es-CO" altLang="es-CO" sz="1000" b="0" i="0" u="none" strike="noStrike" cap="none" normalizeH="0" baseline="0" dirty="0">
                <a:ln>
                  <a:noFill/>
                </a:ln>
                <a:solidFill>
                  <a:schemeClr val="tx1"/>
                </a:solidFill>
                <a:effectLst/>
                <a:latin typeface="+mj-lt"/>
              </a:rPr>
              <a:t> are </a:t>
            </a:r>
            <a:r>
              <a:rPr kumimoji="0" lang="es-CO" altLang="es-CO" sz="1000" b="0" i="0" u="none" strike="noStrike" cap="none" normalizeH="0" baseline="0" dirty="0" err="1">
                <a:ln>
                  <a:noFill/>
                </a:ln>
                <a:solidFill>
                  <a:schemeClr val="tx1"/>
                </a:solidFill>
                <a:effectLst/>
                <a:latin typeface="+mj-lt"/>
              </a:rPr>
              <a:t>completely</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disconnected</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from</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customer</a:t>
            </a:r>
            <a:r>
              <a:rPr kumimoji="0" lang="es-CO" altLang="es-CO" sz="1000" b="0" i="0" u="none" strike="noStrike" cap="none" normalizeH="0" baseline="0" dirty="0">
                <a:ln>
                  <a:noFill/>
                </a:ln>
                <a:solidFill>
                  <a:schemeClr val="tx1"/>
                </a:solidFill>
                <a:effectLst/>
                <a:latin typeface="+mj-lt"/>
              </a:rPr>
              <a:t> </a:t>
            </a:r>
            <a:r>
              <a:rPr kumimoji="0" lang="es-CO" altLang="es-CO" sz="1000" b="0" i="0" u="none" strike="noStrike" cap="none" normalizeH="0" baseline="0" dirty="0" err="1">
                <a:ln>
                  <a:noFill/>
                </a:ln>
                <a:solidFill>
                  <a:schemeClr val="tx1"/>
                </a:solidFill>
                <a:effectLst/>
                <a:latin typeface="+mj-lt"/>
              </a:rPr>
              <a:t>sentiment</a:t>
            </a:r>
            <a:r>
              <a:rPr kumimoji="0" lang="es-CO" altLang="es-CO" sz="1000" b="0" i="0" u="none" strike="noStrike" cap="none" normalizeH="0" baseline="0" dirty="0">
                <a:ln>
                  <a:noFill/>
                </a:ln>
                <a:solidFill>
                  <a:schemeClr val="tx1"/>
                </a:solidFill>
                <a:effectLst/>
                <a:latin typeface="+mj-lt"/>
              </a:rPr>
              <a:t>.</a:t>
            </a:r>
          </a:p>
        </p:txBody>
      </p:sp>
      <p:sp>
        <p:nvSpPr>
          <p:cNvPr id="71" name="Rectangle 2">
            <a:extLst>
              <a:ext uri="{FF2B5EF4-FFF2-40B4-BE49-F238E27FC236}">
                <a16:creationId xmlns:a16="http://schemas.microsoft.com/office/drawing/2014/main" id="{A66C767C-14F9-AA04-9A04-CBB1F9E51C82}"/>
              </a:ext>
            </a:extLst>
          </p:cNvPr>
          <p:cNvSpPr>
            <a:spLocks noChangeArrowheads="1"/>
          </p:cNvSpPr>
          <p:nvPr/>
        </p:nvSpPr>
        <p:spPr bwMode="auto">
          <a:xfrm>
            <a:off x="6748272" y="4565445"/>
            <a:ext cx="554354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CO" altLang="es-CO" sz="1000" b="1" i="0" u="none" strike="noStrike" cap="none" normalizeH="0" baseline="0" dirty="0" err="1">
                <a:ln>
                  <a:noFill/>
                </a:ln>
                <a:solidFill>
                  <a:schemeClr val="tx1"/>
                </a:solidFill>
                <a:effectLst/>
                <a:latin typeface="Arial" panose="020B0604020202020204" pitchFamily="34" charset="0"/>
              </a:rPr>
              <a:t>Asymmetric</a:t>
            </a:r>
            <a:r>
              <a:rPr kumimoji="0" lang="es-CO" altLang="es-CO" sz="1000" b="1" i="0" u="none" strike="noStrike" cap="none" normalizeH="0" baseline="0" dirty="0">
                <a:ln>
                  <a:noFill/>
                </a:ln>
                <a:solidFill>
                  <a:schemeClr val="tx1"/>
                </a:solidFill>
                <a:effectLst/>
                <a:latin typeface="Arial" panose="020B0604020202020204" pitchFamily="34" charset="0"/>
              </a:rPr>
              <a:t> Pass </a:t>
            </a:r>
            <a:r>
              <a:rPr kumimoji="0" lang="es-CO" altLang="es-CO" sz="1000" b="1" i="0" u="none" strike="noStrike" cap="none" normalizeH="0" baseline="0" dirty="0" err="1">
                <a:ln>
                  <a:noFill/>
                </a:ln>
                <a:solidFill>
                  <a:schemeClr val="tx1"/>
                </a:solidFill>
                <a:effectLst/>
                <a:latin typeface="Arial" panose="020B0604020202020204" pitchFamily="34" charset="0"/>
              </a:rPr>
              <a:t>Rate</a:t>
            </a:r>
            <a:r>
              <a:rPr kumimoji="0" lang="es-CO" altLang="es-CO" sz="1000" b="1" i="0" u="none" strike="noStrike" cap="none" normalizeH="0" baseline="0" dirty="0">
                <a:ln>
                  <a:noFill/>
                </a:ln>
                <a:solidFill>
                  <a:schemeClr val="tx1"/>
                </a:solidFill>
                <a:effectLst/>
                <a:latin typeface="Arial" panose="020B0604020202020204" pitchFamily="34" charset="0"/>
              </a:rPr>
              <a:t> (15 vs. 1):</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a:ln>
                  <a:noFill/>
                </a:ln>
                <a:solidFill>
                  <a:schemeClr val="tx1"/>
                </a:solidFill>
                <a:effectLst/>
                <a:latin typeface="Arial" panose="020B0604020202020204" pitchFamily="34" charset="0"/>
              </a:rPr>
              <a:t>15 </a:t>
            </a:r>
            <a:r>
              <a:rPr kumimoji="0" lang="es-CO" altLang="es-CO" sz="1000" b="1" i="0" u="none" strike="noStrike" cap="none" normalizeH="0" baseline="0" dirty="0" err="1">
                <a:ln>
                  <a:noFill/>
                </a:ln>
                <a:solidFill>
                  <a:schemeClr val="tx1"/>
                </a:solidFill>
                <a:effectLst/>
                <a:latin typeface="Arial" panose="020B0604020202020204" pitchFamily="34" charset="0"/>
              </a:rPr>
              <a:t>out</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of</a:t>
            </a:r>
            <a:r>
              <a:rPr kumimoji="0" lang="es-CO" altLang="es-CO" sz="1000" b="1" i="0" u="none" strike="noStrike" cap="none" normalizeH="0" baseline="0" dirty="0">
                <a:ln>
                  <a:noFill/>
                </a:ln>
                <a:solidFill>
                  <a:schemeClr val="tx1"/>
                </a:solidFill>
                <a:effectLst/>
                <a:latin typeface="Arial" panose="020B0604020202020204" pitchFamily="34" charset="0"/>
              </a:rPr>
              <a:t> 16 </a:t>
            </a:r>
            <a:r>
              <a:rPr kumimoji="0" lang="es-CO" altLang="es-CO" sz="1000" b="1" i="0" u="none" strike="noStrike" cap="none" normalizeH="0" baseline="0" dirty="0" err="1">
                <a:ln>
                  <a:noFill/>
                </a:ln>
                <a:solidFill>
                  <a:schemeClr val="tx1"/>
                </a:solidFill>
                <a:effectLst/>
                <a:latin typeface="Arial" panose="020B0604020202020204" pitchFamily="34" charset="0"/>
              </a:rPr>
              <a:t>qualified</a:t>
            </a:r>
            <a:r>
              <a:rPr kumimoji="0" lang="es-CO" altLang="es-CO" sz="1000" b="1" i="0" u="none" strike="noStrike" cap="none" normalizeH="0" baseline="0" dirty="0">
                <a:ln>
                  <a:noFill/>
                </a:ln>
                <a:solidFill>
                  <a:schemeClr val="tx1"/>
                </a:solidFill>
                <a:effectLst/>
                <a:latin typeface="Arial" panose="020B0604020202020204" pitchFamily="34" charset="0"/>
              </a:rPr>
              <a:t> supervisor </a:t>
            </a:r>
            <a:r>
              <a:rPr kumimoji="0" lang="es-CO" altLang="es-CO" sz="1000" b="1" i="0" u="none" strike="noStrike" cap="none" normalizeH="0" baseline="0" dirty="0" err="1">
                <a:ln>
                  <a:noFill/>
                </a:ln>
                <a:solidFill>
                  <a:schemeClr val="tx1"/>
                </a:solidFill>
                <a:effectLst/>
                <a:latin typeface="Arial" panose="020B0604020202020204" pitchFamily="34" charset="0"/>
              </a:rPr>
              <a:t>teams</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pass</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the</a:t>
            </a:r>
            <a:r>
              <a:rPr kumimoji="0" lang="es-CO" altLang="es-CO" sz="1000" b="1" i="0" u="none" strike="noStrike" cap="none" normalizeH="0" baseline="0" dirty="0">
                <a:ln>
                  <a:noFill/>
                </a:ln>
                <a:solidFill>
                  <a:schemeClr val="tx1"/>
                </a:solidFill>
                <a:effectLst/>
                <a:latin typeface="Arial" panose="020B0604020202020204" pitchFamily="34" charset="0"/>
              </a:rPr>
              <a:t> 85.0 QA </a:t>
            </a:r>
            <a:r>
              <a:rPr kumimoji="0" lang="es-CO" altLang="es-CO" sz="1000" b="1" i="0" u="none" strike="noStrike" cap="none" normalizeH="0" baseline="0" dirty="0" err="1">
                <a:ln>
                  <a:noFill/>
                </a:ln>
                <a:solidFill>
                  <a:schemeClr val="tx1"/>
                </a:solidFill>
                <a:effectLst/>
                <a:latin typeface="Arial" panose="020B0604020202020204" pitchFamily="34" charset="0"/>
              </a:rPr>
              <a:t>threshold</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yet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only</a:t>
            </a:r>
            <a:r>
              <a:rPr kumimoji="0" lang="es-CO" altLang="es-CO" sz="1000" b="1" i="0" u="none" strike="noStrike" cap="none" normalizeH="0" baseline="0" dirty="0">
                <a:ln>
                  <a:noFill/>
                </a:ln>
                <a:solidFill>
                  <a:schemeClr val="tx1"/>
                </a:solidFill>
                <a:effectLst/>
                <a:latin typeface="Arial" panose="020B0604020202020204" pitchFamily="34" charset="0"/>
              </a:rPr>
              <a:t> 1 </a:t>
            </a:r>
            <a:r>
              <a:rPr kumimoji="0" lang="es-CO" altLang="es-CO" sz="1000" b="1" i="0" u="none" strike="noStrike" cap="none" normalizeH="0" baseline="0" dirty="0" err="1">
                <a:ln>
                  <a:noFill/>
                </a:ln>
                <a:solidFill>
                  <a:schemeClr val="tx1"/>
                </a:solidFill>
                <a:effectLst/>
                <a:latin typeface="Arial" panose="020B0604020202020204" pitchFamily="34" charset="0"/>
              </a:rPr>
              <a:t>team</a:t>
            </a:r>
            <a:r>
              <a:rPr kumimoji="0" lang="es-CO" altLang="es-CO" sz="1000" b="1" i="0" u="none" strike="noStrike" cap="none" normalizeH="0" baseline="0" dirty="0">
                <a:ln>
                  <a:noFill/>
                </a:ln>
                <a:solidFill>
                  <a:schemeClr val="tx1"/>
                </a:solidFill>
                <a:effectLst/>
                <a:latin typeface="Arial" panose="020B0604020202020204" pitchFamily="34" charset="0"/>
              </a:rPr>
              <a:t> (S10) </a:t>
            </a:r>
            <a:r>
              <a:rPr kumimoji="0" lang="es-CO" altLang="es-CO" sz="1000" b="1" i="0" u="none" strike="noStrike" cap="none" normalizeH="0" baseline="0" dirty="0" err="1">
                <a:ln>
                  <a:noFill/>
                </a:ln>
                <a:solidFill>
                  <a:schemeClr val="tx1"/>
                </a:solidFill>
                <a:effectLst/>
                <a:latin typeface="Arial" panose="020B0604020202020204" pitchFamily="34" charset="0"/>
              </a:rPr>
              <a:t>achieves</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the</a:t>
            </a:r>
            <a:r>
              <a:rPr kumimoji="0" lang="es-CO" altLang="es-CO" sz="1000" b="1" i="0" u="none" strike="noStrike" cap="none" normalizeH="0" baseline="0" dirty="0">
                <a:ln>
                  <a:noFill/>
                </a:ln>
                <a:solidFill>
                  <a:schemeClr val="tx1"/>
                </a:solidFill>
                <a:effectLst/>
                <a:latin typeface="Arial" panose="020B0604020202020204" pitchFamily="34" charset="0"/>
              </a:rPr>
              <a:t> 85.0% CSAT target</a:t>
            </a:r>
            <a:r>
              <a:rPr kumimoji="0" lang="es-CO" altLang="es-CO"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CO" altLang="es-CO" sz="1000" b="1" i="0" u="none" strike="noStrike" cap="none" normalizeH="0" baseline="0" dirty="0">
                <a:ln>
                  <a:noFill/>
                </a:ln>
                <a:solidFill>
                  <a:schemeClr val="tx1"/>
                </a:solidFill>
                <a:effectLst/>
                <a:latin typeface="Arial" panose="020B0604020202020204" pitchFamily="34" charset="0"/>
              </a:rPr>
              <a:t>High QA / </a:t>
            </a:r>
            <a:r>
              <a:rPr kumimoji="0" lang="es-CO" altLang="es-CO" sz="1000" b="1" i="0" u="none" strike="noStrike" cap="none" normalizeH="0" baseline="0" dirty="0" err="1">
                <a:ln>
                  <a:noFill/>
                </a:ln>
                <a:solidFill>
                  <a:schemeClr val="tx1"/>
                </a:solidFill>
                <a:effectLst/>
                <a:latin typeface="Arial" panose="020B0604020202020204" pitchFamily="34" charset="0"/>
              </a:rPr>
              <a:t>Worst</a:t>
            </a:r>
            <a:r>
              <a:rPr kumimoji="0" lang="es-CO" altLang="es-CO" sz="1000" b="1" i="0" u="none" strike="noStrike" cap="none" normalizeH="0" baseline="0" dirty="0">
                <a:ln>
                  <a:noFill/>
                </a:ln>
                <a:solidFill>
                  <a:schemeClr val="tx1"/>
                </a:solidFill>
                <a:effectLst/>
                <a:latin typeface="Arial" panose="020B0604020202020204" pitchFamily="34" charset="0"/>
              </a:rPr>
              <a:t> CSAT </a:t>
            </a:r>
            <a:r>
              <a:rPr kumimoji="0" lang="es-CO" altLang="es-CO" sz="1000" b="1" i="0" u="none" strike="noStrike" cap="none" normalizeH="0" baseline="0" dirty="0" err="1">
                <a:ln>
                  <a:noFill/>
                </a:ln>
                <a:solidFill>
                  <a:schemeClr val="tx1"/>
                </a:solidFill>
                <a:effectLst/>
                <a:latin typeface="Arial" panose="020B0604020202020204" pitchFamily="34" charset="0"/>
              </a:rPr>
              <a:t>Friction</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Team</a:t>
            </a:r>
            <a:r>
              <a:rPr kumimoji="0" lang="es-CO" altLang="es-CO" sz="1000" b="1" i="0" u="none" strike="noStrike" cap="none" normalizeH="0" baseline="0" dirty="0">
                <a:ln>
                  <a:noFill/>
                </a:ln>
                <a:solidFill>
                  <a:schemeClr val="tx1"/>
                </a:solidFill>
                <a:effectLst/>
                <a:latin typeface="Arial" panose="020B0604020202020204" pitchFamily="34" charset="0"/>
              </a:rPr>
              <a:t> S11):</a:t>
            </a:r>
            <a:r>
              <a:rPr kumimoji="0" lang="es-CO" altLang="es-CO" sz="1000" b="0" i="0" u="none" strike="noStrike" cap="none" normalizeH="0" baseline="0" dirty="0">
                <a:ln>
                  <a:noFill/>
                </a:ln>
                <a:solidFill>
                  <a:schemeClr val="tx1"/>
                </a:solidFill>
                <a:effectLst/>
                <a:latin typeface="Arial" panose="020B0604020202020204" pitchFamily="34" charset="0"/>
              </a:rPr>
              <a:t> Supervisor 11 </a:t>
            </a:r>
            <a:r>
              <a:rPr kumimoji="0" lang="es-CO" altLang="es-CO" sz="1000" b="0" i="0" u="none" strike="noStrike" cap="none" normalizeH="0" baseline="0" dirty="0" err="1">
                <a:ln>
                  <a:noFill/>
                </a:ln>
                <a:solidFill>
                  <a:schemeClr val="tx1"/>
                </a:solidFill>
                <a:effectLst/>
                <a:latin typeface="Arial" panose="020B0604020202020204" pitchFamily="34" charset="0"/>
              </a:rPr>
              <a:t>passes</a:t>
            </a:r>
            <a:r>
              <a:rPr kumimoji="0" lang="es-CO" altLang="es-CO" sz="1000" b="0" i="0" u="none" strike="noStrike" cap="none" normalizeH="0" baseline="0" dirty="0">
                <a:ln>
                  <a:noFill/>
                </a:ln>
                <a:solidFill>
                  <a:schemeClr val="tx1"/>
                </a:solidFill>
                <a:effectLst/>
                <a:latin typeface="Arial" panose="020B0604020202020204" pitchFamily="34" charset="0"/>
              </a:rPr>
              <a:t> QA </a:t>
            </a:r>
            <a:r>
              <a:rPr kumimoji="0" lang="es-CO" altLang="es-CO" sz="1000" b="0" i="0" u="none" strike="noStrike" cap="none" normalizeH="0" baseline="0" dirty="0" err="1">
                <a:ln>
                  <a:noFill/>
                </a:ln>
                <a:solidFill>
                  <a:schemeClr val="tx1"/>
                </a:solidFill>
                <a:effectLst/>
                <a:latin typeface="Arial" panose="020B0604020202020204" pitchFamily="34" charset="0"/>
              </a:rPr>
              <a:t>with</a:t>
            </a:r>
            <a:r>
              <a:rPr kumimoji="0" lang="es-CO" altLang="es-CO" sz="1000" b="0" i="0" u="none" strike="noStrike" cap="none" normalizeH="0" baseline="0" dirty="0">
                <a:ln>
                  <a:noFill/>
                </a:ln>
                <a:solidFill>
                  <a:schemeClr val="tx1"/>
                </a:solidFill>
                <a:effectLst/>
                <a:latin typeface="Arial" panose="020B0604020202020204" pitchFamily="34" charset="0"/>
              </a:rPr>
              <a:t> a </a:t>
            </a:r>
            <a:r>
              <a:rPr kumimoji="0" lang="es-CO" altLang="es-CO" sz="1000" b="1" i="0" u="none" strike="noStrike" cap="none" normalizeH="0" baseline="0" dirty="0">
                <a:ln>
                  <a:noFill/>
                </a:ln>
                <a:solidFill>
                  <a:schemeClr val="tx1"/>
                </a:solidFill>
                <a:effectLst/>
                <a:latin typeface="Arial" panose="020B0604020202020204" pitchFamily="34" charset="0"/>
              </a:rPr>
              <a:t>90.7 score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yet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generates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the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worst</a:t>
            </a:r>
            <a:r>
              <a:rPr kumimoji="0" lang="es-CO" altLang="es-CO" sz="1000" b="1" i="0" u="none" strike="noStrike" cap="none" normalizeH="0" baseline="0" dirty="0">
                <a:ln>
                  <a:noFill/>
                </a:ln>
                <a:solidFill>
                  <a:schemeClr val="tx1"/>
                </a:solidFill>
                <a:effectLst/>
                <a:latin typeface="Arial" panose="020B0604020202020204" pitchFamily="34" charset="0"/>
              </a:rPr>
              <a:t> CSAT </a:t>
            </a:r>
            <a:r>
              <a:rPr kumimoji="0" lang="es-CO" altLang="es-CO" sz="1000" b="1" i="0" u="none" strike="noStrike" cap="none" normalizeH="0" baseline="0" dirty="0" err="1">
                <a:ln>
                  <a:noFill/>
                </a:ln>
                <a:solidFill>
                  <a:schemeClr val="tx1"/>
                </a:solidFill>
                <a:effectLst/>
                <a:latin typeface="Arial" panose="020B0604020202020204" pitchFamily="34" charset="0"/>
              </a:rPr>
              <a:t>on</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the</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floor</a:t>
            </a:r>
            <a:r>
              <a:rPr kumimoji="0" lang="es-CO" altLang="es-CO" sz="1000" b="1" i="0" u="none" strike="noStrike" cap="none" normalizeH="0" baseline="0" dirty="0">
                <a:ln>
                  <a:noFill/>
                </a:ln>
                <a:solidFill>
                  <a:schemeClr val="tx1"/>
                </a:solidFill>
                <a:effectLst/>
                <a:latin typeface="Arial" panose="020B0604020202020204" pitchFamily="34" charset="0"/>
              </a:rPr>
              <a:t> at 71.0% </a:t>
            </a:r>
            <a:r>
              <a:rPr kumimoji="0" lang="es-CO" altLang="es-CO" sz="1000" b="1" i="0" u="none" strike="noStrike" cap="none" normalizeH="0" baseline="0" dirty="0" err="1">
                <a:ln>
                  <a:noFill/>
                </a:ln>
                <a:solidFill>
                  <a:schemeClr val="tx1"/>
                </a:solidFill>
                <a:effectLst/>
                <a:latin typeface="Arial" panose="020B0604020202020204" pitchFamily="34" charset="0"/>
              </a:rPr>
              <a:t>across</a:t>
            </a:r>
            <a:r>
              <a:rPr kumimoji="0" lang="es-CO" altLang="es-CO" sz="1000" b="1" i="0" u="none" strike="noStrike" cap="none" normalizeH="0" baseline="0" dirty="0">
                <a:ln>
                  <a:noFill/>
                </a:ln>
                <a:solidFill>
                  <a:schemeClr val="tx1"/>
                </a:solidFill>
                <a:effectLst/>
                <a:latin typeface="Arial" panose="020B0604020202020204" pitchFamily="34" charset="0"/>
              </a:rPr>
              <a:t> 4,243 </a:t>
            </a:r>
            <a:r>
              <a:rPr kumimoji="0" lang="es-CO" altLang="es-CO" sz="1000" b="1" i="0" u="none" strike="noStrike" cap="none" normalizeH="0" baseline="0" dirty="0" err="1">
                <a:ln>
                  <a:noFill/>
                </a:ln>
                <a:solidFill>
                  <a:schemeClr val="tx1"/>
                </a:solidFill>
                <a:effectLst/>
                <a:latin typeface="Arial" panose="020B0604020202020204" pitchFamily="34" charset="0"/>
              </a:rPr>
              <a:t>surveys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proving</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team-level</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compliance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management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does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not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translate</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to</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customer</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satisfaction</a:t>
            </a:r>
            <a:r>
              <a:rPr kumimoji="0" lang="es-CO" altLang="es-CO"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s-CO" altLang="es-CO"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s-CO" altLang="es-CO" sz="1000" b="1" i="0" u="none" strike="noStrike" cap="none" normalizeH="0" baseline="0" dirty="0" err="1">
                <a:ln>
                  <a:noFill/>
                </a:ln>
                <a:solidFill>
                  <a:schemeClr val="tx1"/>
                </a:solidFill>
                <a:effectLst/>
                <a:latin typeface="Arial" panose="020B0604020202020204" pitchFamily="34" charset="0"/>
              </a:rPr>
              <a:t>Concentrated</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Team</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Liability</a:t>
            </a:r>
            <a:r>
              <a:rPr kumimoji="0" lang="es-CO" altLang="es-CO" sz="1000" b="1" i="0" u="none" strike="noStrike" cap="none" normalizeH="0" baseline="0" dirty="0">
                <a:ln>
                  <a:noFill/>
                </a:ln>
                <a:solidFill>
                  <a:schemeClr val="tx1"/>
                </a:solidFill>
                <a:effectLst/>
                <a:latin typeface="Arial" panose="020B0604020202020204" pitchFamily="34" charset="0"/>
              </a:rPr>
              <a:t>:</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a:ln>
                  <a:noFill/>
                </a:ln>
                <a:solidFill>
                  <a:schemeClr val="tx1"/>
                </a:solidFill>
                <a:effectLst/>
                <a:latin typeface="Arial" panose="020B0604020202020204" pitchFamily="34" charset="0"/>
              </a:rPr>
              <a:t>5 supervisor </a:t>
            </a:r>
            <a:r>
              <a:rPr kumimoji="0" lang="es-CO" altLang="es-CO" sz="1000" b="1" i="0" u="none" strike="noStrike" cap="none" normalizeH="0" baseline="0" dirty="0" err="1">
                <a:ln>
                  <a:noFill/>
                </a:ln>
                <a:solidFill>
                  <a:schemeClr val="tx1"/>
                </a:solidFill>
                <a:effectLst/>
                <a:latin typeface="Arial" panose="020B0604020202020204" pitchFamily="34" charset="0"/>
              </a:rPr>
              <a:t>teams</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account</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for</a:t>
            </a:r>
            <a:r>
              <a:rPr kumimoji="0" lang="es-CO" altLang="es-CO" sz="1000" b="1" i="0" u="none" strike="noStrike" cap="none" normalizeH="0" baseline="0" dirty="0">
                <a:ln>
                  <a:noFill/>
                </a:ln>
                <a:solidFill>
                  <a:schemeClr val="tx1"/>
                </a:solidFill>
                <a:effectLst/>
                <a:latin typeface="Arial" panose="020B0604020202020204" pitchFamily="34" charset="0"/>
              </a:rPr>
              <a:t> 14 </a:t>
            </a:r>
            <a:r>
              <a:rPr kumimoji="0" lang="es-CO" altLang="es-CO" sz="1000" b="1" i="0" u="none" strike="noStrike" cap="none" normalizeH="0" baseline="0" dirty="0" err="1">
                <a:ln>
                  <a:noFill/>
                </a:ln>
                <a:solidFill>
                  <a:schemeClr val="tx1"/>
                </a:solidFill>
                <a:effectLst/>
                <a:latin typeface="Arial" panose="020B0604020202020204" pitchFamily="34" charset="0"/>
              </a:rPr>
              <a:t>of</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the</a:t>
            </a:r>
            <a:r>
              <a:rPr kumimoji="0" lang="es-CO" altLang="es-CO" sz="1000" b="1" i="0" u="none" strike="noStrike" cap="none" normalizeH="0" baseline="0" dirty="0">
                <a:ln>
                  <a:noFill/>
                </a:ln>
                <a:solidFill>
                  <a:schemeClr val="tx1"/>
                </a:solidFill>
                <a:effectLst/>
                <a:latin typeface="Arial" panose="020B0604020202020204" pitchFamily="34" charset="0"/>
              </a:rPr>
              <a:t> 26 </a:t>
            </a:r>
            <a:r>
              <a:rPr kumimoji="0" lang="es-CO" altLang="es-CO" sz="1000" b="1" i="0" u="none" strike="noStrike" cap="none" normalizeH="0" baseline="0" dirty="0" err="1">
                <a:ln>
                  <a:noFill/>
                </a:ln>
                <a:solidFill>
                  <a:schemeClr val="tx1"/>
                </a:solidFill>
                <a:effectLst/>
                <a:latin typeface="Arial" panose="020B0604020202020204" pitchFamily="34" charset="0"/>
              </a:rPr>
              <a:t>underperforming</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agents</a:t>
            </a:r>
            <a:r>
              <a:rPr kumimoji="0" lang="es-CO" altLang="es-CO" sz="1000" b="1" i="0" u="none" strike="noStrike" cap="none" normalizeH="0" baseline="0" dirty="0">
                <a:ln>
                  <a:noFill/>
                </a:ln>
                <a:solidFill>
                  <a:schemeClr val="tx1"/>
                </a:solidFill>
                <a:effectLst/>
                <a:latin typeface="Arial" panose="020B0604020202020204" pitchFamily="34" charset="0"/>
              </a:rPr>
              <a:t> (53.8%)</a:t>
            </a:r>
            <a:r>
              <a:rPr kumimoji="0" lang="es-CO" altLang="es-CO" sz="1000" b="0" i="0" u="none" strike="noStrike" cap="none" normalizeH="0" baseline="0" dirty="0">
                <a:ln>
                  <a:noFill/>
                </a:ln>
                <a:solidFill>
                  <a:schemeClr val="tx1"/>
                </a:solidFill>
                <a:effectLst/>
                <a:latin typeface="Arial" panose="020B0604020202020204" pitchFamily="34" charset="0"/>
              </a:rPr>
              <a:t>. Supervisor 7 has </a:t>
            </a:r>
            <a:r>
              <a:rPr kumimoji="0" lang="es-CO" altLang="es-CO" sz="1000" b="1" i="0" u="none" strike="noStrike" cap="none" normalizeH="0" baseline="0" dirty="0">
                <a:ln>
                  <a:noFill/>
                </a:ln>
                <a:solidFill>
                  <a:schemeClr val="tx1"/>
                </a:solidFill>
                <a:effectLst/>
                <a:latin typeface="Arial" panose="020B0604020202020204" pitchFamily="34" charset="0"/>
              </a:rPr>
              <a:t>43% </a:t>
            </a:r>
            <a:r>
              <a:rPr kumimoji="0" lang="es-CO" altLang="es-CO" sz="1000" b="1" i="0" u="none" strike="noStrike" cap="none" normalizeH="0" baseline="0" dirty="0" err="1">
                <a:ln>
                  <a:noFill/>
                </a:ln>
                <a:solidFill>
                  <a:schemeClr val="tx1"/>
                </a:solidFill>
                <a:effectLst/>
                <a:latin typeface="Arial" panose="020B0604020202020204" pitchFamily="34" charset="0"/>
              </a:rPr>
              <a:t>of</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its</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ranked</a:t>
            </a:r>
            <a:r>
              <a:rPr kumimoji="0" lang="es-CO" altLang="es-CO" sz="1000" b="1" i="0" u="none" strike="noStrike" cap="none" normalizeH="0" baseline="0" dirty="0">
                <a:ln>
                  <a:noFill/>
                </a:ln>
                <a:solidFill>
                  <a:schemeClr val="tx1"/>
                </a:solidFill>
                <a:effectLst/>
                <a:latin typeface="Arial" panose="020B0604020202020204" pitchFamily="34" charset="0"/>
              </a:rPr>
              <a:t> </a:t>
            </a:r>
            <a:r>
              <a:rPr kumimoji="0" lang="es-CO" altLang="es-CO" sz="1000" b="1" i="0" u="none" strike="noStrike" cap="none" normalizeH="0" baseline="0" dirty="0" err="1">
                <a:ln>
                  <a:noFill/>
                </a:ln>
                <a:solidFill>
                  <a:schemeClr val="tx1"/>
                </a:solidFill>
                <a:effectLst/>
                <a:latin typeface="Arial" panose="020B0604020202020204" pitchFamily="34" charset="0"/>
              </a:rPr>
              <a:t>agents</a:t>
            </a:r>
            <a:r>
              <a:rPr kumimoji="0" lang="es-CO" altLang="es-CO" sz="1000" b="1" i="0" u="none" strike="noStrike" cap="none" normalizeH="0" baseline="0" dirty="0">
                <a:ln>
                  <a:noFill/>
                </a:ln>
                <a:solidFill>
                  <a:schemeClr val="tx1"/>
                </a:solidFill>
                <a:effectLst/>
                <a:latin typeface="Arial" panose="020B0604020202020204" pitchFamily="34" charset="0"/>
              </a:rPr>
              <a:t> in Q4</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indicating</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structural</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leadership</a:t>
            </a:r>
            <a:r>
              <a:rPr kumimoji="0" lang="es-CO" altLang="es-CO" sz="1000" b="0" i="0" u="none" strike="noStrike" cap="none" normalizeH="0" baseline="0" dirty="0">
                <a:ln>
                  <a:noFill/>
                </a:ln>
                <a:solidFill>
                  <a:schemeClr val="tx1"/>
                </a:solidFill>
                <a:effectLst/>
                <a:latin typeface="Arial" panose="020B0604020202020204" pitchFamily="34" charset="0"/>
              </a:rPr>
              <a:t>/coaching </a:t>
            </a:r>
            <a:r>
              <a:rPr kumimoji="0" lang="es-CO" altLang="es-CO" sz="1000" b="0" i="0" u="none" strike="noStrike" cap="none" normalizeH="0" baseline="0" dirty="0" err="1">
                <a:ln>
                  <a:noFill/>
                </a:ln>
                <a:solidFill>
                  <a:schemeClr val="tx1"/>
                </a:solidFill>
                <a:effectLst/>
                <a:latin typeface="Arial" panose="020B0604020202020204" pitchFamily="34" charset="0"/>
              </a:rPr>
              <a:t>failures</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rather</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than</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isolated</a:t>
            </a:r>
            <a:r>
              <a:rPr kumimoji="0" lang="es-CO" altLang="es-CO" sz="1000" b="0" i="0" u="none" strike="noStrike" cap="none" normalizeH="0" baseline="0" dirty="0">
                <a:ln>
                  <a:noFill/>
                </a:ln>
                <a:solidFill>
                  <a:schemeClr val="tx1"/>
                </a:solidFill>
                <a:effectLst/>
                <a:latin typeface="Arial" panose="020B0604020202020204" pitchFamily="34" charset="0"/>
              </a:rPr>
              <a:t> </a:t>
            </a:r>
            <a:r>
              <a:rPr kumimoji="0" lang="es-CO" altLang="es-CO" sz="1000" b="0" i="0" u="none" strike="noStrike" cap="none" normalizeH="0" baseline="0" dirty="0" err="1">
                <a:ln>
                  <a:noFill/>
                </a:ln>
                <a:solidFill>
                  <a:schemeClr val="tx1"/>
                </a:solidFill>
                <a:effectLst/>
                <a:latin typeface="Arial" panose="020B0604020202020204" pitchFamily="34" charset="0"/>
              </a:rPr>
              <a:t>agent</a:t>
            </a:r>
            <a:r>
              <a:rPr kumimoji="0" lang="es-CO" altLang="es-CO" sz="1000" b="0" i="0" u="none" strike="noStrike" cap="none" normalizeH="0" baseline="0" dirty="0">
                <a:ln>
                  <a:noFill/>
                </a:ln>
                <a:solidFill>
                  <a:schemeClr val="tx1"/>
                </a:solidFill>
                <a:effectLst/>
                <a:latin typeface="Arial" panose="020B0604020202020204" pitchFamily="34" charset="0"/>
              </a:rPr>
              <a:t> error.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48840"/>
            <a:ext cx="2743200" cy="1005840"/>
          </a:xfrm>
          <a:prstGeom prst="rect">
            <a:avLst/>
          </a:prstGeom>
          <a:noFill/>
        </p:spPr>
        <p:txBody>
          <a:bodyPr wrap="square" lIns="0" tIns="0" rIns="0" bIns="0" anchor="t">
            <a:spAutoFit/>
          </a:bodyPr>
          <a:lstStyle/>
          <a:p>
            <a:pPr algn="l">
              <a:lnSpc>
                <a:spcPct val="115000"/>
              </a:lnSpc>
              <a:spcAft>
                <a:spcPts val="0"/>
              </a:spcAft>
            </a:pPr>
            <a:r>
              <a:rPr sz="6400" b="1">
                <a:solidFill>
                  <a:srgbClr val="FF6600"/>
                </a:solidFill>
                <a:latin typeface="Inter"/>
              </a:rPr>
              <a:t>05</a:t>
            </a:r>
          </a:p>
        </p:txBody>
      </p:sp>
      <p:sp>
        <p:nvSpPr>
          <p:cNvPr id="5" name="TextBox 4"/>
          <p:cNvSpPr txBox="1"/>
          <p:nvPr/>
        </p:nvSpPr>
        <p:spPr>
          <a:xfrm>
            <a:off x="1188720" y="3246120"/>
            <a:ext cx="8686800" cy="548640"/>
          </a:xfrm>
          <a:prstGeom prst="rect">
            <a:avLst/>
          </a:prstGeom>
          <a:noFill/>
        </p:spPr>
        <p:txBody>
          <a:bodyPr wrap="square" lIns="0" tIns="0" rIns="0" bIns="0" anchor="t">
            <a:spAutoFit/>
          </a:bodyPr>
          <a:lstStyle/>
          <a:p>
            <a:pPr algn="l">
              <a:lnSpc>
                <a:spcPct val="115000"/>
              </a:lnSpc>
              <a:spcAft>
                <a:spcPts val="0"/>
              </a:spcAft>
            </a:pPr>
            <a:r>
              <a:rPr sz="3000" b="1">
                <a:solidFill>
                  <a:srgbClr val="FFFFFF"/>
                </a:solidFill>
                <a:latin typeface="Inter"/>
              </a:rPr>
              <a:t>Combined analysis and root cause</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4187952"/>
            <a:ext cx="7863840" cy="822960"/>
          </a:xfrm>
          <a:prstGeom prst="rect">
            <a:avLst/>
          </a:prstGeom>
          <a:noFill/>
        </p:spPr>
        <p:txBody>
          <a:bodyPr wrap="square" lIns="0" tIns="0" rIns="0" bIns="0" anchor="t">
            <a:spAutoFit/>
          </a:bodyPr>
          <a:lstStyle/>
          <a:p>
            <a:pPr algn="l">
              <a:lnSpc>
                <a:spcPct val="140000"/>
              </a:lnSpc>
              <a:spcAft>
                <a:spcPts val="0"/>
              </a:spcAft>
            </a:pPr>
            <a:r>
              <a:rPr sz="1300" b="0">
                <a:solidFill>
                  <a:srgbClr val="C9CCD1"/>
                </a:solidFill>
                <a:latin typeface="Inter"/>
              </a:rPr>
              <a:t>Where QA, CSAT and recontact miss on the same contact reason. Then why.</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tIns="0" rIns="0" bIns="0" anchor="ctr">
            <a:spAutoFit/>
          </a:bodyPr>
          <a:lstStyle/>
          <a:p>
            <a:pPr algn="l">
              <a:lnSpc>
                <a:spcPct val="115000"/>
              </a:lnSpc>
              <a:spcAft>
                <a:spcPts val="0"/>
              </a:spcAft>
            </a:pPr>
            <a:r>
              <a:rPr sz="1500" b="1">
                <a:solidFill>
                  <a:srgbClr val="FFFFFF"/>
                </a:solidFill>
                <a:latin typeface="Inter"/>
              </a:rPr>
              <a:t>DiDi</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Combined analysis</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Contact reasons that miss on more than one metric (blended Phone + Chat)</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24</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grpSp>
        <p:nvGrpSpPr>
          <p:cNvPr id="125" name="Grupo 124">
            <a:extLst>
              <a:ext uri="{FF2B5EF4-FFF2-40B4-BE49-F238E27FC236}">
                <a16:creationId xmlns:a16="http://schemas.microsoft.com/office/drawing/2014/main" id="{6ACBDB86-88B3-EB54-78F6-7546C68B4DD5}"/>
              </a:ext>
            </a:extLst>
          </p:cNvPr>
          <p:cNvGrpSpPr/>
          <p:nvPr/>
        </p:nvGrpSpPr>
        <p:grpSpPr>
          <a:xfrm>
            <a:off x="457200" y="1207008"/>
            <a:ext cx="11091672" cy="3132010"/>
            <a:chOff x="457200" y="1207008"/>
            <a:chExt cx="11091672" cy="3132010"/>
          </a:xfrm>
        </p:grpSpPr>
        <p:sp>
          <p:nvSpPr>
            <p:cNvPr id="11" name="Rectangle 10"/>
            <p:cNvSpPr/>
            <p:nvPr/>
          </p:nvSpPr>
          <p:spPr>
            <a:xfrm>
              <a:off x="457200" y="1207008"/>
              <a:ext cx="11091672" cy="38404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2" name="TextBox 11"/>
            <p:cNvSpPr txBox="1"/>
            <p:nvPr/>
          </p:nvSpPr>
          <p:spPr>
            <a:xfrm>
              <a:off x="585216" y="1311573"/>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Contact reason (CR Lv4)</a:t>
              </a:r>
            </a:p>
          </p:txBody>
        </p:sp>
        <p:sp>
          <p:nvSpPr>
            <p:cNvPr id="13" name="TextBox 12"/>
            <p:cNvSpPr txBox="1"/>
            <p:nvPr/>
          </p:nvSpPr>
          <p:spPr>
            <a:xfrm>
              <a:off x="3465576" y="1311573"/>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QA</a:t>
              </a:r>
            </a:p>
          </p:txBody>
        </p:sp>
        <p:sp>
          <p:nvSpPr>
            <p:cNvPr id="14" name="TextBox 13"/>
            <p:cNvSpPr txBox="1"/>
            <p:nvPr/>
          </p:nvSpPr>
          <p:spPr>
            <a:xfrm>
              <a:off x="4032503" y="1311573"/>
              <a:ext cx="402334" cy="174920"/>
            </a:xfrm>
            <a:prstGeom prst="rect">
              <a:avLst/>
            </a:prstGeom>
            <a:noFill/>
          </p:spPr>
          <p:txBody>
            <a:bodyPr wrap="square" lIns="0" tIns="0" rIns="0" bIns="0" anchor="ctr">
              <a:spAutoFit/>
            </a:bodyPr>
            <a:lstStyle/>
            <a:p>
              <a:pPr algn="ctr">
                <a:lnSpc>
                  <a:spcPct val="115000"/>
                </a:lnSpc>
                <a:spcAft>
                  <a:spcPts val="0"/>
                </a:spcAft>
              </a:pPr>
              <a:r>
                <a:rPr sz="1050" b="1" dirty="0">
                  <a:solidFill>
                    <a:srgbClr val="FFFFFF"/>
                  </a:solidFill>
                  <a:latin typeface="Inter"/>
                </a:rPr>
                <a:t>Audits</a:t>
              </a:r>
            </a:p>
          </p:txBody>
        </p:sp>
        <p:sp>
          <p:nvSpPr>
            <p:cNvPr id="15" name="TextBox 14"/>
            <p:cNvSpPr txBox="1"/>
            <p:nvPr/>
          </p:nvSpPr>
          <p:spPr>
            <a:xfrm>
              <a:off x="4599431" y="1311573"/>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CSAT</a:t>
              </a:r>
            </a:p>
          </p:txBody>
        </p:sp>
        <p:sp>
          <p:nvSpPr>
            <p:cNvPr id="16" name="TextBox 15"/>
            <p:cNvSpPr txBox="1"/>
            <p:nvPr/>
          </p:nvSpPr>
          <p:spPr>
            <a:xfrm>
              <a:off x="5257799" y="1311573"/>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Recontact</a:t>
              </a:r>
            </a:p>
          </p:txBody>
        </p:sp>
        <p:sp>
          <p:nvSpPr>
            <p:cNvPr id="17" name="TextBox 16"/>
            <p:cNvSpPr txBox="1"/>
            <p:nvPr/>
          </p:nvSpPr>
          <p:spPr>
            <a:xfrm>
              <a:off x="6099047" y="1218663"/>
              <a:ext cx="658368" cy="36074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Repeat volume</a:t>
              </a:r>
            </a:p>
          </p:txBody>
        </p:sp>
        <p:sp>
          <p:nvSpPr>
            <p:cNvPr id="18" name="TextBox 17"/>
            <p:cNvSpPr txBox="1"/>
            <p:nvPr/>
          </p:nvSpPr>
          <p:spPr>
            <a:xfrm>
              <a:off x="7013447" y="1311573"/>
              <a:ext cx="457200"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Surveys</a:t>
              </a:r>
            </a:p>
          </p:txBody>
        </p:sp>
        <p:sp>
          <p:nvSpPr>
            <p:cNvPr id="19" name="TextBox 18"/>
            <p:cNvSpPr txBox="1"/>
            <p:nvPr/>
          </p:nvSpPr>
          <p:spPr>
            <a:xfrm>
              <a:off x="7726679" y="1311573"/>
              <a:ext cx="17099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Pattern</a:t>
              </a:r>
            </a:p>
          </p:txBody>
        </p:sp>
        <p:sp>
          <p:nvSpPr>
            <p:cNvPr id="20" name="TextBox 19"/>
            <p:cNvSpPr txBox="1"/>
            <p:nvPr/>
          </p:nvSpPr>
          <p:spPr>
            <a:xfrm>
              <a:off x="9692640" y="1311573"/>
              <a:ext cx="1728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FFFFFF"/>
                  </a:solidFill>
                  <a:latin typeface="Inter"/>
                </a:rPr>
                <a:t>Priority</a:t>
              </a:r>
            </a:p>
          </p:txBody>
        </p:sp>
        <p:sp>
          <p:nvSpPr>
            <p:cNvPr id="21" name="TextBox 20"/>
            <p:cNvSpPr txBox="1"/>
            <p:nvPr/>
          </p:nvSpPr>
          <p:spPr>
            <a:xfrm>
              <a:off x="585216" y="1732197"/>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Order status / delay information</a:t>
              </a:r>
            </a:p>
          </p:txBody>
        </p:sp>
        <p:sp>
          <p:nvSpPr>
            <p:cNvPr id="22" name="Rounded Rectangle 21"/>
            <p:cNvSpPr/>
            <p:nvPr/>
          </p:nvSpPr>
          <p:spPr>
            <a:xfrm>
              <a:off x="3401568" y="16550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3465576" y="1732197"/>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6A34A"/>
                  </a:solidFill>
                  <a:latin typeface="Inter"/>
                </a:rPr>
                <a:t>95.6</a:t>
              </a:r>
            </a:p>
          </p:txBody>
        </p:sp>
        <p:sp>
          <p:nvSpPr>
            <p:cNvPr id="24" name="TextBox 23"/>
            <p:cNvSpPr txBox="1"/>
            <p:nvPr/>
          </p:nvSpPr>
          <p:spPr>
            <a:xfrm>
              <a:off x="4032503" y="1732197"/>
              <a:ext cx="310896"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25</a:t>
              </a:r>
            </a:p>
          </p:txBody>
        </p:sp>
        <p:sp>
          <p:nvSpPr>
            <p:cNvPr id="25" name="Rounded Rectangle 24"/>
            <p:cNvSpPr/>
            <p:nvPr/>
          </p:nvSpPr>
          <p:spPr>
            <a:xfrm>
              <a:off x="4535424" y="16550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6" name="TextBox 25"/>
            <p:cNvSpPr txBox="1"/>
            <p:nvPr/>
          </p:nvSpPr>
          <p:spPr>
            <a:xfrm>
              <a:off x="4599431" y="1732197"/>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67.8%</a:t>
              </a:r>
            </a:p>
          </p:txBody>
        </p:sp>
        <p:sp>
          <p:nvSpPr>
            <p:cNvPr id="27" name="Rounded Rectangle 26"/>
            <p:cNvSpPr/>
            <p:nvPr/>
          </p:nvSpPr>
          <p:spPr>
            <a:xfrm>
              <a:off x="5193792" y="16550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8" name="TextBox 27"/>
            <p:cNvSpPr txBox="1"/>
            <p:nvPr/>
          </p:nvSpPr>
          <p:spPr>
            <a:xfrm>
              <a:off x="5257799" y="1732197"/>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16.92%</a:t>
              </a:r>
            </a:p>
          </p:txBody>
        </p:sp>
        <p:sp>
          <p:nvSpPr>
            <p:cNvPr id="29" name="TextBox 28"/>
            <p:cNvSpPr txBox="1"/>
            <p:nvPr/>
          </p:nvSpPr>
          <p:spPr>
            <a:xfrm>
              <a:off x="6099047" y="1732197"/>
              <a:ext cx="65836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13,014</a:t>
              </a:r>
            </a:p>
          </p:txBody>
        </p:sp>
        <p:sp>
          <p:nvSpPr>
            <p:cNvPr id="30" name="TextBox 29"/>
            <p:cNvSpPr txBox="1"/>
            <p:nvPr/>
          </p:nvSpPr>
          <p:spPr>
            <a:xfrm>
              <a:off x="7013447" y="1732197"/>
              <a:ext cx="4572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9,918</a:t>
              </a:r>
            </a:p>
          </p:txBody>
        </p:sp>
        <p:sp>
          <p:nvSpPr>
            <p:cNvPr id="31" name="TextBox 30"/>
            <p:cNvSpPr txBox="1"/>
            <p:nvPr/>
          </p:nvSpPr>
          <p:spPr>
            <a:xfrm>
              <a:off x="7726679" y="1732197"/>
              <a:ext cx="170992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Low CSAT + High Recontact</a:t>
              </a:r>
            </a:p>
          </p:txBody>
        </p:sp>
        <p:sp>
          <p:nvSpPr>
            <p:cNvPr id="32" name="Rounded Rectangle 31"/>
            <p:cNvSpPr/>
            <p:nvPr/>
          </p:nvSpPr>
          <p:spPr>
            <a:xfrm>
              <a:off x="9692640" y="1682496"/>
              <a:ext cx="1313078"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Oval 32"/>
            <p:cNvSpPr/>
            <p:nvPr/>
          </p:nvSpPr>
          <p:spPr>
            <a:xfrm>
              <a:off x="9802368" y="176936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4" name="TextBox 33"/>
            <p:cNvSpPr txBox="1"/>
            <p:nvPr/>
          </p:nvSpPr>
          <p:spPr>
            <a:xfrm>
              <a:off x="9966960" y="1736365"/>
              <a:ext cx="100218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Act this quarter</a:t>
              </a:r>
            </a:p>
          </p:txBody>
        </p:sp>
        <p:sp>
          <p:nvSpPr>
            <p:cNvPr id="35" name="Rectangle 34"/>
            <p:cNvSpPr/>
            <p:nvPr/>
          </p:nvSpPr>
          <p:spPr>
            <a:xfrm>
              <a:off x="457200" y="20434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6" name="Rectangle 35"/>
            <p:cNvSpPr/>
            <p:nvPr/>
          </p:nvSpPr>
          <p:spPr>
            <a:xfrm>
              <a:off x="457200" y="2048256"/>
              <a:ext cx="1109167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585216" y="2189397"/>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order status &amp; delays</a:t>
              </a:r>
            </a:p>
          </p:txBody>
        </p:sp>
        <p:sp>
          <p:nvSpPr>
            <p:cNvPr id="38" name="Rounded Rectangle 37"/>
            <p:cNvSpPr/>
            <p:nvPr/>
          </p:nvSpPr>
          <p:spPr>
            <a:xfrm>
              <a:off x="3401568" y="21122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3465576" y="2189397"/>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6A34A"/>
                  </a:solidFill>
                  <a:latin typeface="Inter"/>
                </a:rPr>
                <a:t>97.3</a:t>
              </a:r>
            </a:p>
          </p:txBody>
        </p:sp>
        <p:sp>
          <p:nvSpPr>
            <p:cNvPr id="40" name="TextBox 39"/>
            <p:cNvSpPr txBox="1"/>
            <p:nvPr/>
          </p:nvSpPr>
          <p:spPr>
            <a:xfrm>
              <a:off x="4032503" y="2189397"/>
              <a:ext cx="310896"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45</a:t>
              </a:r>
            </a:p>
          </p:txBody>
        </p:sp>
        <p:sp>
          <p:nvSpPr>
            <p:cNvPr id="41" name="Rounded Rectangle 40"/>
            <p:cNvSpPr/>
            <p:nvPr/>
          </p:nvSpPr>
          <p:spPr>
            <a:xfrm>
              <a:off x="4535424" y="21122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2" name="TextBox 41"/>
            <p:cNvSpPr txBox="1"/>
            <p:nvPr/>
          </p:nvSpPr>
          <p:spPr>
            <a:xfrm>
              <a:off x="4599431" y="2189397"/>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64.7%</a:t>
              </a:r>
            </a:p>
          </p:txBody>
        </p:sp>
        <p:sp>
          <p:nvSpPr>
            <p:cNvPr id="43" name="Rounded Rectangle 42"/>
            <p:cNvSpPr/>
            <p:nvPr/>
          </p:nvSpPr>
          <p:spPr>
            <a:xfrm>
              <a:off x="5193792" y="21122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4" name="TextBox 43"/>
            <p:cNvSpPr txBox="1"/>
            <p:nvPr/>
          </p:nvSpPr>
          <p:spPr>
            <a:xfrm>
              <a:off x="5257799" y="2189397"/>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19.34%</a:t>
              </a:r>
            </a:p>
          </p:txBody>
        </p:sp>
        <p:sp>
          <p:nvSpPr>
            <p:cNvPr id="45" name="TextBox 44"/>
            <p:cNvSpPr txBox="1"/>
            <p:nvPr/>
          </p:nvSpPr>
          <p:spPr>
            <a:xfrm>
              <a:off x="6099047" y="2189397"/>
              <a:ext cx="65836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7,680</a:t>
              </a:r>
            </a:p>
          </p:txBody>
        </p:sp>
        <p:sp>
          <p:nvSpPr>
            <p:cNvPr id="46" name="TextBox 45"/>
            <p:cNvSpPr txBox="1"/>
            <p:nvPr/>
          </p:nvSpPr>
          <p:spPr>
            <a:xfrm>
              <a:off x="7013447" y="2189397"/>
              <a:ext cx="4572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5,096</a:t>
              </a:r>
            </a:p>
          </p:txBody>
        </p:sp>
        <p:sp>
          <p:nvSpPr>
            <p:cNvPr id="47" name="TextBox 46"/>
            <p:cNvSpPr txBox="1"/>
            <p:nvPr/>
          </p:nvSpPr>
          <p:spPr>
            <a:xfrm>
              <a:off x="7726679" y="2189397"/>
              <a:ext cx="170992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Low CSAT + High Recontact</a:t>
              </a:r>
            </a:p>
          </p:txBody>
        </p:sp>
        <p:sp>
          <p:nvSpPr>
            <p:cNvPr id="48" name="Rounded Rectangle 47"/>
            <p:cNvSpPr/>
            <p:nvPr/>
          </p:nvSpPr>
          <p:spPr>
            <a:xfrm>
              <a:off x="9692640" y="2139696"/>
              <a:ext cx="1313078"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Oval 48"/>
            <p:cNvSpPr/>
            <p:nvPr/>
          </p:nvSpPr>
          <p:spPr>
            <a:xfrm>
              <a:off x="9802368" y="222656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0" name="TextBox 49"/>
            <p:cNvSpPr txBox="1"/>
            <p:nvPr/>
          </p:nvSpPr>
          <p:spPr>
            <a:xfrm>
              <a:off x="9966960" y="2193565"/>
              <a:ext cx="100218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Act this quarter</a:t>
              </a:r>
            </a:p>
          </p:txBody>
        </p:sp>
        <p:sp>
          <p:nvSpPr>
            <p:cNvPr id="51" name="Rectangle 50"/>
            <p:cNvSpPr/>
            <p:nvPr/>
          </p:nvSpPr>
          <p:spPr>
            <a:xfrm>
              <a:off x="457200" y="25006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2" name="TextBox 51"/>
            <p:cNvSpPr txBox="1"/>
            <p:nvPr/>
          </p:nvSpPr>
          <p:spPr>
            <a:xfrm>
              <a:off x="585216" y="2646597"/>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Disagrees with cancellation charge</a:t>
              </a:r>
            </a:p>
          </p:txBody>
        </p:sp>
        <p:sp>
          <p:nvSpPr>
            <p:cNvPr id="53" name="Rounded Rectangle 52"/>
            <p:cNvSpPr/>
            <p:nvPr/>
          </p:nvSpPr>
          <p:spPr>
            <a:xfrm>
              <a:off x="3401568" y="25694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4" name="TextBox 53"/>
            <p:cNvSpPr txBox="1"/>
            <p:nvPr/>
          </p:nvSpPr>
          <p:spPr>
            <a:xfrm>
              <a:off x="3465576" y="2646597"/>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6A34A"/>
                  </a:solidFill>
                  <a:latin typeface="Inter"/>
                </a:rPr>
                <a:t>91.4</a:t>
              </a:r>
            </a:p>
          </p:txBody>
        </p:sp>
        <p:sp>
          <p:nvSpPr>
            <p:cNvPr id="55" name="TextBox 54"/>
            <p:cNvSpPr txBox="1"/>
            <p:nvPr/>
          </p:nvSpPr>
          <p:spPr>
            <a:xfrm>
              <a:off x="4032503" y="2646597"/>
              <a:ext cx="310896"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59</a:t>
              </a:r>
            </a:p>
          </p:txBody>
        </p:sp>
        <p:sp>
          <p:nvSpPr>
            <p:cNvPr id="56" name="Rounded Rectangle 55"/>
            <p:cNvSpPr/>
            <p:nvPr/>
          </p:nvSpPr>
          <p:spPr>
            <a:xfrm>
              <a:off x="4535424" y="25694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4599431" y="2646597"/>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67.4%</a:t>
              </a:r>
            </a:p>
          </p:txBody>
        </p:sp>
        <p:sp>
          <p:nvSpPr>
            <p:cNvPr id="58" name="Rounded Rectangle 57"/>
            <p:cNvSpPr/>
            <p:nvPr/>
          </p:nvSpPr>
          <p:spPr>
            <a:xfrm>
              <a:off x="5193792" y="25694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257799" y="2646597"/>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12.96%</a:t>
              </a:r>
            </a:p>
          </p:txBody>
        </p:sp>
        <p:sp>
          <p:nvSpPr>
            <p:cNvPr id="60" name="TextBox 59"/>
            <p:cNvSpPr txBox="1"/>
            <p:nvPr/>
          </p:nvSpPr>
          <p:spPr>
            <a:xfrm>
              <a:off x="6099047" y="2646597"/>
              <a:ext cx="65836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6,599</a:t>
              </a:r>
            </a:p>
          </p:txBody>
        </p:sp>
        <p:sp>
          <p:nvSpPr>
            <p:cNvPr id="61" name="TextBox 60"/>
            <p:cNvSpPr txBox="1"/>
            <p:nvPr/>
          </p:nvSpPr>
          <p:spPr>
            <a:xfrm>
              <a:off x="7013447" y="2646597"/>
              <a:ext cx="4572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5,992</a:t>
              </a:r>
            </a:p>
          </p:txBody>
        </p:sp>
        <p:sp>
          <p:nvSpPr>
            <p:cNvPr id="62" name="TextBox 61"/>
            <p:cNvSpPr txBox="1"/>
            <p:nvPr/>
          </p:nvSpPr>
          <p:spPr>
            <a:xfrm>
              <a:off x="7726679" y="2646597"/>
              <a:ext cx="170992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Low CSAT + High Recontact</a:t>
              </a:r>
            </a:p>
          </p:txBody>
        </p:sp>
        <p:sp>
          <p:nvSpPr>
            <p:cNvPr id="63" name="Rounded Rectangle 62"/>
            <p:cNvSpPr/>
            <p:nvPr/>
          </p:nvSpPr>
          <p:spPr>
            <a:xfrm>
              <a:off x="9692640" y="2596896"/>
              <a:ext cx="1313078"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4" name="Oval 63"/>
            <p:cNvSpPr/>
            <p:nvPr/>
          </p:nvSpPr>
          <p:spPr>
            <a:xfrm>
              <a:off x="9802368" y="268376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9966960" y="2650765"/>
              <a:ext cx="100218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Act this quarter</a:t>
              </a:r>
            </a:p>
          </p:txBody>
        </p:sp>
        <p:sp>
          <p:nvSpPr>
            <p:cNvPr id="66" name="Rectangle 65"/>
            <p:cNvSpPr/>
            <p:nvPr/>
          </p:nvSpPr>
          <p:spPr>
            <a:xfrm>
              <a:off x="457200" y="29578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Rectangle 66"/>
            <p:cNvSpPr/>
            <p:nvPr/>
          </p:nvSpPr>
          <p:spPr>
            <a:xfrm>
              <a:off x="457200" y="2962656"/>
              <a:ext cx="1109167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8" name="TextBox 67"/>
            <p:cNvSpPr txBox="1"/>
            <p:nvPr/>
          </p:nvSpPr>
          <p:spPr>
            <a:xfrm>
              <a:off x="585216" y="3103797"/>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Refund status and conditions</a:t>
              </a:r>
            </a:p>
          </p:txBody>
        </p:sp>
        <p:sp>
          <p:nvSpPr>
            <p:cNvPr id="69" name="Rounded Rectangle 68"/>
            <p:cNvSpPr/>
            <p:nvPr/>
          </p:nvSpPr>
          <p:spPr>
            <a:xfrm>
              <a:off x="3401568" y="30266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0" name="TextBox 69"/>
            <p:cNvSpPr txBox="1"/>
            <p:nvPr/>
          </p:nvSpPr>
          <p:spPr>
            <a:xfrm>
              <a:off x="3465576" y="3103797"/>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6A34A"/>
                  </a:solidFill>
                  <a:latin typeface="Inter"/>
                </a:rPr>
                <a:t>90.6</a:t>
              </a:r>
            </a:p>
          </p:txBody>
        </p:sp>
        <p:sp>
          <p:nvSpPr>
            <p:cNvPr id="71" name="TextBox 70"/>
            <p:cNvSpPr txBox="1"/>
            <p:nvPr/>
          </p:nvSpPr>
          <p:spPr>
            <a:xfrm>
              <a:off x="4032503" y="3103797"/>
              <a:ext cx="310896"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70</a:t>
              </a:r>
            </a:p>
          </p:txBody>
        </p:sp>
        <p:sp>
          <p:nvSpPr>
            <p:cNvPr id="72" name="Rounded Rectangle 71"/>
            <p:cNvSpPr/>
            <p:nvPr/>
          </p:nvSpPr>
          <p:spPr>
            <a:xfrm>
              <a:off x="4535424" y="30266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4599431" y="3103797"/>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67.0%</a:t>
              </a:r>
            </a:p>
          </p:txBody>
        </p:sp>
        <p:sp>
          <p:nvSpPr>
            <p:cNvPr id="74" name="Rounded Rectangle 73"/>
            <p:cNvSpPr/>
            <p:nvPr/>
          </p:nvSpPr>
          <p:spPr>
            <a:xfrm>
              <a:off x="5193792" y="30266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5257799" y="3103797"/>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15.69%</a:t>
              </a:r>
            </a:p>
          </p:txBody>
        </p:sp>
        <p:sp>
          <p:nvSpPr>
            <p:cNvPr id="76" name="TextBox 75"/>
            <p:cNvSpPr txBox="1"/>
            <p:nvPr/>
          </p:nvSpPr>
          <p:spPr>
            <a:xfrm>
              <a:off x="6099047" y="3103797"/>
              <a:ext cx="65836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2,901</a:t>
              </a:r>
            </a:p>
          </p:txBody>
        </p:sp>
        <p:sp>
          <p:nvSpPr>
            <p:cNvPr id="77" name="TextBox 76"/>
            <p:cNvSpPr txBox="1"/>
            <p:nvPr/>
          </p:nvSpPr>
          <p:spPr>
            <a:xfrm>
              <a:off x="7013447" y="3103797"/>
              <a:ext cx="4572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3,582</a:t>
              </a:r>
            </a:p>
          </p:txBody>
        </p:sp>
        <p:sp>
          <p:nvSpPr>
            <p:cNvPr id="78" name="TextBox 77"/>
            <p:cNvSpPr txBox="1"/>
            <p:nvPr/>
          </p:nvSpPr>
          <p:spPr>
            <a:xfrm>
              <a:off x="7726679" y="3103797"/>
              <a:ext cx="170992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Low CSAT + High Recontact</a:t>
              </a:r>
            </a:p>
          </p:txBody>
        </p:sp>
        <p:sp>
          <p:nvSpPr>
            <p:cNvPr id="79" name="Rounded Rectangle 78"/>
            <p:cNvSpPr/>
            <p:nvPr/>
          </p:nvSpPr>
          <p:spPr>
            <a:xfrm>
              <a:off x="9692640" y="3054096"/>
              <a:ext cx="1313078"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0" name="Oval 79"/>
            <p:cNvSpPr/>
            <p:nvPr/>
          </p:nvSpPr>
          <p:spPr>
            <a:xfrm>
              <a:off x="9802368" y="3140964"/>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1" name="TextBox 80"/>
            <p:cNvSpPr txBox="1"/>
            <p:nvPr/>
          </p:nvSpPr>
          <p:spPr>
            <a:xfrm>
              <a:off x="9966960" y="3107965"/>
              <a:ext cx="1002182" cy="166584"/>
            </a:xfrm>
            <a:prstGeom prst="rect">
              <a:avLst/>
            </a:prstGeom>
            <a:noFill/>
          </p:spPr>
          <p:txBody>
            <a:bodyPr wrap="square" lIns="0" tIns="0" rIns="0" bIns="0" anchor="ctr">
              <a:spAutoFit/>
            </a:bodyPr>
            <a:lstStyle/>
            <a:p>
              <a:pPr algn="ctr">
                <a:lnSpc>
                  <a:spcPct val="115000"/>
                </a:lnSpc>
                <a:spcAft>
                  <a:spcPts val="0"/>
                </a:spcAft>
              </a:pPr>
              <a:r>
                <a:rPr sz="1000" b="1">
                  <a:solidFill>
                    <a:srgbClr val="E11D2E"/>
                  </a:solidFill>
                  <a:latin typeface="Inter"/>
                </a:rPr>
                <a:t>Act this quarter</a:t>
              </a:r>
            </a:p>
          </p:txBody>
        </p:sp>
        <p:sp>
          <p:nvSpPr>
            <p:cNvPr id="82" name="Rectangle 81"/>
            <p:cNvSpPr/>
            <p:nvPr/>
          </p:nvSpPr>
          <p:spPr>
            <a:xfrm>
              <a:off x="457200" y="34150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3" name="TextBox 82"/>
            <p:cNvSpPr txBox="1"/>
            <p:nvPr/>
          </p:nvSpPr>
          <p:spPr>
            <a:xfrm>
              <a:off x="585216" y="3560997"/>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Cash order blocked (antifraud)</a:t>
              </a:r>
            </a:p>
          </p:txBody>
        </p:sp>
        <p:sp>
          <p:nvSpPr>
            <p:cNvPr id="84" name="Rounded Rectangle 83"/>
            <p:cNvSpPr/>
            <p:nvPr/>
          </p:nvSpPr>
          <p:spPr>
            <a:xfrm>
              <a:off x="3401568" y="34838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5" name="TextBox 84"/>
            <p:cNvSpPr txBox="1"/>
            <p:nvPr/>
          </p:nvSpPr>
          <p:spPr>
            <a:xfrm>
              <a:off x="3465576" y="3560997"/>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6A34A"/>
                  </a:solidFill>
                  <a:latin typeface="Inter"/>
                </a:rPr>
                <a:t>93.6</a:t>
              </a:r>
            </a:p>
          </p:txBody>
        </p:sp>
        <p:sp>
          <p:nvSpPr>
            <p:cNvPr id="86" name="TextBox 85"/>
            <p:cNvSpPr txBox="1"/>
            <p:nvPr/>
          </p:nvSpPr>
          <p:spPr>
            <a:xfrm>
              <a:off x="4032503" y="3560997"/>
              <a:ext cx="310896"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58</a:t>
              </a:r>
            </a:p>
          </p:txBody>
        </p:sp>
        <p:sp>
          <p:nvSpPr>
            <p:cNvPr id="87" name="TextBox 86"/>
            <p:cNvSpPr txBox="1"/>
            <p:nvPr/>
          </p:nvSpPr>
          <p:spPr>
            <a:xfrm>
              <a:off x="4599431" y="3560997"/>
              <a:ext cx="402335"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n/a</a:t>
              </a:r>
            </a:p>
          </p:txBody>
        </p:sp>
        <p:sp>
          <p:nvSpPr>
            <p:cNvPr id="88" name="Rounded Rectangle 87"/>
            <p:cNvSpPr/>
            <p:nvPr/>
          </p:nvSpPr>
          <p:spPr>
            <a:xfrm>
              <a:off x="5193792" y="34838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9" name="TextBox 88"/>
            <p:cNvSpPr txBox="1"/>
            <p:nvPr/>
          </p:nvSpPr>
          <p:spPr>
            <a:xfrm>
              <a:off x="5257799" y="3560997"/>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24.40%</a:t>
              </a:r>
            </a:p>
          </p:txBody>
        </p:sp>
        <p:sp>
          <p:nvSpPr>
            <p:cNvPr id="90" name="TextBox 89"/>
            <p:cNvSpPr txBox="1"/>
            <p:nvPr/>
          </p:nvSpPr>
          <p:spPr>
            <a:xfrm>
              <a:off x="6099047" y="3560997"/>
              <a:ext cx="65836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1,776</a:t>
              </a:r>
            </a:p>
          </p:txBody>
        </p:sp>
        <p:sp>
          <p:nvSpPr>
            <p:cNvPr id="91" name="TextBox 90"/>
            <p:cNvSpPr txBox="1"/>
            <p:nvPr/>
          </p:nvSpPr>
          <p:spPr>
            <a:xfrm>
              <a:off x="7013447" y="3560997"/>
              <a:ext cx="4572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n/a</a:t>
              </a:r>
            </a:p>
          </p:txBody>
        </p:sp>
        <p:sp>
          <p:nvSpPr>
            <p:cNvPr id="92" name="TextBox 91"/>
            <p:cNvSpPr txBox="1"/>
            <p:nvPr/>
          </p:nvSpPr>
          <p:spPr>
            <a:xfrm>
              <a:off x="7726679" y="3560997"/>
              <a:ext cx="170992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High Recontact</a:t>
              </a:r>
            </a:p>
          </p:txBody>
        </p:sp>
        <p:sp>
          <p:nvSpPr>
            <p:cNvPr id="93" name="Rounded Rectangle 92"/>
            <p:cNvSpPr/>
            <p:nvPr/>
          </p:nvSpPr>
          <p:spPr>
            <a:xfrm>
              <a:off x="9692640" y="3511296"/>
              <a:ext cx="800785"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4" name="Oval 93"/>
            <p:cNvSpPr/>
            <p:nvPr/>
          </p:nvSpPr>
          <p:spPr>
            <a:xfrm>
              <a:off x="9802368" y="3598164"/>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5" name="TextBox 94"/>
            <p:cNvSpPr txBox="1"/>
            <p:nvPr/>
          </p:nvSpPr>
          <p:spPr>
            <a:xfrm>
              <a:off x="9966960" y="3565165"/>
              <a:ext cx="489889"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Monitor</a:t>
              </a:r>
            </a:p>
          </p:txBody>
        </p:sp>
        <p:sp>
          <p:nvSpPr>
            <p:cNvPr id="96" name="Rectangle 95"/>
            <p:cNvSpPr/>
            <p:nvPr/>
          </p:nvSpPr>
          <p:spPr>
            <a:xfrm>
              <a:off x="457200" y="38722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7" name="Rectangle 96"/>
            <p:cNvSpPr/>
            <p:nvPr/>
          </p:nvSpPr>
          <p:spPr>
            <a:xfrm>
              <a:off x="457200" y="3877056"/>
              <a:ext cx="1109167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8" name="TextBox 97"/>
            <p:cNvSpPr txBox="1"/>
            <p:nvPr/>
          </p:nvSpPr>
          <p:spPr>
            <a:xfrm>
              <a:off x="585216" y="4018197"/>
              <a:ext cx="2624328"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A1A1A"/>
                  </a:solidFill>
                  <a:latin typeface="Inter"/>
                </a:rPr>
                <a:t>After-sales fraud review</a:t>
              </a:r>
            </a:p>
          </p:txBody>
        </p:sp>
        <p:sp>
          <p:nvSpPr>
            <p:cNvPr id="99" name="Rounded Rectangle 98"/>
            <p:cNvSpPr/>
            <p:nvPr/>
          </p:nvSpPr>
          <p:spPr>
            <a:xfrm>
              <a:off x="3401568" y="3941064"/>
              <a:ext cx="438912" cy="329184"/>
            </a:xfrm>
            <a:prstGeom prst="roundRect">
              <a:avLst>
                <a:gd name="adj" fmla="val 13888"/>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0" name="TextBox 99"/>
            <p:cNvSpPr txBox="1"/>
            <p:nvPr/>
          </p:nvSpPr>
          <p:spPr>
            <a:xfrm>
              <a:off x="3465576" y="4018197"/>
              <a:ext cx="31089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16A34A"/>
                  </a:solidFill>
                  <a:latin typeface="Inter"/>
                </a:rPr>
                <a:t>97.4</a:t>
              </a:r>
            </a:p>
          </p:txBody>
        </p:sp>
        <p:sp>
          <p:nvSpPr>
            <p:cNvPr id="101" name="TextBox 100"/>
            <p:cNvSpPr txBox="1"/>
            <p:nvPr/>
          </p:nvSpPr>
          <p:spPr>
            <a:xfrm>
              <a:off x="4032503" y="4018197"/>
              <a:ext cx="310896"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118</a:t>
              </a:r>
            </a:p>
          </p:txBody>
        </p:sp>
        <p:sp>
          <p:nvSpPr>
            <p:cNvPr id="102" name="Rounded Rectangle 101"/>
            <p:cNvSpPr/>
            <p:nvPr/>
          </p:nvSpPr>
          <p:spPr>
            <a:xfrm>
              <a:off x="4535424" y="3941064"/>
              <a:ext cx="53035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3" name="TextBox 102"/>
            <p:cNvSpPr txBox="1"/>
            <p:nvPr/>
          </p:nvSpPr>
          <p:spPr>
            <a:xfrm>
              <a:off x="4599431" y="4018197"/>
              <a:ext cx="402335"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6.1%</a:t>
              </a:r>
            </a:p>
          </p:txBody>
        </p:sp>
        <p:sp>
          <p:nvSpPr>
            <p:cNvPr id="104" name="Rounded Rectangle 103"/>
            <p:cNvSpPr/>
            <p:nvPr/>
          </p:nvSpPr>
          <p:spPr>
            <a:xfrm>
              <a:off x="5193792" y="3941064"/>
              <a:ext cx="713232" cy="329184"/>
            </a:xfrm>
            <a:prstGeom prst="roundRect">
              <a:avLst>
                <a:gd name="adj" fmla="val 13888"/>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5" name="TextBox 104"/>
            <p:cNvSpPr txBox="1"/>
            <p:nvPr/>
          </p:nvSpPr>
          <p:spPr>
            <a:xfrm>
              <a:off x="5257799" y="4018197"/>
              <a:ext cx="585216" cy="174920"/>
            </a:xfrm>
            <a:prstGeom prst="rect">
              <a:avLst/>
            </a:prstGeom>
            <a:noFill/>
          </p:spPr>
          <p:txBody>
            <a:bodyPr wrap="square" lIns="0" tIns="0" rIns="0" bIns="0" anchor="ctr">
              <a:spAutoFit/>
            </a:bodyPr>
            <a:lstStyle/>
            <a:p>
              <a:pPr algn="ctr">
                <a:lnSpc>
                  <a:spcPct val="115000"/>
                </a:lnSpc>
                <a:spcAft>
                  <a:spcPts val="0"/>
                </a:spcAft>
              </a:pPr>
              <a:r>
                <a:rPr sz="1050" b="1">
                  <a:solidFill>
                    <a:srgbClr val="E11D2E"/>
                  </a:solidFill>
                  <a:latin typeface="Inter"/>
                </a:rPr>
                <a:t>28.45%</a:t>
              </a:r>
            </a:p>
          </p:txBody>
        </p:sp>
        <p:sp>
          <p:nvSpPr>
            <p:cNvPr id="106" name="TextBox 105"/>
            <p:cNvSpPr txBox="1"/>
            <p:nvPr/>
          </p:nvSpPr>
          <p:spPr>
            <a:xfrm>
              <a:off x="6099047" y="4018197"/>
              <a:ext cx="65836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895</a:t>
              </a:r>
            </a:p>
          </p:txBody>
        </p:sp>
        <p:sp>
          <p:nvSpPr>
            <p:cNvPr id="107" name="TextBox 106"/>
            <p:cNvSpPr txBox="1"/>
            <p:nvPr/>
          </p:nvSpPr>
          <p:spPr>
            <a:xfrm>
              <a:off x="7013447" y="4018197"/>
              <a:ext cx="457200"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475</a:t>
              </a:r>
            </a:p>
          </p:txBody>
        </p:sp>
        <p:sp>
          <p:nvSpPr>
            <p:cNvPr id="108" name="TextBox 107"/>
            <p:cNvSpPr txBox="1"/>
            <p:nvPr/>
          </p:nvSpPr>
          <p:spPr>
            <a:xfrm>
              <a:off x="7726679" y="4018197"/>
              <a:ext cx="1709928" cy="174920"/>
            </a:xfrm>
            <a:prstGeom prst="rect">
              <a:avLst/>
            </a:prstGeom>
            <a:noFill/>
          </p:spPr>
          <p:txBody>
            <a:bodyPr wrap="square" lIns="0" tIns="0" rIns="0" bIns="0" anchor="ctr">
              <a:spAutoFit/>
            </a:bodyPr>
            <a:lstStyle/>
            <a:p>
              <a:pPr algn="ctr">
                <a:lnSpc>
                  <a:spcPct val="115000"/>
                </a:lnSpc>
                <a:spcAft>
                  <a:spcPts val="0"/>
                </a:spcAft>
              </a:pPr>
              <a:r>
                <a:rPr sz="1050" b="0">
                  <a:solidFill>
                    <a:srgbClr val="4B5563"/>
                  </a:solidFill>
                  <a:latin typeface="Inter"/>
                </a:rPr>
                <a:t>Low CSAT + High Recontact</a:t>
              </a:r>
            </a:p>
          </p:txBody>
        </p:sp>
        <p:sp>
          <p:nvSpPr>
            <p:cNvPr id="109" name="Rounded Rectangle 108"/>
            <p:cNvSpPr/>
            <p:nvPr/>
          </p:nvSpPr>
          <p:spPr>
            <a:xfrm>
              <a:off x="9692640" y="3968496"/>
              <a:ext cx="800785"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0" name="Oval 109"/>
            <p:cNvSpPr/>
            <p:nvPr/>
          </p:nvSpPr>
          <p:spPr>
            <a:xfrm>
              <a:off x="9802368" y="4055364"/>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1" name="TextBox 110"/>
            <p:cNvSpPr txBox="1"/>
            <p:nvPr/>
          </p:nvSpPr>
          <p:spPr>
            <a:xfrm>
              <a:off x="9966960" y="4022365"/>
              <a:ext cx="489889"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59E0B"/>
                  </a:solidFill>
                  <a:latin typeface="Inter"/>
                </a:rPr>
                <a:t>Monitor</a:t>
              </a:r>
            </a:p>
          </p:txBody>
        </p:sp>
        <p:sp>
          <p:nvSpPr>
            <p:cNvPr id="112" name="Rectangle 111"/>
            <p:cNvSpPr/>
            <p:nvPr/>
          </p:nvSpPr>
          <p:spPr>
            <a:xfrm>
              <a:off x="457200" y="4329493"/>
              <a:ext cx="1109167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grpSp>
      <p:sp>
        <p:nvSpPr>
          <p:cNvPr id="113" name="TextBox 112"/>
          <p:cNvSpPr txBox="1"/>
          <p:nvPr/>
        </p:nvSpPr>
        <p:spPr>
          <a:xfrm>
            <a:off x="457200" y="4425696"/>
            <a:ext cx="11277295" cy="201168"/>
          </a:xfrm>
          <a:prstGeom prst="rect">
            <a:avLst/>
          </a:prstGeom>
          <a:noFill/>
        </p:spPr>
        <p:txBody>
          <a:bodyPr wrap="square" lIns="0" tIns="0" rIns="0" bIns="0" anchor="t">
            <a:spAutoFit/>
          </a:bodyPr>
          <a:lstStyle/>
          <a:p>
            <a:pPr algn="l">
              <a:lnSpc>
                <a:spcPct val="115000"/>
              </a:lnSpc>
              <a:spcAft>
                <a:spcPts val="0"/>
              </a:spcAft>
            </a:pPr>
            <a:r>
              <a:rPr sz="800" b="0">
                <a:solidFill>
                  <a:srgbClr val="6B7280"/>
                </a:solidFill>
                <a:latin typeface="Inter"/>
              </a:rPr>
              <a:t>QA and CSAT columns are blended Phone + Chat. Refund status QA 90.6 is n=70 (Phone 76.4 n=25 + Chat 98.4 n=45): same contact reason, two casings in the source. Official overall QA still keeps the two attribute lists unmixed.</a:t>
            </a:r>
          </a:p>
        </p:txBody>
      </p:sp>
      <p:sp>
        <p:nvSpPr>
          <p:cNvPr id="114" name="Rectangle 113"/>
          <p:cNvSpPr/>
          <p:nvPr/>
        </p:nvSpPr>
        <p:spPr>
          <a:xfrm>
            <a:off x="457200" y="4681728"/>
            <a:ext cx="6903720" cy="1417320"/>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p:cNvSpPr/>
          <p:nvPr/>
        </p:nvSpPr>
        <p:spPr>
          <a:xfrm>
            <a:off x="457200" y="4681728"/>
            <a:ext cx="38404" cy="14173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768096" y="4864608"/>
            <a:ext cx="6336792" cy="292608"/>
          </a:xfrm>
          <a:prstGeom prst="rect">
            <a:avLst/>
          </a:prstGeom>
          <a:noFill/>
        </p:spPr>
        <p:txBody>
          <a:bodyPr wrap="square" lIns="0" tIns="0" rIns="0" bIns="0" anchor="t">
            <a:spAutoFit/>
          </a:bodyPr>
          <a:lstStyle/>
          <a:p>
            <a:pPr algn="l">
              <a:lnSpc>
                <a:spcPct val="115000"/>
              </a:lnSpc>
              <a:spcAft>
                <a:spcPts val="0"/>
              </a:spcAft>
            </a:pPr>
            <a:r>
              <a:rPr sz="1200" b="1">
                <a:solidFill>
                  <a:srgbClr val="1A1A1A"/>
                </a:solidFill>
                <a:latin typeface="Inter"/>
              </a:rPr>
              <a:t>The same pattern is visible in a single contact reason</a:t>
            </a:r>
          </a:p>
        </p:txBody>
      </p:sp>
      <p:sp>
        <p:nvSpPr>
          <p:cNvPr id="117" name="TextBox 116"/>
          <p:cNvSpPr txBox="1"/>
          <p:nvPr/>
        </p:nvSpPr>
        <p:spPr>
          <a:xfrm>
            <a:off x="768096" y="5248656"/>
            <a:ext cx="6336792" cy="704088"/>
          </a:xfrm>
          <a:prstGeom prst="rect">
            <a:avLst/>
          </a:prstGeom>
          <a:noFill/>
        </p:spPr>
        <p:txBody>
          <a:bodyPr wrap="square" lIns="0" tIns="0" rIns="0" bIns="0" anchor="t">
            <a:spAutoFit/>
          </a:bodyPr>
          <a:lstStyle/>
          <a:p>
            <a:pPr algn="l">
              <a:lnSpc>
                <a:spcPct val="132000"/>
              </a:lnSpc>
              <a:spcAft>
                <a:spcPts val="400"/>
              </a:spcAft>
            </a:pPr>
            <a:r>
              <a:rPr sz="950" b="0">
                <a:solidFill>
                  <a:srgbClr val="4B5563"/>
                </a:solidFill>
                <a:latin typeface="Inter"/>
              </a:rPr>
              <a:t>“Order status &amp; delays” scores 97.3 on QA, but only 64.7% on CSAT and has a 19.34% recontact rate. It generated 7,680 repeat contacts during the month. Agents follow the process, but they cannot see or change the courier ETA. The interaction is compliant, yet the customer still has no resolution.</a:t>
            </a:r>
          </a:p>
        </p:txBody>
      </p:sp>
      <p:sp>
        <p:nvSpPr>
          <p:cNvPr id="118" name="TextBox 117"/>
          <p:cNvSpPr txBox="1"/>
          <p:nvPr/>
        </p:nvSpPr>
        <p:spPr>
          <a:xfrm>
            <a:off x="7589520" y="4681728"/>
            <a:ext cx="4160520" cy="219456"/>
          </a:xfrm>
          <a:prstGeom prst="rect">
            <a:avLst/>
          </a:prstGeom>
          <a:noFill/>
        </p:spPr>
        <p:txBody>
          <a:bodyPr wrap="square" lIns="0" tIns="0" rIns="0" bIns="0" anchor="t">
            <a:spAutoFit/>
          </a:bodyPr>
          <a:lstStyle/>
          <a:p>
            <a:pPr algn="l">
              <a:lnSpc>
                <a:spcPct val="115000"/>
              </a:lnSpc>
              <a:spcAft>
                <a:spcPts val="0"/>
              </a:spcAft>
            </a:pPr>
            <a:r>
              <a:rPr sz="1050" b="1">
                <a:solidFill>
                  <a:srgbClr val="1A1A1A"/>
                </a:solidFill>
                <a:latin typeface="Inter"/>
              </a:rPr>
              <a:t>Who the auditor tagged as owner</a:t>
            </a:r>
          </a:p>
        </p:txBody>
      </p:sp>
      <p:sp>
        <p:nvSpPr>
          <p:cNvPr id="119" name="Rectangle 118"/>
          <p:cNvSpPr/>
          <p:nvPr/>
        </p:nvSpPr>
        <p:spPr>
          <a:xfrm>
            <a:off x="7589520" y="5061204"/>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7827264" y="4965192"/>
            <a:ext cx="3922776" cy="329184"/>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49.5% of tagged dissatisfaction is attributed to CX Process, compared with 22.0% to the agent.</a:t>
            </a:r>
          </a:p>
        </p:txBody>
      </p:sp>
      <p:sp>
        <p:nvSpPr>
          <p:cNvPr id="121" name="Rectangle 120"/>
          <p:cNvSpPr/>
          <p:nvPr/>
        </p:nvSpPr>
        <p:spPr>
          <a:xfrm>
            <a:off x="7589520" y="539038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7827264" y="5294376"/>
            <a:ext cx="3922776" cy="329184"/>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42.2% of cases are marked “not resolution-based.”</a:t>
            </a:r>
          </a:p>
        </p:txBody>
      </p:sp>
      <p:sp>
        <p:nvSpPr>
          <p:cNvPr id="123" name="Rectangle 122"/>
          <p:cNvSpPr/>
          <p:nvPr/>
        </p:nvSpPr>
        <p:spPr>
          <a:xfrm>
            <a:off x="7589520" y="5719572"/>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7827264" y="5623560"/>
            <a:ext cx="3922776" cy="329184"/>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Only 17.0% are identified as process failures, and Chat QA may understate these because 88% of Chat audits still score 100.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Where we can close the case, CSAT is higher</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By contact reason and its sub-reasons. Same green / amber / red as the rest of the deck.</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25</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ectangle 10"/>
          <p:cNvSpPr/>
          <p:nvPr/>
        </p:nvSpPr>
        <p:spPr>
          <a:xfrm>
            <a:off x="457200" y="1207008"/>
            <a:ext cx="11277295" cy="585216"/>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207008"/>
            <a:ext cx="38404" cy="585216"/>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8096" y="1252728"/>
            <a:ext cx="10710367" cy="201168"/>
          </a:xfrm>
          <a:prstGeom prst="rect">
            <a:avLst/>
          </a:prstGeom>
          <a:noFill/>
        </p:spPr>
        <p:txBody>
          <a:bodyPr wrap="square" lIns="0" tIns="0" rIns="0" bIns="0" anchor="ctr">
            <a:spAutoFit/>
          </a:bodyPr>
          <a:lstStyle/>
          <a:p>
            <a:pPr algn="l">
              <a:lnSpc>
                <a:spcPct val="115000"/>
              </a:lnSpc>
              <a:spcAft>
                <a:spcPts val="0"/>
              </a:spcAft>
            </a:pPr>
            <a:r>
              <a:rPr sz="1200" b="1">
                <a:solidFill>
                  <a:srgbClr val="1A1A1A"/>
                </a:solidFill>
                <a:latin typeface="Inter"/>
              </a:rPr>
              <a:t>Look at the type of issue, not only the agent.</a:t>
            </a:r>
          </a:p>
        </p:txBody>
      </p:sp>
      <p:sp>
        <p:nvSpPr>
          <p:cNvPr id="14" name="TextBox 13"/>
          <p:cNvSpPr txBox="1"/>
          <p:nvPr/>
        </p:nvSpPr>
        <p:spPr>
          <a:xfrm>
            <a:off x="768096" y="1444752"/>
            <a:ext cx="10710367" cy="292608"/>
          </a:xfrm>
          <a:prstGeom prst="rect">
            <a:avLst/>
          </a:prstGeom>
          <a:noFill/>
        </p:spPr>
        <p:txBody>
          <a:bodyPr wrap="square" lIns="0" tIns="0" rIns="0" bIns="0" anchor="t">
            <a:spAutoFit/>
          </a:bodyPr>
          <a:lstStyle/>
          <a:p>
            <a:pPr algn="l">
              <a:lnSpc>
                <a:spcPct val="118000"/>
              </a:lnSpc>
              <a:spcAft>
                <a:spcPts val="0"/>
              </a:spcAft>
            </a:pPr>
            <a:r>
              <a:rPr sz="919" b="0">
                <a:solidFill>
                  <a:srgbClr val="4B5563"/>
                </a:solidFill>
                <a:latin typeface="Inter"/>
              </a:rPr>
              <a:t>Orange is the contact reason. Grey is the sub-reason. Across 35 contact reasons (at least 3 audits and 20 surveys), closure rate has a strong relationship with CSAT (r = +0.80; R² = 0.64). By comparison, QA and CSAT have almost no relationship (R² = 0.023).</a:t>
            </a:r>
          </a:p>
        </p:txBody>
      </p:sp>
      <p:sp>
        <p:nvSpPr>
          <p:cNvPr id="16" name="TextBox 15"/>
          <p:cNvSpPr txBox="1"/>
          <p:nvPr/>
        </p:nvSpPr>
        <p:spPr>
          <a:xfrm>
            <a:off x="457200" y="4754880"/>
            <a:ext cx="5074920" cy="164592"/>
          </a:xfrm>
          <a:prstGeom prst="rect">
            <a:avLst/>
          </a:prstGeom>
          <a:noFill/>
        </p:spPr>
        <p:txBody>
          <a:bodyPr wrap="square" lIns="0" tIns="0" rIns="0" bIns="0" anchor="t">
            <a:spAutoFit/>
          </a:bodyPr>
          <a:lstStyle/>
          <a:p>
            <a:pPr algn="l">
              <a:lnSpc>
                <a:spcPct val="115000"/>
              </a:lnSpc>
              <a:spcAft>
                <a:spcPts val="0"/>
              </a:spcAft>
            </a:pPr>
            <a:r>
              <a:rPr sz="1000" b="1">
                <a:solidFill>
                  <a:srgbClr val="1A1A1A"/>
                </a:solidFill>
                <a:latin typeface="Inter"/>
              </a:rPr>
              <a:t>Reasons with higher closure rates</a:t>
            </a:r>
          </a:p>
        </p:txBody>
      </p:sp>
      <p:sp>
        <p:nvSpPr>
          <p:cNvPr id="17" name="Rectangle 16"/>
          <p:cNvSpPr/>
          <p:nvPr/>
        </p:nvSpPr>
        <p:spPr>
          <a:xfrm>
            <a:off x="457200" y="4937760"/>
            <a:ext cx="5074920" cy="2377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85216" y="4937760"/>
            <a:ext cx="2212848" cy="237744"/>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Contact reason (Lv4)</a:t>
            </a:r>
          </a:p>
        </p:txBody>
      </p:sp>
      <p:sp>
        <p:nvSpPr>
          <p:cNvPr id="19" name="TextBox 18"/>
          <p:cNvSpPr txBox="1"/>
          <p:nvPr/>
        </p:nvSpPr>
        <p:spPr>
          <a:xfrm>
            <a:off x="3054096" y="4937760"/>
            <a:ext cx="429768" cy="23774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Resolved</a:t>
            </a:r>
          </a:p>
        </p:txBody>
      </p:sp>
      <p:sp>
        <p:nvSpPr>
          <p:cNvPr id="20" name="TextBox 19"/>
          <p:cNvSpPr txBox="1"/>
          <p:nvPr/>
        </p:nvSpPr>
        <p:spPr>
          <a:xfrm>
            <a:off x="3739896" y="4937760"/>
            <a:ext cx="384047" cy="23774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CSAT</a:t>
            </a:r>
          </a:p>
        </p:txBody>
      </p:sp>
      <p:sp>
        <p:nvSpPr>
          <p:cNvPr id="21" name="TextBox 20"/>
          <p:cNvSpPr txBox="1"/>
          <p:nvPr/>
        </p:nvSpPr>
        <p:spPr>
          <a:xfrm>
            <a:off x="4379976" y="4937760"/>
            <a:ext cx="365760" cy="23774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Audits</a:t>
            </a:r>
          </a:p>
        </p:txBody>
      </p:sp>
      <p:sp>
        <p:nvSpPr>
          <p:cNvPr id="22" name="TextBox 21"/>
          <p:cNvSpPr txBox="1"/>
          <p:nvPr/>
        </p:nvSpPr>
        <p:spPr>
          <a:xfrm>
            <a:off x="5001768" y="4937760"/>
            <a:ext cx="402335" cy="23774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Surveys</a:t>
            </a:r>
          </a:p>
        </p:txBody>
      </p:sp>
      <p:sp>
        <p:nvSpPr>
          <p:cNvPr id="23" name="TextBox 22"/>
          <p:cNvSpPr txBox="1"/>
          <p:nvPr/>
        </p:nvSpPr>
        <p:spPr>
          <a:xfrm>
            <a:off x="585216" y="5175504"/>
            <a:ext cx="2212848" cy="237744"/>
          </a:xfrm>
          <a:prstGeom prst="rect">
            <a:avLst/>
          </a:prstGeom>
          <a:noFill/>
        </p:spPr>
        <p:txBody>
          <a:bodyPr wrap="square" lIns="0" tIns="0" rIns="0" bIns="0" anchor="ctr">
            <a:spAutoFit/>
          </a:bodyPr>
          <a:lstStyle/>
          <a:p>
            <a:pPr algn="l">
              <a:lnSpc>
                <a:spcPct val="115000"/>
              </a:lnSpc>
              <a:spcAft>
                <a:spcPts val="0"/>
              </a:spcAft>
            </a:pPr>
            <a:r>
              <a:rPr sz="760" b="1">
                <a:solidFill>
                  <a:srgbClr val="1A1A1A"/>
                </a:solidFill>
                <a:latin typeface="Inter"/>
              </a:rPr>
              <a:t>Wrong order</a:t>
            </a:r>
          </a:p>
        </p:txBody>
      </p:sp>
      <p:sp>
        <p:nvSpPr>
          <p:cNvPr id="24" name="Rounded Rectangle 23"/>
          <p:cNvSpPr/>
          <p:nvPr/>
        </p:nvSpPr>
        <p:spPr>
          <a:xfrm>
            <a:off x="2990088" y="5213543"/>
            <a:ext cx="557784"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054096" y="5175504"/>
            <a:ext cx="429768" cy="237744"/>
          </a:xfrm>
          <a:prstGeom prst="rect">
            <a:avLst/>
          </a:prstGeom>
          <a:noFill/>
        </p:spPr>
        <p:txBody>
          <a:bodyPr wrap="square" lIns="0" tIns="0" rIns="0" bIns="0" anchor="ctr">
            <a:spAutoFit/>
          </a:bodyPr>
          <a:lstStyle/>
          <a:p>
            <a:pPr algn="r">
              <a:lnSpc>
                <a:spcPct val="115000"/>
              </a:lnSpc>
              <a:spcAft>
                <a:spcPts val="0"/>
              </a:spcAft>
            </a:pPr>
            <a:r>
              <a:rPr sz="760" b="1">
                <a:solidFill>
                  <a:srgbClr val="16A34A"/>
                </a:solidFill>
                <a:latin typeface="Inter"/>
              </a:rPr>
              <a:t>90%</a:t>
            </a:r>
          </a:p>
        </p:txBody>
      </p:sp>
      <p:sp>
        <p:nvSpPr>
          <p:cNvPr id="26" name="Rounded Rectangle 25"/>
          <p:cNvSpPr/>
          <p:nvPr/>
        </p:nvSpPr>
        <p:spPr>
          <a:xfrm>
            <a:off x="3675888" y="5213543"/>
            <a:ext cx="512063"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739896" y="5175504"/>
            <a:ext cx="384047" cy="237744"/>
          </a:xfrm>
          <a:prstGeom prst="rect">
            <a:avLst/>
          </a:prstGeom>
          <a:noFill/>
        </p:spPr>
        <p:txBody>
          <a:bodyPr wrap="square" lIns="0" tIns="0" rIns="0" bIns="0" anchor="ctr">
            <a:spAutoFit/>
          </a:bodyPr>
          <a:lstStyle/>
          <a:p>
            <a:pPr algn="r">
              <a:lnSpc>
                <a:spcPct val="115000"/>
              </a:lnSpc>
              <a:spcAft>
                <a:spcPts val="0"/>
              </a:spcAft>
            </a:pPr>
            <a:r>
              <a:rPr sz="760" b="1">
                <a:solidFill>
                  <a:srgbClr val="16A34A"/>
                </a:solidFill>
                <a:latin typeface="Inter"/>
              </a:rPr>
              <a:t>92.2%</a:t>
            </a:r>
          </a:p>
        </p:txBody>
      </p:sp>
      <p:sp>
        <p:nvSpPr>
          <p:cNvPr id="28" name="TextBox 27"/>
          <p:cNvSpPr txBox="1"/>
          <p:nvPr/>
        </p:nvSpPr>
        <p:spPr>
          <a:xfrm>
            <a:off x="4379976" y="5175504"/>
            <a:ext cx="365760"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40</a:t>
            </a:r>
          </a:p>
        </p:txBody>
      </p:sp>
      <p:sp>
        <p:nvSpPr>
          <p:cNvPr id="29" name="TextBox 28"/>
          <p:cNvSpPr txBox="1"/>
          <p:nvPr/>
        </p:nvSpPr>
        <p:spPr>
          <a:xfrm>
            <a:off x="5001768" y="5175504"/>
            <a:ext cx="402335"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7,359</a:t>
            </a:r>
          </a:p>
        </p:txBody>
      </p:sp>
      <p:sp>
        <p:nvSpPr>
          <p:cNvPr id="30" name="Rectangle 29"/>
          <p:cNvSpPr/>
          <p:nvPr/>
        </p:nvSpPr>
        <p:spPr>
          <a:xfrm>
            <a:off x="457200" y="5408485"/>
            <a:ext cx="50749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7200" y="5413248"/>
            <a:ext cx="5074920" cy="23774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85216" y="5413248"/>
            <a:ext cx="2212848" cy="237744"/>
          </a:xfrm>
          <a:prstGeom prst="rect">
            <a:avLst/>
          </a:prstGeom>
          <a:noFill/>
        </p:spPr>
        <p:txBody>
          <a:bodyPr wrap="square" lIns="0" tIns="0" rIns="0" bIns="0" anchor="ctr">
            <a:spAutoFit/>
          </a:bodyPr>
          <a:lstStyle/>
          <a:p>
            <a:pPr algn="l">
              <a:lnSpc>
                <a:spcPct val="115000"/>
              </a:lnSpc>
              <a:spcAft>
                <a:spcPts val="0"/>
              </a:spcAft>
            </a:pPr>
            <a:r>
              <a:rPr sz="760" b="1">
                <a:solidFill>
                  <a:srgbClr val="1A1A1A"/>
                </a:solidFill>
                <a:latin typeface="Inter"/>
              </a:rPr>
              <a:t>Damaged order</a:t>
            </a:r>
          </a:p>
        </p:txBody>
      </p:sp>
      <p:sp>
        <p:nvSpPr>
          <p:cNvPr id="33" name="Rounded Rectangle 32"/>
          <p:cNvSpPr/>
          <p:nvPr/>
        </p:nvSpPr>
        <p:spPr>
          <a:xfrm>
            <a:off x="2990088" y="5451287"/>
            <a:ext cx="557784"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054096" y="5413248"/>
            <a:ext cx="429768" cy="237744"/>
          </a:xfrm>
          <a:prstGeom prst="rect">
            <a:avLst/>
          </a:prstGeom>
          <a:noFill/>
        </p:spPr>
        <p:txBody>
          <a:bodyPr wrap="square" lIns="0" tIns="0" rIns="0" bIns="0" anchor="ctr">
            <a:spAutoFit/>
          </a:bodyPr>
          <a:lstStyle/>
          <a:p>
            <a:pPr algn="r">
              <a:lnSpc>
                <a:spcPct val="115000"/>
              </a:lnSpc>
              <a:spcAft>
                <a:spcPts val="0"/>
              </a:spcAft>
            </a:pPr>
            <a:r>
              <a:rPr sz="760" b="1">
                <a:solidFill>
                  <a:srgbClr val="16A34A"/>
                </a:solidFill>
                <a:latin typeface="Inter"/>
              </a:rPr>
              <a:t>83%</a:t>
            </a:r>
          </a:p>
        </p:txBody>
      </p:sp>
      <p:sp>
        <p:nvSpPr>
          <p:cNvPr id="35" name="Rounded Rectangle 34"/>
          <p:cNvSpPr/>
          <p:nvPr/>
        </p:nvSpPr>
        <p:spPr>
          <a:xfrm>
            <a:off x="3675888" y="5451287"/>
            <a:ext cx="512063"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739896" y="5413248"/>
            <a:ext cx="384047" cy="237744"/>
          </a:xfrm>
          <a:prstGeom prst="rect">
            <a:avLst/>
          </a:prstGeom>
          <a:noFill/>
        </p:spPr>
        <p:txBody>
          <a:bodyPr wrap="square" lIns="0" tIns="0" rIns="0" bIns="0" anchor="ctr">
            <a:spAutoFit/>
          </a:bodyPr>
          <a:lstStyle/>
          <a:p>
            <a:pPr algn="r">
              <a:lnSpc>
                <a:spcPct val="115000"/>
              </a:lnSpc>
              <a:spcAft>
                <a:spcPts val="0"/>
              </a:spcAft>
            </a:pPr>
            <a:r>
              <a:rPr sz="760" b="1">
                <a:solidFill>
                  <a:srgbClr val="16A34A"/>
                </a:solidFill>
                <a:latin typeface="Inter"/>
              </a:rPr>
              <a:t>92.1%</a:t>
            </a:r>
          </a:p>
        </p:txBody>
      </p:sp>
      <p:sp>
        <p:nvSpPr>
          <p:cNvPr id="37" name="TextBox 36"/>
          <p:cNvSpPr txBox="1"/>
          <p:nvPr/>
        </p:nvSpPr>
        <p:spPr>
          <a:xfrm>
            <a:off x="4379976" y="5413248"/>
            <a:ext cx="365760"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47</a:t>
            </a:r>
          </a:p>
        </p:txBody>
      </p:sp>
      <p:sp>
        <p:nvSpPr>
          <p:cNvPr id="38" name="TextBox 37"/>
          <p:cNvSpPr txBox="1"/>
          <p:nvPr/>
        </p:nvSpPr>
        <p:spPr>
          <a:xfrm>
            <a:off x="5001768" y="5413248"/>
            <a:ext cx="402335"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5,962</a:t>
            </a:r>
          </a:p>
        </p:txBody>
      </p:sp>
      <p:sp>
        <p:nvSpPr>
          <p:cNvPr id="39" name="Rectangle 38"/>
          <p:cNvSpPr/>
          <p:nvPr/>
        </p:nvSpPr>
        <p:spPr>
          <a:xfrm>
            <a:off x="457200" y="5646229"/>
            <a:ext cx="50749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85216" y="5650992"/>
            <a:ext cx="2212848" cy="237744"/>
          </a:xfrm>
          <a:prstGeom prst="rect">
            <a:avLst/>
          </a:prstGeom>
          <a:noFill/>
        </p:spPr>
        <p:txBody>
          <a:bodyPr wrap="square" lIns="0" tIns="0" rIns="0" bIns="0" anchor="ctr">
            <a:spAutoFit/>
          </a:bodyPr>
          <a:lstStyle/>
          <a:p>
            <a:pPr algn="l">
              <a:lnSpc>
                <a:spcPct val="115000"/>
              </a:lnSpc>
              <a:spcAft>
                <a:spcPts val="0"/>
              </a:spcAft>
            </a:pPr>
            <a:r>
              <a:rPr sz="760" b="1">
                <a:solidFill>
                  <a:srgbClr val="1A1A1A"/>
                </a:solidFill>
                <a:latin typeface="Inter"/>
              </a:rPr>
              <a:t>Inedible order</a:t>
            </a:r>
          </a:p>
        </p:txBody>
      </p:sp>
      <p:sp>
        <p:nvSpPr>
          <p:cNvPr id="41" name="Rounded Rectangle 40"/>
          <p:cNvSpPr/>
          <p:nvPr/>
        </p:nvSpPr>
        <p:spPr>
          <a:xfrm>
            <a:off x="2990088" y="5689031"/>
            <a:ext cx="557784"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054096" y="5650992"/>
            <a:ext cx="429768" cy="237744"/>
          </a:xfrm>
          <a:prstGeom prst="rect">
            <a:avLst/>
          </a:prstGeom>
          <a:noFill/>
        </p:spPr>
        <p:txBody>
          <a:bodyPr wrap="square" lIns="0" tIns="0" rIns="0" bIns="0" anchor="ctr">
            <a:spAutoFit/>
          </a:bodyPr>
          <a:lstStyle/>
          <a:p>
            <a:pPr algn="r">
              <a:lnSpc>
                <a:spcPct val="115000"/>
              </a:lnSpc>
              <a:spcAft>
                <a:spcPts val="0"/>
              </a:spcAft>
            </a:pPr>
            <a:r>
              <a:rPr sz="760" b="1">
                <a:solidFill>
                  <a:srgbClr val="16A34A"/>
                </a:solidFill>
                <a:latin typeface="Inter"/>
              </a:rPr>
              <a:t>87%</a:t>
            </a:r>
          </a:p>
        </p:txBody>
      </p:sp>
      <p:sp>
        <p:nvSpPr>
          <p:cNvPr id="43" name="Rounded Rectangle 42"/>
          <p:cNvSpPr/>
          <p:nvPr/>
        </p:nvSpPr>
        <p:spPr>
          <a:xfrm>
            <a:off x="3675888" y="5689031"/>
            <a:ext cx="512063"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739896" y="5650992"/>
            <a:ext cx="384047" cy="237744"/>
          </a:xfrm>
          <a:prstGeom prst="rect">
            <a:avLst/>
          </a:prstGeom>
          <a:noFill/>
        </p:spPr>
        <p:txBody>
          <a:bodyPr wrap="square" lIns="0" tIns="0" rIns="0" bIns="0" anchor="ctr">
            <a:spAutoFit/>
          </a:bodyPr>
          <a:lstStyle/>
          <a:p>
            <a:pPr algn="r">
              <a:lnSpc>
                <a:spcPct val="115000"/>
              </a:lnSpc>
              <a:spcAft>
                <a:spcPts val="0"/>
              </a:spcAft>
            </a:pPr>
            <a:r>
              <a:rPr sz="760" b="1">
                <a:solidFill>
                  <a:srgbClr val="16A34A"/>
                </a:solidFill>
                <a:latin typeface="Inter"/>
              </a:rPr>
              <a:t>91.3%</a:t>
            </a:r>
          </a:p>
        </p:txBody>
      </p:sp>
      <p:sp>
        <p:nvSpPr>
          <p:cNvPr id="45" name="TextBox 44"/>
          <p:cNvSpPr txBox="1"/>
          <p:nvPr/>
        </p:nvSpPr>
        <p:spPr>
          <a:xfrm>
            <a:off x="4379976" y="5650992"/>
            <a:ext cx="365760"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190</a:t>
            </a:r>
          </a:p>
        </p:txBody>
      </p:sp>
      <p:sp>
        <p:nvSpPr>
          <p:cNvPr id="46" name="TextBox 45"/>
          <p:cNvSpPr txBox="1"/>
          <p:nvPr/>
        </p:nvSpPr>
        <p:spPr>
          <a:xfrm>
            <a:off x="5001768" y="5650992"/>
            <a:ext cx="402335"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7,685</a:t>
            </a:r>
          </a:p>
        </p:txBody>
      </p:sp>
      <p:sp>
        <p:nvSpPr>
          <p:cNvPr id="47" name="Rectangle 46"/>
          <p:cNvSpPr/>
          <p:nvPr/>
        </p:nvSpPr>
        <p:spPr>
          <a:xfrm>
            <a:off x="457200" y="5883973"/>
            <a:ext cx="50749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57200" y="5888736"/>
            <a:ext cx="5074920" cy="23774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85216" y="5888736"/>
            <a:ext cx="2212848" cy="237744"/>
          </a:xfrm>
          <a:prstGeom prst="rect">
            <a:avLst/>
          </a:prstGeom>
          <a:noFill/>
        </p:spPr>
        <p:txBody>
          <a:bodyPr wrap="square" lIns="0" tIns="0" rIns="0" bIns="0" anchor="ctr">
            <a:spAutoFit/>
          </a:bodyPr>
          <a:lstStyle/>
          <a:p>
            <a:pPr algn="l">
              <a:lnSpc>
                <a:spcPct val="115000"/>
              </a:lnSpc>
              <a:spcAft>
                <a:spcPts val="0"/>
              </a:spcAft>
            </a:pPr>
            <a:r>
              <a:rPr sz="760" b="1">
                <a:solidFill>
                  <a:srgbClr val="1A1A1A"/>
                </a:solidFill>
                <a:latin typeface="Inter"/>
              </a:rPr>
              <a:t>Incomplete order</a:t>
            </a:r>
          </a:p>
        </p:txBody>
      </p:sp>
      <p:sp>
        <p:nvSpPr>
          <p:cNvPr id="50" name="Rounded Rectangle 49"/>
          <p:cNvSpPr/>
          <p:nvPr/>
        </p:nvSpPr>
        <p:spPr>
          <a:xfrm>
            <a:off x="2990088" y="5926775"/>
            <a:ext cx="557784"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054096" y="5888736"/>
            <a:ext cx="429768" cy="237744"/>
          </a:xfrm>
          <a:prstGeom prst="rect">
            <a:avLst/>
          </a:prstGeom>
          <a:noFill/>
        </p:spPr>
        <p:txBody>
          <a:bodyPr wrap="square" lIns="0" tIns="0" rIns="0" bIns="0" anchor="ctr">
            <a:spAutoFit/>
          </a:bodyPr>
          <a:lstStyle/>
          <a:p>
            <a:pPr algn="r">
              <a:lnSpc>
                <a:spcPct val="115000"/>
              </a:lnSpc>
              <a:spcAft>
                <a:spcPts val="0"/>
              </a:spcAft>
            </a:pPr>
            <a:r>
              <a:rPr sz="760" b="1">
                <a:solidFill>
                  <a:srgbClr val="16A34A"/>
                </a:solidFill>
                <a:latin typeface="Inter"/>
              </a:rPr>
              <a:t>86%</a:t>
            </a:r>
          </a:p>
        </p:txBody>
      </p:sp>
      <p:sp>
        <p:nvSpPr>
          <p:cNvPr id="52" name="Rounded Rectangle 51"/>
          <p:cNvSpPr/>
          <p:nvPr/>
        </p:nvSpPr>
        <p:spPr>
          <a:xfrm>
            <a:off x="3675888" y="5926775"/>
            <a:ext cx="512063" cy="161665"/>
          </a:xfrm>
          <a:prstGeom prst="roundRect">
            <a:avLst>
              <a:gd name="adj" fmla="val 2828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739896" y="5888736"/>
            <a:ext cx="384047" cy="237744"/>
          </a:xfrm>
          <a:prstGeom prst="rect">
            <a:avLst/>
          </a:prstGeom>
          <a:noFill/>
        </p:spPr>
        <p:txBody>
          <a:bodyPr wrap="square" lIns="0" tIns="0" rIns="0" bIns="0" anchor="ctr">
            <a:spAutoFit/>
          </a:bodyPr>
          <a:lstStyle/>
          <a:p>
            <a:pPr algn="r">
              <a:lnSpc>
                <a:spcPct val="115000"/>
              </a:lnSpc>
              <a:spcAft>
                <a:spcPts val="0"/>
              </a:spcAft>
            </a:pPr>
            <a:r>
              <a:rPr sz="760" b="1">
                <a:solidFill>
                  <a:srgbClr val="16A34A"/>
                </a:solidFill>
                <a:latin typeface="Inter"/>
              </a:rPr>
              <a:t>89.4%</a:t>
            </a:r>
          </a:p>
        </p:txBody>
      </p:sp>
      <p:sp>
        <p:nvSpPr>
          <p:cNvPr id="54" name="TextBox 53"/>
          <p:cNvSpPr txBox="1"/>
          <p:nvPr/>
        </p:nvSpPr>
        <p:spPr>
          <a:xfrm>
            <a:off x="4379976" y="5888736"/>
            <a:ext cx="365760"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171</a:t>
            </a:r>
          </a:p>
        </p:txBody>
      </p:sp>
      <p:sp>
        <p:nvSpPr>
          <p:cNvPr id="55" name="TextBox 54"/>
          <p:cNvSpPr txBox="1"/>
          <p:nvPr/>
        </p:nvSpPr>
        <p:spPr>
          <a:xfrm>
            <a:off x="5001768" y="5888736"/>
            <a:ext cx="402335"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8,227</a:t>
            </a:r>
          </a:p>
        </p:txBody>
      </p:sp>
      <p:sp>
        <p:nvSpPr>
          <p:cNvPr id="56" name="Rectangle 55"/>
          <p:cNvSpPr/>
          <p:nvPr/>
        </p:nvSpPr>
        <p:spPr>
          <a:xfrm>
            <a:off x="457200" y="6121717"/>
            <a:ext cx="50749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537960" y="4754880"/>
            <a:ext cx="5212080" cy="164592"/>
          </a:xfrm>
          <a:prstGeom prst="rect">
            <a:avLst/>
          </a:prstGeom>
          <a:noFill/>
        </p:spPr>
        <p:txBody>
          <a:bodyPr wrap="square" lIns="0" tIns="0" rIns="0" bIns="0" anchor="t">
            <a:spAutoFit/>
          </a:bodyPr>
          <a:lstStyle/>
          <a:p>
            <a:pPr algn="l">
              <a:lnSpc>
                <a:spcPct val="115000"/>
              </a:lnSpc>
              <a:spcAft>
                <a:spcPts val="0"/>
              </a:spcAft>
            </a:pPr>
            <a:r>
              <a:rPr sz="1000" b="1">
                <a:solidFill>
                  <a:srgbClr val="1A1A1A"/>
                </a:solidFill>
                <a:latin typeface="Inter"/>
              </a:rPr>
              <a:t>Reasons with lower closure rates</a:t>
            </a:r>
          </a:p>
        </p:txBody>
      </p:sp>
      <p:sp>
        <p:nvSpPr>
          <p:cNvPr id="58" name="Rectangle 57"/>
          <p:cNvSpPr/>
          <p:nvPr/>
        </p:nvSpPr>
        <p:spPr>
          <a:xfrm>
            <a:off x="6537960" y="4937760"/>
            <a:ext cx="5074920" cy="2377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665976" y="4937760"/>
            <a:ext cx="2212848" cy="237744"/>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Contact reason (Lv4)</a:t>
            </a:r>
          </a:p>
        </p:txBody>
      </p:sp>
      <p:sp>
        <p:nvSpPr>
          <p:cNvPr id="60" name="TextBox 59"/>
          <p:cNvSpPr txBox="1"/>
          <p:nvPr/>
        </p:nvSpPr>
        <p:spPr>
          <a:xfrm>
            <a:off x="9134856" y="4937760"/>
            <a:ext cx="429768" cy="23774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Resolved</a:t>
            </a:r>
          </a:p>
        </p:txBody>
      </p:sp>
      <p:sp>
        <p:nvSpPr>
          <p:cNvPr id="61" name="TextBox 60"/>
          <p:cNvSpPr txBox="1"/>
          <p:nvPr/>
        </p:nvSpPr>
        <p:spPr>
          <a:xfrm>
            <a:off x="9820656" y="4937760"/>
            <a:ext cx="384047" cy="23774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CSAT</a:t>
            </a:r>
          </a:p>
        </p:txBody>
      </p:sp>
      <p:sp>
        <p:nvSpPr>
          <p:cNvPr id="62" name="TextBox 61"/>
          <p:cNvSpPr txBox="1"/>
          <p:nvPr/>
        </p:nvSpPr>
        <p:spPr>
          <a:xfrm>
            <a:off x="10460736" y="4937760"/>
            <a:ext cx="365760" cy="23774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Audits</a:t>
            </a:r>
          </a:p>
        </p:txBody>
      </p:sp>
      <p:sp>
        <p:nvSpPr>
          <p:cNvPr id="63" name="TextBox 62"/>
          <p:cNvSpPr txBox="1"/>
          <p:nvPr/>
        </p:nvSpPr>
        <p:spPr>
          <a:xfrm>
            <a:off x="11082528" y="4937760"/>
            <a:ext cx="402335" cy="23774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Surveys</a:t>
            </a:r>
          </a:p>
        </p:txBody>
      </p:sp>
      <p:sp>
        <p:nvSpPr>
          <p:cNvPr id="64" name="TextBox 63"/>
          <p:cNvSpPr txBox="1"/>
          <p:nvPr/>
        </p:nvSpPr>
        <p:spPr>
          <a:xfrm>
            <a:off x="6665976" y="5175504"/>
            <a:ext cx="2212848" cy="237744"/>
          </a:xfrm>
          <a:prstGeom prst="rect">
            <a:avLst/>
          </a:prstGeom>
          <a:noFill/>
        </p:spPr>
        <p:txBody>
          <a:bodyPr wrap="square" lIns="0" tIns="0" rIns="0" bIns="0" anchor="ctr">
            <a:spAutoFit/>
          </a:bodyPr>
          <a:lstStyle/>
          <a:p>
            <a:pPr algn="l">
              <a:lnSpc>
                <a:spcPct val="115000"/>
              </a:lnSpc>
              <a:spcAft>
                <a:spcPts val="0"/>
              </a:spcAft>
            </a:pPr>
            <a:r>
              <a:rPr sz="760" b="1">
                <a:solidFill>
                  <a:srgbClr val="1A1A1A"/>
                </a:solidFill>
                <a:latin typeface="Inter"/>
              </a:rPr>
              <a:t>After-sales fraud review</a:t>
            </a:r>
          </a:p>
        </p:txBody>
      </p:sp>
      <p:sp>
        <p:nvSpPr>
          <p:cNvPr id="65" name="Rounded Rectangle 64"/>
          <p:cNvSpPr/>
          <p:nvPr/>
        </p:nvSpPr>
        <p:spPr>
          <a:xfrm>
            <a:off x="9070848" y="5213543"/>
            <a:ext cx="557784"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134856" y="5175504"/>
            <a:ext cx="429768" cy="23774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38%</a:t>
            </a:r>
          </a:p>
        </p:txBody>
      </p:sp>
      <p:sp>
        <p:nvSpPr>
          <p:cNvPr id="67" name="Rounded Rectangle 66"/>
          <p:cNvSpPr/>
          <p:nvPr/>
        </p:nvSpPr>
        <p:spPr>
          <a:xfrm>
            <a:off x="9756648" y="5213543"/>
            <a:ext cx="512063"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9820656" y="5175504"/>
            <a:ext cx="384047" cy="23774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6.1%</a:t>
            </a:r>
          </a:p>
        </p:txBody>
      </p:sp>
      <p:sp>
        <p:nvSpPr>
          <p:cNvPr id="69" name="TextBox 68"/>
          <p:cNvSpPr txBox="1"/>
          <p:nvPr/>
        </p:nvSpPr>
        <p:spPr>
          <a:xfrm>
            <a:off x="10460736" y="5175504"/>
            <a:ext cx="365760"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115</a:t>
            </a:r>
          </a:p>
        </p:txBody>
      </p:sp>
      <p:sp>
        <p:nvSpPr>
          <p:cNvPr id="70" name="TextBox 69"/>
          <p:cNvSpPr txBox="1"/>
          <p:nvPr/>
        </p:nvSpPr>
        <p:spPr>
          <a:xfrm>
            <a:off x="11082528" y="5175504"/>
            <a:ext cx="402335"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475</a:t>
            </a:r>
          </a:p>
        </p:txBody>
      </p:sp>
      <p:sp>
        <p:nvSpPr>
          <p:cNvPr id="71" name="Rectangle 70"/>
          <p:cNvSpPr/>
          <p:nvPr/>
        </p:nvSpPr>
        <p:spPr>
          <a:xfrm>
            <a:off x="6537960" y="5408485"/>
            <a:ext cx="50749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6537960" y="5413248"/>
            <a:ext cx="5074920" cy="23774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665976" y="5413248"/>
            <a:ext cx="2212848" cy="237744"/>
          </a:xfrm>
          <a:prstGeom prst="rect">
            <a:avLst/>
          </a:prstGeom>
          <a:noFill/>
        </p:spPr>
        <p:txBody>
          <a:bodyPr wrap="square" lIns="0" tIns="0" rIns="0" bIns="0" anchor="ctr">
            <a:spAutoFit/>
          </a:bodyPr>
          <a:lstStyle/>
          <a:p>
            <a:pPr algn="l">
              <a:lnSpc>
                <a:spcPct val="115000"/>
              </a:lnSpc>
              <a:spcAft>
                <a:spcPts val="0"/>
              </a:spcAft>
            </a:pPr>
            <a:r>
              <a:rPr sz="760" b="1">
                <a:solidFill>
                  <a:srgbClr val="1A1A1A"/>
                </a:solidFill>
                <a:latin typeface="Inter"/>
              </a:rPr>
              <a:t>Delivery fee</a:t>
            </a:r>
          </a:p>
        </p:txBody>
      </p:sp>
      <p:sp>
        <p:nvSpPr>
          <p:cNvPr id="74" name="Rounded Rectangle 73"/>
          <p:cNvSpPr/>
          <p:nvPr/>
        </p:nvSpPr>
        <p:spPr>
          <a:xfrm>
            <a:off x="9070848" y="5451287"/>
            <a:ext cx="557784"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134856" y="5413248"/>
            <a:ext cx="429768" cy="23774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22%</a:t>
            </a:r>
          </a:p>
        </p:txBody>
      </p:sp>
      <p:sp>
        <p:nvSpPr>
          <p:cNvPr id="76" name="Rounded Rectangle 75"/>
          <p:cNvSpPr/>
          <p:nvPr/>
        </p:nvSpPr>
        <p:spPr>
          <a:xfrm>
            <a:off x="9756648" y="5451287"/>
            <a:ext cx="512063"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9820656" y="5413248"/>
            <a:ext cx="384047" cy="23774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19.0%</a:t>
            </a:r>
          </a:p>
        </p:txBody>
      </p:sp>
      <p:sp>
        <p:nvSpPr>
          <p:cNvPr id="78" name="TextBox 77"/>
          <p:cNvSpPr txBox="1"/>
          <p:nvPr/>
        </p:nvSpPr>
        <p:spPr>
          <a:xfrm>
            <a:off x="10460736" y="5413248"/>
            <a:ext cx="365760"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9</a:t>
            </a:r>
          </a:p>
        </p:txBody>
      </p:sp>
      <p:sp>
        <p:nvSpPr>
          <p:cNvPr id="79" name="TextBox 78"/>
          <p:cNvSpPr txBox="1"/>
          <p:nvPr/>
        </p:nvSpPr>
        <p:spPr>
          <a:xfrm>
            <a:off x="11082528" y="5413248"/>
            <a:ext cx="402335"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21</a:t>
            </a:r>
          </a:p>
        </p:txBody>
      </p:sp>
      <p:sp>
        <p:nvSpPr>
          <p:cNvPr id="80" name="Rectangle 79"/>
          <p:cNvSpPr/>
          <p:nvPr/>
        </p:nvSpPr>
        <p:spPr>
          <a:xfrm>
            <a:off x="6537960" y="5646229"/>
            <a:ext cx="50749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6665976" y="5650992"/>
            <a:ext cx="2212848" cy="237744"/>
          </a:xfrm>
          <a:prstGeom prst="rect">
            <a:avLst/>
          </a:prstGeom>
          <a:noFill/>
        </p:spPr>
        <p:txBody>
          <a:bodyPr wrap="square" lIns="0" tIns="0" rIns="0" bIns="0" anchor="ctr">
            <a:spAutoFit/>
          </a:bodyPr>
          <a:lstStyle/>
          <a:p>
            <a:pPr algn="l">
              <a:lnSpc>
                <a:spcPct val="115000"/>
              </a:lnSpc>
              <a:spcAft>
                <a:spcPts val="0"/>
              </a:spcAft>
            </a:pPr>
            <a:r>
              <a:rPr sz="760" b="1">
                <a:solidFill>
                  <a:srgbClr val="1A1A1A"/>
                </a:solidFill>
                <a:latin typeface="Inter"/>
              </a:rPr>
              <a:t>Paying the courier</a:t>
            </a:r>
          </a:p>
        </p:txBody>
      </p:sp>
      <p:sp>
        <p:nvSpPr>
          <p:cNvPr id="82" name="Rounded Rectangle 81"/>
          <p:cNvSpPr/>
          <p:nvPr/>
        </p:nvSpPr>
        <p:spPr>
          <a:xfrm>
            <a:off x="9070848" y="5689031"/>
            <a:ext cx="557784"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9134856" y="5650992"/>
            <a:ext cx="429768" cy="23774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45%</a:t>
            </a:r>
          </a:p>
        </p:txBody>
      </p:sp>
      <p:sp>
        <p:nvSpPr>
          <p:cNvPr id="84" name="Rounded Rectangle 83"/>
          <p:cNvSpPr/>
          <p:nvPr/>
        </p:nvSpPr>
        <p:spPr>
          <a:xfrm>
            <a:off x="9756648" y="5689031"/>
            <a:ext cx="512063"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9820656" y="5650992"/>
            <a:ext cx="384047" cy="23774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30.2%</a:t>
            </a:r>
          </a:p>
        </p:txBody>
      </p:sp>
      <p:sp>
        <p:nvSpPr>
          <p:cNvPr id="86" name="TextBox 85"/>
          <p:cNvSpPr txBox="1"/>
          <p:nvPr/>
        </p:nvSpPr>
        <p:spPr>
          <a:xfrm>
            <a:off x="10460736" y="5650992"/>
            <a:ext cx="365760"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29</a:t>
            </a:r>
          </a:p>
        </p:txBody>
      </p:sp>
      <p:sp>
        <p:nvSpPr>
          <p:cNvPr id="87" name="TextBox 86"/>
          <p:cNvSpPr txBox="1"/>
          <p:nvPr/>
        </p:nvSpPr>
        <p:spPr>
          <a:xfrm>
            <a:off x="11082528" y="5650992"/>
            <a:ext cx="402335"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96</a:t>
            </a:r>
          </a:p>
        </p:txBody>
      </p:sp>
      <p:sp>
        <p:nvSpPr>
          <p:cNvPr id="88" name="Rectangle 87"/>
          <p:cNvSpPr/>
          <p:nvPr/>
        </p:nvSpPr>
        <p:spPr>
          <a:xfrm>
            <a:off x="6537960" y="5883973"/>
            <a:ext cx="50749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6537960" y="5888736"/>
            <a:ext cx="5074920" cy="23774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6665976" y="5888736"/>
            <a:ext cx="2212848" cy="237744"/>
          </a:xfrm>
          <a:prstGeom prst="rect">
            <a:avLst/>
          </a:prstGeom>
          <a:noFill/>
        </p:spPr>
        <p:txBody>
          <a:bodyPr wrap="square" lIns="0" tIns="0" rIns="0" bIns="0" anchor="ctr">
            <a:spAutoFit/>
          </a:bodyPr>
          <a:lstStyle/>
          <a:p>
            <a:pPr algn="l">
              <a:lnSpc>
                <a:spcPct val="115000"/>
              </a:lnSpc>
              <a:spcAft>
                <a:spcPts val="0"/>
              </a:spcAft>
            </a:pPr>
            <a:r>
              <a:rPr sz="760" b="1">
                <a:solidFill>
                  <a:srgbClr val="1A1A1A"/>
                </a:solidFill>
                <a:latin typeface="Inter"/>
              </a:rPr>
              <a:t>Modify the order</a:t>
            </a:r>
          </a:p>
        </p:txBody>
      </p:sp>
      <p:sp>
        <p:nvSpPr>
          <p:cNvPr id="91" name="Rounded Rectangle 90"/>
          <p:cNvSpPr/>
          <p:nvPr/>
        </p:nvSpPr>
        <p:spPr>
          <a:xfrm>
            <a:off x="9070848" y="5926775"/>
            <a:ext cx="557784"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9134856" y="5888736"/>
            <a:ext cx="429768" cy="23774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25%</a:t>
            </a:r>
          </a:p>
        </p:txBody>
      </p:sp>
      <p:sp>
        <p:nvSpPr>
          <p:cNvPr id="93" name="Rounded Rectangle 92"/>
          <p:cNvSpPr/>
          <p:nvPr/>
        </p:nvSpPr>
        <p:spPr>
          <a:xfrm>
            <a:off x="9756648" y="5926775"/>
            <a:ext cx="512063" cy="161665"/>
          </a:xfrm>
          <a:prstGeom prst="roundRect">
            <a:avLst>
              <a:gd name="adj" fmla="val 2828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9820656" y="5888736"/>
            <a:ext cx="384047" cy="237744"/>
          </a:xfrm>
          <a:prstGeom prst="rect">
            <a:avLst/>
          </a:prstGeom>
          <a:noFill/>
        </p:spPr>
        <p:txBody>
          <a:bodyPr wrap="square" lIns="0" tIns="0" rIns="0" bIns="0" anchor="ctr">
            <a:spAutoFit/>
          </a:bodyPr>
          <a:lstStyle/>
          <a:p>
            <a:pPr algn="r">
              <a:lnSpc>
                <a:spcPct val="115000"/>
              </a:lnSpc>
              <a:spcAft>
                <a:spcPts val="0"/>
              </a:spcAft>
            </a:pPr>
            <a:r>
              <a:rPr sz="760" b="1">
                <a:solidFill>
                  <a:srgbClr val="E11D2E"/>
                </a:solidFill>
                <a:latin typeface="Inter"/>
              </a:rPr>
              <a:t>34.6%</a:t>
            </a:r>
          </a:p>
        </p:txBody>
      </p:sp>
      <p:sp>
        <p:nvSpPr>
          <p:cNvPr id="95" name="TextBox 94"/>
          <p:cNvSpPr txBox="1"/>
          <p:nvPr/>
        </p:nvSpPr>
        <p:spPr>
          <a:xfrm>
            <a:off x="10460736" y="5888736"/>
            <a:ext cx="365760"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12</a:t>
            </a:r>
          </a:p>
        </p:txBody>
      </p:sp>
      <p:sp>
        <p:nvSpPr>
          <p:cNvPr id="96" name="TextBox 95"/>
          <p:cNvSpPr txBox="1"/>
          <p:nvPr/>
        </p:nvSpPr>
        <p:spPr>
          <a:xfrm>
            <a:off x="11082528" y="5888736"/>
            <a:ext cx="402335" cy="237744"/>
          </a:xfrm>
          <a:prstGeom prst="rect">
            <a:avLst/>
          </a:prstGeom>
          <a:noFill/>
        </p:spPr>
        <p:txBody>
          <a:bodyPr wrap="square" lIns="0" tIns="0" rIns="0" bIns="0" anchor="ctr">
            <a:spAutoFit/>
          </a:bodyPr>
          <a:lstStyle/>
          <a:p>
            <a:pPr algn="r">
              <a:lnSpc>
                <a:spcPct val="115000"/>
              </a:lnSpc>
              <a:spcAft>
                <a:spcPts val="0"/>
              </a:spcAft>
            </a:pPr>
            <a:r>
              <a:rPr sz="760" b="0">
                <a:solidFill>
                  <a:srgbClr val="4B5563"/>
                </a:solidFill>
                <a:latin typeface="Inter"/>
              </a:rPr>
              <a:t>52</a:t>
            </a:r>
          </a:p>
        </p:txBody>
      </p:sp>
      <p:sp>
        <p:nvSpPr>
          <p:cNvPr id="97" name="Rectangle 96"/>
          <p:cNvSpPr/>
          <p:nvPr/>
        </p:nvSpPr>
        <p:spPr>
          <a:xfrm>
            <a:off x="6537960" y="6121717"/>
            <a:ext cx="507491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457200" y="6108192"/>
            <a:ext cx="11277295" cy="292608"/>
          </a:xfrm>
          <a:prstGeom prst="rect">
            <a:avLst/>
          </a:prstGeom>
          <a:noFill/>
        </p:spPr>
        <p:txBody>
          <a:bodyPr wrap="square" lIns="0" tIns="0" rIns="0" bIns="0" anchor="t">
            <a:spAutoFit/>
          </a:bodyPr>
          <a:lstStyle/>
          <a:p>
            <a:pPr algn="l">
              <a:lnSpc>
                <a:spcPct val="115000"/>
              </a:lnSpc>
              <a:spcAft>
                <a:spcPts val="0"/>
              </a:spcAft>
            </a:pPr>
            <a:r>
              <a:rPr sz="850" b="0">
                <a:solidFill>
                  <a:srgbClr val="6B7280"/>
                </a:solidFill>
                <a:latin typeface="Inter"/>
              </a:rPr>
              <a:t>After-sales fraud CSAT 6.1% is 29 satisfied / 475 surveys (432 ones). That is real. Not a small-sample fluke.  One exception remains: “Refund status and conditions” has a 76% closure rate but only 67.0% CSAT on 3,582 surveys, showing that closure alone does not explain every customer outcome.</a:t>
            </a:r>
          </a:p>
        </p:txBody>
      </p:sp>
      <p:sp>
        <p:nvSpPr>
          <p:cNvPr id="99" name="TextBox 98"/>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     ·     Audits on this slide = Resolved or Not resolved. After-sales fraud: 115 assessed, 3 Abandoned, 118 in Combined analysis.</a:t>
            </a:r>
          </a:p>
        </p:txBody>
      </p:sp>
      <p:pic>
        <p:nvPicPr>
          <p:cNvPr id="102" name="Imagen 101" descr="Interfaz de usuario gráfica&#10;&#10;Descripción generada automáticamente">
            <a:extLst>
              <a:ext uri="{FF2B5EF4-FFF2-40B4-BE49-F238E27FC236}">
                <a16:creationId xmlns:a16="http://schemas.microsoft.com/office/drawing/2014/main" id="{CE556741-B544-8D74-A779-E1656DA1B377}"/>
              </a:ext>
            </a:extLst>
          </p:cNvPr>
          <p:cNvPicPr>
            <a:picLocks noChangeAspect="1"/>
          </p:cNvPicPr>
          <p:nvPr/>
        </p:nvPicPr>
        <p:blipFill>
          <a:blip r:embed="rId3"/>
          <a:stretch>
            <a:fillRect/>
          </a:stretch>
        </p:blipFill>
        <p:spPr>
          <a:xfrm>
            <a:off x="3356113" y="1662391"/>
            <a:ext cx="4487407" cy="298923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5 whys: why we could not close, and what closing actually was</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What the auditor wrote in the 5-whys  ·  699 not closed  ·  1,415 closed  ·  not a KPI</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26</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TextBox 10"/>
          <p:cNvSpPr txBox="1"/>
          <p:nvPr/>
        </p:nvSpPr>
        <p:spPr>
          <a:xfrm>
            <a:off x="457200" y="1207008"/>
            <a:ext cx="5532120" cy="402336"/>
          </a:xfrm>
          <a:prstGeom prst="rect">
            <a:avLst/>
          </a:prstGeom>
          <a:noFill/>
        </p:spPr>
        <p:txBody>
          <a:bodyPr wrap="square" lIns="0" tIns="0" rIns="0" bIns="0" anchor="t">
            <a:spAutoFit/>
          </a:bodyPr>
          <a:lstStyle/>
          <a:p>
            <a:pPr algn="l">
              <a:lnSpc>
                <a:spcPct val="115000"/>
              </a:lnSpc>
              <a:spcAft>
                <a:spcPts val="0"/>
              </a:spcAft>
            </a:pPr>
            <a:r>
              <a:rPr sz="1100" b="1">
                <a:solidFill>
                  <a:srgbClr val="1A1A1A"/>
                </a:solidFill>
                <a:latin typeface="Inter"/>
              </a:rPr>
              <a:t>Cases that could not be closed  ·  n = 699  ·  527 still followed process</a:t>
            </a:r>
          </a:p>
          <a:p>
            <a:pPr algn="l">
              <a:lnSpc>
                <a:spcPct val="115000"/>
              </a:lnSpc>
              <a:spcAft>
                <a:spcPts val="0"/>
              </a:spcAft>
            </a:pPr>
            <a:r>
              <a:rPr sz="900" b="0">
                <a:solidFill>
                  <a:srgbClr val="6B7280"/>
                </a:solidFill>
                <a:latin typeface="Inter"/>
              </a:rPr>
              <a:t>CSAT of these contact reasons is 52.1%. Not those tickets. Audits and surveys do not share a ticket ID.</a:t>
            </a:r>
          </a:p>
        </p:txBody>
      </p:sp>
      <p:grpSp>
        <p:nvGrpSpPr>
          <p:cNvPr id="110" name="Grupo 109">
            <a:extLst>
              <a:ext uri="{FF2B5EF4-FFF2-40B4-BE49-F238E27FC236}">
                <a16:creationId xmlns:a16="http://schemas.microsoft.com/office/drawing/2014/main" id="{F18CF78E-EDE9-A521-F46F-BC3FC76EFFC2}"/>
              </a:ext>
            </a:extLst>
          </p:cNvPr>
          <p:cNvGrpSpPr/>
          <p:nvPr/>
        </p:nvGrpSpPr>
        <p:grpSpPr>
          <a:xfrm>
            <a:off x="457200" y="1628487"/>
            <a:ext cx="5532120" cy="2683099"/>
            <a:chOff x="457200" y="1628487"/>
            <a:chExt cx="5532120" cy="2683099"/>
          </a:xfrm>
        </p:grpSpPr>
        <p:sp>
          <p:nvSpPr>
            <p:cNvPr id="12" name="Rectangle 11"/>
            <p:cNvSpPr/>
            <p:nvPr/>
          </p:nvSpPr>
          <p:spPr>
            <a:xfrm>
              <a:off x="457200" y="1645920"/>
              <a:ext cx="5532120" cy="2743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TextBox 12"/>
            <p:cNvSpPr txBox="1"/>
            <p:nvPr/>
          </p:nvSpPr>
          <p:spPr>
            <a:xfrm>
              <a:off x="585216" y="1708124"/>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FFFFFF"/>
                  </a:solidFill>
                  <a:latin typeface="Inter"/>
                </a:rPr>
                <a:t>Why it did not close</a:t>
              </a:r>
            </a:p>
          </p:txBody>
        </p:sp>
        <p:sp>
          <p:nvSpPr>
            <p:cNvPr id="14" name="TextBox 13"/>
            <p:cNvSpPr txBox="1"/>
            <p:nvPr/>
          </p:nvSpPr>
          <p:spPr>
            <a:xfrm>
              <a:off x="3465576" y="1708124"/>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FFFFFF"/>
                  </a:solidFill>
                  <a:latin typeface="Inter"/>
                </a:rPr>
                <a:t>Audits</a:t>
              </a:r>
            </a:p>
          </p:txBody>
        </p:sp>
        <p:sp>
          <p:nvSpPr>
            <p:cNvPr id="15" name="TextBox 14"/>
            <p:cNvSpPr txBox="1"/>
            <p:nvPr/>
          </p:nvSpPr>
          <p:spPr>
            <a:xfrm>
              <a:off x="4242816" y="1708124"/>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FFFFFF"/>
                  </a:solidFill>
                  <a:latin typeface="Inter"/>
                </a:rPr>
                <a:t>Share</a:t>
              </a:r>
            </a:p>
          </p:txBody>
        </p:sp>
        <p:sp>
          <p:nvSpPr>
            <p:cNvPr id="16" name="TextBox 15"/>
            <p:cNvSpPr txBox="1"/>
            <p:nvPr/>
          </p:nvSpPr>
          <p:spPr>
            <a:xfrm>
              <a:off x="4974336" y="1628487"/>
              <a:ext cx="886968" cy="309187"/>
            </a:xfrm>
            <a:prstGeom prst="rect">
              <a:avLst/>
            </a:prstGeom>
            <a:noFill/>
          </p:spPr>
          <p:txBody>
            <a:bodyPr wrap="square" lIns="0" tIns="0" rIns="0" bIns="0" anchor="ctr">
              <a:spAutoFit/>
            </a:bodyPr>
            <a:lstStyle/>
            <a:p>
              <a:pPr algn="ctr">
                <a:lnSpc>
                  <a:spcPct val="115000"/>
                </a:lnSpc>
                <a:spcAft>
                  <a:spcPts val="0"/>
                </a:spcAft>
              </a:pPr>
              <a:r>
                <a:rPr sz="900">
                  <a:solidFill>
                    <a:srgbClr val="FFFFFF"/>
                  </a:solidFill>
                  <a:latin typeface="Inter"/>
                </a:rPr>
                <a:t>Of those, followed process</a:t>
              </a:r>
            </a:p>
          </p:txBody>
        </p:sp>
        <p:sp>
          <p:nvSpPr>
            <p:cNvPr id="17" name="TextBox 16"/>
            <p:cNvSpPr txBox="1"/>
            <p:nvPr/>
          </p:nvSpPr>
          <p:spPr>
            <a:xfrm>
              <a:off x="585216" y="1977872"/>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Policy blocked refund / close</a:t>
              </a:r>
            </a:p>
          </p:txBody>
        </p:sp>
        <p:sp>
          <p:nvSpPr>
            <p:cNvPr id="18" name="TextBox 17"/>
            <p:cNvSpPr txBox="1"/>
            <p:nvPr/>
          </p:nvSpPr>
          <p:spPr>
            <a:xfrm>
              <a:off x="3465576" y="1977872"/>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267</a:t>
              </a:r>
            </a:p>
          </p:txBody>
        </p:sp>
        <p:sp>
          <p:nvSpPr>
            <p:cNvPr id="19" name="TextBox 18"/>
            <p:cNvSpPr txBox="1"/>
            <p:nvPr/>
          </p:nvSpPr>
          <p:spPr>
            <a:xfrm>
              <a:off x="4242816" y="1977872"/>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38%</a:t>
              </a:r>
            </a:p>
          </p:txBody>
        </p:sp>
        <p:sp>
          <p:nvSpPr>
            <p:cNvPr id="20" name="TextBox 19"/>
            <p:cNvSpPr txBox="1"/>
            <p:nvPr/>
          </p:nvSpPr>
          <p:spPr>
            <a:xfrm>
              <a:off x="4974336" y="1977872"/>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215</a:t>
              </a:r>
            </a:p>
          </p:txBody>
        </p:sp>
        <p:sp>
          <p:nvSpPr>
            <p:cNvPr id="21" name="Rectangle 20"/>
            <p:cNvSpPr/>
            <p:nvPr/>
          </p:nvSpPr>
          <p:spPr>
            <a:xfrm>
              <a:off x="457200" y="2180653"/>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2" name="Rectangle 21"/>
            <p:cNvSpPr/>
            <p:nvPr/>
          </p:nvSpPr>
          <p:spPr>
            <a:xfrm>
              <a:off x="457200" y="2185416"/>
              <a:ext cx="553212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TextBox 22"/>
            <p:cNvSpPr txBox="1"/>
            <p:nvPr/>
          </p:nvSpPr>
          <p:spPr>
            <a:xfrm>
              <a:off x="585216" y="2243048"/>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No tool — must escalate</a:t>
              </a:r>
            </a:p>
          </p:txBody>
        </p:sp>
        <p:sp>
          <p:nvSpPr>
            <p:cNvPr id="24" name="TextBox 23"/>
            <p:cNvSpPr txBox="1"/>
            <p:nvPr/>
          </p:nvSpPr>
          <p:spPr>
            <a:xfrm>
              <a:off x="3465576" y="2243048"/>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158</a:t>
              </a:r>
            </a:p>
          </p:txBody>
        </p:sp>
        <p:sp>
          <p:nvSpPr>
            <p:cNvPr id="25" name="TextBox 24"/>
            <p:cNvSpPr txBox="1"/>
            <p:nvPr/>
          </p:nvSpPr>
          <p:spPr>
            <a:xfrm>
              <a:off x="4242816" y="2243048"/>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23%</a:t>
              </a:r>
            </a:p>
          </p:txBody>
        </p:sp>
        <p:sp>
          <p:nvSpPr>
            <p:cNvPr id="26" name="TextBox 25"/>
            <p:cNvSpPr txBox="1"/>
            <p:nvPr/>
          </p:nvSpPr>
          <p:spPr>
            <a:xfrm>
              <a:off x="4974336" y="2243048"/>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116</a:t>
              </a:r>
            </a:p>
          </p:txBody>
        </p:sp>
        <p:sp>
          <p:nvSpPr>
            <p:cNvPr id="27" name="Rectangle 26"/>
            <p:cNvSpPr/>
            <p:nvPr/>
          </p:nvSpPr>
          <p:spPr>
            <a:xfrm>
              <a:off x="457200" y="2445829"/>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8" name="TextBox 27"/>
            <p:cNvSpPr txBox="1"/>
            <p:nvPr/>
          </p:nvSpPr>
          <p:spPr>
            <a:xfrm>
              <a:off x="585216" y="2508224"/>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Other / unclear</a:t>
              </a:r>
            </a:p>
          </p:txBody>
        </p:sp>
        <p:sp>
          <p:nvSpPr>
            <p:cNvPr id="29" name="TextBox 28"/>
            <p:cNvSpPr txBox="1"/>
            <p:nvPr/>
          </p:nvSpPr>
          <p:spPr>
            <a:xfrm>
              <a:off x="3465576" y="2508224"/>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103</a:t>
              </a:r>
            </a:p>
          </p:txBody>
        </p:sp>
        <p:sp>
          <p:nvSpPr>
            <p:cNvPr id="30" name="TextBox 29"/>
            <p:cNvSpPr txBox="1"/>
            <p:nvPr/>
          </p:nvSpPr>
          <p:spPr>
            <a:xfrm>
              <a:off x="4242816" y="2508224"/>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15%</a:t>
              </a:r>
            </a:p>
          </p:txBody>
        </p:sp>
        <p:sp>
          <p:nvSpPr>
            <p:cNvPr id="31" name="TextBox 30"/>
            <p:cNvSpPr txBox="1"/>
            <p:nvPr/>
          </p:nvSpPr>
          <p:spPr>
            <a:xfrm>
              <a:off x="4974336" y="2508224"/>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77</a:t>
              </a:r>
            </a:p>
          </p:txBody>
        </p:sp>
        <p:sp>
          <p:nvSpPr>
            <p:cNvPr id="32" name="Rectangle 31"/>
            <p:cNvSpPr/>
            <p:nvPr/>
          </p:nvSpPr>
          <p:spPr>
            <a:xfrm>
              <a:off x="457200" y="2711005"/>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3" name="Rectangle 32"/>
            <p:cNvSpPr/>
            <p:nvPr/>
          </p:nvSpPr>
          <p:spPr>
            <a:xfrm>
              <a:off x="457200" y="2715768"/>
              <a:ext cx="553212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4" name="TextBox 33"/>
            <p:cNvSpPr txBox="1"/>
            <p:nvPr/>
          </p:nvSpPr>
          <p:spPr>
            <a:xfrm>
              <a:off x="585216" y="2773400"/>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No analysis (“No aplica”)</a:t>
              </a:r>
            </a:p>
          </p:txBody>
        </p:sp>
        <p:sp>
          <p:nvSpPr>
            <p:cNvPr id="35" name="TextBox 34"/>
            <p:cNvSpPr txBox="1"/>
            <p:nvPr/>
          </p:nvSpPr>
          <p:spPr>
            <a:xfrm>
              <a:off x="3465576" y="2773400"/>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88</a:t>
              </a:r>
            </a:p>
          </p:txBody>
        </p:sp>
        <p:sp>
          <p:nvSpPr>
            <p:cNvPr id="36" name="TextBox 35"/>
            <p:cNvSpPr txBox="1"/>
            <p:nvPr/>
          </p:nvSpPr>
          <p:spPr>
            <a:xfrm>
              <a:off x="4242816" y="2773400"/>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13%</a:t>
              </a:r>
            </a:p>
          </p:txBody>
        </p:sp>
        <p:sp>
          <p:nvSpPr>
            <p:cNvPr id="37" name="TextBox 36"/>
            <p:cNvSpPr txBox="1"/>
            <p:nvPr/>
          </p:nvSpPr>
          <p:spPr>
            <a:xfrm>
              <a:off x="4974336" y="2773400"/>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63</a:t>
              </a:r>
            </a:p>
          </p:txBody>
        </p:sp>
        <p:sp>
          <p:nvSpPr>
            <p:cNvPr id="38" name="Rectangle 37"/>
            <p:cNvSpPr/>
            <p:nvPr/>
          </p:nvSpPr>
          <p:spPr>
            <a:xfrm>
              <a:off x="457200" y="2976181"/>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9" name="TextBox 38"/>
            <p:cNvSpPr txBox="1"/>
            <p:nvPr/>
          </p:nvSpPr>
          <p:spPr>
            <a:xfrm>
              <a:off x="585216" y="3038576"/>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Fraud named in the text</a:t>
              </a:r>
            </a:p>
          </p:txBody>
        </p:sp>
        <p:sp>
          <p:nvSpPr>
            <p:cNvPr id="40" name="TextBox 39"/>
            <p:cNvSpPr txBox="1"/>
            <p:nvPr/>
          </p:nvSpPr>
          <p:spPr>
            <a:xfrm>
              <a:off x="3465576" y="3038576"/>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25</a:t>
              </a:r>
            </a:p>
          </p:txBody>
        </p:sp>
        <p:sp>
          <p:nvSpPr>
            <p:cNvPr id="41" name="TextBox 40"/>
            <p:cNvSpPr txBox="1"/>
            <p:nvPr/>
          </p:nvSpPr>
          <p:spPr>
            <a:xfrm>
              <a:off x="4242816" y="3038576"/>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4%</a:t>
              </a:r>
            </a:p>
          </p:txBody>
        </p:sp>
        <p:sp>
          <p:nvSpPr>
            <p:cNvPr id="42" name="TextBox 41"/>
            <p:cNvSpPr txBox="1"/>
            <p:nvPr/>
          </p:nvSpPr>
          <p:spPr>
            <a:xfrm>
              <a:off x="4974336" y="3038576"/>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19</a:t>
              </a:r>
            </a:p>
          </p:txBody>
        </p:sp>
        <p:sp>
          <p:nvSpPr>
            <p:cNvPr id="43" name="Rectangle 42"/>
            <p:cNvSpPr/>
            <p:nvPr/>
          </p:nvSpPr>
          <p:spPr>
            <a:xfrm>
              <a:off x="457200" y="3241357"/>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4" name="Rectangle 43"/>
            <p:cNvSpPr/>
            <p:nvPr/>
          </p:nvSpPr>
          <p:spPr>
            <a:xfrm>
              <a:off x="457200" y="3246120"/>
              <a:ext cx="553212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5" name="TextBox 44"/>
            <p:cNvSpPr txBox="1"/>
            <p:nvPr/>
          </p:nvSpPr>
          <p:spPr>
            <a:xfrm>
              <a:off x="585216" y="3303752"/>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Courier / store / restaurant</a:t>
              </a:r>
            </a:p>
          </p:txBody>
        </p:sp>
        <p:sp>
          <p:nvSpPr>
            <p:cNvPr id="46" name="TextBox 45"/>
            <p:cNvSpPr txBox="1"/>
            <p:nvPr/>
          </p:nvSpPr>
          <p:spPr>
            <a:xfrm>
              <a:off x="3465576" y="3303752"/>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18</a:t>
              </a:r>
            </a:p>
          </p:txBody>
        </p:sp>
        <p:sp>
          <p:nvSpPr>
            <p:cNvPr id="47" name="TextBox 46"/>
            <p:cNvSpPr txBox="1"/>
            <p:nvPr/>
          </p:nvSpPr>
          <p:spPr>
            <a:xfrm>
              <a:off x="4242816" y="3303752"/>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3%</a:t>
              </a:r>
            </a:p>
          </p:txBody>
        </p:sp>
        <p:sp>
          <p:nvSpPr>
            <p:cNvPr id="48" name="TextBox 47"/>
            <p:cNvSpPr txBox="1"/>
            <p:nvPr/>
          </p:nvSpPr>
          <p:spPr>
            <a:xfrm>
              <a:off x="4974336" y="3303752"/>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12</a:t>
              </a:r>
            </a:p>
          </p:txBody>
        </p:sp>
        <p:sp>
          <p:nvSpPr>
            <p:cNvPr id="49" name="Rectangle 48"/>
            <p:cNvSpPr/>
            <p:nvPr/>
          </p:nvSpPr>
          <p:spPr>
            <a:xfrm>
              <a:off x="457200" y="3506533"/>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0" name="TextBox 49"/>
            <p:cNvSpPr txBox="1"/>
            <p:nvPr/>
          </p:nvSpPr>
          <p:spPr>
            <a:xfrm>
              <a:off x="585216" y="3568928"/>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Model: no low CSAT to analyse</a:t>
              </a:r>
            </a:p>
          </p:txBody>
        </p:sp>
        <p:sp>
          <p:nvSpPr>
            <p:cNvPr id="51" name="TextBox 50"/>
            <p:cNvSpPr txBox="1"/>
            <p:nvPr/>
          </p:nvSpPr>
          <p:spPr>
            <a:xfrm>
              <a:off x="3465576" y="3568928"/>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14</a:t>
              </a:r>
            </a:p>
          </p:txBody>
        </p:sp>
        <p:sp>
          <p:nvSpPr>
            <p:cNvPr id="52" name="TextBox 51"/>
            <p:cNvSpPr txBox="1"/>
            <p:nvPr/>
          </p:nvSpPr>
          <p:spPr>
            <a:xfrm>
              <a:off x="4242816" y="3568928"/>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2%</a:t>
              </a:r>
            </a:p>
          </p:txBody>
        </p:sp>
        <p:sp>
          <p:nvSpPr>
            <p:cNvPr id="53" name="TextBox 52"/>
            <p:cNvSpPr txBox="1"/>
            <p:nvPr/>
          </p:nvSpPr>
          <p:spPr>
            <a:xfrm>
              <a:off x="4974336" y="3568928"/>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8</a:t>
              </a:r>
            </a:p>
          </p:txBody>
        </p:sp>
        <p:sp>
          <p:nvSpPr>
            <p:cNvPr id="54" name="Rectangle 53"/>
            <p:cNvSpPr/>
            <p:nvPr/>
          </p:nvSpPr>
          <p:spPr>
            <a:xfrm>
              <a:off x="457200" y="3771709"/>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5" name="Rectangle 54"/>
            <p:cNvSpPr/>
            <p:nvPr/>
          </p:nvSpPr>
          <p:spPr>
            <a:xfrm>
              <a:off x="457200" y="3776472"/>
              <a:ext cx="553212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6" name="TextBox 55"/>
            <p:cNvSpPr txBox="1"/>
            <p:nvPr/>
          </p:nvSpPr>
          <p:spPr>
            <a:xfrm>
              <a:off x="585216" y="3834104"/>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Delay / ETA (undercounted)</a:t>
              </a:r>
            </a:p>
          </p:txBody>
        </p:sp>
        <p:sp>
          <p:nvSpPr>
            <p:cNvPr id="57" name="TextBox 56"/>
            <p:cNvSpPr txBox="1"/>
            <p:nvPr/>
          </p:nvSpPr>
          <p:spPr>
            <a:xfrm>
              <a:off x="3465576" y="3834104"/>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17</a:t>
              </a:r>
            </a:p>
          </p:txBody>
        </p:sp>
        <p:sp>
          <p:nvSpPr>
            <p:cNvPr id="58" name="TextBox 57"/>
            <p:cNvSpPr txBox="1"/>
            <p:nvPr/>
          </p:nvSpPr>
          <p:spPr>
            <a:xfrm>
              <a:off x="4242816" y="3834104"/>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2%</a:t>
              </a:r>
            </a:p>
          </p:txBody>
        </p:sp>
        <p:sp>
          <p:nvSpPr>
            <p:cNvPr id="59" name="TextBox 58"/>
            <p:cNvSpPr txBox="1"/>
            <p:nvPr/>
          </p:nvSpPr>
          <p:spPr>
            <a:xfrm>
              <a:off x="4974336" y="3834104"/>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12</a:t>
              </a:r>
            </a:p>
          </p:txBody>
        </p:sp>
        <p:sp>
          <p:nvSpPr>
            <p:cNvPr id="60" name="Rectangle 59"/>
            <p:cNvSpPr/>
            <p:nvPr/>
          </p:nvSpPr>
          <p:spPr>
            <a:xfrm>
              <a:off x="457200" y="4036885"/>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1" name="TextBox 60"/>
            <p:cNvSpPr txBox="1"/>
            <p:nvPr/>
          </p:nvSpPr>
          <p:spPr>
            <a:xfrm>
              <a:off x="585216" y="4099280"/>
              <a:ext cx="262432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Agent missed the process</a:t>
              </a:r>
            </a:p>
          </p:txBody>
        </p:sp>
        <p:sp>
          <p:nvSpPr>
            <p:cNvPr id="62" name="TextBox 61"/>
            <p:cNvSpPr txBox="1"/>
            <p:nvPr/>
          </p:nvSpPr>
          <p:spPr>
            <a:xfrm>
              <a:off x="3465576" y="4099280"/>
              <a:ext cx="521207"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9</a:t>
              </a:r>
            </a:p>
          </p:txBody>
        </p:sp>
        <p:sp>
          <p:nvSpPr>
            <p:cNvPr id="63" name="TextBox 62"/>
            <p:cNvSpPr txBox="1"/>
            <p:nvPr/>
          </p:nvSpPr>
          <p:spPr>
            <a:xfrm>
              <a:off x="4242816" y="4099280"/>
              <a:ext cx="47548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1%</a:t>
              </a:r>
            </a:p>
          </p:txBody>
        </p:sp>
        <p:sp>
          <p:nvSpPr>
            <p:cNvPr id="64" name="TextBox 63"/>
            <p:cNvSpPr txBox="1"/>
            <p:nvPr/>
          </p:nvSpPr>
          <p:spPr>
            <a:xfrm>
              <a:off x="4974336" y="4099280"/>
              <a:ext cx="886968" cy="149913"/>
            </a:xfrm>
            <a:prstGeom prst="rect">
              <a:avLst/>
            </a:prstGeom>
            <a:noFill/>
          </p:spPr>
          <p:txBody>
            <a:bodyPr wrap="square" lIns="0" tIns="0" rIns="0" bIns="0" anchor="ctr">
              <a:spAutoFit/>
            </a:bodyPr>
            <a:lstStyle/>
            <a:p>
              <a:pPr algn="ctr">
                <a:lnSpc>
                  <a:spcPct val="115000"/>
                </a:lnSpc>
                <a:spcAft>
                  <a:spcPts val="0"/>
                </a:spcAft>
              </a:pPr>
              <a:r>
                <a:rPr sz="900">
                  <a:solidFill>
                    <a:srgbClr val="4B5563"/>
                  </a:solidFill>
                  <a:latin typeface="Inter"/>
                </a:rPr>
                <a:t>5</a:t>
              </a:r>
            </a:p>
          </p:txBody>
        </p:sp>
        <p:sp>
          <p:nvSpPr>
            <p:cNvPr id="65" name="Rectangle 64"/>
            <p:cNvSpPr/>
            <p:nvPr/>
          </p:nvSpPr>
          <p:spPr>
            <a:xfrm>
              <a:off x="457200" y="4302061"/>
              <a:ext cx="553212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grpSp>
      <p:sp>
        <p:nvSpPr>
          <p:cNvPr id="66" name="TextBox 65"/>
          <p:cNvSpPr txBox="1"/>
          <p:nvPr/>
        </p:nvSpPr>
        <p:spPr>
          <a:xfrm>
            <a:off x="6903720" y="1207008"/>
            <a:ext cx="4846320" cy="402336"/>
          </a:xfrm>
          <a:prstGeom prst="rect">
            <a:avLst/>
          </a:prstGeom>
          <a:noFill/>
        </p:spPr>
        <p:txBody>
          <a:bodyPr wrap="square" lIns="0" tIns="0" rIns="0" bIns="0" anchor="t">
            <a:spAutoFit/>
          </a:bodyPr>
          <a:lstStyle/>
          <a:p>
            <a:pPr algn="l">
              <a:lnSpc>
                <a:spcPct val="115000"/>
              </a:lnSpc>
              <a:spcAft>
                <a:spcPts val="0"/>
              </a:spcAft>
            </a:pPr>
            <a:r>
              <a:rPr sz="1100" b="1">
                <a:solidFill>
                  <a:srgbClr val="1A1A1A"/>
                </a:solidFill>
                <a:latin typeface="Inter"/>
              </a:rPr>
              <a:t>Cases that were closed  ·  n = 1,415  ·  how they were resolved</a:t>
            </a:r>
          </a:p>
          <a:p>
            <a:pPr algn="l">
              <a:lnSpc>
                <a:spcPct val="115000"/>
              </a:lnSpc>
              <a:spcAft>
                <a:spcPts val="0"/>
              </a:spcAft>
            </a:pPr>
            <a:r>
              <a:rPr sz="900" b="0">
                <a:solidFill>
                  <a:srgbClr val="6B7280"/>
                </a:solidFill>
                <a:latin typeface="Inter"/>
              </a:rPr>
              <a:t>CSAT of these contact reasons is 70.9%. Not those tickets. Audits and surveys do not share a ticket ID.</a:t>
            </a:r>
          </a:p>
        </p:txBody>
      </p:sp>
      <p:grpSp>
        <p:nvGrpSpPr>
          <p:cNvPr id="111" name="Grupo 110">
            <a:extLst>
              <a:ext uri="{FF2B5EF4-FFF2-40B4-BE49-F238E27FC236}">
                <a16:creationId xmlns:a16="http://schemas.microsoft.com/office/drawing/2014/main" id="{C79B5D51-4BDE-BDEC-546C-C252ABF59468}"/>
              </a:ext>
            </a:extLst>
          </p:cNvPr>
          <p:cNvGrpSpPr/>
          <p:nvPr/>
        </p:nvGrpSpPr>
        <p:grpSpPr>
          <a:xfrm>
            <a:off x="6903720" y="1645920"/>
            <a:ext cx="4434840" cy="2135314"/>
            <a:chOff x="6903720" y="1645920"/>
            <a:chExt cx="4434840" cy="2135314"/>
          </a:xfrm>
        </p:grpSpPr>
        <p:sp>
          <p:nvSpPr>
            <p:cNvPr id="67" name="Rectangle 66"/>
            <p:cNvSpPr/>
            <p:nvPr/>
          </p:nvSpPr>
          <p:spPr>
            <a:xfrm>
              <a:off x="6903720" y="1645920"/>
              <a:ext cx="4434840" cy="2743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8" name="TextBox 67"/>
            <p:cNvSpPr txBox="1"/>
            <p:nvPr/>
          </p:nvSpPr>
          <p:spPr>
            <a:xfrm>
              <a:off x="7031736" y="1699789"/>
              <a:ext cx="267004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What closing was</a:t>
              </a:r>
            </a:p>
          </p:txBody>
        </p:sp>
        <p:sp>
          <p:nvSpPr>
            <p:cNvPr id="69" name="TextBox 68"/>
            <p:cNvSpPr txBox="1"/>
            <p:nvPr/>
          </p:nvSpPr>
          <p:spPr>
            <a:xfrm>
              <a:off x="9957816" y="1699789"/>
              <a:ext cx="521207"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Audits</a:t>
              </a:r>
            </a:p>
          </p:txBody>
        </p:sp>
        <p:sp>
          <p:nvSpPr>
            <p:cNvPr id="70" name="TextBox 69"/>
            <p:cNvSpPr txBox="1"/>
            <p:nvPr/>
          </p:nvSpPr>
          <p:spPr>
            <a:xfrm>
              <a:off x="10735056" y="1699789"/>
              <a:ext cx="475488" cy="166584"/>
            </a:xfrm>
            <a:prstGeom prst="rect">
              <a:avLst/>
            </a:prstGeom>
            <a:noFill/>
          </p:spPr>
          <p:txBody>
            <a:bodyPr wrap="square" lIns="0" tIns="0" rIns="0" bIns="0" anchor="ctr">
              <a:spAutoFit/>
            </a:bodyPr>
            <a:lstStyle/>
            <a:p>
              <a:pPr algn="ctr">
                <a:lnSpc>
                  <a:spcPct val="115000"/>
                </a:lnSpc>
                <a:spcAft>
                  <a:spcPts val="0"/>
                </a:spcAft>
              </a:pPr>
              <a:r>
                <a:rPr sz="1000" b="1">
                  <a:solidFill>
                    <a:srgbClr val="FFFFFF"/>
                  </a:solidFill>
                  <a:latin typeface="Inter"/>
                </a:rPr>
                <a:t>Share</a:t>
              </a:r>
            </a:p>
          </p:txBody>
        </p:sp>
        <p:sp>
          <p:nvSpPr>
            <p:cNvPr id="71" name="TextBox 70"/>
            <p:cNvSpPr txBox="1"/>
            <p:nvPr/>
          </p:nvSpPr>
          <p:spPr>
            <a:xfrm>
              <a:off x="7031736" y="1969537"/>
              <a:ext cx="267004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Confirmed a refund or compensation</a:t>
              </a:r>
            </a:p>
          </p:txBody>
        </p:sp>
        <p:sp>
          <p:nvSpPr>
            <p:cNvPr id="72" name="TextBox 71"/>
            <p:cNvSpPr txBox="1"/>
            <p:nvPr/>
          </p:nvSpPr>
          <p:spPr>
            <a:xfrm>
              <a:off x="9957816" y="1969537"/>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662</a:t>
              </a:r>
            </a:p>
          </p:txBody>
        </p:sp>
        <p:sp>
          <p:nvSpPr>
            <p:cNvPr id="73" name="TextBox 72"/>
            <p:cNvSpPr txBox="1"/>
            <p:nvPr/>
          </p:nvSpPr>
          <p:spPr>
            <a:xfrm>
              <a:off x="10735056" y="1969537"/>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47%</a:t>
              </a:r>
            </a:p>
          </p:txBody>
        </p:sp>
        <p:sp>
          <p:nvSpPr>
            <p:cNvPr id="74" name="Rectangle 73"/>
            <p:cNvSpPr/>
            <p:nvPr/>
          </p:nvSpPr>
          <p:spPr>
            <a:xfrm>
              <a:off x="6903720" y="2180653"/>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5" name="Rectangle 74"/>
            <p:cNvSpPr/>
            <p:nvPr/>
          </p:nvSpPr>
          <p:spPr>
            <a:xfrm>
              <a:off x="6903720" y="2185416"/>
              <a:ext cx="443484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6" name="TextBox 75"/>
            <p:cNvSpPr txBox="1"/>
            <p:nvPr/>
          </p:nvSpPr>
          <p:spPr>
            <a:xfrm>
              <a:off x="7031736" y="2234713"/>
              <a:ext cx="267004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Explained / confirmed the process</a:t>
              </a:r>
            </a:p>
          </p:txBody>
        </p:sp>
        <p:sp>
          <p:nvSpPr>
            <p:cNvPr id="77" name="TextBox 76"/>
            <p:cNvSpPr txBox="1"/>
            <p:nvPr/>
          </p:nvSpPr>
          <p:spPr>
            <a:xfrm>
              <a:off x="9957816" y="2234713"/>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124</a:t>
              </a:r>
            </a:p>
          </p:txBody>
        </p:sp>
        <p:sp>
          <p:nvSpPr>
            <p:cNvPr id="78" name="TextBox 77"/>
            <p:cNvSpPr txBox="1"/>
            <p:nvPr/>
          </p:nvSpPr>
          <p:spPr>
            <a:xfrm>
              <a:off x="10735056" y="2234713"/>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9%</a:t>
              </a:r>
            </a:p>
          </p:txBody>
        </p:sp>
        <p:sp>
          <p:nvSpPr>
            <p:cNvPr id="79" name="Rectangle 78"/>
            <p:cNvSpPr/>
            <p:nvPr/>
          </p:nvSpPr>
          <p:spPr>
            <a:xfrm>
              <a:off x="6903720" y="2445829"/>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0" name="TextBox 79"/>
            <p:cNvSpPr txBox="1"/>
            <p:nvPr/>
          </p:nvSpPr>
          <p:spPr>
            <a:xfrm>
              <a:off x="7031736" y="2499889"/>
              <a:ext cx="267004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Used a tool or filed a report</a:t>
              </a:r>
            </a:p>
          </p:txBody>
        </p:sp>
        <p:sp>
          <p:nvSpPr>
            <p:cNvPr id="81" name="TextBox 80"/>
            <p:cNvSpPr txBox="1"/>
            <p:nvPr/>
          </p:nvSpPr>
          <p:spPr>
            <a:xfrm>
              <a:off x="9957816" y="2499889"/>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156</a:t>
              </a:r>
            </a:p>
          </p:txBody>
        </p:sp>
        <p:sp>
          <p:nvSpPr>
            <p:cNvPr id="82" name="TextBox 81"/>
            <p:cNvSpPr txBox="1"/>
            <p:nvPr/>
          </p:nvSpPr>
          <p:spPr>
            <a:xfrm>
              <a:off x="10735056" y="2499889"/>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11%</a:t>
              </a:r>
            </a:p>
          </p:txBody>
        </p:sp>
        <p:sp>
          <p:nvSpPr>
            <p:cNvPr id="83" name="Rectangle 82"/>
            <p:cNvSpPr/>
            <p:nvPr/>
          </p:nvSpPr>
          <p:spPr>
            <a:xfrm>
              <a:off x="6903720" y="2711005"/>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4" name="Rectangle 83"/>
            <p:cNvSpPr/>
            <p:nvPr/>
          </p:nvSpPr>
          <p:spPr>
            <a:xfrm>
              <a:off x="6903720" y="2715768"/>
              <a:ext cx="443484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5" name="TextBox 84"/>
            <p:cNvSpPr txBox="1"/>
            <p:nvPr/>
          </p:nvSpPr>
          <p:spPr>
            <a:xfrm>
              <a:off x="7031736" y="2765065"/>
              <a:ext cx="267004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Other / unclear</a:t>
              </a:r>
            </a:p>
          </p:txBody>
        </p:sp>
        <p:sp>
          <p:nvSpPr>
            <p:cNvPr id="86" name="TextBox 85"/>
            <p:cNvSpPr txBox="1"/>
            <p:nvPr/>
          </p:nvSpPr>
          <p:spPr>
            <a:xfrm>
              <a:off x="9957816" y="2765065"/>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251</a:t>
              </a:r>
            </a:p>
          </p:txBody>
        </p:sp>
        <p:sp>
          <p:nvSpPr>
            <p:cNvPr id="87" name="TextBox 86"/>
            <p:cNvSpPr txBox="1"/>
            <p:nvPr/>
          </p:nvSpPr>
          <p:spPr>
            <a:xfrm>
              <a:off x="10735056" y="2765065"/>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18%</a:t>
              </a:r>
            </a:p>
          </p:txBody>
        </p:sp>
        <p:sp>
          <p:nvSpPr>
            <p:cNvPr id="88" name="Rectangle 87"/>
            <p:cNvSpPr/>
            <p:nvPr/>
          </p:nvSpPr>
          <p:spPr>
            <a:xfrm>
              <a:off x="6903720" y="2976181"/>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9" name="TextBox 88"/>
            <p:cNvSpPr txBox="1"/>
            <p:nvPr/>
          </p:nvSpPr>
          <p:spPr>
            <a:xfrm>
              <a:off x="7031736" y="3030241"/>
              <a:ext cx="267004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No analysis (“No aplica”)</a:t>
              </a:r>
            </a:p>
          </p:txBody>
        </p:sp>
        <p:sp>
          <p:nvSpPr>
            <p:cNvPr id="90" name="TextBox 89"/>
            <p:cNvSpPr txBox="1"/>
            <p:nvPr/>
          </p:nvSpPr>
          <p:spPr>
            <a:xfrm>
              <a:off x="9957816" y="3030241"/>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145</a:t>
              </a:r>
            </a:p>
          </p:txBody>
        </p:sp>
        <p:sp>
          <p:nvSpPr>
            <p:cNvPr id="91" name="TextBox 90"/>
            <p:cNvSpPr txBox="1"/>
            <p:nvPr/>
          </p:nvSpPr>
          <p:spPr>
            <a:xfrm>
              <a:off x="10735056" y="3030241"/>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10%</a:t>
              </a:r>
            </a:p>
          </p:txBody>
        </p:sp>
        <p:sp>
          <p:nvSpPr>
            <p:cNvPr id="92" name="Rectangle 91"/>
            <p:cNvSpPr/>
            <p:nvPr/>
          </p:nvSpPr>
          <p:spPr>
            <a:xfrm>
              <a:off x="6903720" y="3241357"/>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3" name="Rectangle 92"/>
            <p:cNvSpPr/>
            <p:nvPr/>
          </p:nvSpPr>
          <p:spPr>
            <a:xfrm>
              <a:off x="6903720" y="3246120"/>
              <a:ext cx="4434840" cy="265176"/>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4" name="TextBox 93"/>
            <p:cNvSpPr txBox="1"/>
            <p:nvPr/>
          </p:nvSpPr>
          <p:spPr>
            <a:xfrm>
              <a:off x="7031736" y="3295417"/>
              <a:ext cx="267004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Cancellation processed</a:t>
              </a:r>
            </a:p>
          </p:txBody>
        </p:sp>
        <p:sp>
          <p:nvSpPr>
            <p:cNvPr id="95" name="TextBox 94"/>
            <p:cNvSpPr txBox="1"/>
            <p:nvPr/>
          </p:nvSpPr>
          <p:spPr>
            <a:xfrm>
              <a:off x="9957816" y="3295417"/>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43</a:t>
              </a:r>
            </a:p>
          </p:txBody>
        </p:sp>
        <p:sp>
          <p:nvSpPr>
            <p:cNvPr id="96" name="TextBox 95"/>
            <p:cNvSpPr txBox="1"/>
            <p:nvPr/>
          </p:nvSpPr>
          <p:spPr>
            <a:xfrm>
              <a:off x="10735056" y="3295417"/>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3%</a:t>
              </a:r>
            </a:p>
          </p:txBody>
        </p:sp>
        <p:sp>
          <p:nvSpPr>
            <p:cNvPr id="97" name="Rectangle 96"/>
            <p:cNvSpPr/>
            <p:nvPr/>
          </p:nvSpPr>
          <p:spPr>
            <a:xfrm>
              <a:off x="6903720" y="3506533"/>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8" name="TextBox 97"/>
            <p:cNvSpPr txBox="1"/>
            <p:nvPr/>
          </p:nvSpPr>
          <p:spPr>
            <a:xfrm>
              <a:off x="7031736" y="3560593"/>
              <a:ext cx="267004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Model: no low CSAT to analyse</a:t>
              </a:r>
            </a:p>
          </p:txBody>
        </p:sp>
        <p:sp>
          <p:nvSpPr>
            <p:cNvPr id="99" name="TextBox 98"/>
            <p:cNvSpPr txBox="1"/>
            <p:nvPr/>
          </p:nvSpPr>
          <p:spPr>
            <a:xfrm>
              <a:off x="9957816" y="3560593"/>
              <a:ext cx="521207"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34</a:t>
              </a:r>
            </a:p>
          </p:txBody>
        </p:sp>
        <p:sp>
          <p:nvSpPr>
            <p:cNvPr id="100" name="TextBox 99"/>
            <p:cNvSpPr txBox="1"/>
            <p:nvPr/>
          </p:nvSpPr>
          <p:spPr>
            <a:xfrm>
              <a:off x="10735056" y="3560593"/>
              <a:ext cx="475488" cy="166584"/>
            </a:xfrm>
            <a:prstGeom prst="rect">
              <a:avLst/>
            </a:prstGeom>
            <a:noFill/>
          </p:spPr>
          <p:txBody>
            <a:bodyPr wrap="square" lIns="0" tIns="0" rIns="0" bIns="0" anchor="ctr">
              <a:spAutoFit/>
            </a:bodyPr>
            <a:lstStyle/>
            <a:p>
              <a:pPr algn="ctr">
                <a:lnSpc>
                  <a:spcPct val="115000"/>
                </a:lnSpc>
                <a:spcAft>
                  <a:spcPts val="0"/>
                </a:spcAft>
              </a:pPr>
              <a:r>
                <a:rPr sz="1000" b="0">
                  <a:solidFill>
                    <a:srgbClr val="4B5563"/>
                  </a:solidFill>
                  <a:latin typeface="Inter"/>
                </a:rPr>
                <a:t>2%</a:t>
              </a:r>
            </a:p>
          </p:txBody>
        </p:sp>
        <p:sp>
          <p:nvSpPr>
            <p:cNvPr id="101" name="Rectangle 100"/>
            <p:cNvSpPr/>
            <p:nvPr/>
          </p:nvSpPr>
          <p:spPr>
            <a:xfrm>
              <a:off x="6903720" y="3771709"/>
              <a:ext cx="4434839"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grpSp>
      <p:sp>
        <p:nvSpPr>
          <p:cNvPr id="102" name="Rectangle 101"/>
          <p:cNvSpPr/>
          <p:nvPr/>
        </p:nvSpPr>
        <p:spPr>
          <a:xfrm>
            <a:off x="457200" y="5010912"/>
            <a:ext cx="5532120" cy="1234440"/>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457200" y="5010912"/>
            <a:ext cx="38404" cy="123444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768096" y="5193792"/>
            <a:ext cx="4965192" cy="292608"/>
          </a:xfrm>
          <a:prstGeom prst="rect">
            <a:avLst/>
          </a:prstGeom>
          <a:noFill/>
        </p:spPr>
        <p:txBody>
          <a:bodyPr wrap="square" lIns="0" tIns="0" rIns="0" bIns="0" anchor="t">
            <a:spAutoFit/>
          </a:bodyPr>
          <a:lstStyle/>
          <a:p>
            <a:pPr algn="l">
              <a:lnSpc>
                <a:spcPct val="115000"/>
              </a:lnSpc>
              <a:spcAft>
                <a:spcPts val="0"/>
              </a:spcAft>
            </a:pPr>
            <a:r>
              <a:rPr sz="1100" b="1">
                <a:solidFill>
                  <a:srgbClr val="1A1A1A"/>
                </a:solidFill>
                <a:latin typeface="Inter"/>
              </a:rPr>
              <a:t>The main blockers are policy and tools, not agent greetings.</a:t>
            </a:r>
          </a:p>
        </p:txBody>
      </p:sp>
      <p:sp>
        <p:nvSpPr>
          <p:cNvPr id="105" name="TextBox 104"/>
          <p:cNvSpPr txBox="1"/>
          <p:nvPr/>
        </p:nvSpPr>
        <p:spPr>
          <a:xfrm>
            <a:off x="768096" y="5577840"/>
            <a:ext cx="4965192" cy="521208"/>
          </a:xfrm>
          <a:prstGeom prst="rect">
            <a:avLst/>
          </a:prstGeom>
          <a:noFill/>
        </p:spPr>
        <p:txBody>
          <a:bodyPr wrap="square" lIns="0" tIns="0" rIns="0" bIns="0" anchor="t">
            <a:spAutoFit/>
          </a:bodyPr>
          <a:lstStyle/>
          <a:p>
            <a:pPr algn="l">
              <a:lnSpc>
                <a:spcPct val="132000"/>
              </a:lnSpc>
              <a:spcAft>
                <a:spcPts val="400"/>
              </a:spcAft>
            </a:pPr>
            <a:r>
              <a:rPr sz="850" b="0">
                <a:solidFill>
                  <a:srgbClr val="4B5563"/>
                </a:solidFill>
                <a:latin typeface="Inter"/>
              </a:rPr>
              <a:t>Policy: ¿Por qué el cliente está insatisfecho? Porque el agente no resolvió su problema. ¿Por qué no hubo resolución? Porque el agente indicó que un reembolso no era posible. ¿Por qué no era posible? Porque la política Tools: ¿Por qué el cliente está insatisfecho? Porque el pedido está muy retrasado y tiene hambre. ¿Por qué el pedido está retrasado? Porque ya pasaron 2 horas y no lle</a:t>
            </a:r>
          </a:p>
        </p:txBody>
      </p:sp>
      <p:sp>
        <p:nvSpPr>
          <p:cNvPr id="106" name="Rectangle 105"/>
          <p:cNvSpPr/>
          <p:nvPr/>
        </p:nvSpPr>
        <p:spPr>
          <a:xfrm>
            <a:off x="6903720" y="5010912"/>
            <a:ext cx="4846320" cy="1234440"/>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6903720" y="5010912"/>
            <a:ext cx="38404" cy="123444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7214616" y="5193792"/>
            <a:ext cx="4279392" cy="292608"/>
          </a:xfrm>
          <a:prstGeom prst="rect">
            <a:avLst/>
          </a:prstGeom>
          <a:noFill/>
        </p:spPr>
        <p:txBody>
          <a:bodyPr wrap="square" lIns="0" tIns="0" rIns="0" bIns="0" anchor="t">
            <a:spAutoFit/>
          </a:bodyPr>
          <a:lstStyle/>
          <a:p>
            <a:pPr algn="l">
              <a:lnSpc>
                <a:spcPct val="115000"/>
              </a:lnSpc>
              <a:spcAft>
                <a:spcPts val="0"/>
              </a:spcAft>
            </a:pPr>
            <a:r>
              <a:rPr sz="1100" b="1">
                <a:solidFill>
                  <a:srgbClr val="1A1A1A"/>
                </a:solidFill>
                <a:latin typeface="Inter"/>
              </a:rPr>
              <a:t>When cases are closed, the resolution usually involves a refund, an explanation, or a tool</a:t>
            </a:r>
          </a:p>
        </p:txBody>
      </p:sp>
      <p:sp>
        <p:nvSpPr>
          <p:cNvPr id="109" name="TextBox 108"/>
          <p:cNvSpPr txBox="1"/>
          <p:nvPr/>
        </p:nvSpPr>
        <p:spPr>
          <a:xfrm>
            <a:off x="7214616" y="5577840"/>
            <a:ext cx="4279392" cy="521208"/>
          </a:xfrm>
          <a:prstGeom prst="rect">
            <a:avLst/>
          </a:prstGeom>
          <a:noFill/>
        </p:spPr>
        <p:txBody>
          <a:bodyPr wrap="square" lIns="0" tIns="0" rIns="0" bIns="0" anchor="t">
            <a:spAutoFit/>
          </a:bodyPr>
          <a:lstStyle/>
          <a:p>
            <a:pPr algn="l">
              <a:lnSpc>
                <a:spcPct val="132000"/>
              </a:lnSpc>
              <a:spcAft>
                <a:spcPts val="400"/>
              </a:spcAft>
            </a:pPr>
            <a:r>
              <a:rPr sz="850" b="0">
                <a:solidFill>
                  <a:srgbClr val="4B5563"/>
                </a:solidFill>
                <a:latin typeface="Inter"/>
              </a:rPr>
              <a:t>¿Por qué el cliente se sintió satisfecho? Porque el agente confirmó el reembolso de su pedido. ¿Por qué el agente confirmó el reembolso? Porque revisó la información del pedido y el estado del reembolso. ¿Por qué revisó la información? Porque el cliente proporcionó los datos soli</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Why customers contact us again even when QA is green</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Fishbone. Six buckets. Every line has a number.</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27</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fishbone.png"/>
          <p:cNvPicPr>
            <a:picLocks noChangeAspect="1"/>
          </p:cNvPicPr>
          <p:nvPr/>
        </p:nvPicPr>
        <p:blipFill>
          <a:blip r:embed="rId3"/>
          <a:stretch>
            <a:fillRect/>
          </a:stretch>
        </p:blipFill>
        <p:spPr>
          <a:xfrm>
            <a:off x="688658" y="1152144"/>
            <a:ext cx="10814378" cy="4224528"/>
          </a:xfrm>
          <a:prstGeom prst="rect">
            <a:avLst/>
          </a:prstGeom>
        </p:spPr>
      </p:pic>
      <p:sp>
        <p:nvSpPr>
          <p:cNvPr id="12" name="Rectangle 11"/>
          <p:cNvSpPr/>
          <p:nvPr/>
        </p:nvSpPr>
        <p:spPr>
          <a:xfrm>
            <a:off x="457200" y="5468112"/>
            <a:ext cx="11277295" cy="960120"/>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5468112"/>
            <a:ext cx="38404" cy="9601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8096" y="5513832"/>
            <a:ext cx="10710367" cy="201168"/>
          </a:xfrm>
          <a:prstGeom prst="rect">
            <a:avLst/>
          </a:prstGeom>
          <a:noFill/>
        </p:spPr>
        <p:txBody>
          <a:bodyPr wrap="square" lIns="0" tIns="0" rIns="0" bIns="0" anchor="ctr">
            <a:spAutoFit/>
          </a:bodyPr>
          <a:lstStyle/>
          <a:p>
            <a:pPr algn="l">
              <a:lnSpc>
                <a:spcPct val="115000"/>
              </a:lnSpc>
              <a:spcAft>
                <a:spcPts val="0"/>
              </a:spcAft>
            </a:pPr>
            <a:r>
              <a:rPr sz="1150" b="1">
                <a:solidFill>
                  <a:srgbClr val="1A1A1A"/>
                </a:solidFill>
                <a:latin typeface="Inter"/>
              </a:rPr>
              <a:t>The key takeaway</a:t>
            </a:r>
          </a:p>
        </p:txBody>
      </p:sp>
      <p:sp>
        <p:nvSpPr>
          <p:cNvPr id="15" name="TextBox 14"/>
          <p:cNvSpPr txBox="1"/>
          <p:nvPr/>
        </p:nvSpPr>
        <p:spPr>
          <a:xfrm>
            <a:off x="768096" y="5705856"/>
            <a:ext cx="10710367" cy="667512"/>
          </a:xfrm>
          <a:prstGeom prst="rect">
            <a:avLst/>
          </a:prstGeom>
          <a:noFill/>
        </p:spPr>
        <p:txBody>
          <a:bodyPr wrap="square" lIns="0" tIns="0" rIns="0" bIns="0" anchor="t">
            <a:spAutoFit/>
          </a:bodyPr>
          <a:lstStyle/>
          <a:p>
            <a:pPr algn="l">
              <a:lnSpc>
                <a:spcPct val="118000"/>
              </a:lnSpc>
              <a:spcAft>
                <a:spcPts val="0"/>
              </a:spcAft>
            </a:pPr>
            <a:r>
              <a:rPr sz="950" b="0">
                <a:solidFill>
                  <a:srgbClr val="4B5563"/>
                </a:solidFill>
                <a:latin typeface="Inter"/>
              </a:rPr>
              <a:t>The scorecard measures how the interaction was handled, while CSAT reflects the customer outcome. That is why QA is 94.14 while blended CSAT is 79.95%, with almost no relationship between them (R² = 0.023). Of 699 cases marked as not closed, 527 still followed process. The main barriers identified are policy and tools. The priority should therefore be fixing the contact reason, not only coaching agent behaviour.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What we will do next</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Connect QA with the customer outcome</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28</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pic>
        <p:nvPicPr>
          <p:cNvPr id="11" name="Picture 10" descr="flowchart.png"/>
          <p:cNvPicPr>
            <a:picLocks noChangeAspect="1"/>
          </p:cNvPicPr>
          <p:nvPr/>
        </p:nvPicPr>
        <p:blipFill>
          <a:blip r:embed="rId3"/>
          <a:stretch>
            <a:fillRect/>
          </a:stretch>
        </p:blipFill>
        <p:spPr>
          <a:xfrm>
            <a:off x="865841" y="1207008"/>
            <a:ext cx="10460012" cy="2697480"/>
          </a:xfrm>
          <a:prstGeom prst="rect">
            <a:avLst/>
          </a:prstGeom>
        </p:spPr>
      </p:pic>
      <p:sp>
        <p:nvSpPr>
          <p:cNvPr id="12" name="TextBox 11"/>
          <p:cNvSpPr txBox="1"/>
          <p:nvPr/>
        </p:nvSpPr>
        <p:spPr>
          <a:xfrm>
            <a:off x="457200" y="4005072"/>
            <a:ext cx="5669280" cy="219456"/>
          </a:xfrm>
          <a:prstGeom prst="rect">
            <a:avLst/>
          </a:prstGeom>
          <a:noFill/>
        </p:spPr>
        <p:txBody>
          <a:bodyPr wrap="square" lIns="0" tIns="0" rIns="0" bIns="0" anchor="t">
            <a:spAutoFit/>
          </a:bodyPr>
          <a:lstStyle/>
          <a:p>
            <a:pPr algn="l">
              <a:lnSpc>
                <a:spcPct val="115000"/>
              </a:lnSpc>
              <a:spcAft>
                <a:spcPts val="0"/>
              </a:spcAft>
            </a:pPr>
            <a:r>
              <a:rPr sz="1050" b="1">
                <a:solidFill>
                  <a:srgbClr val="1A1A1A"/>
                </a:solidFill>
                <a:latin typeface="Inter"/>
              </a:rPr>
              <a:t>What changes</a:t>
            </a:r>
          </a:p>
        </p:txBody>
      </p:sp>
      <p:sp>
        <p:nvSpPr>
          <p:cNvPr id="13" name="Rectangle 12"/>
          <p:cNvSpPr/>
          <p:nvPr/>
        </p:nvSpPr>
        <p:spPr>
          <a:xfrm>
            <a:off x="457200" y="438454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4944" y="4288536"/>
            <a:ext cx="5431536" cy="310896"/>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Report closure rate alongside QA by contact reason and sub-reason. Use the same status logic: 70%+ closure is green and 85%+ CSAT is green.</a:t>
            </a:r>
          </a:p>
        </p:txBody>
      </p:sp>
      <p:sp>
        <p:nvSpPr>
          <p:cNvPr id="15" name="Rectangle 14"/>
          <p:cNvSpPr/>
          <p:nvPr/>
        </p:nvSpPr>
        <p:spPr>
          <a:xfrm>
            <a:off x="457200" y="4847463"/>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4944" y="4751451"/>
            <a:ext cx="5431536" cy="310896"/>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Assign each improvement to the relevant contact reason. The Dissatisfaction_Owner field only appears in about 4% of audits, so it should not be used as the primary ownership map.</a:t>
            </a:r>
          </a:p>
        </p:txBody>
      </p:sp>
      <p:sp>
        <p:nvSpPr>
          <p:cNvPr id="17" name="Rectangle 16"/>
          <p:cNvSpPr/>
          <p:nvPr/>
        </p:nvSpPr>
        <p:spPr>
          <a:xfrm>
            <a:off x="457200" y="5310378"/>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 y="5214366"/>
            <a:ext cx="5431536" cy="310896"/>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Add correct information as a critical Chat attribute to improve measurement accuracy. Under this scoring, Chat QA would be 80.14. This improves the scorecard, but does not directly improve CSAT.</a:t>
            </a:r>
          </a:p>
        </p:txBody>
      </p:sp>
      <p:sp>
        <p:nvSpPr>
          <p:cNvPr id="19" name="Rectangle 18"/>
          <p:cNvSpPr/>
          <p:nvPr/>
        </p:nvSpPr>
        <p:spPr>
          <a:xfrm>
            <a:off x="457200" y="5773293"/>
            <a:ext cx="118872" cy="25603"/>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4944" y="5677280"/>
            <a:ext cx="5431536" cy="310896"/>
          </a:xfrm>
          <a:prstGeom prst="rect">
            <a:avLst/>
          </a:prstGeom>
          <a:noFill/>
        </p:spPr>
        <p:txBody>
          <a:bodyPr wrap="square" lIns="0" tIns="0" rIns="0" bIns="0" anchor="t">
            <a:spAutoFit/>
          </a:bodyPr>
          <a:lstStyle/>
          <a:p>
            <a:pPr algn="l">
              <a:lnSpc>
                <a:spcPct val="128000"/>
              </a:lnSpc>
              <a:spcAft>
                <a:spcPts val="0"/>
              </a:spcAft>
            </a:pPr>
            <a:r>
              <a:rPr sz="950" b="0">
                <a:solidFill>
                  <a:srgbClr val="4B5563"/>
                </a:solidFill>
                <a:latin typeface="Inter"/>
              </a:rPr>
              <a:t>Track the official CSAT for each targeted contact reason to measure whether the change is working.</a:t>
            </a:r>
          </a:p>
        </p:txBody>
      </p:sp>
      <p:sp>
        <p:nvSpPr>
          <p:cNvPr id="21" name="TextBox 20"/>
          <p:cNvSpPr txBox="1"/>
          <p:nvPr/>
        </p:nvSpPr>
        <p:spPr>
          <a:xfrm>
            <a:off x="6492240" y="4005072"/>
            <a:ext cx="5257800" cy="219456"/>
          </a:xfrm>
          <a:prstGeom prst="rect">
            <a:avLst/>
          </a:prstGeom>
          <a:noFill/>
        </p:spPr>
        <p:txBody>
          <a:bodyPr wrap="square" lIns="0" tIns="0" rIns="0" bIns="0" anchor="t">
            <a:spAutoFit/>
          </a:bodyPr>
          <a:lstStyle/>
          <a:p>
            <a:pPr algn="l">
              <a:lnSpc>
                <a:spcPct val="115000"/>
              </a:lnSpc>
              <a:spcAft>
                <a:spcPts val="0"/>
              </a:spcAft>
            </a:pPr>
            <a:r>
              <a:rPr sz="1050" b="1">
                <a:solidFill>
                  <a:srgbClr val="1A1A1A"/>
                </a:solidFill>
                <a:latin typeface="Inter"/>
              </a:rPr>
              <a:t>How we will know it worked</a:t>
            </a:r>
          </a:p>
        </p:txBody>
      </p:sp>
      <p:sp>
        <p:nvSpPr>
          <p:cNvPr id="22" name="Rectangle 21"/>
          <p:cNvSpPr/>
          <p:nvPr/>
        </p:nvSpPr>
        <p:spPr>
          <a:xfrm>
            <a:off x="6492240" y="4315968"/>
            <a:ext cx="5257800" cy="3291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20255" y="4315968"/>
            <a:ext cx="1755648" cy="329184"/>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Measure</a:t>
            </a:r>
          </a:p>
        </p:txBody>
      </p:sp>
      <p:sp>
        <p:nvSpPr>
          <p:cNvPr id="24" name="TextBox 23"/>
          <p:cNvSpPr txBox="1"/>
          <p:nvPr/>
        </p:nvSpPr>
        <p:spPr>
          <a:xfrm>
            <a:off x="8631936" y="4315968"/>
            <a:ext cx="704088" cy="32918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Today</a:t>
            </a:r>
          </a:p>
        </p:txBody>
      </p:sp>
      <p:sp>
        <p:nvSpPr>
          <p:cNvPr id="25" name="TextBox 24"/>
          <p:cNvSpPr txBox="1"/>
          <p:nvPr/>
        </p:nvSpPr>
        <p:spPr>
          <a:xfrm>
            <a:off x="9592056" y="4315968"/>
            <a:ext cx="704088" cy="329184"/>
          </a:xfrm>
          <a:prstGeom prst="rect">
            <a:avLst/>
          </a:prstGeom>
          <a:noFill/>
        </p:spPr>
        <p:txBody>
          <a:bodyPr wrap="square" lIns="0" tIns="0" rIns="0" bIns="0" anchor="ctr">
            <a:spAutoFit/>
          </a:bodyPr>
          <a:lstStyle/>
          <a:p>
            <a:pPr algn="r">
              <a:lnSpc>
                <a:spcPct val="115000"/>
              </a:lnSpc>
              <a:spcAft>
                <a:spcPts val="0"/>
              </a:spcAft>
            </a:pPr>
            <a:r>
              <a:rPr sz="850" b="1">
                <a:solidFill>
                  <a:srgbClr val="FFFFFF"/>
                </a:solidFill>
                <a:latin typeface="Inter"/>
              </a:rPr>
              <a:t>Target</a:t>
            </a:r>
          </a:p>
        </p:txBody>
      </p:sp>
      <p:sp>
        <p:nvSpPr>
          <p:cNvPr id="26" name="TextBox 25"/>
          <p:cNvSpPr txBox="1"/>
          <p:nvPr/>
        </p:nvSpPr>
        <p:spPr>
          <a:xfrm>
            <a:off x="10552176" y="4315968"/>
            <a:ext cx="1069848" cy="329184"/>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Horizon</a:t>
            </a:r>
          </a:p>
        </p:txBody>
      </p:sp>
      <p:sp>
        <p:nvSpPr>
          <p:cNvPr id="27" name="TextBox 26"/>
          <p:cNvSpPr txBox="1"/>
          <p:nvPr/>
        </p:nvSpPr>
        <p:spPr>
          <a:xfrm>
            <a:off x="6620255" y="4645152"/>
            <a:ext cx="1755648" cy="365760"/>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QA vs CSAT (R²)</a:t>
            </a:r>
          </a:p>
        </p:txBody>
      </p:sp>
      <p:sp>
        <p:nvSpPr>
          <p:cNvPr id="28" name="Rounded Rectangle 27"/>
          <p:cNvSpPr/>
          <p:nvPr/>
        </p:nvSpPr>
        <p:spPr>
          <a:xfrm>
            <a:off x="8567928" y="4703673"/>
            <a:ext cx="832104"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631936" y="4645152"/>
            <a:ext cx="704088" cy="365760"/>
          </a:xfrm>
          <a:prstGeom prst="rect">
            <a:avLst/>
          </a:prstGeom>
          <a:noFill/>
        </p:spPr>
        <p:txBody>
          <a:bodyPr wrap="square" lIns="0" tIns="0" rIns="0" bIns="0" anchor="ctr">
            <a:spAutoFit/>
          </a:bodyPr>
          <a:lstStyle/>
          <a:p>
            <a:pPr algn="r">
              <a:lnSpc>
                <a:spcPct val="115000"/>
              </a:lnSpc>
              <a:spcAft>
                <a:spcPts val="0"/>
              </a:spcAft>
            </a:pPr>
            <a:r>
              <a:rPr sz="819" b="1">
                <a:solidFill>
                  <a:srgbClr val="E11D2E"/>
                </a:solidFill>
                <a:latin typeface="Inter"/>
              </a:rPr>
              <a:t>R² 0.02</a:t>
            </a:r>
          </a:p>
        </p:txBody>
      </p:sp>
      <p:sp>
        <p:nvSpPr>
          <p:cNvPr id="30" name="TextBox 29"/>
          <p:cNvSpPr txBox="1"/>
          <p:nvPr/>
        </p:nvSpPr>
        <p:spPr>
          <a:xfrm>
            <a:off x="9592056" y="4645152"/>
            <a:ext cx="704088" cy="365760"/>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R² 0.25 or above</a:t>
            </a:r>
          </a:p>
        </p:txBody>
      </p:sp>
      <p:sp>
        <p:nvSpPr>
          <p:cNvPr id="31" name="TextBox 30"/>
          <p:cNvSpPr txBox="1"/>
          <p:nvPr/>
        </p:nvSpPr>
        <p:spPr>
          <a:xfrm>
            <a:off x="10552176" y="4645152"/>
            <a:ext cx="1069848" cy="365760"/>
          </a:xfrm>
          <a:prstGeom prst="rect">
            <a:avLst/>
          </a:prstGeom>
          <a:noFill/>
        </p:spPr>
        <p:txBody>
          <a:bodyPr wrap="square" lIns="0" tIns="0" rIns="0" bIns="0" anchor="ctr">
            <a:spAutoFit/>
          </a:bodyPr>
          <a:lstStyle/>
          <a:p>
            <a:pPr algn="l">
              <a:lnSpc>
                <a:spcPct val="115000"/>
              </a:lnSpc>
              <a:spcAft>
                <a:spcPts val="0"/>
              </a:spcAft>
            </a:pPr>
            <a:r>
              <a:rPr sz="819" b="0">
                <a:solidFill>
                  <a:srgbClr val="4B5563"/>
                </a:solidFill>
                <a:latin typeface="Inter"/>
              </a:rPr>
              <a:t>2 quarters</a:t>
            </a:r>
          </a:p>
        </p:txBody>
      </p:sp>
      <p:sp>
        <p:nvSpPr>
          <p:cNvPr id="32" name="Rectangle 31"/>
          <p:cNvSpPr/>
          <p:nvPr/>
        </p:nvSpPr>
        <p:spPr>
          <a:xfrm>
            <a:off x="6492240" y="500614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492240" y="5010912"/>
            <a:ext cx="5257800"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20255" y="5010912"/>
            <a:ext cx="1755648" cy="365760"/>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Close-rate vs CSAT (R²)</a:t>
            </a:r>
          </a:p>
        </p:txBody>
      </p:sp>
      <p:sp>
        <p:nvSpPr>
          <p:cNvPr id="35" name="Rounded Rectangle 34"/>
          <p:cNvSpPr/>
          <p:nvPr/>
        </p:nvSpPr>
        <p:spPr>
          <a:xfrm>
            <a:off x="8567928" y="5069433"/>
            <a:ext cx="832104" cy="248716"/>
          </a:xfrm>
          <a:prstGeom prst="roundRect">
            <a:avLst>
              <a:gd name="adj" fmla="val 18382"/>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631936" y="5010912"/>
            <a:ext cx="704088" cy="365760"/>
          </a:xfrm>
          <a:prstGeom prst="rect">
            <a:avLst/>
          </a:prstGeom>
          <a:noFill/>
        </p:spPr>
        <p:txBody>
          <a:bodyPr wrap="square" lIns="0" tIns="0" rIns="0" bIns="0" anchor="ctr">
            <a:spAutoFit/>
          </a:bodyPr>
          <a:lstStyle/>
          <a:p>
            <a:pPr algn="r">
              <a:lnSpc>
                <a:spcPct val="115000"/>
              </a:lnSpc>
              <a:spcAft>
                <a:spcPts val="0"/>
              </a:spcAft>
            </a:pPr>
            <a:r>
              <a:rPr sz="819" b="1">
                <a:solidFill>
                  <a:srgbClr val="16A34A"/>
                </a:solidFill>
                <a:latin typeface="Inter"/>
              </a:rPr>
              <a:t>R² 0.64</a:t>
            </a:r>
          </a:p>
        </p:txBody>
      </p:sp>
      <p:sp>
        <p:nvSpPr>
          <p:cNvPr id="37" name="TextBox 36"/>
          <p:cNvSpPr txBox="1"/>
          <p:nvPr/>
        </p:nvSpPr>
        <p:spPr>
          <a:xfrm>
            <a:off x="9592056" y="5010912"/>
            <a:ext cx="704088" cy="365760"/>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Keep 0.50 or above</a:t>
            </a:r>
          </a:p>
        </p:txBody>
      </p:sp>
      <p:sp>
        <p:nvSpPr>
          <p:cNvPr id="38" name="TextBox 37"/>
          <p:cNvSpPr txBox="1"/>
          <p:nvPr/>
        </p:nvSpPr>
        <p:spPr>
          <a:xfrm>
            <a:off x="10552176" y="5010912"/>
            <a:ext cx="1069848" cy="365760"/>
          </a:xfrm>
          <a:prstGeom prst="rect">
            <a:avLst/>
          </a:prstGeom>
          <a:noFill/>
        </p:spPr>
        <p:txBody>
          <a:bodyPr wrap="square" lIns="0" tIns="0" rIns="0" bIns="0" anchor="ctr">
            <a:spAutoFit/>
          </a:bodyPr>
          <a:lstStyle/>
          <a:p>
            <a:pPr algn="l">
              <a:lnSpc>
                <a:spcPct val="115000"/>
              </a:lnSpc>
              <a:spcAft>
                <a:spcPts val="0"/>
              </a:spcAft>
            </a:pPr>
            <a:r>
              <a:rPr sz="819" b="0">
                <a:solidFill>
                  <a:srgbClr val="4B5563"/>
                </a:solidFill>
                <a:latin typeface="Inter"/>
              </a:rPr>
              <a:t>ongoing</a:t>
            </a:r>
          </a:p>
        </p:txBody>
      </p:sp>
      <p:sp>
        <p:nvSpPr>
          <p:cNvPr id="39" name="Rectangle 38"/>
          <p:cNvSpPr/>
          <p:nvPr/>
        </p:nvSpPr>
        <p:spPr>
          <a:xfrm>
            <a:off x="6492240" y="537190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620255" y="5376672"/>
            <a:ext cx="1755648" cy="365760"/>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CSAT</a:t>
            </a:r>
          </a:p>
        </p:txBody>
      </p:sp>
      <p:sp>
        <p:nvSpPr>
          <p:cNvPr id="41" name="Rounded Rectangle 40"/>
          <p:cNvSpPr/>
          <p:nvPr/>
        </p:nvSpPr>
        <p:spPr>
          <a:xfrm>
            <a:off x="8567928" y="5435193"/>
            <a:ext cx="832104"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631936" y="5376672"/>
            <a:ext cx="704088" cy="365760"/>
          </a:xfrm>
          <a:prstGeom prst="rect">
            <a:avLst/>
          </a:prstGeom>
          <a:noFill/>
        </p:spPr>
        <p:txBody>
          <a:bodyPr wrap="square" lIns="0" tIns="0" rIns="0" bIns="0" anchor="ctr">
            <a:spAutoFit/>
          </a:bodyPr>
          <a:lstStyle/>
          <a:p>
            <a:pPr algn="r">
              <a:lnSpc>
                <a:spcPct val="115000"/>
              </a:lnSpc>
              <a:spcAft>
                <a:spcPts val="0"/>
              </a:spcAft>
            </a:pPr>
            <a:r>
              <a:rPr sz="819" b="1">
                <a:solidFill>
                  <a:srgbClr val="E11D2E"/>
                </a:solidFill>
                <a:latin typeface="Inter"/>
              </a:rPr>
              <a:t>79.95%</a:t>
            </a:r>
          </a:p>
        </p:txBody>
      </p:sp>
      <p:sp>
        <p:nvSpPr>
          <p:cNvPr id="43" name="TextBox 42"/>
          <p:cNvSpPr txBox="1"/>
          <p:nvPr/>
        </p:nvSpPr>
        <p:spPr>
          <a:xfrm>
            <a:off x="9592056" y="5376672"/>
            <a:ext cx="704088" cy="365760"/>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85.0%</a:t>
            </a:r>
          </a:p>
        </p:txBody>
      </p:sp>
      <p:sp>
        <p:nvSpPr>
          <p:cNvPr id="44" name="TextBox 43"/>
          <p:cNvSpPr txBox="1"/>
          <p:nvPr/>
        </p:nvSpPr>
        <p:spPr>
          <a:xfrm>
            <a:off x="10552176" y="5376672"/>
            <a:ext cx="1069848" cy="365760"/>
          </a:xfrm>
          <a:prstGeom prst="rect">
            <a:avLst/>
          </a:prstGeom>
          <a:noFill/>
        </p:spPr>
        <p:txBody>
          <a:bodyPr wrap="square" lIns="0" tIns="0" rIns="0" bIns="0" anchor="ctr">
            <a:spAutoFit/>
          </a:bodyPr>
          <a:lstStyle/>
          <a:p>
            <a:pPr algn="l">
              <a:lnSpc>
                <a:spcPct val="115000"/>
              </a:lnSpc>
              <a:spcAft>
                <a:spcPts val="0"/>
              </a:spcAft>
            </a:pPr>
            <a:r>
              <a:rPr sz="819" b="0">
                <a:solidFill>
                  <a:srgbClr val="4B5563"/>
                </a:solidFill>
                <a:latin typeface="Inter"/>
              </a:rPr>
              <a:t>2 quarters</a:t>
            </a:r>
          </a:p>
        </p:txBody>
      </p:sp>
      <p:sp>
        <p:nvSpPr>
          <p:cNvPr id="45" name="Rectangle 44"/>
          <p:cNvSpPr/>
          <p:nvPr/>
        </p:nvSpPr>
        <p:spPr>
          <a:xfrm>
            <a:off x="6492240" y="573766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492240" y="5742432"/>
            <a:ext cx="5257800" cy="36576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620255" y="5742432"/>
            <a:ext cx="1755648" cy="365760"/>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Recontact (human: Phone + Chat)</a:t>
            </a:r>
          </a:p>
        </p:txBody>
      </p:sp>
      <p:sp>
        <p:nvSpPr>
          <p:cNvPr id="48" name="Rounded Rectangle 47"/>
          <p:cNvSpPr/>
          <p:nvPr/>
        </p:nvSpPr>
        <p:spPr>
          <a:xfrm>
            <a:off x="8567928" y="5800953"/>
            <a:ext cx="832104" cy="248716"/>
          </a:xfrm>
          <a:prstGeom prst="roundRect">
            <a:avLst>
              <a:gd name="adj" fmla="val 18382"/>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631936" y="5742432"/>
            <a:ext cx="704088" cy="365760"/>
          </a:xfrm>
          <a:prstGeom prst="rect">
            <a:avLst/>
          </a:prstGeom>
          <a:noFill/>
        </p:spPr>
        <p:txBody>
          <a:bodyPr wrap="square" lIns="0" tIns="0" rIns="0" bIns="0" anchor="ctr">
            <a:spAutoFit/>
          </a:bodyPr>
          <a:lstStyle/>
          <a:p>
            <a:pPr algn="r">
              <a:lnSpc>
                <a:spcPct val="115000"/>
              </a:lnSpc>
              <a:spcAft>
                <a:spcPts val="0"/>
              </a:spcAft>
            </a:pPr>
            <a:r>
              <a:rPr sz="819" b="1">
                <a:solidFill>
                  <a:srgbClr val="E11D2E"/>
                </a:solidFill>
                <a:latin typeface="Inter"/>
              </a:rPr>
              <a:t>15.56%</a:t>
            </a:r>
          </a:p>
        </p:txBody>
      </p:sp>
      <p:sp>
        <p:nvSpPr>
          <p:cNvPr id="50" name="TextBox 49"/>
          <p:cNvSpPr txBox="1"/>
          <p:nvPr/>
        </p:nvSpPr>
        <p:spPr>
          <a:xfrm>
            <a:off x="9592056" y="5742432"/>
            <a:ext cx="704088" cy="365760"/>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10.0%</a:t>
            </a:r>
          </a:p>
        </p:txBody>
      </p:sp>
      <p:sp>
        <p:nvSpPr>
          <p:cNvPr id="51" name="TextBox 50"/>
          <p:cNvSpPr txBox="1"/>
          <p:nvPr/>
        </p:nvSpPr>
        <p:spPr>
          <a:xfrm>
            <a:off x="10552176" y="5742432"/>
            <a:ext cx="1069848" cy="365760"/>
          </a:xfrm>
          <a:prstGeom prst="rect">
            <a:avLst/>
          </a:prstGeom>
          <a:noFill/>
        </p:spPr>
        <p:txBody>
          <a:bodyPr wrap="square" lIns="0" tIns="0" rIns="0" bIns="0" anchor="ctr">
            <a:spAutoFit/>
          </a:bodyPr>
          <a:lstStyle/>
          <a:p>
            <a:pPr algn="l">
              <a:lnSpc>
                <a:spcPct val="115000"/>
              </a:lnSpc>
              <a:spcAft>
                <a:spcPts val="0"/>
              </a:spcAft>
            </a:pPr>
            <a:r>
              <a:rPr sz="819" b="0">
                <a:solidFill>
                  <a:srgbClr val="4B5563"/>
                </a:solidFill>
                <a:latin typeface="Inter"/>
              </a:rPr>
              <a:t>1 quarter</a:t>
            </a:r>
          </a:p>
        </p:txBody>
      </p:sp>
      <p:sp>
        <p:nvSpPr>
          <p:cNvPr id="52" name="Rectangle 51"/>
          <p:cNvSpPr/>
          <p:nvPr/>
        </p:nvSpPr>
        <p:spPr>
          <a:xfrm>
            <a:off x="6492240" y="610342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620255" y="6108192"/>
            <a:ext cx="1755648" cy="365760"/>
          </a:xfrm>
          <a:prstGeom prst="rect">
            <a:avLst/>
          </a:prstGeom>
          <a:noFill/>
        </p:spPr>
        <p:txBody>
          <a:bodyPr wrap="square" lIns="0" tIns="0" rIns="0" bIns="0" anchor="ctr">
            <a:spAutoFit/>
          </a:bodyPr>
          <a:lstStyle/>
          <a:p>
            <a:pPr algn="l">
              <a:lnSpc>
                <a:spcPct val="115000"/>
              </a:lnSpc>
              <a:spcAft>
                <a:spcPts val="0"/>
              </a:spcAft>
            </a:pPr>
            <a:r>
              <a:rPr sz="819" b="1">
                <a:solidFill>
                  <a:srgbClr val="1A1A1A"/>
                </a:solidFill>
                <a:latin typeface="Inter"/>
              </a:rPr>
              <a:t>Phone share of audits</a:t>
            </a:r>
          </a:p>
        </p:txBody>
      </p:sp>
      <p:sp>
        <p:nvSpPr>
          <p:cNvPr id="54" name="Rounded Rectangle 53"/>
          <p:cNvSpPr/>
          <p:nvPr/>
        </p:nvSpPr>
        <p:spPr>
          <a:xfrm>
            <a:off x="8567928" y="6166713"/>
            <a:ext cx="832104" cy="248716"/>
          </a:xfrm>
          <a:prstGeom prst="roundRect">
            <a:avLst>
              <a:gd name="adj" fmla="val 18382"/>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631936" y="6108192"/>
            <a:ext cx="704088" cy="365760"/>
          </a:xfrm>
          <a:prstGeom prst="rect">
            <a:avLst/>
          </a:prstGeom>
          <a:noFill/>
        </p:spPr>
        <p:txBody>
          <a:bodyPr wrap="square" lIns="0" tIns="0" rIns="0" bIns="0" anchor="ctr">
            <a:spAutoFit/>
          </a:bodyPr>
          <a:lstStyle/>
          <a:p>
            <a:pPr algn="r">
              <a:lnSpc>
                <a:spcPct val="115000"/>
              </a:lnSpc>
              <a:spcAft>
                <a:spcPts val="0"/>
              </a:spcAft>
            </a:pPr>
            <a:r>
              <a:rPr sz="819" b="1">
                <a:solidFill>
                  <a:srgbClr val="F59E0B"/>
                </a:solidFill>
                <a:latin typeface="Inter"/>
              </a:rPr>
              <a:t>14.4%</a:t>
            </a:r>
          </a:p>
        </p:txBody>
      </p:sp>
      <p:sp>
        <p:nvSpPr>
          <p:cNvPr id="56" name="TextBox 55"/>
          <p:cNvSpPr txBox="1"/>
          <p:nvPr/>
        </p:nvSpPr>
        <p:spPr>
          <a:xfrm>
            <a:off x="9592056" y="6108192"/>
            <a:ext cx="704088" cy="365760"/>
          </a:xfrm>
          <a:prstGeom prst="rect">
            <a:avLst/>
          </a:prstGeom>
          <a:noFill/>
        </p:spPr>
        <p:txBody>
          <a:bodyPr wrap="square" lIns="0" tIns="0" rIns="0" bIns="0" anchor="ctr">
            <a:spAutoFit/>
          </a:bodyPr>
          <a:lstStyle/>
          <a:p>
            <a:pPr algn="r">
              <a:lnSpc>
                <a:spcPct val="115000"/>
              </a:lnSpc>
              <a:spcAft>
                <a:spcPts val="0"/>
              </a:spcAft>
            </a:pPr>
            <a:r>
              <a:rPr sz="819" b="0">
                <a:solidFill>
                  <a:srgbClr val="4B5563"/>
                </a:solidFill>
                <a:latin typeface="Inter"/>
              </a:rPr>
              <a:t>30%</a:t>
            </a:r>
          </a:p>
        </p:txBody>
      </p:sp>
      <p:sp>
        <p:nvSpPr>
          <p:cNvPr id="57" name="TextBox 56"/>
          <p:cNvSpPr txBox="1"/>
          <p:nvPr/>
        </p:nvSpPr>
        <p:spPr>
          <a:xfrm>
            <a:off x="10552176" y="6108192"/>
            <a:ext cx="1069848" cy="365760"/>
          </a:xfrm>
          <a:prstGeom prst="rect">
            <a:avLst/>
          </a:prstGeom>
          <a:noFill/>
        </p:spPr>
        <p:txBody>
          <a:bodyPr wrap="square" lIns="0" tIns="0" rIns="0" bIns="0" anchor="ctr">
            <a:spAutoFit/>
          </a:bodyPr>
          <a:lstStyle/>
          <a:p>
            <a:pPr algn="l">
              <a:lnSpc>
                <a:spcPct val="115000"/>
              </a:lnSpc>
              <a:spcAft>
                <a:spcPts val="0"/>
              </a:spcAft>
            </a:pPr>
            <a:r>
              <a:rPr sz="819" b="0">
                <a:solidFill>
                  <a:srgbClr val="4B5563"/>
                </a:solidFill>
                <a:latin typeface="Inter"/>
              </a:rPr>
              <a:t>1 month</a:t>
            </a:r>
          </a:p>
        </p:txBody>
      </p:sp>
      <p:sp>
        <p:nvSpPr>
          <p:cNvPr id="58" name="Rectangle 57"/>
          <p:cNvSpPr/>
          <p:nvPr/>
        </p:nvSpPr>
        <p:spPr>
          <a:xfrm>
            <a:off x="6492240" y="6469189"/>
            <a:ext cx="5257800"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2148840"/>
            <a:ext cx="2743200" cy="1005840"/>
          </a:xfrm>
          <a:prstGeom prst="rect">
            <a:avLst/>
          </a:prstGeom>
          <a:noFill/>
        </p:spPr>
        <p:txBody>
          <a:bodyPr wrap="square" lIns="0" tIns="0" rIns="0" bIns="0" anchor="t">
            <a:spAutoFit/>
          </a:bodyPr>
          <a:lstStyle/>
          <a:p>
            <a:pPr algn="l">
              <a:lnSpc>
                <a:spcPct val="115000"/>
              </a:lnSpc>
              <a:spcAft>
                <a:spcPts val="0"/>
              </a:spcAft>
            </a:pPr>
            <a:r>
              <a:rPr sz="6400" b="1">
                <a:solidFill>
                  <a:srgbClr val="FF6600"/>
                </a:solidFill>
                <a:latin typeface="Inter"/>
              </a:rPr>
              <a:t>06</a:t>
            </a:r>
          </a:p>
        </p:txBody>
      </p:sp>
      <p:sp>
        <p:nvSpPr>
          <p:cNvPr id="5" name="TextBox 4"/>
          <p:cNvSpPr txBox="1"/>
          <p:nvPr/>
        </p:nvSpPr>
        <p:spPr>
          <a:xfrm>
            <a:off x="1188720" y="3246120"/>
            <a:ext cx="8686800" cy="548640"/>
          </a:xfrm>
          <a:prstGeom prst="rect">
            <a:avLst/>
          </a:prstGeom>
          <a:noFill/>
        </p:spPr>
        <p:txBody>
          <a:bodyPr wrap="square" lIns="0" tIns="0" rIns="0" bIns="0" anchor="t">
            <a:spAutoFit/>
          </a:bodyPr>
          <a:lstStyle/>
          <a:p>
            <a:pPr algn="l">
              <a:lnSpc>
                <a:spcPct val="115000"/>
              </a:lnSpc>
              <a:spcAft>
                <a:spcPts val="0"/>
              </a:spcAft>
            </a:pPr>
            <a:r>
              <a:rPr sz="3000" b="1">
                <a:solidFill>
                  <a:srgbClr val="FFFFFF"/>
                </a:solidFill>
                <a:latin typeface="Inter"/>
              </a:rPr>
              <a:t>Action plans</a:t>
            </a:r>
          </a:p>
        </p:txBody>
      </p:sp>
      <p:sp>
        <p:nvSpPr>
          <p:cNvPr id="6" name="Rectangle 5"/>
          <p:cNvSpPr/>
          <p:nvPr/>
        </p:nvSpPr>
        <p:spPr>
          <a:xfrm>
            <a:off x="1188720" y="3931920"/>
            <a:ext cx="914400" cy="3200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4187952"/>
            <a:ext cx="7863840" cy="822960"/>
          </a:xfrm>
          <a:prstGeom prst="rect">
            <a:avLst/>
          </a:prstGeom>
          <a:noFill/>
        </p:spPr>
        <p:txBody>
          <a:bodyPr wrap="square" lIns="0" tIns="0" rIns="0" bIns="0" anchor="t">
            <a:spAutoFit/>
          </a:bodyPr>
          <a:lstStyle/>
          <a:p>
            <a:pPr algn="l">
              <a:lnSpc>
                <a:spcPct val="140000"/>
              </a:lnSpc>
              <a:spcAft>
                <a:spcPts val="0"/>
              </a:spcAft>
            </a:pPr>
            <a:r>
              <a:rPr sz="1300" b="0">
                <a:solidFill>
                  <a:srgbClr val="C9CCD1"/>
                </a:solidFill>
                <a:latin typeface="Inter"/>
              </a:rPr>
              <a:t>What must change. Who owns it. When it lands.</a:t>
            </a:r>
          </a:p>
        </p:txBody>
      </p:sp>
      <p:pic>
        <p:nvPicPr>
          <p:cNvPr id="8" name="Picture 7" descr="didi_mark_orange.png"/>
          <p:cNvPicPr>
            <a:picLocks noChangeAspect="1"/>
          </p:cNvPicPr>
          <p:nvPr/>
        </p:nvPicPr>
        <p:blipFill>
          <a:blip r:embed="rId2"/>
          <a:stretch>
            <a:fillRect/>
          </a:stretch>
        </p:blipFill>
        <p:spPr>
          <a:xfrm>
            <a:off x="10957255" y="5806440"/>
            <a:ext cx="384048" cy="384048"/>
          </a:xfrm>
          <a:prstGeom prst="rect">
            <a:avLst/>
          </a:prstGeom>
        </p:spPr>
      </p:pic>
      <p:sp>
        <p:nvSpPr>
          <p:cNvPr id="9" name="TextBox 8"/>
          <p:cNvSpPr txBox="1"/>
          <p:nvPr/>
        </p:nvSpPr>
        <p:spPr>
          <a:xfrm>
            <a:off x="11414455" y="5806440"/>
            <a:ext cx="914400" cy="384048"/>
          </a:xfrm>
          <a:prstGeom prst="rect">
            <a:avLst/>
          </a:prstGeom>
          <a:noFill/>
        </p:spPr>
        <p:txBody>
          <a:bodyPr wrap="square" lIns="0" tIns="0" rIns="0" bIns="0" anchor="ctr">
            <a:spAutoFit/>
          </a:bodyPr>
          <a:lstStyle/>
          <a:p>
            <a:pPr algn="l">
              <a:lnSpc>
                <a:spcPct val="115000"/>
              </a:lnSpc>
              <a:spcAft>
                <a:spcPts val="0"/>
              </a:spcAft>
            </a:pPr>
            <a:r>
              <a:rPr sz="1500" b="1">
                <a:solidFill>
                  <a:srgbClr val="FFFFFF"/>
                </a:solidFill>
                <a:latin typeface="Inter"/>
              </a:rPr>
              <a:t>DiDi</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Action plan by Business Type</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Delivery is the only line of business in the data. Plans are cut by Business Type.</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30</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ectangle 10"/>
          <p:cNvSpPr/>
          <p:nvPr/>
        </p:nvSpPr>
        <p:spPr>
          <a:xfrm>
            <a:off x="457200" y="1207008"/>
            <a:ext cx="11274552" cy="38404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207008"/>
            <a:ext cx="1115568" cy="384048"/>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Business Type</a:t>
            </a:r>
          </a:p>
        </p:txBody>
      </p:sp>
      <p:sp>
        <p:nvSpPr>
          <p:cNvPr id="13" name="TextBox 12"/>
          <p:cNvSpPr txBox="1"/>
          <p:nvPr/>
        </p:nvSpPr>
        <p:spPr>
          <a:xfrm>
            <a:off x="1956816" y="1207008"/>
            <a:ext cx="2898648" cy="384048"/>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Evidence</a:t>
            </a:r>
          </a:p>
        </p:txBody>
      </p:sp>
      <p:sp>
        <p:nvSpPr>
          <p:cNvPr id="14" name="TextBox 13"/>
          <p:cNvSpPr txBox="1"/>
          <p:nvPr/>
        </p:nvSpPr>
        <p:spPr>
          <a:xfrm>
            <a:off x="5111496" y="1207008"/>
            <a:ext cx="2761487" cy="384048"/>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What must change</a:t>
            </a:r>
          </a:p>
        </p:txBody>
      </p:sp>
      <p:sp>
        <p:nvSpPr>
          <p:cNvPr id="15" name="TextBox 14"/>
          <p:cNvSpPr txBox="1"/>
          <p:nvPr/>
        </p:nvSpPr>
        <p:spPr>
          <a:xfrm>
            <a:off x="8129016" y="1207008"/>
            <a:ext cx="1207008" cy="384048"/>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Who</a:t>
            </a:r>
          </a:p>
        </p:txBody>
      </p:sp>
      <p:sp>
        <p:nvSpPr>
          <p:cNvPr id="16" name="TextBox 15"/>
          <p:cNvSpPr txBox="1"/>
          <p:nvPr/>
        </p:nvSpPr>
        <p:spPr>
          <a:xfrm>
            <a:off x="9592056" y="1207008"/>
            <a:ext cx="594360" cy="384048"/>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When</a:t>
            </a:r>
          </a:p>
        </p:txBody>
      </p:sp>
      <p:sp>
        <p:nvSpPr>
          <p:cNvPr id="17" name="TextBox 16"/>
          <p:cNvSpPr txBox="1"/>
          <p:nvPr/>
        </p:nvSpPr>
        <p:spPr>
          <a:xfrm>
            <a:off x="10442448" y="1207008"/>
            <a:ext cx="1161288" cy="384048"/>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Problem severity</a:t>
            </a:r>
          </a:p>
        </p:txBody>
      </p:sp>
      <p:sp>
        <p:nvSpPr>
          <p:cNvPr id="18" name="TextBox 17"/>
          <p:cNvSpPr txBox="1"/>
          <p:nvPr/>
        </p:nvSpPr>
        <p:spPr>
          <a:xfrm>
            <a:off x="585216" y="1591056"/>
            <a:ext cx="1115568" cy="78638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Food</a:t>
            </a:r>
          </a:p>
        </p:txBody>
      </p:sp>
      <p:sp>
        <p:nvSpPr>
          <p:cNvPr id="19" name="TextBox 18"/>
          <p:cNvSpPr txBox="1"/>
          <p:nvPr/>
        </p:nvSpPr>
        <p:spPr>
          <a:xfrm>
            <a:off x="1956816" y="1591056"/>
            <a:ext cx="289864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CSAT 80.74% on 46,071 surveys; order status repeats at 19.34%</a:t>
            </a:r>
          </a:p>
        </p:txBody>
      </p:sp>
      <p:sp>
        <p:nvSpPr>
          <p:cNvPr id="20" name="TextBox 19"/>
          <p:cNvSpPr txBox="1"/>
          <p:nvPr/>
        </p:nvSpPr>
        <p:spPr>
          <a:xfrm>
            <a:off x="5111496" y="1591056"/>
            <a:ext cx="2761487"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Add a live courier ETA to the agent console so customers receive a verifiable status.</a:t>
            </a:r>
          </a:p>
        </p:txBody>
      </p:sp>
      <p:sp>
        <p:nvSpPr>
          <p:cNvPr id="21" name="TextBox 20"/>
          <p:cNvSpPr txBox="1"/>
          <p:nvPr/>
        </p:nvSpPr>
        <p:spPr>
          <a:xfrm>
            <a:off x="8129016" y="1591056"/>
            <a:ext cx="120700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CX Ops + Product</a:t>
            </a:r>
          </a:p>
        </p:txBody>
      </p:sp>
      <p:sp>
        <p:nvSpPr>
          <p:cNvPr id="22" name="TextBox 21"/>
          <p:cNvSpPr txBox="1"/>
          <p:nvPr/>
        </p:nvSpPr>
        <p:spPr>
          <a:xfrm>
            <a:off x="9592056" y="1591056"/>
            <a:ext cx="594360"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30 Jun</a:t>
            </a:r>
          </a:p>
        </p:txBody>
      </p:sp>
      <p:sp>
        <p:nvSpPr>
          <p:cNvPr id="23" name="Rounded Rectangle 22"/>
          <p:cNvSpPr/>
          <p:nvPr/>
        </p:nvSpPr>
        <p:spPr>
          <a:xfrm>
            <a:off x="10442448" y="184708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552176" y="1933955"/>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716768" y="1847088"/>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Critical</a:t>
            </a:r>
          </a:p>
        </p:txBody>
      </p:sp>
      <p:sp>
        <p:nvSpPr>
          <p:cNvPr id="26" name="Rectangle 25"/>
          <p:cNvSpPr/>
          <p:nvPr/>
        </p:nvSpPr>
        <p:spPr>
          <a:xfrm>
            <a:off x="457200" y="2372677"/>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2377440"/>
            <a:ext cx="11274552" cy="78638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85216" y="2377440"/>
            <a:ext cx="1115568" cy="78638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Full Service</a:t>
            </a:r>
          </a:p>
        </p:txBody>
      </p:sp>
      <p:sp>
        <p:nvSpPr>
          <p:cNvPr id="29" name="TextBox 28"/>
          <p:cNvSpPr txBox="1"/>
          <p:nvPr/>
        </p:nvSpPr>
        <p:spPr>
          <a:xfrm>
            <a:off x="1956816" y="2377440"/>
            <a:ext cx="289864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CSAT 79.67%, the lowest of the volume lines; undelivered orders audit at 68.2 on 49 audits</a:t>
            </a:r>
          </a:p>
        </p:txBody>
      </p:sp>
      <p:sp>
        <p:nvSpPr>
          <p:cNvPr id="30" name="TextBox 29"/>
          <p:cNvSpPr txBox="1"/>
          <p:nvPr/>
        </p:nvSpPr>
        <p:spPr>
          <a:xfrm>
            <a:off x="5111496" y="2377440"/>
            <a:ext cx="2761487"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Give Phone agents limited same-call refund authority for eligible undelivered orders</a:t>
            </a:r>
          </a:p>
        </p:txBody>
      </p:sp>
      <p:sp>
        <p:nvSpPr>
          <p:cNvPr id="31" name="TextBox 30"/>
          <p:cNvSpPr txBox="1"/>
          <p:nvPr/>
        </p:nvSpPr>
        <p:spPr>
          <a:xfrm>
            <a:off x="8129016" y="2377440"/>
            <a:ext cx="120700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CX Ops + Finance</a:t>
            </a:r>
          </a:p>
        </p:txBody>
      </p:sp>
      <p:sp>
        <p:nvSpPr>
          <p:cNvPr id="32" name="TextBox 31"/>
          <p:cNvSpPr txBox="1"/>
          <p:nvPr/>
        </p:nvSpPr>
        <p:spPr>
          <a:xfrm>
            <a:off x="9592056" y="2377440"/>
            <a:ext cx="594360"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15 Jul</a:t>
            </a:r>
          </a:p>
        </p:txBody>
      </p:sp>
      <p:sp>
        <p:nvSpPr>
          <p:cNvPr id="33" name="Rounded Rectangle 32"/>
          <p:cNvSpPr/>
          <p:nvPr/>
        </p:nvSpPr>
        <p:spPr>
          <a:xfrm>
            <a:off x="10442448" y="2633472"/>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2176" y="2720340"/>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716768" y="2633472"/>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Critical</a:t>
            </a:r>
          </a:p>
        </p:txBody>
      </p:sp>
      <p:sp>
        <p:nvSpPr>
          <p:cNvPr id="36" name="Rectangle 35"/>
          <p:cNvSpPr/>
          <p:nvPr/>
        </p:nvSpPr>
        <p:spPr>
          <a:xfrm>
            <a:off x="457200" y="3159061"/>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85216" y="3163824"/>
            <a:ext cx="1115568" cy="78638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Market Place</a:t>
            </a:r>
          </a:p>
        </p:txBody>
      </p:sp>
      <p:sp>
        <p:nvSpPr>
          <p:cNvPr id="38" name="TextBox 37"/>
          <p:cNvSpPr txBox="1"/>
          <p:nvPr/>
        </p:nvSpPr>
        <p:spPr>
          <a:xfrm>
            <a:off x="1956816" y="3163824"/>
            <a:ext cx="289864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CSAT 80.34% on 3,489 surveys; worst Phone QA reason (47.5) but on only 4 audits</a:t>
            </a:r>
          </a:p>
        </p:txBody>
      </p:sp>
      <p:sp>
        <p:nvSpPr>
          <p:cNvPr id="39" name="TextBox 38"/>
          <p:cNvSpPr txBox="1"/>
          <p:nvPr/>
        </p:nvSpPr>
        <p:spPr>
          <a:xfrm>
            <a:off x="5111496" y="3163824"/>
            <a:ext cx="2761487"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Define a clear merchant-escalation SLA and script for “completed but not received.” Low confidence: run 20+ audits on this reason before committing merchant-side resources</a:t>
            </a:r>
          </a:p>
        </p:txBody>
      </p:sp>
      <p:sp>
        <p:nvSpPr>
          <p:cNvPr id="40" name="TextBox 39"/>
          <p:cNvSpPr txBox="1"/>
          <p:nvPr/>
        </p:nvSpPr>
        <p:spPr>
          <a:xfrm>
            <a:off x="8129016" y="3163824"/>
            <a:ext cx="120700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Merchant Ops</a:t>
            </a:r>
          </a:p>
        </p:txBody>
      </p:sp>
      <p:sp>
        <p:nvSpPr>
          <p:cNvPr id="41" name="TextBox 40"/>
          <p:cNvSpPr txBox="1"/>
          <p:nvPr/>
        </p:nvSpPr>
        <p:spPr>
          <a:xfrm>
            <a:off x="9592056" y="3163824"/>
            <a:ext cx="594360"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15 Jul</a:t>
            </a:r>
          </a:p>
        </p:txBody>
      </p:sp>
      <p:sp>
        <p:nvSpPr>
          <p:cNvPr id="42" name="Rounded Rectangle 41"/>
          <p:cNvSpPr/>
          <p:nvPr/>
        </p:nvSpPr>
        <p:spPr>
          <a:xfrm>
            <a:off x="10442448" y="3419856"/>
            <a:ext cx="630021"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0552176" y="3506724"/>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716768" y="3419856"/>
            <a:ext cx="319125" cy="274320"/>
          </a:xfrm>
          <a:prstGeom prst="rect">
            <a:avLst/>
          </a:prstGeom>
          <a:noFill/>
        </p:spPr>
        <p:txBody>
          <a:bodyPr wrap="square" lIns="0" tIns="0" rIns="0" bIns="0" anchor="ctr">
            <a:spAutoFit/>
          </a:bodyPr>
          <a:lstStyle/>
          <a:p>
            <a:pPr algn="l">
              <a:lnSpc>
                <a:spcPct val="115000"/>
              </a:lnSpc>
              <a:spcAft>
                <a:spcPts val="0"/>
              </a:spcAft>
            </a:pPr>
            <a:r>
              <a:rPr sz="750" b="1">
                <a:solidFill>
                  <a:srgbClr val="F59E0B"/>
                </a:solidFill>
                <a:latin typeface="Inter"/>
              </a:rPr>
              <a:t>High</a:t>
            </a:r>
          </a:p>
        </p:txBody>
      </p:sp>
      <p:sp>
        <p:nvSpPr>
          <p:cNvPr id="45" name="Rectangle 44"/>
          <p:cNvSpPr/>
          <p:nvPr/>
        </p:nvSpPr>
        <p:spPr>
          <a:xfrm>
            <a:off x="457200" y="394544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 y="3950208"/>
            <a:ext cx="11274552" cy="786384"/>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85216" y="3950208"/>
            <a:ext cx="1115568" cy="78638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All Business Types</a:t>
            </a:r>
          </a:p>
        </p:txBody>
      </p:sp>
      <p:sp>
        <p:nvSpPr>
          <p:cNvPr id="48" name="TextBox 47"/>
          <p:cNvSpPr txBox="1"/>
          <p:nvPr/>
        </p:nvSpPr>
        <p:spPr>
          <a:xfrm>
            <a:off x="1956816" y="3950208"/>
            <a:ext cx="289864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Refund or compensation not received is 18.8% of negative verbatims</a:t>
            </a:r>
          </a:p>
        </p:txBody>
      </p:sp>
      <p:sp>
        <p:nvSpPr>
          <p:cNvPr id="49" name="TextBox 48"/>
          <p:cNvSpPr txBox="1"/>
          <p:nvPr/>
        </p:nvSpPr>
        <p:spPr>
          <a:xfrm>
            <a:off x="5111496" y="3950208"/>
            <a:ext cx="2761487"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Send an automatic notification whenever refund status changes</a:t>
            </a:r>
          </a:p>
        </p:txBody>
      </p:sp>
      <p:sp>
        <p:nvSpPr>
          <p:cNvPr id="50" name="TextBox 49"/>
          <p:cNvSpPr txBox="1"/>
          <p:nvPr/>
        </p:nvSpPr>
        <p:spPr>
          <a:xfrm>
            <a:off x="8129016" y="3950208"/>
            <a:ext cx="120700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Product + CX Ops</a:t>
            </a:r>
          </a:p>
        </p:txBody>
      </p:sp>
      <p:sp>
        <p:nvSpPr>
          <p:cNvPr id="51" name="TextBox 50"/>
          <p:cNvSpPr txBox="1"/>
          <p:nvPr/>
        </p:nvSpPr>
        <p:spPr>
          <a:xfrm>
            <a:off x="9592056" y="3950208"/>
            <a:ext cx="594360"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31 Jul</a:t>
            </a:r>
          </a:p>
        </p:txBody>
      </p:sp>
      <p:sp>
        <p:nvSpPr>
          <p:cNvPr id="52" name="Rounded Rectangle 51"/>
          <p:cNvSpPr/>
          <p:nvPr/>
        </p:nvSpPr>
        <p:spPr>
          <a:xfrm>
            <a:off x="10442448" y="4206240"/>
            <a:ext cx="630021"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0552176" y="4293108"/>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716768" y="4206240"/>
            <a:ext cx="319125" cy="274320"/>
          </a:xfrm>
          <a:prstGeom prst="rect">
            <a:avLst/>
          </a:prstGeom>
          <a:noFill/>
        </p:spPr>
        <p:txBody>
          <a:bodyPr wrap="square" lIns="0" tIns="0" rIns="0" bIns="0" anchor="ctr">
            <a:spAutoFit/>
          </a:bodyPr>
          <a:lstStyle/>
          <a:p>
            <a:pPr algn="l">
              <a:lnSpc>
                <a:spcPct val="115000"/>
              </a:lnSpc>
              <a:spcAft>
                <a:spcPts val="0"/>
              </a:spcAft>
            </a:pPr>
            <a:r>
              <a:rPr sz="750" b="1">
                <a:solidFill>
                  <a:srgbClr val="F59E0B"/>
                </a:solidFill>
                <a:latin typeface="Inter"/>
              </a:rPr>
              <a:t>High</a:t>
            </a:r>
          </a:p>
        </p:txBody>
      </p:sp>
      <p:sp>
        <p:nvSpPr>
          <p:cNvPr id="55" name="Rectangle 54"/>
          <p:cNvSpPr/>
          <p:nvPr/>
        </p:nvSpPr>
        <p:spPr>
          <a:xfrm>
            <a:off x="457200" y="4731829"/>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85216" y="4736592"/>
            <a:ext cx="1115568" cy="786384"/>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Data quality</a:t>
            </a:r>
          </a:p>
        </p:txBody>
      </p:sp>
      <p:sp>
        <p:nvSpPr>
          <p:cNvPr id="57" name="TextBox 56"/>
          <p:cNvSpPr txBox="1"/>
          <p:nvPr/>
        </p:nvSpPr>
        <p:spPr>
          <a:xfrm>
            <a:off x="1956816" y="4736592"/>
            <a:ext cx="289864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'Other' Business Type holds 558 surveys at 26.5% CSAT</a:t>
            </a:r>
          </a:p>
        </p:txBody>
      </p:sp>
      <p:sp>
        <p:nvSpPr>
          <p:cNvPr id="58" name="TextBox 57"/>
          <p:cNvSpPr txBox="1"/>
          <p:nvPr/>
        </p:nvSpPr>
        <p:spPr>
          <a:xfrm>
            <a:off x="5111496" y="4736592"/>
            <a:ext cx="2761487"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Fix the CR-to-Business-Type mapping so detractors are correctly classified</a:t>
            </a:r>
          </a:p>
        </p:txBody>
      </p:sp>
      <p:sp>
        <p:nvSpPr>
          <p:cNvPr id="59" name="TextBox 58"/>
          <p:cNvSpPr txBox="1"/>
          <p:nvPr/>
        </p:nvSpPr>
        <p:spPr>
          <a:xfrm>
            <a:off x="8129016" y="4736592"/>
            <a:ext cx="1207008"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CX Analytics</a:t>
            </a:r>
          </a:p>
        </p:txBody>
      </p:sp>
      <p:sp>
        <p:nvSpPr>
          <p:cNvPr id="60" name="TextBox 59"/>
          <p:cNvSpPr txBox="1"/>
          <p:nvPr/>
        </p:nvSpPr>
        <p:spPr>
          <a:xfrm>
            <a:off x="9592056" y="4736592"/>
            <a:ext cx="594360" cy="786384"/>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20 Jun</a:t>
            </a:r>
          </a:p>
        </p:txBody>
      </p:sp>
      <p:sp>
        <p:nvSpPr>
          <p:cNvPr id="61" name="Rounded Rectangle 60"/>
          <p:cNvSpPr/>
          <p:nvPr/>
        </p:nvSpPr>
        <p:spPr>
          <a:xfrm>
            <a:off x="10442448" y="4992624"/>
            <a:ext cx="857707"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10552176" y="5079492"/>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716768" y="4992624"/>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16A34A"/>
                </a:solidFill>
                <a:latin typeface="Inter"/>
              </a:rPr>
              <a:t>Moderate</a:t>
            </a:r>
          </a:p>
        </p:txBody>
      </p:sp>
      <p:sp>
        <p:nvSpPr>
          <p:cNvPr id="64" name="Rectangle 63"/>
          <p:cNvSpPr/>
          <p:nvPr/>
        </p:nvSpPr>
        <p:spPr>
          <a:xfrm>
            <a:off x="457200" y="5518213"/>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760720"/>
            <a:ext cx="11277295" cy="219456"/>
          </a:xfrm>
          <a:prstGeom prst="rect">
            <a:avLst/>
          </a:prstGeom>
          <a:noFill/>
        </p:spPr>
        <p:txBody>
          <a:bodyPr wrap="square" lIns="0" tIns="0" rIns="0" bIns="0" anchor="t">
            <a:spAutoFit/>
          </a:bodyPr>
          <a:lstStyle/>
          <a:p>
            <a:pPr algn="l">
              <a:lnSpc>
                <a:spcPct val="115000"/>
              </a:lnSpc>
              <a:spcAft>
                <a:spcPts val="0"/>
              </a:spcAft>
            </a:pPr>
            <a:r>
              <a:rPr sz="900" b="0">
                <a:solidFill>
                  <a:srgbClr val="6B7280"/>
                </a:solidFill>
                <a:latin typeface="Inter"/>
              </a:rPr>
              <a:t>Severity rates how large the gap is. None of these actions has started yet.</a:t>
            </a:r>
          </a:p>
        </p:txBody>
      </p:sp>
      <p:sp>
        <p:nvSpPr>
          <p:cNvPr id="66" name="TextBox 65"/>
          <p:cNvSpPr txBox="1"/>
          <p:nvPr/>
        </p:nvSpPr>
        <p:spPr>
          <a:xfrm>
            <a:off x="457200" y="6016752"/>
            <a:ext cx="11277295" cy="219456"/>
          </a:xfrm>
          <a:prstGeom prst="rect">
            <a:avLst/>
          </a:prstGeom>
          <a:noFill/>
        </p:spPr>
        <p:txBody>
          <a:bodyPr wrap="square" lIns="0" tIns="0" rIns="0" bIns="0" anchor="t">
            <a:spAutoFit/>
          </a:bodyPr>
          <a:lstStyle/>
          <a:p>
            <a:pPr algn="l">
              <a:lnSpc>
                <a:spcPct val="115000"/>
              </a:lnSpc>
              <a:spcAft>
                <a:spcPts val="0"/>
              </a:spcAft>
            </a:pPr>
            <a:r>
              <a:rPr sz="900" b="1">
                <a:solidFill>
                  <a:srgbClr val="1A1A1A"/>
                </a:solidFill>
                <a:latin typeface="Inter"/>
              </a:rPr>
              <a:t>Market Place. </a:t>
            </a:r>
            <a:r>
              <a:rPr sz="900" b="0">
                <a:solidFill>
                  <a:srgbClr val="4B5563"/>
                </a:solidFill>
                <a:latin typeface="Inter"/>
              </a:rPr>
              <a:t>That case rests on a contact reason with only 4 audits, the same low-volume reason flagged as unreliable in the Phone QA section. Validate with more audits before committing resources.</a:t>
            </a:r>
          </a:p>
        </p:txBody>
      </p:sp>
      <p:sp>
        <p:nvSpPr>
          <p:cNvPr id="67" name="TextBox 66"/>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     ·     Owners are role-level; names to be confirmed with CX Leadership at the weekly review.</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Action plan by channel, people and governance</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Owner, deadline and the severity of the problem behind each action</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31</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ectangle 10"/>
          <p:cNvSpPr/>
          <p:nvPr/>
        </p:nvSpPr>
        <p:spPr>
          <a:xfrm>
            <a:off x="457200" y="1207008"/>
            <a:ext cx="11274552" cy="36576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207008"/>
            <a:ext cx="932688" cy="365760"/>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Scope</a:t>
            </a:r>
          </a:p>
        </p:txBody>
      </p:sp>
      <p:sp>
        <p:nvSpPr>
          <p:cNvPr id="13" name="TextBox 12"/>
          <p:cNvSpPr txBox="1"/>
          <p:nvPr/>
        </p:nvSpPr>
        <p:spPr>
          <a:xfrm>
            <a:off x="1773936" y="1207008"/>
            <a:ext cx="3310128" cy="365760"/>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What must change</a:t>
            </a:r>
          </a:p>
        </p:txBody>
      </p:sp>
      <p:sp>
        <p:nvSpPr>
          <p:cNvPr id="14" name="TextBox 13"/>
          <p:cNvSpPr txBox="1"/>
          <p:nvPr/>
        </p:nvSpPr>
        <p:spPr>
          <a:xfrm>
            <a:off x="5340096" y="1207008"/>
            <a:ext cx="2670048" cy="365760"/>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Why now</a:t>
            </a:r>
          </a:p>
        </p:txBody>
      </p:sp>
      <p:sp>
        <p:nvSpPr>
          <p:cNvPr id="15" name="TextBox 14"/>
          <p:cNvSpPr txBox="1"/>
          <p:nvPr/>
        </p:nvSpPr>
        <p:spPr>
          <a:xfrm>
            <a:off x="8266176" y="1207008"/>
            <a:ext cx="1115568" cy="365760"/>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Who</a:t>
            </a:r>
          </a:p>
        </p:txBody>
      </p:sp>
      <p:sp>
        <p:nvSpPr>
          <p:cNvPr id="16" name="TextBox 15"/>
          <p:cNvSpPr txBox="1"/>
          <p:nvPr/>
        </p:nvSpPr>
        <p:spPr>
          <a:xfrm>
            <a:off x="9637776" y="1207008"/>
            <a:ext cx="548640" cy="365760"/>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When</a:t>
            </a:r>
          </a:p>
        </p:txBody>
      </p:sp>
      <p:sp>
        <p:nvSpPr>
          <p:cNvPr id="17" name="TextBox 16"/>
          <p:cNvSpPr txBox="1"/>
          <p:nvPr/>
        </p:nvSpPr>
        <p:spPr>
          <a:xfrm>
            <a:off x="10442448" y="1207008"/>
            <a:ext cx="1161288" cy="365760"/>
          </a:xfrm>
          <a:prstGeom prst="rect">
            <a:avLst/>
          </a:prstGeom>
          <a:noFill/>
        </p:spPr>
        <p:txBody>
          <a:bodyPr wrap="square" lIns="0" tIns="0" rIns="0" bIns="0" anchor="ctr">
            <a:spAutoFit/>
          </a:bodyPr>
          <a:lstStyle/>
          <a:p>
            <a:pPr algn="l">
              <a:lnSpc>
                <a:spcPct val="115000"/>
              </a:lnSpc>
              <a:spcAft>
                <a:spcPts val="0"/>
              </a:spcAft>
            </a:pPr>
            <a:r>
              <a:rPr sz="850" b="1">
                <a:solidFill>
                  <a:srgbClr val="FFFFFF"/>
                </a:solidFill>
                <a:latin typeface="Inter"/>
              </a:rPr>
              <a:t>Problem severity</a:t>
            </a:r>
          </a:p>
        </p:txBody>
      </p:sp>
      <p:sp>
        <p:nvSpPr>
          <p:cNvPr id="18" name="TextBox 17"/>
          <p:cNvSpPr txBox="1"/>
          <p:nvPr/>
        </p:nvSpPr>
        <p:spPr>
          <a:xfrm>
            <a:off x="585216" y="15727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Phone</a:t>
            </a:r>
          </a:p>
        </p:txBody>
      </p:sp>
      <p:sp>
        <p:nvSpPr>
          <p:cNvPr id="19" name="TextBox 18"/>
          <p:cNvSpPr txBox="1"/>
          <p:nvPr/>
        </p:nvSpPr>
        <p:spPr>
          <a:xfrm>
            <a:off x="1773936" y="15727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Increase Phone QA coverage to at least 30%</a:t>
            </a:r>
          </a:p>
        </p:txBody>
      </p:sp>
      <p:sp>
        <p:nvSpPr>
          <p:cNvPr id="20" name="TextBox 19"/>
          <p:cNvSpPr txBox="1"/>
          <p:nvPr/>
        </p:nvSpPr>
        <p:spPr>
          <a:xfrm>
            <a:off x="5340096" y="15727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Phone is 14.4% of audits and the only channel below goal</a:t>
            </a:r>
          </a:p>
        </p:txBody>
      </p:sp>
      <p:sp>
        <p:nvSpPr>
          <p:cNvPr id="21" name="TextBox 20"/>
          <p:cNvSpPr txBox="1"/>
          <p:nvPr/>
        </p:nvSpPr>
        <p:spPr>
          <a:xfrm>
            <a:off x="8266176" y="15727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QA Lead</a:t>
            </a:r>
          </a:p>
        </p:txBody>
      </p:sp>
      <p:sp>
        <p:nvSpPr>
          <p:cNvPr id="22" name="TextBox 21"/>
          <p:cNvSpPr txBox="1"/>
          <p:nvPr/>
        </p:nvSpPr>
        <p:spPr>
          <a:xfrm>
            <a:off x="9637776" y="15727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13 Jun</a:t>
            </a:r>
          </a:p>
        </p:txBody>
      </p:sp>
      <p:sp>
        <p:nvSpPr>
          <p:cNvPr id="23" name="Rounded Rectangle 22"/>
          <p:cNvSpPr/>
          <p:nvPr/>
        </p:nvSpPr>
        <p:spPr>
          <a:xfrm>
            <a:off x="10442448" y="166420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552176" y="175107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716768" y="1664208"/>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Critical</a:t>
            </a:r>
          </a:p>
        </p:txBody>
      </p:sp>
      <p:sp>
        <p:nvSpPr>
          <p:cNvPr id="26" name="Rectangle 25"/>
          <p:cNvSpPr/>
          <p:nvPr/>
        </p:nvSpPr>
        <p:spPr>
          <a:xfrm>
            <a:off x="457200" y="20252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2029968"/>
            <a:ext cx="1127455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85216" y="20299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Phone</a:t>
            </a:r>
          </a:p>
        </p:txBody>
      </p:sp>
      <p:sp>
        <p:nvSpPr>
          <p:cNvPr id="29" name="TextBox 28"/>
          <p:cNvSpPr txBox="1"/>
          <p:nvPr/>
        </p:nvSpPr>
        <p:spPr>
          <a:xfrm>
            <a:off x="1773936" y="20299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Coach Time Management using a system-check script for money disputes</a:t>
            </a:r>
          </a:p>
        </p:txBody>
      </p:sp>
      <p:sp>
        <p:nvSpPr>
          <p:cNvPr id="30" name="TextBox 29"/>
          <p:cNvSpPr txBox="1"/>
          <p:nvPr/>
        </p:nvSpPr>
        <p:spPr>
          <a:xfrm>
            <a:off x="5340096" y="20299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64.3% of Phone defects, 133 fails</a:t>
            </a:r>
          </a:p>
        </p:txBody>
      </p:sp>
      <p:sp>
        <p:nvSpPr>
          <p:cNvPr id="31" name="TextBox 30"/>
          <p:cNvSpPr txBox="1"/>
          <p:nvPr/>
        </p:nvSpPr>
        <p:spPr>
          <a:xfrm>
            <a:off x="8266176" y="20299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Supervisors</a:t>
            </a:r>
          </a:p>
        </p:txBody>
      </p:sp>
      <p:sp>
        <p:nvSpPr>
          <p:cNvPr id="32" name="TextBox 31"/>
          <p:cNvSpPr txBox="1"/>
          <p:nvPr/>
        </p:nvSpPr>
        <p:spPr>
          <a:xfrm>
            <a:off x="9637776" y="20299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27 Jun</a:t>
            </a:r>
          </a:p>
        </p:txBody>
      </p:sp>
      <p:sp>
        <p:nvSpPr>
          <p:cNvPr id="33" name="Rounded Rectangle 32"/>
          <p:cNvSpPr/>
          <p:nvPr/>
        </p:nvSpPr>
        <p:spPr>
          <a:xfrm>
            <a:off x="10442448" y="2121408"/>
            <a:ext cx="630021"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2176" y="2208276"/>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716768" y="2121408"/>
            <a:ext cx="319125" cy="274320"/>
          </a:xfrm>
          <a:prstGeom prst="rect">
            <a:avLst/>
          </a:prstGeom>
          <a:noFill/>
        </p:spPr>
        <p:txBody>
          <a:bodyPr wrap="square" lIns="0" tIns="0" rIns="0" bIns="0" anchor="ctr">
            <a:spAutoFit/>
          </a:bodyPr>
          <a:lstStyle/>
          <a:p>
            <a:pPr algn="l">
              <a:lnSpc>
                <a:spcPct val="115000"/>
              </a:lnSpc>
              <a:spcAft>
                <a:spcPts val="0"/>
              </a:spcAft>
            </a:pPr>
            <a:r>
              <a:rPr sz="750" b="1">
                <a:solidFill>
                  <a:srgbClr val="F59E0B"/>
                </a:solidFill>
                <a:latin typeface="Inter"/>
              </a:rPr>
              <a:t>High</a:t>
            </a:r>
          </a:p>
        </p:txBody>
      </p:sp>
      <p:sp>
        <p:nvSpPr>
          <p:cNvPr id="36" name="Rectangle 35"/>
          <p:cNvSpPr/>
          <p:nvPr/>
        </p:nvSpPr>
        <p:spPr>
          <a:xfrm>
            <a:off x="457200" y="24824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85216" y="24871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People</a:t>
            </a:r>
          </a:p>
        </p:txBody>
      </p:sp>
      <p:sp>
        <p:nvSpPr>
          <p:cNvPr id="38" name="TextBox 37"/>
          <p:cNvSpPr txBox="1"/>
          <p:nvPr/>
        </p:nvSpPr>
        <p:spPr>
          <a:xfrm>
            <a:off x="1773936" y="24871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Run weekly coaching for the 42 QA-Q4 agents, starting with the five teams with the highest concentration</a:t>
            </a:r>
          </a:p>
        </p:txBody>
      </p:sp>
      <p:sp>
        <p:nvSpPr>
          <p:cNvPr id="39" name="TextBox 38"/>
          <p:cNvSpPr txBox="1"/>
          <p:nvPr/>
        </p:nvSpPr>
        <p:spPr>
          <a:xfrm>
            <a:off x="5340096" y="24871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26 agents below the QA goal; Supervisor 13 alone carries three</a:t>
            </a:r>
          </a:p>
        </p:txBody>
      </p:sp>
      <p:sp>
        <p:nvSpPr>
          <p:cNvPr id="40" name="TextBox 39"/>
          <p:cNvSpPr txBox="1"/>
          <p:nvPr/>
        </p:nvSpPr>
        <p:spPr>
          <a:xfrm>
            <a:off x="8266176" y="24871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Supervisors + QA Lead</a:t>
            </a:r>
          </a:p>
        </p:txBody>
      </p:sp>
      <p:sp>
        <p:nvSpPr>
          <p:cNvPr id="41" name="TextBox 40"/>
          <p:cNvSpPr txBox="1"/>
          <p:nvPr/>
        </p:nvSpPr>
        <p:spPr>
          <a:xfrm>
            <a:off x="9637776" y="24871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20 Jun</a:t>
            </a:r>
          </a:p>
        </p:txBody>
      </p:sp>
      <p:sp>
        <p:nvSpPr>
          <p:cNvPr id="42" name="Rounded Rectangle 41"/>
          <p:cNvSpPr/>
          <p:nvPr/>
        </p:nvSpPr>
        <p:spPr>
          <a:xfrm>
            <a:off x="10442448" y="2578608"/>
            <a:ext cx="630021" cy="274320"/>
          </a:xfrm>
          <a:prstGeom prst="roundRect">
            <a:avLst>
              <a:gd name="adj" fmla="val 50000"/>
            </a:avLst>
          </a:prstGeom>
          <a:solidFill>
            <a:srgbClr val="FEF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0552176" y="2665476"/>
            <a:ext cx="100584" cy="10058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716768" y="2578608"/>
            <a:ext cx="319125" cy="274320"/>
          </a:xfrm>
          <a:prstGeom prst="rect">
            <a:avLst/>
          </a:prstGeom>
          <a:noFill/>
        </p:spPr>
        <p:txBody>
          <a:bodyPr wrap="square" lIns="0" tIns="0" rIns="0" bIns="0" anchor="ctr">
            <a:spAutoFit/>
          </a:bodyPr>
          <a:lstStyle/>
          <a:p>
            <a:pPr algn="l">
              <a:lnSpc>
                <a:spcPct val="115000"/>
              </a:lnSpc>
              <a:spcAft>
                <a:spcPts val="0"/>
              </a:spcAft>
            </a:pPr>
            <a:r>
              <a:rPr sz="750" b="1">
                <a:solidFill>
                  <a:srgbClr val="F59E0B"/>
                </a:solidFill>
                <a:latin typeface="Inter"/>
              </a:rPr>
              <a:t>High</a:t>
            </a:r>
          </a:p>
        </p:txBody>
      </p:sp>
      <p:sp>
        <p:nvSpPr>
          <p:cNvPr id="45" name="Rectangle 44"/>
          <p:cNvSpPr/>
          <p:nvPr/>
        </p:nvSpPr>
        <p:spPr>
          <a:xfrm>
            <a:off x="457200" y="29396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57200" y="2944368"/>
            <a:ext cx="1127455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85216" y="29443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Live Chat</a:t>
            </a:r>
          </a:p>
        </p:txBody>
      </p:sp>
      <p:sp>
        <p:nvSpPr>
          <p:cNvPr id="48" name="TextBox 47"/>
          <p:cNvSpPr txBox="1"/>
          <p:nvPr/>
        </p:nvSpPr>
        <p:spPr>
          <a:xfrm>
            <a:off x="1773936" y="29443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Add a Chat critical attribute for correct information, aligned with Phone</a:t>
            </a:r>
          </a:p>
        </p:txBody>
      </p:sp>
      <p:sp>
        <p:nvSpPr>
          <p:cNvPr id="49" name="TextBox 48"/>
          <p:cNvSpPr txBox="1"/>
          <p:nvPr/>
        </p:nvSpPr>
        <p:spPr>
          <a:xfrm>
            <a:off x="5340096" y="29443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372 chats did not follow process; 297 still score 100. Current Chat QA: 96.01. Adjusted QA under proposed scoring: 80.14</a:t>
            </a:r>
          </a:p>
        </p:txBody>
      </p:sp>
      <p:sp>
        <p:nvSpPr>
          <p:cNvPr id="50" name="TextBox 49"/>
          <p:cNvSpPr txBox="1"/>
          <p:nvPr/>
        </p:nvSpPr>
        <p:spPr>
          <a:xfrm>
            <a:off x="8266176" y="29443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QA Lead</a:t>
            </a:r>
          </a:p>
        </p:txBody>
      </p:sp>
      <p:sp>
        <p:nvSpPr>
          <p:cNvPr id="51" name="TextBox 50"/>
          <p:cNvSpPr txBox="1"/>
          <p:nvPr/>
        </p:nvSpPr>
        <p:spPr>
          <a:xfrm>
            <a:off x="9637776" y="29443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30 Jun</a:t>
            </a:r>
          </a:p>
        </p:txBody>
      </p:sp>
      <p:sp>
        <p:nvSpPr>
          <p:cNvPr id="52" name="Rounded Rectangle 51"/>
          <p:cNvSpPr/>
          <p:nvPr/>
        </p:nvSpPr>
        <p:spPr>
          <a:xfrm>
            <a:off x="10442448" y="303580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0552176" y="312267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716768" y="3035808"/>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Critical</a:t>
            </a:r>
          </a:p>
        </p:txBody>
      </p:sp>
      <p:sp>
        <p:nvSpPr>
          <p:cNvPr id="55" name="Rectangle 54"/>
          <p:cNvSpPr/>
          <p:nvPr/>
        </p:nvSpPr>
        <p:spPr>
          <a:xfrm>
            <a:off x="457200" y="33968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85216" y="34015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Live Chat</a:t>
            </a:r>
          </a:p>
        </p:txBody>
      </p:sp>
      <p:sp>
        <p:nvSpPr>
          <p:cNvPr id="57" name="TextBox 56"/>
          <p:cNvSpPr txBox="1"/>
          <p:nvPr/>
        </p:nvSpPr>
        <p:spPr>
          <a:xfrm>
            <a:off x="1773936" y="34015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Do not add Chat headcount. The 15.99% sits on contact reasons that cannot close, mainly order status and refunds.</a:t>
            </a:r>
          </a:p>
        </p:txBody>
      </p:sp>
      <p:sp>
        <p:nvSpPr>
          <p:cNvPr id="58" name="TextBox 57"/>
          <p:cNvSpPr txBox="1"/>
          <p:nvPr/>
        </p:nvSpPr>
        <p:spPr>
          <a:xfrm>
            <a:off x="5340096" y="34015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Live Chat generates 67.2% of every repeat contact in the business</a:t>
            </a:r>
          </a:p>
        </p:txBody>
      </p:sp>
      <p:sp>
        <p:nvSpPr>
          <p:cNvPr id="59" name="TextBox 58"/>
          <p:cNvSpPr txBox="1"/>
          <p:nvPr/>
        </p:nvSpPr>
        <p:spPr>
          <a:xfrm>
            <a:off x="8266176" y="34015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CX Ops</a:t>
            </a:r>
          </a:p>
        </p:txBody>
      </p:sp>
      <p:sp>
        <p:nvSpPr>
          <p:cNvPr id="60" name="TextBox 59"/>
          <p:cNvSpPr txBox="1"/>
          <p:nvPr/>
        </p:nvSpPr>
        <p:spPr>
          <a:xfrm>
            <a:off x="9637776" y="34015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15 Jul</a:t>
            </a:r>
          </a:p>
        </p:txBody>
      </p:sp>
      <p:sp>
        <p:nvSpPr>
          <p:cNvPr id="61" name="Rounded Rectangle 60"/>
          <p:cNvSpPr/>
          <p:nvPr/>
        </p:nvSpPr>
        <p:spPr>
          <a:xfrm>
            <a:off x="10442448" y="349300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10552176" y="357987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716768" y="3493008"/>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Critical</a:t>
            </a:r>
          </a:p>
        </p:txBody>
      </p:sp>
      <p:sp>
        <p:nvSpPr>
          <p:cNvPr id="64" name="Rectangle 63"/>
          <p:cNvSpPr/>
          <p:nvPr/>
        </p:nvSpPr>
        <p:spPr>
          <a:xfrm>
            <a:off x="457200" y="38540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457200" y="3858768"/>
            <a:ext cx="11274552" cy="457200"/>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85216" y="38587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QA governance</a:t>
            </a:r>
          </a:p>
        </p:txBody>
      </p:sp>
      <p:sp>
        <p:nvSpPr>
          <p:cNvPr id="67" name="TextBox 66"/>
          <p:cNvSpPr txBox="1"/>
          <p:nvPr/>
        </p:nvSpPr>
        <p:spPr>
          <a:xfrm>
            <a:off x="1773936" y="38587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Report closure rate weekly and assign an owner to every unclosed case</a:t>
            </a:r>
          </a:p>
        </p:txBody>
      </p:sp>
      <p:sp>
        <p:nvSpPr>
          <p:cNvPr id="68" name="TextBox 67"/>
          <p:cNvSpPr txBox="1"/>
          <p:nvPr/>
        </p:nvSpPr>
        <p:spPr>
          <a:xfrm>
            <a:off x="5340096" y="38587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The field is already on the form. Followed process, did not solve, still averages 96.87 on QA</a:t>
            </a:r>
          </a:p>
        </p:txBody>
      </p:sp>
      <p:sp>
        <p:nvSpPr>
          <p:cNvPr id="69" name="TextBox 68"/>
          <p:cNvSpPr txBox="1"/>
          <p:nvPr/>
        </p:nvSpPr>
        <p:spPr>
          <a:xfrm>
            <a:off x="8266176" y="38587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QA Lead + CX Head</a:t>
            </a:r>
          </a:p>
        </p:txBody>
      </p:sp>
      <p:sp>
        <p:nvSpPr>
          <p:cNvPr id="70" name="TextBox 69"/>
          <p:cNvSpPr txBox="1"/>
          <p:nvPr/>
        </p:nvSpPr>
        <p:spPr>
          <a:xfrm>
            <a:off x="9637776" y="38587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31 Jul</a:t>
            </a:r>
          </a:p>
        </p:txBody>
      </p:sp>
      <p:sp>
        <p:nvSpPr>
          <p:cNvPr id="71" name="Rounded Rectangle 70"/>
          <p:cNvSpPr/>
          <p:nvPr/>
        </p:nvSpPr>
        <p:spPr>
          <a:xfrm>
            <a:off x="10442448" y="3950208"/>
            <a:ext cx="857707" cy="274320"/>
          </a:xfrm>
          <a:prstGeom prst="roundRect">
            <a:avLst>
              <a:gd name="adj" fmla="val 50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10552176" y="4037076"/>
            <a:ext cx="100584" cy="100584"/>
          </a:xfrm>
          <a:prstGeom prst="ellipse">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0716768" y="3950208"/>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E11D2E"/>
                </a:solidFill>
                <a:latin typeface="Inter"/>
              </a:rPr>
              <a:t>Critical</a:t>
            </a:r>
          </a:p>
        </p:txBody>
      </p:sp>
      <p:sp>
        <p:nvSpPr>
          <p:cNvPr id="74" name="Rectangle 73"/>
          <p:cNvSpPr/>
          <p:nvPr/>
        </p:nvSpPr>
        <p:spPr>
          <a:xfrm>
            <a:off x="457200" y="43112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85216" y="4315968"/>
            <a:ext cx="932688" cy="457200"/>
          </a:xfrm>
          <a:prstGeom prst="rect">
            <a:avLst/>
          </a:prstGeom>
          <a:noFill/>
        </p:spPr>
        <p:txBody>
          <a:bodyPr wrap="square" lIns="0" tIns="0" rIns="0" bIns="0" anchor="ctr">
            <a:spAutoFit/>
          </a:bodyPr>
          <a:lstStyle/>
          <a:p>
            <a:pPr algn="l">
              <a:lnSpc>
                <a:spcPct val="115000"/>
              </a:lnSpc>
              <a:spcAft>
                <a:spcPts val="0"/>
              </a:spcAft>
            </a:pPr>
            <a:r>
              <a:rPr sz="800" b="1">
                <a:solidFill>
                  <a:srgbClr val="1A1A1A"/>
                </a:solidFill>
                <a:latin typeface="Inter"/>
              </a:rPr>
              <a:t>QA governance</a:t>
            </a:r>
          </a:p>
        </p:txBody>
      </p:sp>
      <p:sp>
        <p:nvSpPr>
          <p:cNvPr id="76" name="TextBox 75"/>
          <p:cNvSpPr txBox="1"/>
          <p:nvPr/>
        </p:nvSpPr>
        <p:spPr>
          <a:xfrm>
            <a:off x="1773936" y="4315968"/>
            <a:ext cx="331012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Report QA and recontact weekly by channel, including Phone+Chat vs the official global rate</a:t>
            </a:r>
          </a:p>
        </p:txBody>
      </p:sp>
      <p:sp>
        <p:nvSpPr>
          <p:cNvPr id="77" name="TextBox 76"/>
          <p:cNvSpPr txBox="1"/>
          <p:nvPr/>
        </p:nvSpPr>
        <p:spPr>
          <a:xfrm>
            <a:off x="5340096" y="4315968"/>
            <a:ext cx="267004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Blended figures hid a 13-point channel gap and a 10-point recontact gap</a:t>
            </a:r>
          </a:p>
        </p:txBody>
      </p:sp>
      <p:sp>
        <p:nvSpPr>
          <p:cNvPr id="78" name="TextBox 77"/>
          <p:cNvSpPr txBox="1"/>
          <p:nvPr/>
        </p:nvSpPr>
        <p:spPr>
          <a:xfrm>
            <a:off x="8266176" y="4315968"/>
            <a:ext cx="1115568"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CX Analytics</a:t>
            </a:r>
          </a:p>
        </p:txBody>
      </p:sp>
      <p:sp>
        <p:nvSpPr>
          <p:cNvPr id="79" name="TextBox 78"/>
          <p:cNvSpPr txBox="1"/>
          <p:nvPr/>
        </p:nvSpPr>
        <p:spPr>
          <a:xfrm>
            <a:off x="9637776" y="4315968"/>
            <a:ext cx="548640" cy="457200"/>
          </a:xfrm>
          <a:prstGeom prst="rect">
            <a:avLst/>
          </a:prstGeom>
          <a:noFill/>
        </p:spPr>
        <p:txBody>
          <a:bodyPr wrap="square" lIns="0" tIns="0" rIns="0" bIns="0" anchor="ctr">
            <a:spAutoFit/>
          </a:bodyPr>
          <a:lstStyle/>
          <a:p>
            <a:pPr algn="l">
              <a:lnSpc>
                <a:spcPct val="115000"/>
              </a:lnSpc>
              <a:spcAft>
                <a:spcPts val="0"/>
              </a:spcAft>
            </a:pPr>
            <a:r>
              <a:rPr sz="800" b="0">
                <a:solidFill>
                  <a:srgbClr val="4B5563"/>
                </a:solidFill>
                <a:latin typeface="Inter"/>
              </a:rPr>
              <a:t>13 Jun</a:t>
            </a:r>
          </a:p>
        </p:txBody>
      </p:sp>
      <p:sp>
        <p:nvSpPr>
          <p:cNvPr id="80" name="Rounded Rectangle 79"/>
          <p:cNvSpPr/>
          <p:nvPr/>
        </p:nvSpPr>
        <p:spPr>
          <a:xfrm>
            <a:off x="10442448" y="4407408"/>
            <a:ext cx="857707" cy="274320"/>
          </a:xfrm>
          <a:prstGeom prst="roundRect">
            <a:avLst>
              <a:gd name="adj" fmla="val 50000"/>
            </a:avLst>
          </a:prstGeom>
          <a:solidFill>
            <a:srgbClr val="E9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10552176" y="4494276"/>
            <a:ext cx="100584" cy="100584"/>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10716768" y="4407408"/>
            <a:ext cx="546811" cy="274320"/>
          </a:xfrm>
          <a:prstGeom prst="rect">
            <a:avLst/>
          </a:prstGeom>
          <a:noFill/>
        </p:spPr>
        <p:txBody>
          <a:bodyPr wrap="square" lIns="0" tIns="0" rIns="0" bIns="0" anchor="ctr">
            <a:spAutoFit/>
          </a:bodyPr>
          <a:lstStyle/>
          <a:p>
            <a:pPr algn="l">
              <a:lnSpc>
                <a:spcPct val="115000"/>
              </a:lnSpc>
              <a:spcAft>
                <a:spcPts val="0"/>
              </a:spcAft>
            </a:pPr>
            <a:r>
              <a:rPr sz="750" b="1">
                <a:solidFill>
                  <a:srgbClr val="16A34A"/>
                </a:solidFill>
                <a:latin typeface="Inter"/>
              </a:rPr>
              <a:t>Moderate</a:t>
            </a:r>
          </a:p>
        </p:txBody>
      </p:sp>
      <p:sp>
        <p:nvSpPr>
          <p:cNvPr id="83" name="Rectangle 82"/>
          <p:cNvSpPr/>
          <p:nvPr/>
        </p:nvSpPr>
        <p:spPr>
          <a:xfrm>
            <a:off x="457200" y="4768405"/>
            <a:ext cx="11274552" cy="952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ounded Rectangle 83"/>
          <p:cNvSpPr/>
          <p:nvPr/>
        </p:nvSpPr>
        <p:spPr>
          <a:xfrm>
            <a:off x="457200" y="5047488"/>
            <a:ext cx="5074920" cy="1207008"/>
          </a:xfrm>
          <a:prstGeom prst="roundRect">
            <a:avLst>
              <a:gd name="adj" fmla="val 6060"/>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76656" y="5193792"/>
            <a:ext cx="4636008" cy="219456"/>
          </a:xfrm>
          <a:prstGeom prst="rect">
            <a:avLst/>
          </a:prstGeom>
          <a:noFill/>
        </p:spPr>
        <p:txBody>
          <a:bodyPr wrap="square" lIns="0" tIns="0" rIns="0" bIns="0" anchor="t">
            <a:spAutoFit/>
          </a:bodyPr>
          <a:lstStyle/>
          <a:p>
            <a:pPr algn="l">
              <a:lnSpc>
                <a:spcPct val="115000"/>
              </a:lnSpc>
              <a:spcAft>
                <a:spcPts val="0"/>
              </a:spcAft>
            </a:pPr>
            <a:r>
              <a:rPr sz="850" b="1">
                <a:solidFill>
                  <a:srgbClr val="1A1A1A"/>
                </a:solidFill>
                <a:latin typeface="Inter"/>
              </a:rPr>
              <a:t>Tagged actions — one action can serve two KPIs. Unique list is on the matrix.</a:t>
            </a:r>
          </a:p>
        </p:txBody>
      </p:sp>
      <p:sp>
        <p:nvSpPr>
          <p:cNvPr id="86" name="Rectangle 85"/>
          <p:cNvSpPr/>
          <p:nvPr/>
        </p:nvSpPr>
        <p:spPr>
          <a:xfrm>
            <a:off x="676656" y="5554980"/>
            <a:ext cx="68580" cy="14173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822960" y="5486400"/>
            <a:ext cx="1298448" cy="237744"/>
          </a:xfrm>
          <a:prstGeom prst="rect">
            <a:avLst/>
          </a:prstGeom>
          <a:noFill/>
        </p:spPr>
        <p:txBody>
          <a:bodyPr wrap="square" lIns="0" tIns="0" rIns="0" bIns="0" anchor="ctr">
            <a:spAutoFit/>
          </a:bodyPr>
          <a:lstStyle/>
          <a:p>
            <a:pPr algn="l">
              <a:lnSpc>
                <a:spcPct val="115000"/>
              </a:lnSpc>
              <a:spcAft>
                <a:spcPts val="0"/>
              </a:spcAft>
            </a:pPr>
            <a:r>
              <a:rPr sz="900" b="1">
                <a:solidFill>
                  <a:srgbClr val="1A1A1A"/>
                </a:solidFill>
                <a:latin typeface="Inter"/>
              </a:rPr>
              <a:t>QA</a:t>
            </a:r>
          </a:p>
        </p:txBody>
      </p:sp>
      <p:sp>
        <p:nvSpPr>
          <p:cNvPr id="88" name="TextBox 87"/>
          <p:cNvSpPr txBox="1"/>
          <p:nvPr/>
        </p:nvSpPr>
        <p:spPr>
          <a:xfrm>
            <a:off x="1975104" y="5486400"/>
            <a:ext cx="987552" cy="237744"/>
          </a:xfrm>
          <a:prstGeom prst="rect">
            <a:avLst/>
          </a:prstGeom>
          <a:noFill/>
        </p:spPr>
        <p:txBody>
          <a:bodyPr wrap="square" lIns="0" tIns="0" rIns="0" bIns="0" anchor="ctr">
            <a:spAutoFit/>
          </a:bodyPr>
          <a:lstStyle/>
          <a:p>
            <a:pPr algn="l">
              <a:lnSpc>
                <a:spcPct val="115000"/>
              </a:lnSpc>
              <a:spcAft>
                <a:spcPts val="0"/>
              </a:spcAft>
            </a:pPr>
            <a:r>
              <a:rPr sz="900" b="1">
                <a:solidFill>
                  <a:srgbClr val="16A34A"/>
                </a:solidFill>
                <a:latin typeface="Inter"/>
              </a:rPr>
              <a:t>94.14</a:t>
            </a:r>
          </a:p>
        </p:txBody>
      </p:sp>
      <p:sp>
        <p:nvSpPr>
          <p:cNvPr id="89" name="TextBox 88"/>
          <p:cNvSpPr txBox="1"/>
          <p:nvPr/>
        </p:nvSpPr>
        <p:spPr>
          <a:xfrm>
            <a:off x="2962656" y="5486400"/>
            <a:ext cx="932688" cy="237744"/>
          </a:xfrm>
          <a:prstGeom prst="rect">
            <a:avLst/>
          </a:prstGeom>
          <a:noFill/>
        </p:spPr>
        <p:txBody>
          <a:bodyPr wrap="square" lIns="0" tIns="0" rIns="0" bIns="0" anchor="ctr">
            <a:spAutoFit/>
          </a:bodyPr>
          <a:lstStyle/>
          <a:p>
            <a:pPr algn="l">
              <a:lnSpc>
                <a:spcPct val="115000"/>
              </a:lnSpc>
              <a:spcAft>
                <a:spcPts val="0"/>
              </a:spcAft>
            </a:pPr>
            <a:r>
              <a:rPr sz="900" b="0">
                <a:solidFill>
                  <a:srgbClr val="4B5563"/>
                </a:solidFill>
                <a:latin typeface="Inter"/>
              </a:rPr>
              <a:t>8 actions</a:t>
            </a:r>
          </a:p>
        </p:txBody>
      </p:sp>
      <p:sp>
        <p:nvSpPr>
          <p:cNvPr id="90" name="TextBox 89"/>
          <p:cNvSpPr txBox="1"/>
          <p:nvPr/>
        </p:nvSpPr>
        <p:spPr>
          <a:xfrm>
            <a:off x="3895344" y="5486400"/>
            <a:ext cx="1508760" cy="237744"/>
          </a:xfrm>
          <a:prstGeom prst="rect">
            <a:avLst/>
          </a:prstGeom>
          <a:noFill/>
        </p:spPr>
        <p:txBody>
          <a:bodyPr wrap="square" lIns="0" tIns="0" rIns="0" bIns="0" anchor="ctr">
            <a:spAutoFit/>
          </a:bodyPr>
          <a:lstStyle/>
          <a:p>
            <a:pPr algn="l">
              <a:lnSpc>
                <a:spcPct val="115000"/>
              </a:lnSpc>
              <a:spcAft>
                <a:spcPts val="0"/>
              </a:spcAft>
            </a:pPr>
            <a:r>
              <a:rPr sz="900" b="0">
                <a:solidFill>
                  <a:srgbClr val="4B5563"/>
                </a:solidFill>
                <a:latin typeface="Inter"/>
              </a:rPr>
              <a:t>QA Lead</a:t>
            </a:r>
          </a:p>
        </p:txBody>
      </p:sp>
      <p:sp>
        <p:nvSpPr>
          <p:cNvPr id="91" name="Rectangle 90"/>
          <p:cNvSpPr/>
          <p:nvPr/>
        </p:nvSpPr>
        <p:spPr>
          <a:xfrm>
            <a:off x="676656" y="5801868"/>
            <a:ext cx="68580" cy="141732"/>
          </a:xfrm>
          <a:prstGeom prst="rect">
            <a:avLst/>
          </a:prstGeom>
          <a:solidFill>
            <a:srgbClr val="E1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822960" y="5733288"/>
            <a:ext cx="1298448" cy="237744"/>
          </a:xfrm>
          <a:prstGeom prst="rect">
            <a:avLst/>
          </a:prstGeom>
          <a:noFill/>
        </p:spPr>
        <p:txBody>
          <a:bodyPr wrap="square" lIns="0" tIns="0" rIns="0" bIns="0" anchor="ctr">
            <a:spAutoFit/>
          </a:bodyPr>
          <a:lstStyle/>
          <a:p>
            <a:pPr algn="l">
              <a:lnSpc>
                <a:spcPct val="115000"/>
              </a:lnSpc>
              <a:spcAft>
                <a:spcPts val="0"/>
              </a:spcAft>
            </a:pPr>
            <a:r>
              <a:rPr sz="900" b="1">
                <a:solidFill>
                  <a:srgbClr val="1A1A1A"/>
                </a:solidFill>
                <a:latin typeface="Inter"/>
              </a:rPr>
              <a:t>CSAT</a:t>
            </a:r>
          </a:p>
        </p:txBody>
      </p:sp>
      <p:sp>
        <p:nvSpPr>
          <p:cNvPr id="93" name="TextBox 92"/>
          <p:cNvSpPr txBox="1"/>
          <p:nvPr/>
        </p:nvSpPr>
        <p:spPr>
          <a:xfrm>
            <a:off x="1975104" y="5733288"/>
            <a:ext cx="987552" cy="237744"/>
          </a:xfrm>
          <a:prstGeom prst="rect">
            <a:avLst/>
          </a:prstGeom>
          <a:noFill/>
        </p:spPr>
        <p:txBody>
          <a:bodyPr wrap="square" lIns="0" tIns="0" rIns="0" bIns="0" anchor="ctr">
            <a:spAutoFit/>
          </a:bodyPr>
          <a:lstStyle/>
          <a:p>
            <a:pPr algn="l">
              <a:lnSpc>
                <a:spcPct val="115000"/>
              </a:lnSpc>
              <a:spcAft>
                <a:spcPts val="0"/>
              </a:spcAft>
            </a:pPr>
            <a:r>
              <a:rPr sz="900" b="1">
                <a:solidFill>
                  <a:srgbClr val="E11D2E"/>
                </a:solidFill>
                <a:latin typeface="Inter"/>
              </a:rPr>
              <a:t>79.95%</a:t>
            </a:r>
          </a:p>
        </p:txBody>
      </p:sp>
      <p:sp>
        <p:nvSpPr>
          <p:cNvPr id="94" name="TextBox 93"/>
          <p:cNvSpPr txBox="1"/>
          <p:nvPr/>
        </p:nvSpPr>
        <p:spPr>
          <a:xfrm>
            <a:off x="2962656" y="5733288"/>
            <a:ext cx="932688" cy="237744"/>
          </a:xfrm>
          <a:prstGeom prst="rect">
            <a:avLst/>
          </a:prstGeom>
          <a:noFill/>
        </p:spPr>
        <p:txBody>
          <a:bodyPr wrap="square" lIns="0" tIns="0" rIns="0" bIns="0" anchor="ctr">
            <a:spAutoFit/>
          </a:bodyPr>
          <a:lstStyle/>
          <a:p>
            <a:pPr algn="l">
              <a:lnSpc>
                <a:spcPct val="115000"/>
              </a:lnSpc>
              <a:spcAft>
                <a:spcPts val="0"/>
              </a:spcAft>
            </a:pPr>
            <a:r>
              <a:rPr sz="900" b="0">
                <a:solidFill>
                  <a:srgbClr val="4B5563"/>
                </a:solidFill>
                <a:latin typeface="Inter"/>
              </a:rPr>
              <a:t>6 actions</a:t>
            </a:r>
          </a:p>
        </p:txBody>
      </p:sp>
      <p:sp>
        <p:nvSpPr>
          <p:cNvPr id="95" name="TextBox 94"/>
          <p:cNvSpPr txBox="1"/>
          <p:nvPr/>
        </p:nvSpPr>
        <p:spPr>
          <a:xfrm>
            <a:off x="3895344" y="5733288"/>
            <a:ext cx="1508760" cy="237744"/>
          </a:xfrm>
          <a:prstGeom prst="rect">
            <a:avLst/>
          </a:prstGeom>
          <a:noFill/>
        </p:spPr>
        <p:txBody>
          <a:bodyPr wrap="square" lIns="0" tIns="0" rIns="0" bIns="0" anchor="ctr">
            <a:spAutoFit/>
          </a:bodyPr>
          <a:lstStyle/>
          <a:p>
            <a:pPr algn="l">
              <a:lnSpc>
                <a:spcPct val="115000"/>
              </a:lnSpc>
              <a:spcAft>
                <a:spcPts val="0"/>
              </a:spcAft>
            </a:pPr>
            <a:r>
              <a:rPr sz="900" b="0">
                <a:solidFill>
                  <a:srgbClr val="4B5563"/>
                </a:solidFill>
                <a:latin typeface="Inter"/>
              </a:rPr>
              <a:t>CX Ops</a:t>
            </a:r>
          </a:p>
        </p:txBody>
      </p:sp>
      <p:sp>
        <p:nvSpPr>
          <p:cNvPr id="96" name="Rectangle 95"/>
          <p:cNvSpPr/>
          <p:nvPr/>
        </p:nvSpPr>
        <p:spPr>
          <a:xfrm>
            <a:off x="676656" y="6048756"/>
            <a:ext cx="68580" cy="1417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822960" y="5980176"/>
            <a:ext cx="1298448" cy="237744"/>
          </a:xfrm>
          <a:prstGeom prst="rect">
            <a:avLst/>
          </a:prstGeom>
          <a:noFill/>
        </p:spPr>
        <p:txBody>
          <a:bodyPr wrap="square" lIns="0" tIns="0" rIns="0" bIns="0" anchor="ctr">
            <a:spAutoFit/>
          </a:bodyPr>
          <a:lstStyle/>
          <a:p>
            <a:pPr algn="l">
              <a:lnSpc>
                <a:spcPct val="115000"/>
              </a:lnSpc>
              <a:spcAft>
                <a:spcPts val="0"/>
              </a:spcAft>
            </a:pPr>
            <a:r>
              <a:rPr sz="900" b="1">
                <a:solidFill>
                  <a:srgbClr val="1A1A1A"/>
                </a:solidFill>
                <a:latin typeface="Inter"/>
              </a:rPr>
              <a:t>Recontact</a:t>
            </a:r>
          </a:p>
        </p:txBody>
      </p:sp>
      <p:sp>
        <p:nvSpPr>
          <p:cNvPr id="98" name="TextBox 97"/>
          <p:cNvSpPr txBox="1"/>
          <p:nvPr/>
        </p:nvSpPr>
        <p:spPr>
          <a:xfrm>
            <a:off x="1975104" y="5980176"/>
            <a:ext cx="987552" cy="237744"/>
          </a:xfrm>
          <a:prstGeom prst="rect">
            <a:avLst/>
          </a:prstGeom>
          <a:noFill/>
        </p:spPr>
        <p:txBody>
          <a:bodyPr wrap="square" lIns="0" tIns="0" rIns="0" bIns="0" anchor="ctr">
            <a:spAutoFit/>
          </a:bodyPr>
          <a:lstStyle/>
          <a:p>
            <a:pPr algn="l">
              <a:lnSpc>
                <a:spcPct val="115000"/>
              </a:lnSpc>
              <a:spcAft>
                <a:spcPts val="0"/>
              </a:spcAft>
            </a:pPr>
            <a:r>
              <a:rPr sz="900" b="1">
                <a:solidFill>
                  <a:srgbClr val="F59E0B"/>
                </a:solidFill>
                <a:latin typeface="Inter"/>
              </a:rPr>
              <a:t>5.83%</a:t>
            </a:r>
          </a:p>
        </p:txBody>
      </p:sp>
      <p:sp>
        <p:nvSpPr>
          <p:cNvPr id="99" name="TextBox 98"/>
          <p:cNvSpPr txBox="1"/>
          <p:nvPr/>
        </p:nvSpPr>
        <p:spPr>
          <a:xfrm>
            <a:off x="2962656" y="5980176"/>
            <a:ext cx="932688" cy="237744"/>
          </a:xfrm>
          <a:prstGeom prst="rect">
            <a:avLst/>
          </a:prstGeom>
          <a:noFill/>
        </p:spPr>
        <p:txBody>
          <a:bodyPr wrap="square" lIns="0" tIns="0" rIns="0" bIns="0" anchor="ctr">
            <a:spAutoFit/>
          </a:bodyPr>
          <a:lstStyle/>
          <a:p>
            <a:pPr algn="l">
              <a:lnSpc>
                <a:spcPct val="115000"/>
              </a:lnSpc>
              <a:spcAft>
                <a:spcPts val="0"/>
              </a:spcAft>
            </a:pPr>
            <a:r>
              <a:rPr sz="900" b="0">
                <a:solidFill>
                  <a:srgbClr val="4B5563"/>
                </a:solidFill>
                <a:latin typeface="Inter"/>
              </a:rPr>
              <a:t>4 actions</a:t>
            </a:r>
          </a:p>
        </p:txBody>
      </p:sp>
      <p:sp>
        <p:nvSpPr>
          <p:cNvPr id="100" name="TextBox 99"/>
          <p:cNvSpPr txBox="1"/>
          <p:nvPr/>
        </p:nvSpPr>
        <p:spPr>
          <a:xfrm>
            <a:off x="3895344" y="5980176"/>
            <a:ext cx="1508760" cy="237744"/>
          </a:xfrm>
          <a:prstGeom prst="rect">
            <a:avLst/>
          </a:prstGeom>
          <a:noFill/>
        </p:spPr>
        <p:txBody>
          <a:bodyPr wrap="square" lIns="0" tIns="0" rIns="0" bIns="0" anchor="ctr">
            <a:spAutoFit/>
          </a:bodyPr>
          <a:lstStyle/>
          <a:p>
            <a:pPr algn="l">
              <a:lnSpc>
                <a:spcPct val="115000"/>
              </a:lnSpc>
              <a:spcAft>
                <a:spcPts val="0"/>
              </a:spcAft>
            </a:pPr>
            <a:r>
              <a:rPr sz="900" b="0">
                <a:solidFill>
                  <a:srgbClr val="4B5563"/>
                </a:solidFill>
                <a:latin typeface="Inter"/>
              </a:rPr>
              <a:t>CX Ops</a:t>
            </a:r>
          </a:p>
        </p:txBody>
      </p:sp>
      <p:sp>
        <p:nvSpPr>
          <p:cNvPr id="101" name="Rectangle 100"/>
          <p:cNvSpPr/>
          <p:nvPr/>
        </p:nvSpPr>
        <p:spPr>
          <a:xfrm>
            <a:off x="5788152" y="5047488"/>
            <a:ext cx="5946343" cy="1207008"/>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5788152" y="5047488"/>
            <a:ext cx="38404" cy="120700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6099048" y="5230368"/>
            <a:ext cx="5379415" cy="292608"/>
          </a:xfrm>
          <a:prstGeom prst="rect">
            <a:avLst/>
          </a:prstGeom>
          <a:noFill/>
        </p:spPr>
        <p:txBody>
          <a:bodyPr wrap="square" lIns="0" tIns="0" rIns="0" bIns="0" anchor="t">
            <a:spAutoFit/>
          </a:bodyPr>
          <a:lstStyle/>
          <a:p>
            <a:pPr algn="l">
              <a:lnSpc>
                <a:spcPct val="115000"/>
              </a:lnSpc>
              <a:spcAft>
                <a:spcPts val="0"/>
              </a:spcAft>
            </a:pPr>
            <a:r>
              <a:rPr sz="1100" b="1">
                <a:solidFill>
                  <a:srgbClr val="1A1A1A"/>
                </a:solidFill>
                <a:latin typeface="Inter"/>
              </a:rPr>
              <a:t>Fix what we measure vs what the customer gets</a:t>
            </a:r>
          </a:p>
        </p:txBody>
      </p:sp>
      <p:sp>
        <p:nvSpPr>
          <p:cNvPr id="104" name="TextBox 103"/>
          <p:cNvSpPr txBox="1"/>
          <p:nvPr/>
        </p:nvSpPr>
        <p:spPr>
          <a:xfrm>
            <a:off x="6099048" y="5614416"/>
            <a:ext cx="5379415" cy="493776"/>
          </a:xfrm>
          <a:prstGeom prst="rect">
            <a:avLst/>
          </a:prstGeom>
          <a:noFill/>
        </p:spPr>
        <p:txBody>
          <a:bodyPr wrap="square" lIns="0" tIns="0" rIns="0" bIns="0" anchor="t">
            <a:spAutoFit/>
          </a:bodyPr>
          <a:lstStyle/>
          <a:p>
            <a:pPr algn="l">
              <a:lnSpc>
                <a:spcPct val="132000"/>
              </a:lnSpc>
              <a:spcAft>
                <a:spcPts val="400"/>
              </a:spcAft>
            </a:pPr>
            <a:r>
              <a:rPr sz="900" b="0">
                <a:solidFill>
                  <a:srgbClr val="4B5563"/>
                </a:solidFill>
                <a:latin typeface="Inter"/>
              </a:rPr>
              <a:t>Closure reporting and the Chat critical change the scorecard. ETA, refund authority and refund notifications change the outcome. Do not mix those two. See the action matrix.</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68680"/>
            <a:ext cx="12191695" cy="4114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di_mark_orange.png"/>
          <p:cNvPicPr>
            <a:picLocks noChangeAspect="1"/>
          </p:cNvPicPr>
          <p:nvPr/>
        </p:nvPicPr>
        <p:blipFill>
          <a:blip r:embed="rId2"/>
          <a:stretch>
            <a:fillRect/>
          </a:stretch>
        </p:blipFill>
        <p:spPr>
          <a:xfrm>
            <a:off x="457200" y="274320"/>
            <a:ext cx="329184" cy="329184"/>
          </a:xfrm>
          <a:prstGeom prst="rect">
            <a:avLst/>
          </a:prstGeom>
        </p:spPr>
      </p:pic>
      <p:sp>
        <p:nvSpPr>
          <p:cNvPr id="5" name="TextBox 4"/>
          <p:cNvSpPr txBox="1"/>
          <p:nvPr/>
        </p:nvSpPr>
        <p:spPr>
          <a:xfrm>
            <a:off x="859536" y="274320"/>
            <a:ext cx="914400" cy="329184"/>
          </a:xfrm>
          <a:prstGeom prst="rect">
            <a:avLst/>
          </a:prstGeom>
          <a:noFill/>
        </p:spPr>
        <p:txBody>
          <a:bodyPr wrap="square" lIns="0" tIns="0" rIns="0" bIns="0" anchor="ctr">
            <a:spAutoFit/>
          </a:bodyPr>
          <a:lstStyle/>
          <a:p>
            <a:pPr algn="l">
              <a:lnSpc>
                <a:spcPct val="115000"/>
              </a:lnSpc>
              <a:spcAft>
                <a:spcPts val="0"/>
              </a:spcAft>
            </a:pPr>
            <a:r>
              <a:rPr sz="1600" b="1">
                <a:solidFill>
                  <a:srgbClr val="FFFFFF"/>
                </a:solidFill>
                <a:latin typeface="Inter"/>
              </a:rPr>
              <a:t>DiDi</a:t>
            </a:r>
          </a:p>
        </p:txBody>
      </p:sp>
      <p:sp>
        <p:nvSpPr>
          <p:cNvPr id="6" name="Rectangle 5"/>
          <p:cNvSpPr/>
          <p:nvPr/>
        </p:nvSpPr>
        <p:spPr>
          <a:xfrm>
            <a:off x="1456690" y="219456"/>
            <a:ext cx="12700" cy="429768"/>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201168"/>
            <a:ext cx="9601200" cy="292608"/>
          </a:xfrm>
          <a:prstGeom prst="rect">
            <a:avLst/>
          </a:prstGeom>
          <a:noFill/>
        </p:spPr>
        <p:txBody>
          <a:bodyPr wrap="square" lIns="0" tIns="0" rIns="0" bIns="0" anchor="t">
            <a:spAutoFit/>
          </a:bodyPr>
          <a:lstStyle/>
          <a:p>
            <a:pPr algn="l">
              <a:lnSpc>
                <a:spcPct val="115000"/>
              </a:lnSpc>
              <a:spcAft>
                <a:spcPts val="0"/>
              </a:spcAft>
            </a:pPr>
            <a:r>
              <a:rPr sz="1800" b="1">
                <a:solidFill>
                  <a:srgbClr val="FFFFFF"/>
                </a:solidFill>
                <a:latin typeface="Inter"/>
              </a:rPr>
              <a:t>The recommendation</a:t>
            </a:r>
          </a:p>
        </p:txBody>
      </p:sp>
      <p:sp>
        <p:nvSpPr>
          <p:cNvPr id="8" name="TextBox 7"/>
          <p:cNvSpPr txBox="1"/>
          <p:nvPr/>
        </p:nvSpPr>
        <p:spPr>
          <a:xfrm>
            <a:off x="1645920" y="530352"/>
            <a:ext cx="9601200" cy="219456"/>
          </a:xfrm>
          <a:prstGeom prst="rect">
            <a:avLst/>
          </a:prstGeom>
          <a:noFill/>
        </p:spPr>
        <p:txBody>
          <a:bodyPr wrap="square" lIns="0" tIns="0" rIns="0" bIns="0" anchor="t">
            <a:spAutoFit/>
          </a:bodyPr>
          <a:lstStyle/>
          <a:p>
            <a:pPr algn="l">
              <a:lnSpc>
                <a:spcPct val="115000"/>
              </a:lnSpc>
              <a:spcAft>
                <a:spcPts val="0"/>
              </a:spcAft>
            </a:pPr>
            <a:r>
              <a:rPr sz="950" b="0">
                <a:solidFill>
                  <a:srgbClr val="9CA3AF"/>
                </a:solidFill>
                <a:latin typeface="Inter"/>
              </a:rPr>
              <a:t>Process compliance looks healthy. Customer outcome does not.</a:t>
            </a:r>
          </a:p>
        </p:txBody>
      </p:sp>
      <p:sp>
        <p:nvSpPr>
          <p:cNvPr id="9" name="TextBox 8"/>
          <p:cNvSpPr txBox="1"/>
          <p:nvPr/>
        </p:nvSpPr>
        <p:spPr>
          <a:xfrm>
            <a:off x="8991295" y="329184"/>
            <a:ext cx="2743200" cy="237744"/>
          </a:xfrm>
          <a:prstGeom prst="rect">
            <a:avLst/>
          </a:prstGeom>
          <a:noFill/>
        </p:spPr>
        <p:txBody>
          <a:bodyPr wrap="square" lIns="0" tIns="0" rIns="0" bIns="0" anchor="t">
            <a:spAutoFit/>
          </a:bodyPr>
          <a:lstStyle/>
          <a:p>
            <a:pPr algn="r">
              <a:lnSpc>
                <a:spcPct val="115000"/>
              </a:lnSpc>
              <a:spcAft>
                <a:spcPts val="0"/>
              </a:spcAft>
            </a:pPr>
            <a:r>
              <a:rPr sz="900" b="1">
                <a:solidFill>
                  <a:srgbClr val="FF6600"/>
                </a:solidFill>
                <a:latin typeface="Inter"/>
              </a:rPr>
              <a:t>32</a:t>
            </a:r>
          </a:p>
        </p:txBody>
      </p:sp>
      <p:sp>
        <p:nvSpPr>
          <p:cNvPr id="10" name="TextBox 9"/>
          <p:cNvSpPr txBox="1"/>
          <p:nvPr/>
        </p:nvSpPr>
        <p:spPr>
          <a:xfrm>
            <a:off x="457200" y="6473952"/>
            <a:ext cx="11277295" cy="219456"/>
          </a:xfrm>
          <a:prstGeom prst="rect">
            <a:avLst/>
          </a:prstGeom>
          <a:noFill/>
        </p:spPr>
        <p:txBody>
          <a:bodyPr wrap="square" lIns="0" tIns="0" rIns="0" bIns="0" anchor="t">
            <a:spAutoFit/>
          </a:bodyPr>
          <a:lstStyle/>
          <a:p>
            <a:pPr algn="l">
              <a:lnSpc>
                <a:spcPct val="115000"/>
              </a:lnSpc>
              <a:spcAft>
                <a:spcPts val="0"/>
              </a:spcAft>
            </a:pPr>
            <a:r>
              <a:rPr sz="750" b="0">
                <a:solidFill>
                  <a:srgbClr val="9CA3AF"/>
                </a:solidFill>
                <a:latin typeface="Inter"/>
              </a:rPr>
              <a:t>DiDi Global, CX Service Operations   |   Confidential. Internal use only</a:t>
            </a:r>
          </a:p>
        </p:txBody>
      </p:sp>
      <p:sp>
        <p:nvSpPr>
          <p:cNvPr id="11" name="Rectangle 10"/>
          <p:cNvSpPr/>
          <p:nvPr/>
        </p:nvSpPr>
        <p:spPr>
          <a:xfrm>
            <a:off x="457200" y="1207008"/>
            <a:ext cx="11277295" cy="2267712"/>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207008"/>
            <a:ext cx="38404" cy="226771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8096" y="1389888"/>
            <a:ext cx="10710367" cy="292608"/>
          </a:xfrm>
          <a:prstGeom prst="rect">
            <a:avLst/>
          </a:prstGeom>
          <a:noFill/>
        </p:spPr>
        <p:txBody>
          <a:bodyPr wrap="square" lIns="0" tIns="0" rIns="0" bIns="0" anchor="t">
            <a:spAutoFit/>
          </a:bodyPr>
          <a:lstStyle/>
          <a:p>
            <a:pPr algn="l">
              <a:lnSpc>
                <a:spcPct val="115000"/>
              </a:lnSpc>
              <a:spcAft>
                <a:spcPts val="0"/>
              </a:spcAft>
            </a:pPr>
            <a:r>
              <a:rPr sz="1500" b="1">
                <a:solidFill>
                  <a:srgbClr val="1A1A1A"/>
                </a:solidFill>
                <a:latin typeface="Inter"/>
              </a:rPr>
              <a:t>What this month is telling us</a:t>
            </a:r>
          </a:p>
        </p:txBody>
      </p:sp>
      <p:sp>
        <p:nvSpPr>
          <p:cNvPr id="14" name="TextBox 13"/>
          <p:cNvSpPr txBox="1"/>
          <p:nvPr/>
        </p:nvSpPr>
        <p:spPr>
          <a:xfrm>
            <a:off x="768096" y="1773936"/>
            <a:ext cx="10710367" cy="1554480"/>
          </a:xfrm>
          <a:prstGeom prst="rect">
            <a:avLst/>
          </a:prstGeom>
          <a:noFill/>
        </p:spPr>
        <p:txBody>
          <a:bodyPr wrap="square" lIns="0" tIns="0" rIns="0" bIns="0" anchor="t">
            <a:spAutoFit/>
          </a:bodyPr>
          <a:lstStyle/>
          <a:p>
            <a:pPr algn="l">
              <a:lnSpc>
                <a:spcPct val="132000"/>
              </a:lnSpc>
              <a:spcAft>
                <a:spcPts val="400"/>
              </a:spcAft>
            </a:pPr>
            <a:r>
              <a:rPr sz="1300" b="0">
                <a:solidFill>
                  <a:srgbClr val="4B5563"/>
                </a:solidFill>
                <a:latin typeface="Inter"/>
              </a:rPr>
              <a:t>Our operation looks healthy when we measure agent process compliance (QA 94.14), but the customer outcome tells a different story. Blended CSAT is 79.95% against 85% (Phone 86.3%, Chat 77.6%), and human-channel recontact is 15.56%, nearly three times the 5.44% goal. The largest gaps sit in contact reasons where agents cannot close the case: policy, tooling, or no visibility. The priority is not simply more coaching. Measure resolution. Fix the QA scoring gaps. Give agents a way to close the highest-volume failure reasons.</a:t>
            </a:r>
          </a:p>
        </p:txBody>
      </p:sp>
      <p:sp>
        <p:nvSpPr>
          <p:cNvPr id="15" name="TextBox 14"/>
          <p:cNvSpPr txBox="1"/>
          <p:nvPr/>
        </p:nvSpPr>
        <p:spPr>
          <a:xfrm>
            <a:off x="457200" y="3657600"/>
            <a:ext cx="11277295" cy="219456"/>
          </a:xfrm>
          <a:prstGeom prst="rect">
            <a:avLst/>
          </a:prstGeom>
          <a:noFill/>
        </p:spPr>
        <p:txBody>
          <a:bodyPr wrap="square" lIns="0" tIns="0" rIns="0" bIns="0" anchor="t">
            <a:spAutoFit/>
          </a:bodyPr>
          <a:lstStyle/>
          <a:p>
            <a:pPr algn="l">
              <a:lnSpc>
                <a:spcPct val="115000"/>
              </a:lnSpc>
              <a:spcAft>
                <a:spcPts val="0"/>
              </a:spcAft>
            </a:pPr>
            <a:r>
              <a:rPr sz="1100" b="1">
                <a:solidFill>
                  <a:srgbClr val="1A1A1A"/>
                </a:solidFill>
                <a:latin typeface="Inter"/>
              </a:rPr>
              <a:t>Three things to do</a:t>
            </a:r>
          </a:p>
        </p:txBody>
      </p:sp>
      <p:sp>
        <p:nvSpPr>
          <p:cNvPr id="16" name="Rounded Rectangle 15"/>
          <p:cNvSpPr/>
          <p:nvPr/>
        </p:nvSpPr>
        <p:spPr>
          <a:xfrm>
            <a:off x="457200" y="3968496"/>
            <a:ext cx="3649370" cy="2011680"/>
          </a:xfrm>
          <a:prstGeom prst="roundRect">
            <a:avLst>
              <a:gd name="adj" fmla="val 3636"/>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4133087"/>
            <a:ext cx="3247034" cy="219456"/>
          </a:xfrm>
          <a:prstGeom prst="rect">
            <a:avLst/>
          </a:prstGeom>
          <a:noFill/>
        </p:spPr>
        <p:txBody>
          <a:bodyPr wrap="square" lIns="0" tIns="0" rIns="0" bIns="0" anchor="t">
            <a:spAutoFit/>
          </a:bodyPr>
          <a:lstStyle/>
          <a:p>
            <a:pPr algn="l">
              <a:lnSpc>
                <a:spcPct val="115000"/>
              </a:lnSpc>
              <a:spcAft>
                <a:spcPts val="0"/>
              </a:spcAft>
            </a:pPr>
            <a:r>
              <a:rPr sz="1000" b="1">
                <a:solidFill>
                  <a:srgbClr val="1A1A1A"/>
                </a:solidFill>
                <a:latin typeface="Inter"/>
              </a:rPr>
              <a:t>Measure resolution</a:t>
            </a:r>
          </a:p>
        </p:txBody>
      </p:sp>
      <p:sp>
        <p:nvSpPr>
          <p:cNvPr id="18" name="TextBox 17"/>
          <p:cNvSpPr txBox="1"/>
          <p:nvPr/>
        </p:nvSpPr>
        <p:spPr>
          <a:xfrm>
            <a:off x="658368" y="4407408"/>
            <a:ext cx="3247034" cy="1389888"/>
          </a:xfrm>
          <a:prstGeom prst="rect">
            <a:avLst/>
          </a:prstGeom>
          <a:noFill/>
        </p:spPr>
        <p:txBody>
          <a:bodyPr wrap="square" lIns="0" tIns="0" rIns="0" bIns="0" anchor="t">
            <a:spAutoFit/>
          </a:bodyPr>
          <a:lstStyle/>
          <a:p>
            <a:pPr algn="l">
              <a:lnSpc>
                <a:spcPct val="128000"/>
              </a:lnSpc>
              <a:spcAft>
                <a:spcPts val="0"/>
              </a:spcAft>
            </a:pPr>
            <a:r>
              <a:rPr sz="1100" b="0">
                <a:solidFill>
                  <a:srgbClr val="4B5563"/>
                </a:solidFill>
                <a:latin typeface="Inter"/>
              </a:rPr>
              <a:t>Put % closed next to QA, by contact reason. Closure is strongly associated with CSAT and is a more meaningful indicator of customer outcome than current QA. Close-rate vs CSAT: R² 0.64.</a:t>
            </a:r>
          </a:p>
        </p:txBody>
      </p:sp>
      <p:sp>
        <p:nvSpPr>
          <p:cNvPr id="19" name="Rounded Rectangle 18"/>
          <p:cNvSpPr/>
          <p:nvPr/>
        </p:nvSpPr>
        <p:spPr>
          <a:xfrm>
            <a:off x="4271162" y="3968496"/>
            <a:ext cx="3649370" cy="2011680"/>
          </a:xfrm>
          <a:prstGeom prst="roundRect">
            <a:avLst>
              <a:gd name="adj" fmla="val 3636"/>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72330" y="4133087"/>
            <a:ext cx="3247034" cy="219456"/>
          </a:xfrm>
          <a:prstGeom prst="rect">
            <a:avLst/>
          </a:prstGeom>
          <a:noFill/>
        </p:spPr>
        <p:txBody>
          <a:bodyPr wrap="square" lIns="0" tIns="0" rIns="0" bIns="0" anchor="t">
            <a:spAutoFit/>
          </a:bodyPr>
          <a:lstStyle/>
          <a:p>
            <a:pPr algn="l">
              <a:lnSpc>
                <a:spcPct val="115000"/>
              </a:lnSpc>
              <a:spcAft>
                <a:spcPts val="0"/>
              </a:spcAft>
            </a:pPr>
            <a:r>
              <a:rPr sz="1000" b="1">
                <a:solidFill>
                  <a:srgbClr val="1A1A1A"/>
                </a:solidFill>
                <a:latin typeface="Inter"/>
              </a:rPr>
              <a:t>Fix the QA scoring gaps</a:t>
            </a:r>
          </a:p>
        </p:txBody>
      </p:sp>
      <p:sp>
        <p:nvSpPr>
          <p:cNvPr id="21" name="TextBox 20"/>
          <p:cNvSpPr txBox="1"/>
          <p:nvPr/>
        </p:nvSpPr>
        <p:spPr>
          <a:xfrm>
            <a:off x="4472330" y="4407408"/>
            <a:ext cx="3247034" cy="1389888"/>
          </a:xfrm>
          <a:prstGeom prst="rect">
            <a:avLst/>
          </a:prstGeom>
          <a:noFill/>
        </p:spPr>
        <p:txBody>
          <a:bodyPr wrap="square" lIns="0" tIns="0" rIns="0" bIns="0" anchor="t">
            <a:spAutoFit/>
          </a:bodyPr>
          <a:lstStyle/>
          <a:p>
            <a:pPr algn="l">
              <a:lnSpc>
                <a:spcPct val="128000"/>
              </a:lnSpc>
              <a:spcAft>
                <a:spcPts val="0"/>
              </a:spcAft>
            </a:pPr>
            <a:r>
              <a:rPr sz="1100" b="0">
                <a:solidFill>
                  <a:srgbClr val="4B5563"/>
                </a:solidFill>
                <a:latin typeface="Inter"/>
              </a:rPr>
              <a:t>Current Chat QA: 96.01. Adjusted QA under proposed scoring: 80.14. The second is a scenario if process-fails scored 0, not today's score.</a:t>
            </a:r>
          </a:p>
        </p:txBody>
      </p:sp>
      <p:sp>
        <p:nvSpPr>
          <p:cNvPr id="22" name="Rounded Rectangle 21"/>
          <p:cNvSpPr/>
          <p:nvPr/>
        </p:nvSpPr>
        <p:spPr>
          <a:xfrm>
            <a:off x="8085124" y="3968496"/>
            <a:ext cx="3649370" cy="2011680"/>
          </a:xfrm>
          <a:prstGeom prst="roundRect">
            <a:avLst>
              <a:gd name="adj" fmla="val 3636"/>
            </a:avLst>
          </a:prstGeom>
          <a:solidFill>
            <a:srgbClr val="FFFFFF"/>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86292" y="4133087"/>
            <a:ext cx="3247034" cy="219456"/>
          </a:xfrm>
          <a:prstGeom prst="rect">
            <a:avLst/>
          </a:prstGeom>
          <a:noFill/>
        </p:spPr>
        <p:txBody>
          <a:bodyPr wrap="square" lIns="0" tIns="0" rIns="0" bIns="0" anchor="t">
            <a:spAutoFit/>
          </a:bodyPr>
          <a:lstStyle/>
          <a:p>
            <a:pPr algn="l">
              <a:lnSpc>
                <a:spcPct val="115000"/>
              </a:lnSpc>
              <a:spcAft>
                <a:spcPts val="0"/>
              </a:spcAft>
            </a:pPr>
            <a:r>
              <a:rPr sz="1000" b="1">
                <a:solidFill>
                  <a:srgbClr val="1A1A1A"/>
                </a:solidFill>
                <a:latin typeface="Inter"/>
              </a:rPr>
              <a:t>Let agents close the case</a:t>
            </a:r>
          </a:p>
        </p:txBody>
      </p:sp>
      <p:sp>
        <p:nvSpPr>
          <p:cNvPr id="24" name="TextBox 23"/>
          <p:cNvSpPr txBox="1"/>
          <p:nvPr/>
        </p:nvSpPr>
        <p:spPr>
          <a:xfrm>
            <a:off x="8286292" y="4407408"/>
            <a:ext cx="3247034" cy="1389888"/>
          </a:xfrm>
          <a:prstGeom prst="rect">
            <a:avLst/>
          </a:prstGeom>
          <a:noFill/>
        </p:spPr>
        <p:txBody>
          <a:bodyPr wrap="square" lIns="0" tIns="0" rIns="0" bIns="0" anchor="t">
            <a:spAutoFit/>
          </a:bodyPr>
          <a:lstStyle/>
          <a:p>
            <a:pPr algn="l">
              <a:lnSpc>
                <a:spcPct val="128000"/>
              </a:lnSpc>
              <a:spcAft>
                <a:spcPts val="0"/>
              </a:spcAft>
            </a:pPr>
            <a:r>
              <a:rPr sz="1100" b="0">
                <a:solidFill>
                  <a:srgbClr val="4B5563"/>
                </a:solidFill>
                <a:latin typeface="Inter"/>
              </a:rPr>
              <a:t>Policy, tools, and visibility on the highest-volume failure reasons. The priority is the process constraint, not only agent coaching.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TotalTime>
  <Words>6856</Words>
  <Application>Microsoft Office PowerPoint</Application>
  <PresentationFormat>Panorámica</PresentationFormat>
  <Paragraphs>980</Paragraphs>
  <Slides>32</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32</vt:i4>
      </vt:variant>
    </vt:vector>
  </HeadingPairs>
  <TitlesOfParts>
    <vt:vector size="38" baseType="lpstr">
      <vt:lpstr>Arial</vt:lpstr>
      <vt:lpstr>Calibri</vt:lpstr>
      <vt:lpstr>Inter</vt:lpstr>
      <vt:lpstr>Times New Roman</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keywords/>
  <dc:description>generated using python-pptx</dc:description>
  <cp:lastModifiedBy>Santiago Varon</cp:lastModifiedBy>
  <cp:revision>7</cp:revision>
  <dcterms:created xsi:type="dcterms:W3CDTF">2013-01-27T09:14:16Z</dcterms:created>
  <dcterms:modified xsi:type="dcterms:W3CDTF">2026-08-23T07:28:42Z</dcterms:modified>
  <cp:category/>
</cp:coreProperties>
</file>