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8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3C56-7DDE-4BA8-B842-F415930613B1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15C4-BB41-4546-96AD-5D78A82782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15C4-BB41-4546-96AD-5D78A82782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379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481328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48132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CCD1"/>
                </a:solidFill>
                <a:latin typeface="Inter"/>
              </a:rPr>
              <a:t>CX Service Operations  ·  Delivery LOB  ·  Phone and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803904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8ACB3"/>
                </a:solidFill>
                <a:latin typeface="Inter"/>
              </a:rPr>
              <a:t>Deliverable 2: CX Quality Analyst business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065776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3735" y="5084064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03346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4514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062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3930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0798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062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3930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0798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dirty="0">
                <a:solidFill>
                  <a:srgbClr val="A8ACB3"/>
                </a:solidFill>
                <a:latin typeface="Inter"/>
              </a:rPr>
              <a:t>1–31 May 2026  ·  W19–W22</a:t>
            </a:r>
          </a:p>
        </p:txBody>
      </p:sp>
      <p:sp>
        <p:nvSpPr>
          <p:cNvPr id="20" name="Oval 19"/>
          <p:cNvSpPr/>
          <p:nvPr/>
        </p:nvSpPr>
        <p:spPr>
          <a:xfrm>
            <a:off x="5867247" y="5001768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99835" y="5001768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247" y="5224018"/>
            <a:ext cx="457200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0107" y="5123433"/>
            <a:ext cx="411479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13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MX  ·  CO  ·  CR  ·  PE</a:t>
            </a:r>
          </a:p>
        </p:txBody>
      </p:sp>
      <p:sp>
        <p:nvSpPr>
          <p:cNvPr id="25" name="Oval 24"/>
          <p:cNvSpPr/>
          <p:nvPr/>
        </p:nvSpPr>
        <p:spPr>
          <a:xfrm>
            <a:off x="8989923" y="5020055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30487" y="5221224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02471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2803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6519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31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Prepared for CX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Scope, data and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88388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Data governance, processing methodology, and structural scope boundary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D0314BB-D62C-2727-52A1-ECEEC8D0CC41}"/>
              </a:ext>
            </a:extLst>
          </p:cNvPr>
          <p:cNvGrpSpPr/>
          <p:nvPr/>
        </p:nvGrpSpPr>
        <p:grpSpPr>
          <a:xfrm>
            <a:off x="457200" y="1280160"/>
            <a:ext cx="11274552" cy="2290762"/>
            <a:chOff x="457200" y="1280160"/>
            <a:chExt cx="11274552" cy="2290762"/>
          </a:xfrm>
        </p:grpSpPr>
        <p:sp>
          <p:nvSpPr>
            <p:cNvPr id="11" name="Rectangle 10"/>
            <p:cNvSpPr/>
            <p:nvPr/>
          </p:nvSpPr>
          <p:spPr>
            <a:xfrm>
              <a:off x="457200" y="1280160"/>
              <a:ext cx="1127455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80558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Source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9736" y="1380558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Grain: one row is…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1536" y="1380558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Volume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65976" y="1380558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Period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83296" y="1380558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What it answers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810326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QA audits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9736" y="1810326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audited interaction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1536" y="1810326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2,460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65976" y="1810326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3296" y="1810326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QA score, attribute defects, channel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34933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2139696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5216" y="2285814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>
                  <a:solidFill>
                    <a:srgbClr val="4B5563"/>
                  </a:solidFill>
                  <a:latin typeface="Inter"/>
                </a:rPr>
                <a:t>QA attribute fails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9736" y="2285814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failed attribute in an audit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31536" y="2285814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518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65976" y="2285814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285814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Pareto of defects, critical vs non-critical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261042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2761302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CSAT surveys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9736" y="2761302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One survey answer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31536" y="2761302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65976" y="2761302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3296" y="2761302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CSAT %, star</a:t>
              </a:r>
              <a:r>
                <a:rPr lang="es-MX" sz="1100" b="0" dirty="0">
                  <a:solidFill>
                    <a:srgbClr val="4B5563"/>
                  </a:solidFill>
                  <a:latin typeface="Inter"/>
                </a:rPr>
                <a:t> rating</a:t>
              </a:r>
              <a:r>
                <a:rPr sz="1100" b="0" dirty="0">
                  <a:solidFill>
                    <a:srgbClr val="4B5563"/>
                  </a:solidFill>
                  <a:latin typeface="Inter"/>
                </a:rPr>
                <a:t> mix, verbatim comments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085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3090672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3236790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9736" y="3236790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contact-reason / channel / day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31536" y="3236790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994,591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65976" y="3236790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83296" y="3236790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Recontact rate, repeat volume by reason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" y="356139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57200" y="384048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  <a:latin typeface="Inter"/>
              </a:rPr>
              <a:t>How we treated the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960" y="42319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160520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N/A Logic Exclusions:</a:t>
            </a:r>
            <a:r>
              <a:rPr lang="en-US" sz="1000" dirty="0"/>
              <a:t> Non-applicable attributes (Value 2) are dropped from both numerator and denominator calculations.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3484" y="4704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" y="4608576"/>
            <a:ext cx="515721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Zeroing Penalty:</a:t>
            </a:r>
            <a:r>
              <a:rPr lang="en-US" sz="1000" dirty="0"/>
              <a:t> A single Critical Attribute failure instantly drops the total audit score to 0%.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3484" y="49971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" y="4901184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Rubric Independence: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Phone (12 attributes) and Live Chat (8 attributes) are evaluated using isolated frameworks; official QA ignores resolution dropdown tags.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1104" y="55084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1228" y="5339367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True Weighted Aggregation:</a:t>
            </a:r>
            <a:r>
              <a:rPr lang="en-US" sz="1000" dirty="0"/>
              <a:t> CSAT and Recontact rates are computed as weighted monthly ratios rather than unweighted averages of daily metrics.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" y="59136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" y="5827779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Statistical Cutoff:</a:t>
            </a:r>
            <a:r>
              <a:rPr lang="en-US" sz="1000" dirty="0"/>
              <a:t> Agents with under 5 monthly audits are filtered out of individual agent rankings to eliminate low-sample variance.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75527" y="3817620"/>
            <a:ext cx="5431536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/>
              <a:t>Scope</a:t>
            </a:r>
            <a:r>
              <a:rPr lang="es-CO" sz="1100" b="1" dirty="0"/>
              <a:t> &amp; </a:t>
            </a:r>
            <a:r>
              <a:rPr lang="es-CO" sz="1100" b="1" dirty="0" err="1"/>
              <a:t>Limitations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92596" y="41642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0340" y="4068235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LOB Restriction:</a:t>
            </a:r>
            <a:r>
              <a:rPr lang="en-US" sz="1000" dirty="0"/>
              <a:t> Scope is strictly limited to the </a:t>
            </a:r>
            <a:r>
              <a:rPr lang="en-US" sz="1000" b="1" dirty="0"/>
              <a:t>Delivery</a:t>
            </a:r>
            <a:r>
              <a:rPr lang="en-US" sz="1000" dirty="0"/>
              <a:t> line of business (LOB cuts collapse into Business Type).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00216" y="46641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568104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Sampling Asymmetry:</a:t>
            </a:r>
            <a:r>
              <a:rPr lang="en-US" sz="1000" dirty="0"/>
              <a:t> Audit distribution is heavily skewed toward Live Chat (85.6%) versus Phone (14.4%), under-sampling voice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00216" y="51866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090679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Audit Coverage:</a:t>
            </a:r>
            <a:r>
              <a:rPr lang="en-US" sz="1000" dirty="0"/>
              <a:t> Recontact spans 12 operational channels, whereas QA auditing only covers Live Chat and Phone.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00216" y="573172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5635708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Metric Cross-Analysis: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QA and CSAT correlations are calculated exclusively across the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45 shared contact reasons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present in both datasets.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00216" y="617661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21810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Timeframe Alignment:</a:t>
            </a:r>
            <a:r>
              <a:rPr lang="en-US" sz="1000" dirty="0"/>
              <a:t> CSAT and Recontact cover the full calendar month (May 1–31), while QA audits span May 4–29 (starting W19).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Monthly operational KPI scorecard and diagnostic summary.</a:t>
            </a:r>
            <a:endParaRPr lang="es-CO"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QA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2417064" y="1325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18900000">
            <a:off x="2525328" y="1438259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2700000">
            <a:off x="2493142" y="1473372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94.14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653796" y="2080260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+9.14 pp vs 85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41448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2831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441448"/>
            <a:ext cx="543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0296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1464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CSAT (BLENDED)</a:t>
            </a:r>
          </a:p>
        </p:txBody>
      </p:sp>
      <p:sp>
        <p:nvSpPr>
          <p:cNvPr id="24" name="Oval 23"/>
          <p:cNvSpPr/>
          <p:nvPr/>
        </p:nvSpPr>
        <p:spPr>
          <a:xfrm>
            <a:off x="5090160" y="1325880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77942" y="1393179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3176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79.95%</a:t>
            </a:r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326892" y="2080260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6056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-5.05 pp vs 85% goal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3176" y="2441448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2904" y="252831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7496" y="2441448"/>
            <a:ext cx="1510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3392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4560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RECONTACT (GLOBAL)</a:t>
            </a:r>
          </a:p>
        </p:txBody>
      </p:sp>
      <p:sp>
        <p:nvSpPr>
          <p:cNvPr id="34" name="Oval 33"/>
          <p:cNvSpPr/>
          <p:nvPr/>
        </p:nvSpPr>
        <p:spPr>
          <a:xfrm>
            <a:off x="7763256" y="13258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39334" y="1447038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6272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5.83%</a:t>
            </a:r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999988" y="2080260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9152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+0.39 pp vs 5.44% goal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6272" y="2441448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6000" y="2528315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0592" y="2441448"/>
            <a:ext cx="105910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7833" y="1170432"/>
            <a:ext cx="2087880" cy="1572768"/>
          </a:xfrm>
          <a:prstGeom prst="roundRect">
            <a:avLst>
              <a:gd name="adj" fmla="val 4651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9000" y="1335024"/>
            <a:ext cx="2855671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l-PL" sz="1000" b="1" dirty="0">
                <a:solidFill>
                  <a:srgbClr val="1A1A1A"/>
                </a:solidFill>
                <a:latin typeface="Inter"/>
              </a:rPr>
              <a:t>May </a:t>
            </a:r>
            <a:r>
              <a:rPr lang="es-MX" sz="1000" b="1" dirty="0">
                <a:solidFill>
                  <a:srgbClr val="1A1A1A"/>
                </a:solidFill>
                <a:latin typeface="Inter"/>
              </a:rPr>
              <a:t>in </a:t>
            </a:r>
            <a:r>
              <a:rPr lang="en-US" sz="1000" b="1" dirty="0">
                <a:solidFill>
                  <a:srgbClr val="1A1A1A"/>
                </a:solidFill>
                <a:latin typeface="Inter"/>
              </a:rPr>
              <a:t>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7288" y="1673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994,591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233" y="1700784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050" dirty="0">
                <a:solidFill>
                  <a:srgbClr val="6B7280"/>
                </a:solidFill>
                <a:latin typeface="Inter"/>
              </a:rPr>
              <a:t>C</a:t>
            </a:r>
            <a:r>
              <a:rPr sz="1050" b="0" dirty="0">
                <a:solidFill>
                  <a:srgbClr val="6B7280"/>
                </a:solidFill>
                <a:latin typeface="Inter"/>
              </a:rPr>
              <a:t>ustomer contacts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7288" y="20208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77,266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233" y="2042070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CSAT surveys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7288" y="23682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2,460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5538" y="2355205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QA audits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98142"/>
            <a:ext cx="6903720" cy="238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Scorecard Divergence (2 of 3 Missed):</a:t>
            </a:r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High QA compliance (94.14) fails to translate to customer satisfaction (79.95% CSAT vs 85.0% goal). Recontact finished over tolerance at 5.83% (vs. 5.44% limit) despite a week 4 improvement to 5.26%.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050" b="1" dirty="0"/>
              <a:t>QA-CSAT 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Decoupling</a:t>
            </a:r>
            <a:r>
              <a:rPr lang="es-CO" sz="1050" b="1" dirty="0"/>
              <a:t> (R² = 0.023):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45 </a:t>
            </a:r>
            <a:r>
              <a:rPr lang="es-CO" sz="1050" dirty="0" err="1"/>
              <a:t>shared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internal</a:t>
            </a:r>
            <a:r>
              <a:rPr lang="es-CO" sz="1050" dirty="0"/>
              <a:t> QA </a:t>
            </a:r>
            <a:r>
              <a:rPr lang="es-CO" sz="1050" dirty="0" err="1"/>
              <a:t>compliance</a:t>
            </a:r>
            <a:r>
              <a:rPr lang="es-CO" sz="1050" dirty="0"/>
              <a:t> shows </a:t>
            </a:r>
            <a:r>
              <a:rPr lang="es-CO" sz="1050" dirty="0" err="1"/>
              <a:t>virtually</a:t>
            </a:r>
            <a:r>
              <a:rPr lang="es-CO" sz="1050" dirty="0"/>
              <a:t> </a:t>
            </a:r>
            <a:r>
              <a:rPr lang="es-CO" sz="1050" dirty="0" err="1"/>
              <a:t>zero</a:t>
            </a:r>
            <a:r>
              <a:rPr lang="es-CO" sz="1050" dirty="0"/>
              <a:t> </a:t>
            </a:r>
            <a:r>
              <a:rPr lang="es-CO" sz="1050" dirty="0" err="1"/>
              <a:t>correlation</a:t>
            </a:r>
            <a:r>
              <a:rPr lang="es-CO" sz="1050" dirty="0"/>
              <a:t> </a:t>
            </a:r>
            <a:r>
              <a:rPr lang="es-CO" sz="1050" dirty="0" err="1"/>
              <a:t>with</a:t>
            </a:r>
            <a:r>
              <a:rPr lang="es-CO" sz="1050" dirty="0"/>
              <a:t> CSAT. Live Chat scores 96.01 QA / 77.6% CSAT, </a:t>
            </a:r>
            <a:r>
              <a:rPr lang="es-CO" sz="1050" dirty="0" err="1"/>
              <a:t>while</a:t>
            </a:r>
            <a:r>
              <a:rPr lang="es-CO" sz="1050" dirty="0"/>
              <a:t> </a:t>
            </a:r>
            <a:r>
              <a:rPr lang="es-CO" sz="1050" dirty="0" err="1"/>
              <a:t>Phone</a:t>
            </a:r>
            <a:r>
              <a:rPr lang="es-CO" sz="1050" dirty="0"/>
              <a:t> scores 83.04 QA / 86.3% CSAT.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sz="1050" b="1" dirty="0">
                <a:latin typeface="Inter"/>
              </a:rPr>
              <a:t>Structural</a:t>
            </a:r>
            <a:r>
              <a:rPr lang="es-CO" sz="1050" b="1" dirty="0">
                <a:latin typeface="Inter"/>
              </a:rPr>
              <a:t> Audit </a:t>
            </a:r>
            <a:r>
              <a:rPr lang="en-US" sz="1050" b="1" dirty="0">
                <a:latin typeface="Inter"/>
              </a:rPr>
              <a:t>Blind</a:t>
            </a:r>
            <a:r>
              <a:rPr lang="es-CO" sz="1050" b="1" dirty="0">
                <a:latin typeface="Inter"/>
              </a:rPr>
              <a:t> Spots: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Resolution Masking:</a:t>
            </a:r>
            <a:r>
              <a:rPr lang="en-US" sz="1050" dirty="0"/>
              <a:t> 527 audits followed SOPs without resolving the case, yet averaged 96.87 QA.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Rubric Distortion:</a:t>
            </a:r>
            <a:r>
              <a:rPr lang="en-US" sz="1050" dirty="0"/>
              <a:t> Chat lacks critical penalties for inaccurate information, allowing 80% of process-failing chats (297/372) to score 100. Correcting this rubric drops true Chat QA to 80.14.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endParaRPr sz="10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27848" y="3272028"/>
            <a:ext cx="4007815" cy="2305812"/>
          </a:xfrm>
          <a:prstGeom prst="roundRect">
            <a:avLst>
              <a:gd name="adj" fmla="val 2253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9017" y="3436620"/>
            <a:ext cx="3605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Status legend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9017" y="39075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1" y="38115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Inter"/>
              </a:rPr>
              <a:t>Green </a:t>
            </a:r>
            <a:r>
              <a:rPr sz="950" b="0">
                <a:solidFill>
                  <a:srgbClr val="4B5563"/>
                </a:solidFill>
                <a:latin typeface="Inter"/>
              </a:rPr>
              <a:t>: at or above goal.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7" y="418185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5446" y="408584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Amber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within 5 points of goal.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7" y="445617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31" y="436016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Red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more than 5 points off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5183" y="4753356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dirty="0">
                <a:solidFill>
                  <a:srgbClr val="6B7280"/>
                </a:solidFill>
                <a:latin typeface="Inter"/>
              </a:rPr>
              <a:t>QA is measured against 85. CSAT against 85%. Recontact against 5.44%, and lower is better. That 5.44% goal is on the global rate (all channels). Built on 2,460 audits, 77,266 surveys and 994,591 contacts.</a:t>
            </a: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E5F015F5-3D57-23FC-60EE-44DC0849F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1409" r="949" b="1818"/>
          <a:stretch/>
        </p:blipFill>
        <p:spPr>
          <a:xfrm>
            <a:off x="202387" y="1170432"/>
            <a:ext cx="2802636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3AF6C5AD-ED64-7FFF-5D2E-1BE55A1C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167" y="1175004"/>
            <a:ext cx="2720645" cy="163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C097B7E6-A130-1136-CD15-3845BA01C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956" y="1165860"/>
            <a:ext cx="2648360" cy="164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sp>
        <p:nvSpPr>
          <p:cNvPr id="78" name="TextBox 38">
            <a:extLst>
              <a:ext uri="{FF2B5EF4-FFF2-40B4-BE49-F238E27FC236}">
                <a16:creationId xmlns:a16="http://schemas.microsoft.com/office/drawing/2014/main" id="{EC6BC232-C4B8-2602-15AB-2193FE58FF66}"/>
              </a:ext>
            </a:extLst>
          </p:cNvPr>
          <p:cNvSpPr txBox="1"/>
          <p:nvPr/>
        </p:nvSpPr>
        <p:spPr>
          <a:xfrm>
            <a:off x="410717" y="3505601"/>
            <a:ext cx="423308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1" dirty="0"/>
              <a:t>Key Performance Takeaways &amp; Structural Findings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2F87424-FF0A-A7C0-D21F-A8FDC8528958}"/>
              </a:ext>
            </a:extLst>
          </p:cNvPr>
          <p:cNvSpPr/>
          <p:nvPr/>
        </p:nvSpPr>
        <p:spPr>
          <a:xfrm>
            <a:off x="202387" y="1188720"/>
            <a:ext cx="8189929" cy="16258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Two paths after the same QA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QA scores step 2. CSAT scores step 4. Recontact is step 5. Close vs CSAT R² 0.64  ·  QA vs CSAT R² 0.023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08892A9-B225-EA7C-AF06-0F0347AE5EB9}"/>
              </a:ext>
            </a:extLst>
          </p:cNvPr>
          <p:cNvGrpSpPr/>
          <p:nvPr/>
        </p:nvGrpSpPr>
        <p:grpSpPr>
          <a:xfrm>
            <a:off x="780131" y="5030107"/>
            <a:ext cx="10414810" cy="1794902"/>
            <a:chOff x="457200" y="4059936"/>
            <a:chExt cx="11277295" cy="2089594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4059936"/>
              <a:ext cx="11277295" cy="232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endParaRPr sz="1200" b="1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297680"/>
              <a:ext cx="1127455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5" y="435616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3664" y="435616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policy / tools allow it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7144" y="435616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they do not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5" y="4703634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2 ·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3664" y="4703634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1,169 audits resolved + followed process · QA 95.86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7144" y="4703634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527 audits not resolved + followed process · QA 96.87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498786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4992624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215" y="508768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3 · Close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3664" y="508768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Closed 1,415 of 2,114 assessed (66.9%)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7144" y="508768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75.4% of not-resolved still followed process · 215 policy + 116 tools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371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215" y="5471730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4 · CSAT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83664" y="5471730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Wrong / damaged / inedible / incomplete order: 89–92% CSAT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67144" y="5471730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Order status &amp; delays: 64.7% CSAT despite QA 97.3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575595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760720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5215" y="5855777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5 · Recontact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83664" y="5855779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Those reasons: 2.9–5.2% recontact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67144" y="5855779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delays: 19.34% (7,680 repeats) · 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H</a:t>
              </a:r>
              <a:r>
                <a:rPr sz="1000" b="0" dirty="0" err="1">
                  <a:solidFill>
                    <a:srgbClr val="4B5563"/>
                  </a:solidFill>
                  <a:latin typeface="Inter"/>
                </a:rPr>
                <a:t>uman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lang="en-US" sz="1000" b="0" dirty="0">
                  <a:solidFill>
                    <a:srgbClr val="4B5563"/>
                  </a:solidFill>
                  <a:latin typeface="Inter"/>
                </a:rPr>
                <a:t>channels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15.56%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6140005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pic>
        <p:nvPicPr>
          <p:cNvPr id="40" name="Imagen 39" descr="Escala de tiempo&#10;&#10;Descripción generada automáticamente">
            <a:extLst>
              <a:ext uri="{FF2B5EF4-FFF2-40B4-BE49-F238E27FC236}">
                <a16:creationId xmlns:a16="http://schemas.microsoft.com/office/drawing/2014/main" id="{1ED8A4B4-76D9-A970-64FD-D01C5A4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" y="929299"/>
            <a:ext cx="10412277" cy="42851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Structural QA Flaws: Process Compliance vs. 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Internal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QA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audits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conversational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compliance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;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customers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rate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outcome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resolution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6" y="66865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37" name="Picture 36" descr="bar_audito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7" y="1351690"/>
            <a:ext cx="5434934" cy="2954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scatter_qa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45" y="1287851"/>
            <a:ext cx="4762942" cy="3154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754380" y="4585986"/>
            <a:ext cx="398907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 </a:t>
            </a:r>
            <a:r>
              <a:rPr lang="es-CO" sz="1050" b="1" dirty="0" err="1"/>
              <a:t>Breakdown</a:t>
            </a:r>
            <a:r>
              <a:rPr lang="es-CO" sz="1050" b="1" dirty="0"/>
              <a:t> &amp; </a:t>
            </a:r>
            <a:r>
              <a:rPr lang="es-CO" sz="1050" b="1" dirty="0" err="1"/>
              <a:t>Rubric</a:t>
            </a:r>
            <a:r>
              <a:rPr lang="es-CO" sz="1050" b="1" dirty="0"/>
              <a:t> </a:t>
            </a:r>
            <a:r>
              <a:rPr lang="es-CO" sz="1050" b="1" dirty="0" err="1"/>
              <a:t>Flaws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944" y="49771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4840001"/>
            <a:ext cx="4815765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Masking:</a:t>
            </a:r>
            <a:r>
              <a:rPr lang="en-US" sz="1000" dirty="0"/>
              <a:t> 527 audits followed SOPs without resolving the issue, yet averaged a </a:t>
            </a:r>
            <a:r>
              <a:rPr lang="en-US" sz="1000" b="1" dirty="0"/>
              <a:t>96.87 QA score</a:t>
            </a:r>
            <a:r>
              <a:rPr lang="en-US" sz="1000" dirty="0"/>
              <a:t> (higher than resolved cases at 95.86).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4944" y="545284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23138"/>
            <a:ext cx="4410837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Unpenalized Process Fails:</a:t>
            </a:r>
            <a:r>
              <a:rPr lang="en-US" sz="1000" dirty="0"/>
              <a:t> Due to lenient rubrics,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of 372) received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" y="596248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832266"/>
            <a:ext cx="468706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Score Recalibration Impact:</a:t>
            </a:r>
            <a:r>
              <a:rPr lang="en-US" sz="1000" dirty="0"/>
              <a:t> Aligning Chat evaluation criteria with Phone standards lowers true Chat QA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5101" y="460513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805" y="501749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3549" y="4896555"/>
            <a:ext cx="53400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Inverse Correlation ($r = -0.151$):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Across 45 shared contact reasons, QA scores show a slight negative relationship with customer satisfaction.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2010" y="5472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52724" y="5359571"/>
            <a:ext cx="5340096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Negligible Predictive Value (R2 = 0.023):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accounts for only </a:t>
            </a: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2.3% of CSAT variance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proving internal QA has virtually no bearing on customer sentiment. </a:t>
            </a:r>
            <a:endParaRPr lang="es-CO" sz="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36788" y="599612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5101" y="5817817"/>
            <a:ext cx="53400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vs. Compliance:</a:t>
            </a:r>
            <a:r>
              <a:rPr lang="en-US" sz="1000" dirty="0"/>
              <a:t> CSAT is driven by first-contact closure, not procedural adherence. Updating the QA rubric fixes metric accuracy, but moving CSAT requires structural policy and tooling changes.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7C2137-5A22-4020-441F-5A012A021C70}"/>
              </a:ext>
            </a:extLst>
          </p:cNvPr>
          <p:cNvSpPr/>
          <p:nvPr/>
        </p:nvSpPr>
        <p:spPr>
          <a:xfrm>
            <a:off x="6115569" y="1164328"/>
            <a:ext cx="5706094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9BA51C-A4BC-7EAD-6D66-C65CA880960B}"/>
              </a:ext>
            </a:extLst>
          </p:cNvPr>
          <p:cNvSpPr/>
          <p:nvPr/>
        </p:nvSpPr>
        <p:spPr>
          <a:xfrm>
            <a:off x="264709" y="1175004"/>
            <a:ext cx="5706094" cy="5290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Monthly Trend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Daily Control Chart Analysis: Monthly stability vs. target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221" y="643301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ru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" y="1044763"/>
            <a:ext cx="3980907" cy="2572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71041" y="3796140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QA: one dip on 6 May. Otherwise steady</a:t>
            </a:r>
          </a:p>
        </p:txBody>
      </p:sp>
      <p:pic>
        <p:nvPicPr>
          <p:cNvPr id="13" name="Picture 12" descr="run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2" y="1002859"/>
            <a:ext cx="4053619" cy="2614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094428" y="3780607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CSAT blended: steady. Every day below goal</a:t>
            </a:r>
          </a:p>
        </p:txBody>
      </p:sp>
      <p:pic>
        <p:nvPicPr>
          <p:cNvPr id="15" name="Picture 14" descr="run_re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533" y="938995"/>
            <a:ext cx="4024162" cy="2677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214851" y="3732783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Recontact global: last week under goal. Month still 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8" y="4159045"/>
            <a:ext cx="11602518" cy="2023577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031" y="4161220"/>
            <a:ext cx="158381" cy="202140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762" y="4234988"/>
            <a:ext cx="10710367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1A1A1A"/>
                </a:solidFill>
                <a:latin typeface="Inter"/>
              </a:rPr>
              <a:t>Blended CSAT remained below </a:t>
            </a:r>
            <a:r>
              <a:rPr lang="es-MX" sz="1300" b="1" dirty="0">
                <a:solidFill>
                  <a:srgbClr val="1A1A1A"/>
                </a:solidFill>
                <a:latin typeface="Inter"/>
              </a:rPr>
              <a:t>target</a:t>
            </a:r>
            <a:r>
              <a:rPr sz="1300" b="1" dirty="0">
                <a:solidFill>
                  <a:srgbClr val="1A1A1A"/>
                </a:solidFill>
                <a:latin typeface="Inter"/>
              </a:rPr>
              <a:t>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66" y="4544553"/>
            <a:ext cx="10710367" cy="154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Structural Process Deficit: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All 31 days operated strictly within normal statistical control limits (LCL 76.60% – UCL 83.24%), yet 100% of daily data points failed to meet the 85.0% CSAT target. This confirms common-cause process limitation rather than isolated operational noise.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Metric Trajectory: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QA maintained steady performance near 94.49% (aside from May 6 at 86.44%). Recontact trended favorably in week 4 (5.26%), but finished the month above threshold at 5.83%.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Actionability over Coaching: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Because underperformance is embedded in system/policy design, agent coaching alone will not shift results. Sustainable CSAT recovery requires empowering agents with direct resolution tools (e.g., instant refund authority, real-time ETA tracking, clear escalation paths).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QA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Score against goal by channel and by contact reason. Then the defects behind each gap.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 by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Channel-specific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4" y="661855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chann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" y="1239012"/>
            <a:ext cx="6835461" cy="2583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B50134DC-831A-40F2-0ABB-05898F78DEB7}"/>
              </a:ext>
            </a:extLst>
          </p:cNvPr>
          <p:cNvGrpSpPr/>
          <p:nvPr/>
        </p:nvGrpSpPr>
        <p:grpSpPr>
          <a:xfrm>
            <a:off x="7314616" y="1239012"/>
            <a:ext cx="4672584" cy="1645920"/>
            <a:chOff x="7223760" y="1298448"/>
            <a:chExt cx="4343400" cy="1321498"/>
          </a:xfrm>
          <a:effectLst/>
        </p:grpSpPr>
        <p:sp>
          <p:nvSpPr>
            <p:cNvPr id="12" name="Rectangle 11"/>
            <p:cNvSpPr/>
            <p:nvPr/>
          </p:nvSpPr>
          <p:spPr>
            <a:xfrm>
              <a:off x="7223760" y="1298448"/>
              <a:ext cx="4343400" cy="365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51776" y="1414455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40496" y="1414455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0576" y="1414455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66376" y="1414455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43616" y="1414455"/>
              <a:ext cx="79552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51776" y="183507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476488" y="1728216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183507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83.04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0576" y="183507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-1.96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66376" y="183507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355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43616" y="176479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Oval 23"/>
            <p:cNvSpPr/>
            <p:nvPr/>
          </p:nvSpPr>
          <p:spPr>
            <a:xfrm>
              <a:off x="10753344" y="185166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17936" y="1835076"/>
              <a:ext cx="603732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23760" y="2134933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23760" y="2139696"/>
              <a:ext cx="4343400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51776" y="231056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476488" y="2203704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1056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96.01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0576" y="231056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+11.01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66376" y="231056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2,105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43616" y="224028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Oval 33"/>
            <p:cNvSpPr/>
            <p:nvPr/>
          </p:nvSpPr>
          <p:spPr>
            <a:xfrm>
              <a:off x="10753344" y="232714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17936" y="2310566"/>
              <a:ext cx="489889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23760" y="2610421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415200" y="299792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Key </a:t>
            </a:r>
            <a:r>
              <a:rPr lang="es-CO" sz="1050" b="1" dirty="0" err="1"/>
              <a:t>Phone</a:t>
            </a:r>
            <a:r>
              <a:rPr lang="es-CO" sz="1050" b="1" dirty="0"/>
              <a:t> Performance </a:t>
            </a:r>
            <a:r>
              <a:rPr lang="es-CO" sz="1050" b="1" dirty="0" err="1"/>
              <a:t>Factors</a:t>
            </a:r>
            <a:endParaRPr lang="en-US"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24344" y="337740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2088" y="3260011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Case Complexity:</a:t>
            </a:r>
            <a:r>
              <a:rPr lang="en-US" sz="1000" dirty="0"/>
              <a:t> Phone tends to absorbs high-friction scenarios, including refund requests, billing disputes, and undelivered orders.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3823" y="374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088" y="3699817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Critical Defect Rate:</a:t>
            </a:r>
            <a:r>
              <a:rPr lang="en-US" sz="1000" dirty="0"/>
              <a:t> Phone exhibits a </a:t>
            </a:r>
            <a:r>
              <a:rPr lang="en-US" sz="1000" b="1" dirty="0"/>
              <a:t>13.52% critical failure rate</a:t>
            </a:r>
            <a:r>
              <a:rPr lang="en-US" sz="1000" dirty="0"/>
              <a:t>—more than 4.5x higher than Live Chat (2.95%).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3823" y="431831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8" y="4202383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Sample Weighting Bias:</a:t>
            </a:r>
            <a:r>
              <a:rPr lang="en-US" sz="1000" dirty="0"/>
              <a:t> Phone accounts for only </a:t>
            </a:r>
            <a:r>
              <a:rPr lang="en-US" sz="1000" b="1" dirty="0"/>
              <a:t>14.4% of total audits</a:t>
            </a:r>
            <a:r>
              <a:rPr lang="en-US" sz="1000" dirty="0"/>
              <a:t> (355 evaluations), muting its impact on the blended operational QA score.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2135" y="4807169"/>
            <a:ext cx="11277295" cy="1762946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7168"/>
            <a:ext cx="153544" cy="176294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4530" y="4827407"/>
            <a:ext cx="10710367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 dirty="0"/>
              <a:t>QA-CSAT Relation: High Chat Volume &amp; Lenient Rubrics Mask Operational Risks</a:t>
            </a:r>
            <a:endParaRPr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4530" y="5210482"/>
            <a:ext cx="10710367" cy="11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Phone QA sits below target at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83.04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 (-1.96 pts), whereas Chat achieves </a:t>
            </a:r>
            <a:r>
              <a:rPr lang="en-US" sz="1050" b="1" kern="0" dirty="0">
                <a:effectLst/>
                <a:latin typeface="+mj-lt"/>
                <a:ea typeface="Times New Roman" panose="02020603050405020304" pitchFamily="18" charset="0"/>
              </a:rPr>
              <a:t>96.01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Because Chat represents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85.6% of the audit volume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, it artificially inflates the blended score to 94.14. However, Chat's high score reflects lenient criteria, lacking critical penalties for information accuracy. </a:t>
            </a: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Recalibrating Chat to Phone standards drops its score to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80.14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Critically, despite its lower QA score, Phone achieves significantly higher CSAT than Chat (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86.3% vs. 77.6%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), exposing a disconnect between internal QA metrics and customer perception.</a:t>
            </a:r>
            <a:endParaRPr sz="1050" b="0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EACA2D2-A5D8-B881-A1D8-6C7C27C95566}"/>
              </a:ext>
            </a:extLst>
          </p:cNvPr>
          <p:cNvSpPr/>
          <p:nvPr/>
        </p:nvSpPr>
        <p:spPr>
          <a:xfrm>
            <a:off x="7269477" y="1183398"/>
            <a:ext cx="4785363" cy="349067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355 audits  ·  12 attributes  ·  score 83.04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4" y="923544"/>
            <a:ext cx="5559192" cy="3582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931152" y="1110653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360921C-5F1C-CA7B-5F21-DEBC1C020B16}"/>
              </a:ext>
            </a:extLst>
          </p:cNvPr>
          <p:cNvGrpSpPr/>
          <p:nvPr/>
        </p:nvGrpSpPr>
        <p:grpSpPr>
          <a:xfrm>
            <a:off x="6931152" y="1448181"/>
            <a:ext cx="4745736" cy="2525077"/>
            <a:chOff x="7132320" y="1536192"/>
            <a:chExt cx="4544568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03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03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03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0396"/>
              <a:ext cx="74980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5299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market p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lace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5299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47.5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5299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3345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15924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Active order, already received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15924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65.8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15924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3969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36548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36548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36548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4593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57172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full serv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ice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57172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57172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5217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777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Courier overcharged me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777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777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5842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132320" y="4206240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Root Causes Behind Low QA Drivers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3232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70064" y="4489703"/>
            <a:ext cx="437997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High-Friction Use Cases:</a:t>
            </a:r>
            <a:r>
              <a:rPr lang="en-US" sz="1000" dirty="0"/>
              <a:t> Low-scoring contacts concentrate in complex financial and delivery disputes (e.g., undelivered orders, courier fees) that require external tool verification.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38879" y="52349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76623" y="513898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System-Induced Delays:</a:t>
            </a:r>
            <a:r>
              <a:rPr lang="en-US" sz="1000" dirty="0"/>
              <a:t> Dependency on backend tools prolongs call duration, directly inflating </a:t>
            </a:r>
            <a:r>
              <a:rPr lang="en-US" sz="1000" i="1" dirty="0"/>
              <a:t>Time Management</a:t>
            </a:r>
            <a:r>
              <a:rPr lang="en-US" sz="1000" dirty="0"/>
              <a:t> defect rates.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48949" y="569118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76623" y="5591256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 Severity:</a:t>
            </a:r>
            <a:r>
              <a:rPr lang="en-US" sz="1000" dirty="0"/>
              <a:t> Inaccurate guidance or incomplete policy execution during complex disputes triggers automatic zero-score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132185" y="618311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623" y="605367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Bottleneck:</a:t>
            </a:r>
            <a:r>
              <a:rPr lang="en-US" sz="1000" dirty="0"/>
              <a:t> Extended handle times often end without providing clear resolution paths or actionable next steps to the customer.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2528" y="4737727"/>
            <a:ext cx="6446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lang="es-CO" sz="1050" b="1" dirty="0"/>
          </a:p>
        </p:txBody>
      </p:sp>
      <p:sp>
        <p:nvSpPr>
          <p:cNvPr id="70" name="Rectangle 69"/>
          <p:cNvSpPr/>
          <p:nvPr/>
        </p:nvSpPr>
        <p:spPr>
          <a:xfrm>
            <a:off x="372528" y="511720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264" y="5002554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Primary Volume Driver:</a:t>
            </a:r>
            <a:r>
              <a:rPr lang="en-US" sz="1000" dirty="0"/>
              <a:t> </a:t>
            </a:r>
            <a:r>
              <a:rPr lang="en-US" sz="1000" i="1" dirty="0"/>
              <a:t>Time Management</a:t>
            </a:r>
            <a:r>
              <a:rPr lang="en-US" sz="1000" dirty="0"/>
              <a:t> represents the single largest defect category, accounting for </a:t>
            </a:r>
            <a:r>
              <a:rPr lang="en-US" sz="1000" b="1" dirty="0"/>
              <a:t>64.3% of all voice failures</a:t>
            </a:r>
            <a:r>
              <a:rPr lang="en-US" sz="1000" dirty="0"/>
              <a:t> (133 fails).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0524" y="563304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6264" y="5495991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Disproportionate Score Drag:</a:t>
            </a:r>
            <a:r>
              <a:rPr lang="en-US" sz="1000" dirty="0"/>
              <a:t> </a:t>
            </a:r>
            <a:r>
              <a:rPr lang="en-US" sz="1000" i="1" dirty="0"/>
              <a:t>Complete &amp; Correct Information</a:t>
            </a:r>
            <a:r>
              <a:rPr lang="en-US" sz="1000" dirty="0"/>
              <a:t> (28 fails) carries a severe </a:t>
            </a:r>
            <a:r>
              <a:rPr lang="en-US" sz="1000" b="1" dirty="0"/>
              <a:t>-6.55 pp score penalty</a:t>
            </a:r>
            <a:r>
              <a:rPr lang="en-US" sz="1000" dirty="0"/>
              <a:t> due to its critical auto-fail classification.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67956" y="61143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264" y="6024482"/>
            <a:ext cx="620877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Concentrated Root Causes:</a:t>
            </a:r>
            <a:r>
              <a:rPr lang="en-US" sz="1000" dirty="0"/>
              <a:t> Combined, these top two attributes account for </a:t>
            </a:r>
            <a:r>
              <a:rPr lang="en-US" sz="1000" b="1" dirty="0"/>
              <a:t>77.8% of total channel defects</a:t>
            </a:r>
            <a:r>
              <a:rPr lang="en-US" sz="1000" dirty="0"/>
              <a:t>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71037E7-AC0C-BEBB-E572-D91C644423EE}"/>
              </a:ext>
            </a:extLst>
          </p:cNvPr>
          <p:cNvSpPr/>
          <p:nvPr/>
        </p:nvSpPr>
        <p:spPr>
          <a:xfrm>
            <a:off x="6632502" y="1017484"/>
            <a:ext cx="5362854" cy="56393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Live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2,105 audits  ·  8 attributes  ·  official score 96.01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4" y="940992"/>
            <a:ext cx="6232905" cy="3744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888480" y="1225296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3B2C7B-4D9E-E531-C533-170350A2247E}"/>
              </a:ext>
            </a:extLst>
          </p:cNvPr>
          <p:cNvGrpSpPr/>
          <p:nvPr/>
        </p:nvGrpSpPr>
        <p:grpSpPr>
          <a:xfrm>
            <a:off x="6888479" y="1549262"/>
            <a:ext cx="4768291" cy="2675128"/>
            <a:chOff x="7132320" y="1536192"/>
            <a:chExt cx="4581372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4905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4905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4905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4905"/>
              <a:ext cx="74980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9808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9808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76.0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9808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7401"/>
              <a:ext cx="546811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20432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20432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20432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8026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41056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41056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41056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8650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61680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cancel the order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1680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61680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9274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82304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modify payment method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82304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82304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9898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039051" y="4409641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Root</a:t>
            </a:r>
            <a:r>
              <a:rPr lang="es-CO" sz="1050" b="1" dirty="0"/>
              <a:t> Cause &amp; Score </a:t>
            </a:r>
            <a:r>
              <a:rPr lang="es-CO" sz="1050" b="1" dirty="0" err="1"/>
              <a:t>Distortion</a:t>
            </a:r>
            <a:r>
              <a:rPr lang="es-CO" sz="1050" dirty="0"/>
              <a:t> o </a:t>
            </a:r>
            <a:r>
              <a:rPr lang="es-CO" sz="1050" b="1" dirty="0" err="1"/>
              <a:t>Structural</a:t>
            </a:r>
            <a:r>
              <a:rPr lang="es-CO" sz="1050" b="1" dirty="0"/>
              <a:t> </a:t>
            </a:r>
            <a:r>
              <a:rPr lang="es-CO" sz="1050" b="1" dirty="0" err="1"/>
              <a:t>Rubric</a:t>
            </a:r>
            <a:r>
              <a:rPr lang="es-CO" sz="1050" b="1" dirty="0"/>
              <a:t> Gap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62800" y="48649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14260" y="4711822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Disparity:</a:t>
            </a:r>
            <a:r>
              <a:rPr lang="en-US" sz="1000" dirty="0"/>
              <a:t> Unlike Phone evaluations, Live Chat does not categorize </a:t>
            </a:r>
            <a:r>
              <a:rPr lang="en-US" sz="1000" i="1" dirty="0"/>
              <a:t>Information Accuracy &amp; Completeness</a:t>
            </a:r>
            <a:r>
              <a:rPr lang="en-US" sz="1000" dirty="0"/>
              <a:t> as a critical failure.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62800" y="5442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14260" y="5295933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Artificial Score Inflation:</a:t>
            </a:r>
            <a:r>
              <a:rPr lang="en-US" sz="1000" dirty="0"/>
              <a:t>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out of 372) currently receive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79564" y="604856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14260" y="5897880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Recalibrated Score Impact:</a:t>
            </a:r>
            <a:r>
              <a:rPr lang="en-US" sz="1000" dirty="0"/>
              <a:t> Aligning Chat rules with Phone standards drops the true Chat QA score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1960" y="4810385"/>
            <a:ext cx="6446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41960" y="523703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1634" y="5096622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Soft Skill Bias:</a:t>
            </a:r>
            <a:r>
              <a:rPr lang="en-US" sz="1000" dirty="0"/>
              <a:t> </a:t>
            </a:r>
            <a:r>
              <a:rPr lang="en-US" sz="1000" i="1" dirty="0"/>
              <a:t>Greeting &amp; Identification</a:t>
            </a:r>
            <a:r>
              <a:rPr lang="en-US" sz="1000" dirty="0"/>
              <a:t> (30.9%) and </a:t>
            </a:r>
            <a:r>
              <a:rPr lang="en-US" sz="1000" i="1" dirty="0"/>
              <a:t>Service Attitude</a:t>
            </a:r>
            <a:r>
              <a:rPr lang="en-US" sz="1000" dirty="0"/>
              <a:t> (22.2%) combined account for </a:t>
            </a:r>
            <a:r>
              <a:rPr lang="en-US" sz="1000" b="1" dirty="0"/>
              <a:t>53.1% of all recorded defects</a:t>
            </a:r>
            <a:r>
              <a:rPr lang="en-US" sz="1000" dirty="0"/>
              <a:t>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012" y="575148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1634" y="5582911"/>
            <a:ext cx="5887358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Highest Score Drag:</a:t>
            </a:r>
            <a:r>
              <a:rPr lang="en-US" sz="1000" dirty="0"/>
              <a:t> </a:t>
            </a:r>
            <a:r>
              <a:rPr lang="en-US" sz="1000" i="1" dirty="0"/>
              <a:t>Service Availability</a:t>
            </a:r>
            <a:r>
              <a:rPr lang="en-US" sz="1000" dirty="0"/>
              <a:t> drives the largest point reduction (</a:t>
            </a:r>
            <a:r>
              <a:rPr lang="en-US" sz="1000" b="1" dirty="0"/>
              <a:t>-2.10 pp</a:t>
            </a:r>
            <a:r>
              <a:rPr lang="en-US" sz="1000" dirty="0"/>
              <a:t> across 46 failures) due to its critical classification.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7200" y="619441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9703" y="6036210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Rubric Blind Spot:</a:t>
            </a:r>
            <a:r>
              <a:rPr lang="en-US" sz="1000" dirty="0"/>
              <a:t> The evaluation form currently lacks attributes to audit Knowledge Base usage or information accuracy.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F033A5D-977B-9C2D-5FC0-62D9FBCB389A}"/>
              </a:ext>
            </a:extLst>
          </p:cNvPr>
          <p:cNvSpPr/>
          <p:nvPr/>
        </p:nvSpPr>
        <p:spPr>
          <a:xfrm>
            <a:off x="6685934" y="114323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analysis: where the defects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"Consolidated cross-channel view evaluating 20 QA attributes (12 Phone, 8 Chat)."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de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1" y="1004514"/>
            <a:ext cx="5361825" cy="357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hist_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18" y="1219978"/>
            <a:ext cx="4720133" cy="292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031751" y="449689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Score </a:t>
            </a:r>
            <a:r>
              <a:rPr lang="es-CO" sz="1050" b="1" dirty="0" err="1"/>
              <a:t>Distribution</a:t>
            </a:r>
            <a:r>
              <a:rPr lang="es-CO" sz="1050" b="1" dirty="0"/>
              <a:t> &amp; </a:t>
            </a:r>
            <a:r>
              <a:rPr lang="es-CO" sz="1050" b="1" dirty="0" err="1"/>
              <a:t>Scale</a:t>
            </a:r>
            <a:r>
              <a:rPr lang="es-CO" sz="1050" b="1" dirty="0"/>
              <a:t> </a:t>
            </a:r>
            <a:r>
              <a:rPr lang="es-CO" sz="1050" b="1" dirty="0" err="1"/>
              <a:t>Behavior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751" y="48763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94" y="4780358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Polarized Results:</a:t>
            </a:r>
            <a:r>
              <a:rPr lang="en-US" sz="1000" dirty="0"/>
              <a:t> </a:t>
            </a:r>
            <a:r>
              <a:rPr lang="en-US" sz="1000" b="1" dirty="0"/>
              <a:t>82.7%</a:t>
            </a:r>
            <a:r>
              <a:rPr lang="en-US" sz="1000" dirty="0"/>
              <a:t> of evaluated contacts achieve a perfect score (100), while </a:t>
            </a:r>
            <a:r>
              <a:rPr lang="en-US" sz="1000" b="1" dirty="0"/>
              <a:t>4.5%</a:t>
            </a:r>
            <a:r>
              <a:rPr lang="en-US" sz="1000" dirty="0"/>
              <a:t> score a complete zero due to critical failures.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4987" y="55404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95" y="5278293"/>
            <a:ext cx="433425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Binary Scale Behavior:</a:t>
            </a:r>
            <a:r>
              <a:rPr lang="en-US" sz="1000" dirty="0"/>
              <a:t> Only </a:t>
            </a:r>
            <a:r>
              <a:rPr lang="en-US" sz="1000" b="1" dirty="0"/>
              <a:t>12.8%</a:t>
            </a:r>
            <a:r>
              <a:rPr lang="en-US" sz="1000" dirty="0"/>
              <a:t> of audits fall in the mid-range (70–90 pts), causing the QA evaluation to behave more as a </a:t>
            </a:r>
            <a:r>
              <a:rPr lang="en-US" sz="1000" b="1" dirty="0"/>
              <a:t>binary pass/fail indicator</a:t>
            </a:r>
            <a:r>
              <a:rPr lang="en-US" sz="1000" dirty="0"/>
              <a:t> than a continuous diagnostic metric.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677228"/>
            <a:ext cx="64922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Concentration</a:t>
            </a:r>
            <a:r>
              <a:rPr lang="es-CO" sz="1050" b="1" dirty="0"/>
              <a:t> </a:t>
            </a:r>
            <a:r>
              <a:rPr lang="es-CO" sz="1050" b="1" dirty="0" err="1"/>
              <a:t>Analysis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7788" y="505496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249" y="4934813"/>
            <a:ext cx="6103499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Defect Concentration (80/20):</a:t>
            </a:r>
            <a:r>
              <a:rPr lang="en-US" sz="1000" dirty="0"/>
              <a:t> Just 7 attributes account for </a:t>
            </a:r>
            <a:r>
              <a:rPr lang="en-US" sz="1000" b="1" dirty="0"/>
              <a:t>82.8%</a:t>
            </a:r>
            <a:r>
              <a:rPr lang="en-US" sz="1000" dirty="0"/>
              <a:t> of total audit failures (518 fails across both channels).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886" y="549601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8249" y="5354522"/>
            <a:ext cx="565253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Failures (★):</a:t>
            </a:r>
            <a:r>
              <a:rPr lang="en-US" sz="1000" dirty="0"/>
              <a:t> Critical attributes carry maximum risk as single failure triggers an automatic zero score for the entire audit.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838" y="595443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249" y="5851715"/>
            <a:ext cx="5596417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Volume vs. Severity Trade-off:</a:t>
            </a:r>
            <a:r>
              <a:rPr lang="en-US" sz="1000" dirty="0"/>
              <a:t> </a:t>
            </a:r>
            <a:r>
              <a:rPr lang="en-US" sz="1000" i="1" dirty="0"/>
              <a:t>Time Management</a:t>
            </a:r>
            <a:r>
              <a:rPr lang="en-US" sz="1000" dirty="0"/>
              <a:t> (Phone, non-critical) generates the highest defect volume, whereas critical attributes like </a:t>
            </a:r>
            <a:r>
              <a:rPr lang="en-US" sz="1000" i="1" dirty="0"/>
              <a:t>Complete &amp; Correct Information</a:t>
            </a:r>
            <a:r>
              <a:rPr lang="en-US" sz="1000" dirty="0"/>
              <a:t> occur less frequently but carry disproportionate score impact.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E2C36-75CB-BF30-AE16-A05225B2A102}"/>
              </a:ext>
            </a:extLst>
          </p:cNvPr>
          <p:cNvSpPr/>
          <p:nvPr/>
        </p:nvSpPr>
        <p:spPr>
          <a:xfrm>
            <a:off x="6539645" y="103612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Contact Reason QA Breakdown (CR Lv4)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ranking (Phone + Chat together). Official QA never mixes the two lists. At least 3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qa_by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2" y="1458288"/>
            <a:ext cx="5721032" cy="2897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757416" y="1382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Lowest QA reasons (blended)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41F816D-DC7A-E09C-7A6D-5449F4BA4661}"/>
              </a:ext>
            </a:extLst>
          </p:cNvPr>
          <p:cNvGrpSpPr/>
          <p:nvPr/>
        </p:nvGrpSpPr>
        <p:grpSpPr>
          <a:xfrm>
            <a:off x="6757416" y="1692926"/>
            <a:ext cx="5120640" cy="2619946"/>
            <a:chOff x="6629400" y="1517904"/>
            <a:chExt cx="5120640" cy="2619946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1206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9205"/>
              <a:ext cx="225856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72016" y="1599205"/>
              <a:ext cx="27431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368" y="1599205"/>
              <a:ext cx="155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13848" y="1599205"/>
              <a:ext cx="140817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7416" y="20007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 dirty="0">
                  <a:solidFill>
                    <a:srgbClr val="4B5563"/>
                  </a:solidFill>
                  <a:latin typeface="Inter"/>
                </a:rPr>
                <a:t>Completed but not received — market p…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08008" y="1911095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016" y="20007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58.0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802368" y="20007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13848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323576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488168" y="20007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995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3042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4579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08008" y="23682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72016" y="24579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802368" y="24579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213848" y="23957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323576" y="248259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88168" y="24579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29400" y="27567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7416" y="29151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08008" y="28254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72016" y="29151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02368" y="29151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213848" y="28529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323576" y="29397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88168" y="29151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32139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29400" y="32186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7416" y="33723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208008" y="32826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72016" y="33723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F59E0B"/>
                  </a:solidFill>
                  <a:latin typeface="Inter"/>
                </a:rPr>
                <a:t>82.5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2368" y="33723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213848" y="33101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323576" y="33969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8168" y="33723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29400" y="36711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57416" y="3829531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Completed but not received — full ser…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208008" y="37398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72016" y="3829531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86.5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829531"/>
              <a:ext cx="22555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138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213848" y="3767327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323576" y="3854196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488168" y="3829531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29400" y="41283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775704" y="4387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Drivers of Channel Metric Divergence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4086" y="48727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58584" y="4704762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Blended vs. Isolated Governance:</a:t>
            </a:r>
            <a:r>
              <a:rPr lang="en-US" sz="1000" dirty="0"/>
              <a:t> Blended views create false positives; operational decisions require channel-isolated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4086" y="535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58584" y="5198416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Channel Performance Variance: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"Verbal aggression"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averages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82.5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but isolating channels reveals a critical deficit in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Chat (76.0, N=5)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versus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 (93.3, N=3)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94086" y="5724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58584" y="5592753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Volume-Driven Masking: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"Undelivered full-service"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appears compliant at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86.5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(N=138), hiding a failing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68.2 Phone baseline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(N=49).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75704" y="620302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58584" y="6026547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Operational Risk:</a:t>
            </a:r>
            <a:r>
              <a:rPr lang="en-US" sz="1000" dirty="0"/>
              <a:t> Relying solely on blended averages allows critically failing voice queues ("red") to masquerade as compliant ("green").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0272" y="4811029"/>
            <a:ext cx="5989320" cy="1621775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2712" y="4811029"/>
            <a:ext cx="154020" cy="1580627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7984" y="4894738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Aggregation Risk: High Chat Volume Masks Critical Voice Failures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608" y="5396246"/>
            <a:ext cx="5422392" cy="683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Channel Masking Effect: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Blending channels conceals critical voice underperformance. For example, </a:t>
            </a:r>
            <a:r>
              <a:rPr lang="en-US" sz="105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"Completed but not received — full service"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scores a failing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68.2 QA on Phone (N=49)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When blended with high-volume Chat, the score artificially rises to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86.5 QA (N=138)</a:t>
            </a:r>
            <a:r>
              <a:rPr lang="en-US" sz="105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diluting severity without fixing the root cause in Phone.</a:t>
            </a:r>
            <a:endParaRPr lang="es-CO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D9F89A3-0C0C-6C5B-81E4-D43DE9B85227}"/>
              </a:ext>
            </a:extLst>
          </p:cNvPr>
          <p:cNvSpPr/>
          <p:nvPr/>
        </p:nvSpPr>
        <p:spPr>
          <a:xfrm>
            <a:off x="6624524" y="1280160"/>
            <a:ext cx="5363774" cy="537667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CSAT and voice of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Blended CSAT against goal. Then Phone vs Chat. Who is dragging it. What detractors say.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D67B8DE-862A-F4F8-7920-1E8937B48FC4}"/>
              </a:ext>
            </a:extLst>
          </p:cNvPr>
          <p:cNvGrpSpPr/>
          <p:nvPr/>
        </p:nvGrpSpPr>
        <p:grpSpPr>
          <a:xfrm>
            <a:off x="6331325" y="1635991"/>
            <a:ext cx="4947873" cy="933235"/>
            <a:chOff x="457199" y="4334255"/>
            <a:chExt cx="5957467" cy="2228755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F302C4A-B11B-F485-C0C2-B4F57881AAC5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BF0B6AE2-4958-DDFB-0F8E-449B073079C7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81758B9-31DA-CA60-44BD-9F8DA216DA14}"/>
              </a:ext>
            </a:extLst>
          </p:cNvPr>
          <p:cNvGrpSpPr/>
          <p:nvPr/>
        </p:nvGrpSpPr>
        <p:grpSpPr>
          <a:xfrm>
            <a:off x="6331325" y="4059193"/>
            <a:ext cx="5302347" cy="1745989"/>
            <a:chOff x="457199" y="4334255"/>
            <a:chExt cx="5957467" cy="2228755"/>
          </a:xfrm>
        </p:grpSpPr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394D85FB-FF49-1483-7B64-10B8DF108D5F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5EE2EFE2-EA79-5CDC-5936-BCD4DA06D0F9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901" y="1434823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Phone vs Chat vs blended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916E17C-CC60-8BC0-CD95-754FFC52FFD0}"/>
              </a:ext>
            </a:extLst>
          </p:cNvPr>
          <p:cNvGrpSpPr/>
          <p:nvPr/>
        </p:nvGrpSpPr>
        <p:grpSpPr>
          <a:xfrm>
            <a:off x="661474" y="1322609"/>
            <a:ext cx="5534626" cy="1686061"/>
            <a:chOff x="6492240" y="1463040"/>
            <a:chExt cx="5239512" cy="1412938"/>
          </a:xfrm>
        </p:grpSpPr>
        <p:sp>
          <p:nvSpPr>
            <p:cNvPr id="14" name="Rectangle 13"/>
            <p:cNvSpPr/>
            <p:nvPr/>
          </p:nvSpPr>
          <p:spPr>
            <a:xfrm>
              <a:off x="6492240" y="1463040"/>
              <a:ext cx="523951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0255" y="1535197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74736" y="1535197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7967" y="1535197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12096" y="153519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89336" y="153519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0255" y="187352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10727" y="183245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736" y="187352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86.3%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87967" y="187352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21,304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12096" y="187352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+1.26 pp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89336" y="181965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Oval 25"/>
            <p:cNvSpPr/>
            <p:nvPr/>
          </p:nvSpPr>
          <p:spPr>
            <a:xfrm>
              <a:off x="10799064" y="1906524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63656" y="1881860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92240" y="213493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92240" y="2139696"/>
              <a:ext cx="5239512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255" y="223928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10727" y="219821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74736" y="223928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7967" y="223928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55,962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2096" y="22392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-7.45 pp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689336" y="218541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Oval 35"/>
            <p:cNvSpPr/>
            <p:nvPr/>
          </p:nvSpPr>
          <p:spPr>
            <a:xfrm>
              <a:off x="10799064" y="227228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3656" y="224762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2240" y="250069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0255" y="260504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Blended (official)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110727" y="256397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74736" y="260504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79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.</a:t>
              </a: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95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87967" y="260504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12096" y="26050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-5.05 pp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689336" y="25511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Oval 44"/>
            <p:cNvSpPr/>
            <p:nvPr/>
          </p:nvSpPr>
          <p:spPr>
            <a:xfrm>
              <a:off x="10799064" y="26380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963656" y="261338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240" y="286645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575151" y="3751326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dragging CSAT down (blended)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817D8B3-03E2-D431-C876-2391EB11138F}"/>
              </a:ext>
            </a:extLst>
          </p:cNvPr>
          <p:cNvGrpSpPr/>
          <p:nvPr/>
        </p:nvGrpSpPr>
        <p:grpSpPr>
          <a:xfrm>
            <a:off x="661474" y="3583551"/>
            <a:ext cx="5534626" cy="2484853"/>
            <a:chOff x="6492240" y="3273552"/>
            <a:chExt cx="5239511" cy="2144458"/>
          </a:xfrm>
        </p:grpSpPr>
        <p:sp>
          <p:nvSpPr>
            <p:cNvPr id="49" name="Rectangle 48"/>
            <p:cNvSpPr/>
            <p:nvPr/>
          </p:nvSpPr>
          <p:spPr>
            <a:xfrm>
              <a:off x="6492240" y="3273552"/>
              <a:ext cx="5239511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20255" y="3341541"/>
              <a:ext cx="207568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51975" y="3341541"/>
              <a:ext cx="502919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Blended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646919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305288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Chat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63656" y="3341541"/>
              <a:ext cx="64008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20255" y="368403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/ delay inform…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887967" y="364296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951976" y="368403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582911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46919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80.3%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41280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05288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62.8%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63656" y="368403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92240" y="394544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92240" y="395020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0255" y="404979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Disagrees with cancellation…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887967" y="400872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51976" y="404979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582911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646919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41280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05288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63.6%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963656" y="404979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92240" y="431120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20255" y="441555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87967" y="437448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51976" y="441555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582911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46919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79.8%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241280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05288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60.3%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963656" y="441555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92240" y="467696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92240" y="468172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20255" y="478131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No longer wants the order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887967" y="474024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51976" y="478131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88.3%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582911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646919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94.2%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0241280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305288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81.9%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63656" y="478131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10,518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492240" y="504272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20255" y="514707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887967" y="510600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51976" y="514707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9582911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646919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78.7%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0241280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05288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57.0%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963656" y="514707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92240" y="540848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DFBFFC5-E51C-4ED5-C163-959565FFBBE1}"/>
              </a:ext>
            </a:extLst>
          </p:cNvPr>
          <p:cNvSpPr txBox="1"/>
          <p:nvPr/>
        </p:nvSpPr>
        <p:spPr>
          <a:xfrm>
            <a:off x="6351880" y="1725521"/>
            <a:ext cx="52395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Channel Volume Drag:</a:t>
            </a:r>
            <a:r>
              <a:rPr lang="en-US" sz="1050" dirty="0"/>
              <a:t> Live Chat dominates customer sentiment with </a:t>
            </a:r>
            <a:r>
              <a:rPr lang="en-US" sz="1050" b="1" dirty="0"/>
              <a:t>72.4% of total surveys (55,962)</a:t>
            </a:r>
            <a:r>
              <a:rPr lang="en-US" sz="1050" dirty="0"/>
              <a:t>. Its failing score of </a:t>
            </a:r>
            <a:r>
              <a:rPr lang="en-US" sz="1050" b="1" dirty="0"/>
              <a:t>77.6% (-7.45 pp vs. goal)</a:t>
            </a:r>
            <a:r>
              <a:rPr lang="en-US" sz="1050" dirty="0"/>
              <a:t> completely drags down Phone's passing performance of </a:t>
            </a:r>
            <a:r>
              <a:rPr lang="en-US" sz="1050" b="1" dirty="0"/>
              <a:t>86.3% (+1.26 pp vs. goal)</a:t>
            </a:r>
            <a:r>
              <a:rPr lang="en-US" sz="1050" dirty="0"/>
              <a:t> to a blended </a:t>
            </a:r>
            <a:r>
              <a:rPr lang="en-US" sz="1050" b="1" dirty="0"/>
              <a:t>80.0%</a:t>
            </a:r>
            <a:r>
              <a:rPr lang="en-US" sz="1050" dirty="0"/>
              <a:t>.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57857DF-013B-C45F-4D12-C681F2E326DB}"/>
              </a:ext>
            </a:extLst>
          </p:cNvPr>
          <p:cNvSpPr txBox="1"/>
          <p:nvPr/>
        </p:nvSpPr>
        <p:spPr>
          <a:xfrm>
            <a:off x="6394162" y="4097022"/>
            <a:ext cx="52395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b="1" dirty="0" err="1"/>
              <a:t>Systemic</a:t>
            </a:r>
            <a:r>
              <a:rPr lang="es-CO" sz="1050" b="1" dirty="0"/>
              <a:t> Chat </a:t>
            </a:r>
            <a:r>
              <a:rPr lang="es-CO" sz="1050" b="1" dirty="0" err="1"/>
              <a:t>Vulnerability</a:t>
            </a:r>
            <a:r>
              <a:rPr lang="es-CO" sz="1050" b="1" dirty="0"/>
              <a:t> in High-</a:t>
            </a:r>
            <a:r>
              <a:rPr lang="es-CO" sz="1050" b="1" dirty="0" err="1"/>
              <a:t>Friction</a:t>
            </a:r>
            <a:r>
              <a:rPr lang="es-CO" sz="1050" b="1" dirty="0"/>
              <a:t> Cases: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</a:t>
            </a:r>
            <a:r>
              <a:rPr lang="es-CO" sz="1050" dirty="0" err="1"/>
              <a:t>all</a:t>
            </a:r>
            <a:r>
              <a:rPr lang="es-CO" sz="1050" dirty="0"/>
              <a:t> bottom-</a:t>
            </a:r>
            <a:r>
              <a:rPr lang="es-CO" sz="1050" dirty="0" err="1"/>
              <a:t>performing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Phone</a:t>
            </a:r>
            <a:r>
              <a:rPr lang="es-CO" sz="1050" dirty="0"/>
              <a:t> </a:t>
            </a:r>
            <a:r>
              <a:rPr lang="es-CO" sz="1050" dirty="0" err="1"/>
              <a:t>outperforms</a:t>
            </a:r>
            <a:r>
              <a:rPr lang="es-CO" sz="1050" dirty="0"/>
              <a:t> Live Chat </a:t>
            </a:r>
            <a:r>
              <a:rPr lang="es-CO" sz="1050" dirty="0" err="1"/>
              <a:t>by</a:t>
            </a:r>
            <a:r>
              <a:rPr lang="es-CO" sz="1050" dirty="0"/>
              <a:t> </a:t>
            </a:r>
            <a:r>
              <a:rPr lang="es-CO" sz="1050" b="1" dirty="0"/>
              <a:t>12.3 </a:t>
            </a:r>
            <a:r>
              <a:rPr lang="es-CO" sz="1050" b="1" dirty="0" err="1"/>
              <a:t>to</a:t>
            </a:r>
            <a:r>
              <a:rPr lang="es-CO" sz="1050" b="1" dirty="0"/>
              <a:t> 21.7 </a:t>
            </a:r>
            <a:r>
              <a:rPr lang="es-CO" sz="1050" b="1" dirty="0" err="1"/>
              <a:t>percentage</a:t>
            </a:r>
            <a:r>
              <a:rPr lang="es-CO" sz="1050" b="1" dirty="0"/>
              <a:t> </a:t>
            </a:r>
            <a:r>
              <a:rPr lang="es-CO" sz="1050" b="1" dirty="0" err="1"/>
              <a:t>points</a:t>
            </a:r>
            <a:r>
              <a:rPr lang="es-CO" sz="1050" dirty="0"/>
              <a:t>: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Refund</a:t>
            </a:r>
            <a:r>
              <a:rPr lang="es-CO" sz="1050" b="1" dirty="0"/>
              <a:t> Status &amp; </a:t>
            </a:r>
            <a:r>
              <a:rPr lang="es-CO" sz="1050" b="1" dirty="0" err="1"/>
              <a:t>Conditions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collapses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57.0%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78.7%</a:t>
            </a:r>
            <a:r>
              <a:rPr lang="es-CO" sz="1050" dirty="0"/>
              <a:t> (a </a:t>
            </a:r>
            <a:r>
              <a:rPr lang="es-CO" sz="1050" b="1" dirty="0"/>
              <a:t>21.7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&amp; </a:t>
            </a:r>
            <a:r>
              <a:rPr lang="es-CO" sz="1050" b="1" dirty="0" err="1"/>
              <a:t>Delays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drops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60.3%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79.8%</a:t>
            </a:r>
            <a:r>
              <a:rPr lang="es-CO" sz="1050" dirty="0"/>
              <a:t> (a </a:t>
            </a:r>
            <a:r>
              <a:rPr lang="es-CO" sz="1050" b="1" dirty="0"/>
              <a:t>19.5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/ </a:t>
            </a:r>
            <a:r>
              <a:rPr lang="es-CO" sz="1050" b="1" dirty="0" err="1"/>
              <a:t>Delay</a:t>
            </a:r>
            <a:r>
              <a:rPr lang="es-CO" sz="1050" b="1" dirty="0"/>
              <a:t> </a:t>
            </a:r>
            <a:r>
              <a:rPr lang="es-CO" sz="1050" b="1" dirty="0" err="1"/>
              <a:t>Info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records</a:t>
            </a:r>
            <a:r>
              <a:rPr lang="es-CO" sz="1050" dirty="0"/>
              <a:t> </a:t>
            </a:r>
            <a:r>
              <a:rPr lang="es-CO" sz="1050" b="1" dirty="0"/>
              <a:t>62.8%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80.3%</a:t>
            </a:r>
            <a:r>
              <a:rPr lang="es-CO" sz="1050" dirty="0"/>
              <a:t> (a </a:t>
            </a:r>
            <a:r>
              <a:rPr lang="es-CO" sz="1050" b="1" dirty="0"/>
              <a:t>17.5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9,918 </a:t>
            </a:r>
            <a:r>
              <a:rPr lang="es-CO" sz="1050" dirty="0" err="1"/>
              <a:t>surveys</a:t>
            </a:r>
            <a:r>
              <a:rPr lang="es-CO" sz="1050" dirty="0"/>
              <a:t>).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60D50B8-2324-4367-C48F-4A07102D074C}"/>
              </a:ext>
            </a:extLst>
          </p:cNvPr>
          <p:cNvSpPr/>
          <p:nvPr/>
        </p:nvSpPr>
        <p:spPr>
          <a:xfrm>
            <a:off x="558328" y="3513582"/>
            <a:ext cx="11176168" cy="266738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FA86D7AC-C736-4C85-41AE-4F1BECF97808}"/>
              </a:ext>
            </a:extLst>
          </p:cNvPr>
          <p:cNvSpPr/>
          <p:nvPr/>
        </p:nvSpPr>
        <p:spPr>
          <a:xfrm>
            <a:off x="558327" y="1279847"/>
            <a:ext cx="10856925" cy="181768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36">
            <a:extLst>
              <a:ext uri="{FF2B5EF4-FFF2-40B4-BE49-F238E27FC236}">
                <a16:creationId xmlns:a16="http://schemas.microsoft.com/office/drawing/2014/main" id="{F6AF082E-67A7-013C-6D63-8E4C57CC1175}"/>
              </a:ext>
            </a:extLst>
          </p:cNvPr>
          <p:cNvSpPr/>
          <p:nvPr/>
        </p:nvSpPr>
        <p:spPr>
          <a:xfrm>
            <a:off x="969461" y="4988100"/>
            <a:ext cx="4479380" cy="82276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72D56878-5578-64BE-F48F-9EB4C02EF8B5}"/>
              </a:ext>
            </a:extLst>
          </p:cNvPr>
          <p:cNvSpPr/>
          <p:nvPr/>
        </p:nvSpPr>
        <p:spPr>
          <a:xfrm>
            <a:off x="6371539" y="4975545"/>
            <a:ext cx="5092874" cy="60135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81" y="1626186"/>
            <a:ext cx="4392660" cy="2644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r_busin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935" y="1659985"/>
            <a:ext cx="5749296" cy="265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F2FE7A3-AABF-F9B9-A2B5-B05A4B379976}"/>
              </a:ext>
            </a:extLst>
          </p:cNvPr>
          <p:cNvSpPr txBox="1"/>
          <p:nvPr/>
        </p:nvSpPr>
        <p:spPr>
          <a:xfrm>
            <a:off x="969461" y="4988100"/>
            <a:ext cx="447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Bimodal Rating Polarization:</a:t>
            </a:r>
            <a:r>
              <a:rPr lang="en-US" sz="1050" dirty="0"/>
              <a:t> Customer perception follows an "all-or-nothing" distribution: </a:t>
            </a:r>
            <a:r>
              <a:rPr lang="en-US" sz="1050" b="1" dirty="0"/>
              <a:t>92.2% of ratings are binary extremes</a:t>
            </a:r>
            <a:r>
              <a:rPr lang="en-US" sz="1050" dirty="0"/>
              <a:t> (75.7% 5-star vs. 16.5% 1-star). Neutral/mid-tier ratings (2–4 stars) represent only 7.8%, proving customers evaluate contacts as total success or complete failure.</a:t>
            </a:r>
            <a:endParaRPr lang="es-CO" sz="105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051C754-E3A4-C1E5-AEB1-C2AEDF4F762B}"/>
              </a:ext>
            </a:extLst>
          </p:cNvPr>
          <p:cNvSpPr txBox="1"/>
          <p:nvPr/>
        </p:nvSpPr>
        <p:spPr>
          <a:xfrm>
            <a:off x="6371539" y="5031610"/>
            <a:ext cx="52395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050" b="1" dirty="0"/>
              <a:t>Uniform LOB Deficit:</a:t>
            </a:r>
            <a:r>
              <a:rPr lang="en-US" sz="1050" dirty="0"/>
              <a:t> Underperformance is consistent across all business lines (79.7%–80.7%), with </a:t>
            </a:r>
            <a:r>
              <a:rPr lang="en-US" sz="1050" b="1" dirty="0"/>
              <a:t>Food generating 59.6% of total survey volume (46,071)</a:t>
            </a:r>
            <a:r>
              <a:rPr lang="en-US" sz="1050" dirty="0"/>
              <a:t> at 80.7% CSAT.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AC18B19-93AA-24F4-E5D1-01D5C158ABB8}"/>
              </a:ext>
            </a:extLst>
          </p:cNvPr>
          <p:cNvSpPr txBox="1"/>
          <p:nvPr/>
        </p:nvSpPr>
        <p:spPr>
          <a:xfrm>
            <a:off x="2327905" y="450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Customer Sentiment 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AB1B97F-E63F-4907-9533-AE0C8DD8B8D8}"/>
              </a:ext>
            </a:extLst>
          </p:cNvPr>
          <p:cNvSpPr txBox="1"/>
          <p:nvPr/>
        </p:nvSpPr>
        <p:spPr>
          <a:xfrm>
            <a:off x="8120462" y="45620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Line of Business </a:t>
            </a:r>
            <a:endParaRPr lang="en-US" sz="1200" dirty="0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CCB090F-4CC5-14F4-C36D-73B9EC450091}"/>
              </a:ext>
            </a:extLst>
          </p:cNvPr>
          <p:cNvSpPr/>
          <p:nvPr/>
        </p:nvSpPr>
        <p:spPr>
          <a:xfrm>
            <a:off x="859536" y="1484234"/>
            <a:ext cx="4744851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9FAD12D8-2A3B-83AF-58B6-792AF3F4C663}"/>
              </a:ext>
            </a:extLst>
          </p:cNvPr>
          <p:cNvSpPr/>
          <p:nvPr/>
        </p:nvSpPr>
        <p:spPr>
          <a:xfrm>
            <a:off x="5811390" y="1471890"/>
            <a:ext cx="6096000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5D721074-60A0-9D99-D3BB-B64FF2B34AFC}"/>
              </a:ext>
            </a:extLst>
          </p:cNvPr>
          <p:cNvSpPr/>
          <p:nvPr/>
        </p:nvSpPr>
        <p:spPr>
          <a:xfrm>
            <a:off x="969461" y="4975544"/>
            <a:ext cx="45719" cy="8394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C73C4A7-ED8C-18C4-E3DD-5123C9CCD9A2}"/>
              </a:ext>
            </a:extLst>
          </p:cNvPr>
          <p:cNvSpPr/>
          <p:nvPr/>
        </p:nvSpPr>
        <p:spPr>
          <a:xfrm>
            <a:off x="6371539" y="4975544"/>
            <a:ext cx="45719" cy="60350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Voice of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2,749 classified comments from 1–3★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80" y="6638544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bar_v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" y="1211580"/>
            <a:ext cx="5806440" cy="2915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265058" y="1537988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Detractor Driver Disconnect: Resolution vs. Soft Skills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6350" y="2033445"/>
            <a:ext cx="5870447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Resolution Deficit Dominates (35.4%):</a:t>
            </a:r>
            <a:r>
              <a:rPr lang="en-US" sz="1000" dirty="0"/>
              <a:t> Missing refunds (18.8%) and lack of solution (16.6%) drive over a third of all negative verbatim feedback.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Soft Skills Over-Weighting (4.3%):</a:t>
            </a:r>
            <a:r>
              <a:rPr lang="en-US" sz="1000" dirty="0"/>
              <a:t> "Agent attitude" accounts for only 4.3% of detractor complaints (171 comments), despite being heavily weighted in traditional QA rubrics.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Operational Takeaway:</a:t>
            </a:r>
            <a:r>
              <a:rPr lang="en-US" sz="1000" dirty="0"/>
              <a:t> Customers evaluate experience based on functional problem-solving, not conversational politeness.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876" y="3510915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Dissatisfaction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Ownership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FE966D-A401-994E-FBFF-7D044B7178C1}"/>
              </a:ext>
            </a:extLst>
          </p:cNvPr>
          <p:cNvGrpSpPr/>
          <p:nvPr/>
        </p:nvGrpSpPr>
        <p:grpSpPr>
          <a:xfrm>
            <a:off x="6670699" y="3838099"/>
            <a:ext cx="4389120" cy="1943290"/>
            <a:chOff x="6492240" y="3529584"/>
            <a:chExt cx="4389120" cy="1943290"/>
          </a:xfrm>
        </p:grpSpPr>
        <p:sp>
          <p:nvSpPr>
            <p:cNvPr id="15" name="Rectangle 14"/>
            <p:cNvSpPr/>
            <p:nvPr/>
          </p:nvSpPr>
          <p:spPr>
            <a:xfrm>
              <a:off x="6492240" y="3529584"/>
              <a:ext cx="438912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0255" y="361088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Owner the auditor tagged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5489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Cases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3213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Share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20255" y="397664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CX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5489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23213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49.5%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4256341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92240" y="4261104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0255" y="4378981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People (CSR)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5489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3213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22.0%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92240" y="4658677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20255" y="4781317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End User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45489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3213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10.1%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92240" y="5061013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5065776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0255" y="5183653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External Factors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5489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3213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9.2%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92240" y="5463349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ACE839-D7B0-2B96-E068-AD2D94F96537}"/>
              </a:ext>
            </a:extLst>
          </p:cNvPr>
          <p:cNvGrpSpPr/>
          <p:nvPr/>
        </p:nvGrpSpPr>
        <p:grpSpPr>
          <a:xfrm>
            <a:off x="457199" y="4334255"/>
            <a:ext cx="5957467" cy="2228755"/>
            <a:chOff x="457199" y="4334255"/>
            <a:chExt cx="5957467" cy="2228755"/>
          </a:xfrm>
        </p:grpSpPr>
        <p:sp>
          <p:nvSpPr>
            <p:cNvPr id="37" name="Rectangle 36"/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68096" y="4517136"/>
            <a:ext cx="523951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53727" y="4753833"/>
            <a:ext cx="6399717" cy="1621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CO" sz="1400" dirty="0">
              <a:effectLst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CSAT Correlation (r = -0.151, R2 = 0.023):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scores explain only 2.3% of CSAT variance across 45 contact reasons.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Recontact Correlation (r = -0.078):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shows a slightly negative correlation with recontact reduction.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Conclusion: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Optimizing for current QA metrics will not shift CSAT or lower repeat contacts, as standard audits measure compliance rather than the process resolution required by customers.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C4C372A-12EF-A163-1F62-240833B5FB2C}"/>
              </a:ext>
            </a:extLst>
          </p:cNvPr>
          <p:cNvSpPr/>
          <p:nvPr/>
        </p:nvSpPr>
        <p:spPr>
          <a:xfrm>
            <a:off x="6469529" y="1252729"/>
            <a:ext cx="5190296" cy="473659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Rate against goal. Which channels and contact reasons drive repeat contacts.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5.83% is global (all 12 channels) vs 5.44% goal  ·  Human channels (Phone + Chat): 15.56%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rc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17842"/>
            <a:ext cx="5127956" cy="256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644384" y="12351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Rate by channel: where customers contact us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17904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281237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701861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3122485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127248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3543109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AC9143-0851-75BE-D900-A89D578DC19F}"/>
              </a:ext>
            </a:extLst>
          </p:cNvPr>
          <p:cNvGrpSpPr/>
          <p:nvPr/>
        </p:nvGrpSpPr>
        <p:grpSpPr>
          <a:xfrm>
            <a:off x="6483096" y="1616684"/>
            <a:ext cx="5138927" cy="2287803"/>
            <a:chOff x="6483096" y="1616684"/>
            <a:chExt cx="5138927" cy="2287803"/>
          </a:xfrm>
        </p:grpSpPr>
        <p:sp>
          <p:nvSpPr>
            <p:cNvPr id="14" name="TextBox 13"/>
            <p:cNvSpPr txBox="1"/>
            <p:nvPr/>
          </p:nvSpPr>
          <p:spPr>
            <a:xfrm>
              <a:off x="6483096" y="161668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3296" y="161668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3416" y="161668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12096" y="161668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7896" y="161668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Share of repeats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000732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3296" y="2000732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243,626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43416" y="2000732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38,961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848088" y="1929384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12096" y="2000732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15.99%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97896" y="2000732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67.2%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3096" y="2421356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Self Help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421356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666,650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43416" y="2421356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8,154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48088" y="2350008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12096" y="2421356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1.22%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97896" y="2421356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14.1%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3096" y="2841980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3296" y="2841980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49,674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3416" y="2841980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6,690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848088" y="2770632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12096" y="2841980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13.47%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7896" y="2841980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11.5%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3096" y="326260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GPTBot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3296" y="326260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19,508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326260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2,679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260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13.73%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97896" y="326260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4.6%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3096" y="3683228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Help Center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83296" y="3683228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12,224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43416" y="3683228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941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48088" y="3611879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912096" y="3683228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7.70%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97896" y="3683228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1.6%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355080" y="3963733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206240"/>
            <a:ext cx="53949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Dual-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Governance</a:t>
            </a:r>
            <a:r>
              <a:rPr lang="es-CO" sz="1050" b="1" dirty="0"/>
              <a:t>: </a:t>
            </a:r>
            <a:r>
              <a:rPr lang="es-CO" sz="1050" b="1" dirty="0" err="1"/>
              <a:t>Reporting</a:t>
            </a:r>
            <a:r>
              <a:rPr lang="es-CO" sz="1050" b="1" dirty="0"/>
              <a:t> vs. </a:t>
            </a:r>
            <a:r>
              <a:rPr lang="es-CO" sz="1050" b="1" dirty="0" err="1"/>
              <a:t>Operational</a:t>
            </a:r>
            <a:r>
              <a:rPr lang="es-CO" sz="1050" b="1" dirty="0"/>
              <a:t> Performance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92824" y="4489703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 Skewing: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Self-Service absorbs 67.0% of total volume with a 1.22% recontact rate, masking operational friction in human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64224" y="50518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7279" y="4965890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1-in-6 Recontact Ratio: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Human-assisted channels operate at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15.56% recontact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, meaning 1 out of every 6 customers contacting an agent requires a repeat interaction.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64224" y="54999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77279" y="5363867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Digital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Channel Friction: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Live Chat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15.99%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GPTBot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13.73%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exhibit higher recontact rates than Phone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13.47%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proving digital channels are the main source of repeat contact.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7200" y="3749039"/>
            <a:ext cx="5669280" cy="19202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3749039"/>
            <a:ext cx="38404" cy="1920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8174" y="3831146"/>
            <a:ext cx="51023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Automation Masking Effect: Self-Help Disguises Human Channel Deficit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E1ACA4C-77D2-2431-E928-486B5CE1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54" y="4165366"/>
            <a:ext cx="56003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666.6k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67.0% share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maintains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keeping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5.83%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5.44% target).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Deficit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15.19%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15.56%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Phone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Live Chat)—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tolerance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(5.44%)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Driver: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Chat single-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handedly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(38,961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cases).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8429666-46BD-2437-6872-29C3233945EC}"/>
              </a:ext>
            </a:extLst>
          </p:cNvPr>
          <p:cNvSpPr/>
          <p:nvPr/>
        </p:nvSpPr>
        <p:spPr>
          <a:xfrm>
            <a:off x="6239256" y="1068639"/>
            <a:ext cx="5669280" cy="492068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by contact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Granular recontact driver analysis: Pareto concentration, friction rate isolation, and QA/CSAT metric decoupling.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9" y="675492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pareto_re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1" y="1176226"/>
            <a:ext cx="5920681" cy="3546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08722" y="132635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Highest recontact rates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DD40738B-9706-E291-5246-CC07A565C70B}"/>
              </a:ext>
            </a:extLst>
          </p:cNvPr>
          <p:cNvGrpSpPr/>
          <p:nvPr/>
        </p:nvGrpSpPr>
        <p:grpSpPr>
          <a:xfrm>
            <a:off x="6865620" y="1588312"/>
            <a:ext cx="4910023" cy="2601631"/>
            <a:chOff x="7315200" y="1517904"/>
            <a:chExt cx="4460443" cy="2672040"/>
          </a:xfrm>
        </p:grpSpPr>
        <p:sp>
          <p:nvSpPr>
            <p:cNvPr id="13" name="Rectangle 12"/>
            <p:cNvSpPr/>
            <p:nvPr/>
          </p:nvSpPr>
          <p:spPr>
            <a:xfrm>
              <a:off x="7315200" y="1517904"/>
              <a:ext cx="44348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43216" y="1599205"/>
              <a:ext cx="128016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79408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92640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51008" y="15992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179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43216" y="1982444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408" y="1982444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3,146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92640" y="1982444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87000" y="1911095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51009" y="1952867"/>
              <a:ext cx="374904" cy="1539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917936" y="192024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7664" y="2007107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92256" y="1982444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15200" y="2262949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15200" y="2267712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43216" y="2403068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Cash order blocked (ant…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79408" y="2403068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7,278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92640" y="2403068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287000" y="2331720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351008" y="2323431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917936" y="234086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Oval 34"/>
            <p:cNvSpPr/>
            <p:nvPr/>
          </p:nvSpPr>
          <p:spPr>
            <a:xfrm>
              <a:off x="11027664" y="242773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92256" y="2403068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2683573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43216" y="2823692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79408" y="2823692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39,706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692640" y="2823692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87000" y="2752344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351008" y="2744055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917936" y="276148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Oval 43"/>
            <p:cNvSpPr/>
            <p:nvPr/>
          </p:nvSpPr>
          <p:spPr>
            <a:xfrm>
              <a:off x="11027664" y="284835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92256" y="282369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15200" y="3104197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15200" y="3108960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43216" y="3244316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/ delay in…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79408" y="3244316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76,911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92640" y="3244316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287000" y="3172968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351008" y="3164679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0917936" y="318211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Oval 53"/>
            <p:cNvSpPr/>
            <p:nvPr/>
          </p:nvSpPr>
          <p:spPr>
            <a:xfrm>
              <a:off x="11027664" y="3268979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92256" y="3244316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15200" y="3524821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43216" y="3664940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refund status and condi…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79408" y="3664940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18,484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92640" y="3664940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87000" y="3593591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51008" y="3585303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917936" y="360273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3" name="Oval 62"/>
            <p:cNvSpPr/>
            <p:nvPr/>
          </p:nvSpPr>
          <p:spPr>
            <a:xfrm>
              <a:off x="11027664" y="368960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192256" y="366494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315200" y="3945445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0" y="4023360"/>
              <a:ext cx="4434840" cy="1665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6B7280"/>
                  </a:solidFill>
                  <a:latin typeface="Inter"/>
                </a:rPr>
                <a:t>Rate = repeats ÷ contacts of that reason. More repeats ≠ higher rate.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7222447" y="441574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How this compares with QA and CSAT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49180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52944" y="466771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Phantom Compliance (93%–98% QA):</a:t>
            </a:r>
            <a:r>
              <a:rPr lang="en-US" sz="1000" dirty="0"/>
              <a:t> High-recontact reasons consistently achieve near-perfect QA scores (93%–98%), proving that QA rubrics reward procedural compliance while ignoring customer resolution gaps.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325032" y="56672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15200" y="6284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17611" y="609710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Strategic Diagnostic:</a:t>
            </a:r>
            <a:r>
              <a:rPr lang="en-US" sz="1000" dirty="0"/>
              <a:t> High QA scores mask unresolved customer friction. When an agent follows process without delivering immediate resolution or clear timelines, customer dissatisfaction and repeat contact remain inevitable.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4729" y="4806777"/>
            <a:ext cx="5294671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Where the volume sits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773" y="532041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7517" y="5224400"/>
            <a:ext cx="4543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Single Point Volumetric Driver: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"Order status / delay information"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generates </a:t>
            </a: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13,014 repeat cases alone (22.4% of total repeats)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across 76,911 interactions.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85393" y="586545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517" y="5676169"/>
            <a:ext cx="580468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3 Concentration (47.0%):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Combined with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"Order status &amp; delays"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(7,680) and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"Disagrees with cancellation charge"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(6,595), just 3 reasons account for </a:t>
            </a: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27,289 repeat contacts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sz="100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1E0065-4BCF-22A0-3FD3-15A401152D4D}"/>
              </a:ext>
            </a:extLst>
          </p:cNvPr>
          <p:cNvSpPr txBox="1"/>
          <p:nvPr/>
        </p:nvSpPr>
        <p:spPr>
          <a:xfrm>
            <a:off x="498645" y="61348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80/20 Rule Validation:</a:t>
            </a:r>
            <a:r>
              <a:rPr lang="en-US" sz="1000" dirty="0"/>
              <a:t> Expanding the scope to </a:t>
            </a:r>
            <a:r>
              <a:rPr lang="en-US" sz="1000" b="1" dirty="0"/>
              <a:t>6 contact reasons accounts for 81.0% of total recontact volume</a:t>
            </a:r>
            <a:r>
              <a:rPr lang="en-US" sz="1000" dirty="0"/>
              <a:t>, defining the exact operational scope needed to restore FCR (First Contact Resolution).</a:t>
            </a:r>
          </a:p>
        </p:txBody>
      </p:sp>
      <p:sp>
        <p:nvSpPr>
          <p:cNvPr id="84" name="Rectangle 76">
            <a:extLst>
              <a:ext uri="{FF2B5EF4-FFF2-40B4-BE49-F238E27FC236}">
                <a16:creationId xmlns:a16="http://schemas.microsoft.com/office/drawing/2014/main" id="{84B710ED-E0DA-9186-EC5D-CB320CFB39F2}"/>
              </a:ext>
            </a:extLst>
          </p:cNvPr>
          <p:cNvSpPr/>
          <p:nvPr/>
        </p:nvSpPr>
        <p:spPr>
          <a:xfrm>
            <a:off x="379773" y="63093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FA0FDF96-747E-B8BE-842F-EF64CC9B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904" y="5398154"/>
            <a:ext cx="42708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Collapse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Alignment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mirrors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severe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notably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67.0%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D54A2713-6ABB-4017-F158-2C319E731604}"/>
              </a:ext>
            </a:extLst>
          </p:cNvPr>
          <p:cNvSpPr/>
          <p:nvPr/>
        </p:nvSpPr>
        <p:spPr>
          <a:xfrm>
            <a:off x="6774426" y="1265880"/>
            <a:ext cx="5134110" cy="54890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People: where coaching should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Which agents sit outside the pack. Which teams carry the coaching load.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agent quartiles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Comparative variance analysis: Metric score-ceiling saturation vs. operational performance dispersion (171 QA-audited / 304 CSAT-evaluated agents).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quar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230"/>
            <a:ext cx="6203569" cy="27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872984" y="1041824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High-Liability Outliers: Priority Coaching Matrix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0601FC4-5CE9-FCC7-E0D2-8E7BCDE2DDCF}"/>
              </a:ext>
            </a:extLst>
          </p:cNvPr>
          <p:cNvGrpSpPr/>
          <p:nvPr/>
        </p:nvGrpSpPr>
        <p:grpSpPr>
          <a:xfrm>
            <a:off x="7013448" y="1245040"/>
            <a:ext cx="4206240" cy="2437066"/>
            <a:chOff x="6903720" y="1517904"/>
            <a:chExt cx="4206240" cy="2437066"/>
          </a:xfrm>
        </p:grpSpPr>
        <p:sp>
          <p:nvSpPr>
            <p:cNvPr id="13" name="Rectangle 12"/>
            <p:cNvSpPr/>
            <p:nvPr/>
          </p:nvSpPr>
          <p:spPr>
            <a:xfrm>
              <a:off x="6903720" y="1517904"/>
              <a:ext cx="42062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317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91856" y="15992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40495" y="1599205"/>
              <a:ext cx="438913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07424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67544" y="15992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1736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228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27848" y="1911095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91856" y="1974109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1974109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07424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67544" y="1974109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3720" y="2262949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3720" y="2267712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31736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27848" y="2331720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91856" y="2394733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94733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07424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S9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67544" y="2394733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140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903720" y="2683573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31736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135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27848" y="2752344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91856" y="2815357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40496" y="2815357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07424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67544" y="281535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03720" y="3104197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903720" y="3108960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31736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44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927848" y="3172968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91856" y="3235981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40496" y="3235981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07424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67544" y="3235981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03720" y="3524821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31736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171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927848" y="3593591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91856" y="36566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40496" y="36566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7424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S20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67544" y="36566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85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03720" y="3945445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Coaching priority = (85 − QA) × audits, summed. Higher = coach this team/agent first. It weights a real sample, not a one-off.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187952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Targeted</a:t>
            </a:r>
            <a:r>
              <a:rPr lang="es-CO" sz="1050" b="1" dirty="0"/>
              <a:t> Coaching </a:t>
            </a:r>
            <a:r>
              <a:rPr lang="es-CO" sz="1050" b="1" dirty="0" err="1"/>
              <a:t>Allocation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" y="4206240"/>
            <a:ext cx="6327648" cy="21214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64592" cy="21214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948" y="4301761"/>
            <a:ext cx="57881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Metric Ceiling Compression: QA Homogeneity vs. CSAT Dispersion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7457F9B-E1AC-5905-60B4-E13466F2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3" y="4698452"/>
            <a:ext cx="59159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(Q1–Q3) scores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94.9 and 99.9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rubric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leniency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Severe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(27.1% – 96.9%):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gaps.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Q1 (89.3%)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Q2, Q3, and Q4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(64.4%–82.1%)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Ranking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9295FE6-438A-8D62-7868-8880B304B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438" y="4406294"/>
            <a:ext cx="46623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228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(QA vs. CSAT):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Q4 (42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82.4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CSAT Q4 (76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64.4%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comprise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target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83.97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74.1%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772475C-47AB-103A-6E22-6EBB3DEFF139}"/>
              </a:ext>
            </a:extLst>
          </p:cNvPr>
          <p:cNvSpPr txBox="1"/>
          <p:nvPr/>
        </p:nvSpPr>
        <p:spPr>
          <a:xfrm>
            <a:off x="7099554" y="3759639"/>
            <a:ext cx="452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Coaching Priority Formula: (Target 85 – QA </a:t>
            </a:r>
            <a:r>
              <a:rPr lang="en-US" sz="900" dirty="0" err="1"/>
              <a:t>Scor</a:t>
            </a:r>
            <a:r>
              <a:rPr lang="en-US" sz="900" dirty="0"/>
              <a:t>) x Audits. Prioritizes high-volume operational liability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3E2A11-3432-B805-637F-47069B660C84}"/>
              </a:ext>
            </a:extLst>
          </p:cNvPr>
          <p:cNvSpPr/>
          <p:nvPr/>
        </p:nvSpPr>
        <p:spPr>
          <a:xfrm>
            <a:off x="6819014" y="990353"/>
            <a:ext cx="5089522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supervisor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Supervisor team matrix (31 supervisors / 20+ audits threshold): Compliance vs. CSAT execution disconnect and localized team risk.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supervis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147572"/>
            <a:ext cx="5293353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1207008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Supervisor Quadrant Analysis &amp; Structural Team Clustering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A9DBA0FB-CAC2-AFBD-CC5A-C7DC3593A26E}"/>
              </a:ext>
            </a:extLst>
          </p:cNvPr>
          <p:cNvGrpSpPr/>
          <p:nvPr/>
        </p:nvGrpSpPr>
        <p:grpSpPr>
          <a:xfrm>
            <a:off x="6629400" y="1502126"/>
            <a:ext cx="5029200" cy="2452844"/>
            <a:chOff x="6629400" y="1502126"/>
            <a:chExt cx="5029200" cy="2452844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02920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17536" y="15950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Below QA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15984" y="15950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6064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Worst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16184" y="1502126"/>
              <a:ext cx="914400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7416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17536" y="1969940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5984" y="1969940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92056" y="1911095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56064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16184" y="1969940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62949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267712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S9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17536" y="2390564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15984" y="2390564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92056" y="2331720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56064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16184" y="2390564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29400" y="2683573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57416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S20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17536" y="2811188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15984" y="2811188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592056" y="2752344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656064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79.1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616184" y="2811188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150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3104197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29400" y="3108960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57416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S7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17536" y="3231812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15984" y="3231812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92056" y="3172968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56064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616184" y="3231812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145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29400" y="3524821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7416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17536" y="36524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15984" y="36524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592056" y="3593591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656064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16184" y="3652436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120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29400" y="3945445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29400" y="41879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What the team view shows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8363" y="4835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38927" y="532335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9400" y="58601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4736592"/>
            <a:ext cx="5989320" cy="16962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736592"/>
            <a:ext cx="157276" cy="16962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4919472"/>
            <a:ext cx="542239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Single-Agent Systemic Risk: Critical QA Audit Blindspot (Agent 212)</a:t>
            </a:r>
            <a:endParaRPr sz="11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FB8A9891-22CA-D5E8-B786-240794CF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76" y="5205573"/>
            <a:ext cx="57008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212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27.1%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564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accumulating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411 detractor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single individual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accounts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entire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monthly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QA Audit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sampling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single time,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audit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completely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disconnected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A66C767C-14F9-AA04-9A04-CBB1F9E5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2" y="4657113"/>
            <a:ext cx="51206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Asymmetric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(15 vs. 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(S10)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target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QA /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11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 score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71.0%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4,243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team-level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(53.8%)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Supervisor 7 has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error.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3355FD9-D1AB-E0C6-8365-5ACBD2899D9F}"/>
              </a:ext>
            </a:extLst>
          </p:cNvPr>
          <p:cNvSpPr/>
          <p:nvPr/>
        </p:nvSpPr>
        <p:spPr>
          <a:xfrm>
            <a:off x="6505966" y="972014"/>
            <a:ext cx="5416896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Combined analysis and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Where QA, CSAT and recontact miss on the same contact reason. Then why.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DD343C-ABA8-5FCF-2466-AA73F06FCCF3}"/>
              </a:ext>
            </a:extLst>
          </p:cNvPr>
          <p:cNvGrpSpPr/>
          <p:nvPr/>
        </p:nvGrpSpPr>
        <p:grpSpPr>
          <a:xfrm>
            <a:off x="7392924" y="4681727"/>
            <a:ext cx="4671480" cy="2025207"/>
            <a:chOff x="2935224" y="4055364"/>
            <a:chExt cx="6903720" cy="2001324"/>
          </a:xfrm>
        </p:grpSpPr>
        <p:sp>
          <p:nvSpPr>
            <p:cNvPr id="132" name="Rectangle 113">
              <a:extLst>
                <a:ext uri="{FF2B5EF4-FFF2-40B4-BE49-F238E27FC236}">
                  <a16:creationId xmlns:a16="http://schemas.microsoft.com/office/drawing/2014/main" id="{BB3286EC-E2EC-D904-0D2F-FE4E2AB2CFB6}"/>
                </a:ext>
              </a:extLst>
            </p:cNvPr>
            <p:cNvSpPr/>
            <p:nvPr/>
          </p:nvSpPr>
          <p:spPr>
            <a:xfrm>
              <a:off x="2935224" y="4055364"/>
              <a:ext cx="6903720" cy="2001324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14">
              <a:extLst>
                <a:ext uri="{FF2B5EF4-FFF2-40B4-BE49-F238E27FC236}">
                  <a16:creationId xmlns:a16="http://schemas.microsoft.com/office/drawing/2014/main" id="{1305A96B-E8C2-1309-A087-AD517D62F581}"/>
                </a:ext>
              </a:extLst>
            </p:cNvPr>
            <p:cNvSpPr/>
            <p:nvPr/>
          </p:nvSpPr>
          <p:spPr>
            <a:xfrm>
              <a:off x="2935224" y="4055364"/>
              <a:ext cx="160020" cy="2001323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Combined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Contact reasons that miss on more than one metric (blended Phone +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24</a:t>
            </a:r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CBDB86-88B3-EB54-78F6-7546C68B4DD5}"/>
              </a:ext>
            </a:extLst>
          </p:cNvPr>
          <p:cNvGrpSpPr/>
          <p:nvPr/>
        </p:nvGrpSpPr>
        <p:grpSpPr>
          <a:xfrm>
            <a:off x="457200" y="1207008"/>
            <a:ext cx="11091672" cy="3132010"/>
            <a:chOff x="457200" y="1207008"/>
            <a:chExt cx="11091672" cy="3132010"/>
          </a:xfrm>
        </p:grpSpPr>
        <p:sp>
          <p:nvSpPr>
            <p:cNvPr id="11" name="Rectangle 10"/>
            <p:cNvSpPr/>
            <p:nvPr/>
          </p:nvSpPr>
          <p:spPr>
            <a:xfrm>
              <a:off x="457200" y="1207008"/>
              <a:ext cx="1109167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11573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5576" y="1311573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2503" y="1311573"/>
              <a:ext cx="402334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99431" y="1311573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799" y="1311573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99047" y="1218663"/>
              <a:ext cx="658368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Repeat volume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447" y="1311573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26679" y="1311573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Pattern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92640" y="1311573"/>
              <a:ext cx="1728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Priority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216" y="1732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/ delay information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01568" y="1655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65576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95.6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2503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25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35424" y="1655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99431" y="1732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93792" y="1655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799" y="1732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7" y="1732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13447" y="1732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26679" y="1732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92640" y="16824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Oval 32"/>
            <p:cNvSpPr/>
            <p:nvPr/>
          </p:nvSpPr>
          <p:spPr>
            <a:xfrm>
              <a:off x="9802368" y="17693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66960" y="17363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2043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20482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21893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01568" y="21122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65576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32503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45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35424" y="21122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99431" y="21893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193792" y="21122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57799" y="21893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7" y="21893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13447" y="21893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726679" y="21893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692640" y="21396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Oval 48"/>
            <p:cNvSpPr/>
            <p:nvPr/>
          </p:nvSpPr>
          <p:spPr>
            <a:xfrm>
              <a:off x="9802368" y="22265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66960" y="21935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" y="25006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" y="26465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Disagrees with cancellation charge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401568" y="25694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65576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91.4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032503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535424" y="25694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99431" y="26465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93792" y="25694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57799" y="26465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12.96%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99047" y="26465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6,599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13447" y="26465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26679" y="26465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692640" y="25968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Oval 63"/>
            <p:cNvSpPr/>
            <p:nvPr/>
          </p:nvSpPr>
          <p:spPr>
            <a:xfrm>
              <a:off x="9802368" y="26837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6507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7200" y="29578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7200" y="29626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85216" y="31037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401568" y="30266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65576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90.6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3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70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35424" y="30266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99431" y="31037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193792" y="30266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799" y="31037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99047" y="31037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013447" y="31037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726679" y="31037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692640" y="30540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Oval 79"/>
            <p:cNvSpPr/>
            <p:nvPr/>
          </p:nvSpPr>
          <p:spPr>
            <a:xfrm>
              <a:off x="9802368" y="31409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66960" y="31079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200" y="34150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5216" y="35609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Cash order blocked (antifraud)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401568" y="34838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65576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93.6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32503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58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99431" y="35609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5193792" y="34838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257799" y="35609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99047" y="35609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13447" y="35609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26679" y="35609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High Recontact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692640" y="35112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Oval 93"/>
            <p:cNvSpPr/>
            <p:nvPr/>
          </p:nvSpPr>
          <p:spPr>
            <a:xfrm>
              <a:off x="9802368" y="35981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66960" y="35651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38722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200" y="38770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5216" y="4018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401568" y="3941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65576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32503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118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535424" y="3941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99431" y="4018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193792" y="3941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257799" y="4018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9047" y="4018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13447" y="4018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726679" y="4018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692640" y="39684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802368" y="40553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66960" y="40223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57200" y="4329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457200" y="4425696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dirty="0">
                <a:solidFill>
                  <a:srgbClr val="6B7280"/>
                </a:solidFill>
                <a:latin typeface="Inter"/>
              </a:rPr>
              <a:t>QA and CSAT columns are blended Phone + Chat. Refund status QA 90.6 is n=70 (Phone 76.4 n=25 + Chat 98.4 n=45): same contact reason, two casings in the source. Official overall QA still keeps the two attribute lists unmixed.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4681727"/>
            <a:ext cx="6903720" cy="200132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7200" y="4681727"/>
            <a:ext cx="160020" cy="20013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68096" y="4864608"/>
            <a:ext cx="6336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The same pattern is visible in a single contact reason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91295" y="4689688"/>
            <a:ext cx="4160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Auditor </a:t>
            </a:r>
            <a:r>
              <a:rPr lang="es-CO" sz="1050" b="1" dirty="0" err="1"/>
              <a:t>Ownership</a:t>
            </a:r>
            <a:r>
              <a:rPr lang="es-CO" sz="1050" b="1" dirty="0"/>
              <a:t> </a:t>
            </a:r>
            <a:r>
              <a:rPr lang="es-CO" sz="1050" b="1" dirty="0" err="1"/>
              <a:t>Tagging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530084" y="51367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530084" y="57648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530084" y="640582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3FEC9AC8-74B6-DC5F-A8BD-4643A99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5275323"/>
            <a:ext cx="66050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97.3 in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19.34%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(7,680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in a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Bottleneck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flawlessly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view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courier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95292CB-21BA-C1F8-FBF4-0F386C4F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420" y="4906769"/>
            <a:ext cx="41605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-Cause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(2.2:1 Ratio):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49.5%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constraints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Policy-Driven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42.2%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categorized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"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resolution-based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,"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17.0%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Chat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underlying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friction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Reloution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/case </a:t>
            </a: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closure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 vs CSAT </a:t>
            </a:r>
            <a:endParaRPr sz="18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correlation analysis across contact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851" y="1041594"/>
            <a:ext cx="4096511" cy="232270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97" y="1035486"/>
            <a:ext cx="184318" cy="232270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38" y="1123630"/>
            <a:ext cx="3945164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200" b="1" dirty="0" err="1"/>
              <a:t>Issue</a:t>
            </a:r>
            <a:r>
              <a:rPr lang="es-CO" sz="1200" b="1" dirty="0"/>
              <a:t> </a:t>
            </a:r>
            <a:r>
              <a:rPr lang="es-CO" sz="1200" b="1" dirty="0" err="1"/>
              <a:t>Resolution</a:t>
            </a:r>
            <a:r>
              <a:rPr lang="es-CO" sz="1200" b="1" dirty="0"/>
              <a:t> </a:t>
            </a:r>
            <a:r>
              <a:rPr lang="es-CO" sz="1200" b="1" dirty="0" err="1"/>
              <a:t>is</a:t>
            </a:r>
            <a:r>
              <a:rPr lang="es-CO" sz="1200" b="1" dirty="0"/>
              <a:t> </a:t>
            </a:r>
            <a:r>
              <a:rPr lang="es-CO" sz="1200" b="1" dirty="0" err="1"/>
              <a:t>the</a:t>
            </a:r>
            <a:r>
              <a:rPr lang="es-CO" sz="1200" b="1" dirty="0"/>
              <a:t> </a:t>
            </a:r>
            <a:r>
              <a:rPr lang="es-CO" sz="1200" b="1" dirty="0" err="1"/>
              <a:t>only</a:t>
            </a:r>
            <a:r>
              <a:rPr lang="es-CO" sz="1200" b="1" dirty="0"/>
              <a:t> </a:t>
            </a:r>
            <a:r>
              <a:rPr lang="es-CO" sz="1200" b="1" dirty="0" err="1"/>
              <a:t>aspect</a:t>
            </a:r>
            <a:r>
              <a:rPr lang="es-CO" sz="1200" b="1" dirty="0"/>
              <a:t> </a:t>
            </a:r>
            <a:r>
              <a:rPr lang="es-CO" sz="1200" b="1" dirty="0" err="1"/>
              <a:t>moving</a:t>
            </a:r>
            <a:r>
              <a:rPr lang="es-CO" sz="1200" b="1" dirty="0"/>
              <a:t> CSAT</a:t>
            </a:r>
            <a:endParaRPr sz="1200" b="1" dirty="0"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0219" y="4962150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higher closure rates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E90D65C-DFF1-8362-9A56-8CC1E044F95C}"/>
              </a:ext>
            </a:extLst>
          </p:cNvPr>
          <p:cNvGrpSpPr/>
          <p:nvPr/>
        </p:nvGrpSpPr>
        <p:grpSpPr>
          <a:xfrm>
            <a:off x="179911" y="5140401"/>
            <a:ext cx="4096512" cy="1098418"/>
            <a:chOff x="457200" y="4887645"/>
            <a:chExt cx="5074920" cy="1271070"/>
          </a:xfrm>
        </p:grpSpPr>
        <p:sp>
          <p:nvSpPr>
            <p:cNvPr id="17" name="Rectangle 16"/>
            <p:cNvSpPr/>
            <p:nvPr/>
          </p:nvSpPr>
          <p:spPr>
            <a:xfrm>
              <a:off x="457200" y="4937760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216" y="4974679"/>
              <a:ext cx="2212848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98065" y="4887645"/>
              <a:ext cx="685799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9897" y="4887645"/>
              <a:ext cx="384048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79975" y="4887645"/>
              <a:ext cx="365761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4327" y="4974680"/>
              <a:ext cx="499775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5221104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Wrong order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9008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54096" y="5221104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7588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39897" y="5143271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92.2%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79975" y="5221104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1767" y="5143271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7,359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408485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720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5216" y="5458847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Damaged order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99008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54096" y="5458847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83%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7588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9897" y="5381014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92.1%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9975" y="5458847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1767" y="5381014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 dirty="0">
                  <a:solidFill>
                    <a:srgbClr val="4B5563"/>
                  </a:solidFill>
                  <a:latin typeface="Inter"/>
                </a:rPr>
                <a:t>5,962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" y="5646229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" y="5696592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Inedible order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99008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4096" y="5696592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7588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39897" y="5618758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91.3%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79975" y="5696592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190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01767" y="5618758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7,685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7200" y="5883973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20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6" y="5934336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 dirty="0">
                  <a:solidFill>
                    <a:srgbClr val="1A1A1A"/>
                  </a:solidFill>
                  <a:latin typeface="Inter"/>
                </a:rPr>
                <a:t>Incomplete order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99008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54096" y="5934336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86%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67588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39897" y="5856503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89.4%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79975" y="5934336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171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01767" y="5856503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8,227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6121717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11639" y="349946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lower closure rates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BED5B237-DFFB-C576-BF81-5BE7C6EBCE65}"/>
              </a:ext>
            </a:extLst>
          </p:cNvPr>
          <p:cNvGrpSpPr/>
          <p:nvPr/>
        </p:nvGrpSpPr>
        <p:grpSpPr>
          <a:xfrm>
            <a:off x="230408" y="3677905"/>
            <a:ext cx="4150141" cy="1298548"/>
            <a:chOff x="6537960" y="4920329"/>
            <a:chExt cx="5074920" cy="1210913"/>
          </a:xfrm>
        </p:grpSpPr>
        <p:sp>
          <p:nvSpPr>
            <p:cNvPr id="58" name="Rectangle 57"/>
            <p:cNvSpPr/>
            <p:nvPr/>
          </p:nvSpPr>
          <p:spPr>
            <a:xfrm>
              <a:off x="6537960" y="4937759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65975" y="4985811"/>
              <a:ext cx="2212848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878824" y="4976587"/>
              <a:ext cx="685799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820656" y="4985811"/>
              <a:ext cx="384047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24162" y="4985811"/>
              <a:ext cx="402334" cy="1459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45955" y="4920329"/>
              <a:ext cx="438907" cy="292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65976" y="5231057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34856" y="5231057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38%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5664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820656" y="5231057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460736" y="5231057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115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82528" y="5231057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37960" y="5408485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3796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65976" y="5468801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Delivery fee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907084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34856" y="5468801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22%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975664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20656" y="5468801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19.0%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460736" y="5468801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082528" y="5468801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37960" y="5646229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65976" y="5706545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07084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134856" y="5706545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45%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75664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820656" y="5706545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30.2%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460736" y="5706545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29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82528" y="5706545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96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537960" y="5883973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3796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65976" y="5944289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Modify the order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07084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134856" y="5944289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25%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75664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20656" y="5944289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34.6%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60736" y="5944289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082528" y="5944289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52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537960" y="6121717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97738" y="640199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dirty="0">
                <a:solidFill>
                  <a:srgbClr val="6B7280"/>
                </a:solidFill>
                <a:latin typeface="Inter"/>
              </a:rPr>
              <a:t>After-sales fraud CSAT 6.1% is 29 satisfied / 475 surveys (432 ones).  One exception remains: “Refund status and conditions” has a 76% closure rate but only 67.0% CSAT on 3,582 surveys, showing that closure alone does not explain every customer outcome.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700" y="669339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</a:t>
            </a:r>
            <a:r>
              <a:rPr lang="es-CO" sz="750" b="0" dirty="0">
                <a:solidFill>
                  <a:srgbClr val="9CA3AF"/>
                </a:solidFill>
                <a:latin typeface="Inter"/>
              </a:rPr>
              <a:t>s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  |   Confidential. Internal use only     ·     Audits on this slide = Resolved or Not resolved. After-sales fraud: 115 assessed, 3 Abandoned, 118 in Combined analysis.</a:t>
            </a:r>
          </a:p>
        </p:txBody>
      </p:sp>
      <p:pic>
        <p:nvPicPr>
          <p:cNvPr id="102" name="Imagen 10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556741-B544-8D74-A779-E1656DA1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82" y="909828"/>
            <a:ext cx="7851426" cy="5549923"/>
          </a:xfrm>
          <a:prstGeom prst="rect">
            <a:avLst/>
          </a:prstGeom>
        </p:spPr>
      </p:pic>
      <p:sp>
        <p:nvSpPr>
          <p:cNvPr id="103" name="Rectangle 3">
            <a:extLst>
              <a:ext uri="{FF2B5EF4-FFF2-40B4-BE49-F238E27FC236}">
                <a16:creationId xmlns:a16="http://schemas.microsoft.com/office/drawing/2014/main" id="{3EE569E8-18F5-F9C3-990B-9ACAD384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91" y="1404569"/>
            <a:ext cx="386963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Strong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Correlation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 = +0.80, R2 = 0.64):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35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customer's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outcome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greatest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determinant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Predictivity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(R2 = 0.023):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Traditional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2.3%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demonstrating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politeness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script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salvage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unfulfilled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Pivot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permissions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penalizing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5">
            <a:extLst>
              <a:ext uri="{FF2B5EF4-FFF2-40B4-BE49-F238E27FC236}">
                <a16:creationId xmlns:a16="http://schemas.microsoft.com/office/drawing/2014/main" id="{19534C0D-F09C-0C47-195B-4D9D929295DE}"/>
              </a:ext>
            </a:extLst>
          </p:cNvPr>
          <p:cNvSpPr/>
          <p:nvPr/>
        </p:nvSpPr>
        <p:spPr>
          <a:xfrm>
            <a:off x="636726" y="4933773"/>
            <a:ext cx="5841492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5 whys: why we could not close, and what closing actually was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Root-cause '5-Whys' auditor diagnostic (2,114 audited cases): Structural policy &amp; tooling barriers in unclosed cases vs. tangible resolution drivers in closed cases.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761" y="6551461"/>
            <a:ext cx="11277295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</a:rPr>
              <a:t>DiDi Global, CX Service Operations   |   Confidential.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77591"/>
            <a:ext cx="55321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>
                <a:solidFill>
                  <a:srgbClr val="1A1A1A"/>
                </a:solidFill>
              </a:rPr>
              <a:t>Structural</a:t>
            </a:r>
            <a:r>
              <a:rPr lang="es-CO" sz="1100" b="1" dirty="0">
                <a:solidFill>
                  <a:srgbClr val="1A1A1A"/>
                </a:solidFill>
              </a:rPr>
              <a:t> Non-</a:t>
            </a:r>
            <a:r>
              <a:rPr lang="es-CO" sz="1100" b="1" dirty="0" err="1">
                <a:solidFill>
                  <a:srgbClr val="1A1A1A"/>
                </a:solidFill>
              </a:rPr>
              <a:t>Closure</a:t>
            </a:r>
            <a:r>
              <a:rPr lang="es-CO" sz="1100" b="1" dirty="0">
                <a:solidFill>
                  <a:srgbClr val="1A1A1A"/>
                </a:solidFill>
              </a:rPr>
              <a:t> </a:t>
            </a:r>
            <a:r>
              <a:rPr lang="es-CO" sz="1100" b="1" dirty="0" err="1">
                <a:solidFill>
                  <a:srgbClr val="1A1A1A"/>
                </a:solidFill>
              </a:rPr>
              <a:t>Bottlenecks</a:t>
            </a:r>
            <a:r>
              <a:rPr lang="es-CO" sz="1100" b="1" dirty="0">
                <a:solidFill>
                  <a:srgbClr val="1A1A1A"/>
                </a:solidFill>
              </a:rPr>
              <a:t> (n = 699 </a:t>
            </a:r>
            <a:r>
              <a:rPr lang="es-CO" sz="1100" b="1" dirty="0" err="1">
                <a:solidFill>
                  <a:srgbClr val="1A1A1A"/>
                </a:solidFill>
              </a:rPr>
              <a:t>Audits</a:t>
            </a:r>
            <a:r>
              <a:rPr lang="es-CO" sz="1100" b="1" dirty="0">
                <a:solidFill>
                  <a:srgbClr val="1A1A1A"/>
                </a:solidFill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52.1%. Not those tickets. Audits and surveys do not share a ticket ID.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18CF78E-EDE9-A521-F46F-BC3FC76EFFC2}"/>
              </a:ext>
            </a:extLst>
          </p:cNvPr>
          <p:cNvGrpSpPr/>
          <p:nvPr/>
        </p:nvGrpSpPr>
        <p:grpSpPr>
          <a:xfrm>
            <a:off x="683353" y="1328361"/>
            <a:ext cx="5849510" cy="2461023"/>
            <a:chOff x="457200" y="1604497"/>
            <a:chExt cx="5541729" cy="2707089"/>
          </a:xfrm>
        </p:grpSpPr>
        <p:sp>
          <p:nvSpPr>
            <p:cNvPr id="12" name="Rectangle 11"/>
            <p:cNvSpPr/>
            <p:nvPr/>
          </p:nvSpPr>
          <p:spPr>
            <a:xfrm>
              <a:off x="457200" y="1645920"/>
              <a:ext cx="553212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5216" y="17006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Why it did not close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5576" y="17006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42816" y="17006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55928" y="1604497"/>
              <a:ext cx="1143001" cy="34010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Of those, followed process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970377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Policy blocked refund / close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5576" y="1970377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267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42816" y="1970377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74336" y="1970377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215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18065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85416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2235554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tool — must escalate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5576" y="2235554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158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42816" y="2235554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336" y="2235554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244582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216" y="25007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65576" y="25007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4B5563"/>
                  </a:solidFill>
                </a:rPr>
                <a:t>103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42816" y="25007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4336" y="250073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77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71100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15768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2765905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analysis (“No aplica”)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65576" y="2765905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42816" y="2765905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13%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2765905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63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297618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5216" y="3031082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Fraud named in the text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65576" y="3031082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42816" y="3031082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4%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4336" y="3031082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200" y="3241357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200" y="3246120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216" y="3296258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Courier / store / restaurant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65576" y="3296258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42816" y="3296258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74336" y="3296258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7200" y="350653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5216" y="3561433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65576" y="3561433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42816" y="3561433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561433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377170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3776472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5216" y="382661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Delay / ETA (undercounted)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65576" y="382661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17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42816" y="382661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74336" y="382661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403688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6" y="4091786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Agent missed the process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5576" y="4091786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42816" y="4091786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1%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74336" y="4091786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5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7200" y="430206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906736" y="997227"/>
            <a:ext cx="48463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1A1A1A"/>
                </a:solidFill>
              </a:rPr>
              <a:t>Resolution Mechanics (n = 1,415 Audits)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70.9%. Not those tickets. Audits and surveys do not share a ticket ID.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79B5D51-4BDE-BDEC-546C-C252ABF59468}"/>
              </a:ext>
            </a:extLst>
          </p:cNvPr>
          <p:cNvGrpSpPr/>
          <p:nvPr/>
        </p:nvGrpSpPr>
        <p:grpSpPr>
          <a:xfrm>
            <a:off x="6938681" y="1418355"/>
            <a:ext cx="4434840" cy="2135314"/>
            <a:chOff x="6903720" y="1645920"/>
            <a:chExt cx="4434840" cy="2135314"/>
          </a:xfrm>
        </p:grpSpPr>
        <p:sp>
          <p:nvSpPr>
            <p:cNvPr id="67" name="Rectangle 66"/>
            <p:cNvSpPr/>
            <p:nvPr/>
          </p:nvSpPr>
          <p:spPr>
            <a:xfrm>
              <a:off x="6903720" y="1645920"/>
              <a:ext cx="443484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31736" y="16997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What closing was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57816" y="16997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5056" y="16997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31736" y="196953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Confirmed a refund or compensation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57816" y="196953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662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735056" y="196953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47%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903720" y="218065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03720" y="2185416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31736" y="223471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Explained / confirmed the process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57816" y="223471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735056" y="223471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9%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03720" y="244582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1736" y="24998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Used a tool or filed a report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57816" y="24998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156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735056" y="24998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11%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03720" y="2711005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903720" y="2715768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31736" y="2765065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957816" y="276506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251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735056" y="2765065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18%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903720" y="2976181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31736" y="3030241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No analysis (“No </a:t>
              </a:r>
              <a:r>
                <a:rPr sz="1000" b="0" dirty="0" err="1">
                  <a:solidFill>
                    <a:srgbClr val="4B5563"/>
                  </a:solidFill>
                </a:rPr>
                <a:t>aplica</a:t>
              </a:r>
              <a:r>
                <a:rPr sz="1000" b="0" dirty="0">
                  <a:solidFill>
                    <a:srgbClr val="4B5563"/>
                  </a:solidFill>
                </a:rPr>
                <a:t>”)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57816" y="303024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145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735056" y="3030241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10%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903720" y="3241357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903720" y="3246120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31736" y="329541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Cancellation processed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57816" y="32954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43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735056" y="329541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03720" y="350653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31736" y="356059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57816" y="356059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735056" y="356059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903720" y="377170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48850" y="4918228"/>
            <a:ext cx="65298" cy="153501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8504" y="5048203"/>
            <a:ext cx="496519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The main blockers are policy and tools, not agent greetings.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01637" y="4909653"/>
            <a:ext cx="5124603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701636" y="4909652"/>
            <a:ext cx="108813" cy="154176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012533" y="5092533"/>
            <a:ext cx="4279392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When cases are closed, the resolution usually involves a refund, an explanation, or a tool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6716E5B5-95B5-DDF8-2980-30545890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85" y="5609056"/>
            <a:ext cx="475396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authority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C582F30A-BE27-CF26-08EC-33DE74CF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10" y="5359584"/>
            <a:ext cx="5548784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es-CO" altLang="es-CO" sz="1000" dirty="0"/>
              <a:t>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impossible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Restrictive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hungry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hours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dispatch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AD980D-F288-803D-699A-CA68BF98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31" y="3982271"/>
            <a:ext cx="59931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(61%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38% / 267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forcing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escalations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23% / 158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(75.4%):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527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699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protocols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remained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4D120312-5388-C454-EE32-15951509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719" y="3721254"/>
            <a:ext cx="51715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Monetary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(47%):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drives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(662 cases)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empowerment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Tool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Enablers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usage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11% / 156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explanations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9% / 124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secondary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pillars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939EC05-0723-EABE-8DA1-F13DDDC77EBE}"/>
              </a:ext>
            </a:extLst>
          </p:cNvPr>
          <p:cNvSpPr/>
          <p:nvPr/>
        </p:nvSpPr>
        <p:spPr>
          <a:xfrm>
            <a:off x="6647076" y="972013"/>
            <a:ext cx="5275786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C1F4D68-01D1-2690-C93A-4A2AAB16A6C7}"/>
              </a:ext>
            </a:extLst>
          </p:cNvPr>
          <p:cNvSpPr/>
          <p:nvPr/>
        </p:nvSpPr>
        <p:spPr>
          <a:xfrm>
            <a:off x="539731" y="947476"/>
            <a:ext cx="6009808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Why customers contact us again even when QA is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Six-factor Fishbone (Ishikawa) root-cause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ish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152144"/>
            <a:ext cx="10814378" cy="42245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68112"/>
            <a:ext cx="11277295" cy="9601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468112"/>
            <a:ext cx="38404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083"/>
            <a:ext cx="107103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200" b="1" dirty="0"/>
              <a:t>Core </a:t>
            </a:r>
            <a:r>
              <a:rPr lang="es-CO" sz="1200" b="1" dirty="0" err="1"/>
              <a:t>Strategic</a:t>
            </a:r>
            <a:r>
              <a:rPr lang="es-CO" sz="1200" b="1" dirty="0"/>
              <a:t> </a:t>
            </a:r>
            <a:r>
              <a:rPr lang="es-CO" sz="1200" b="1" dirty="0" err="1"/>
              <a:t>Takeaway</a:t>
            </a:r>
            <a:r>
              <a:rPr lang="es-CO" sz="1200" b="1" dirty="0"/>
              <a:t>:</a:t>
            </a:r>
            <a:endParaRPr lang="es-CO" sz="1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6453233-B4A6-D678-008E-AFA21DD5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505" y="47026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(94.14),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(79.95%),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complete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$R^2 = 0.023$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75.4%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(527/699)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non-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shift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coaching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etiquette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re-engineering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unresolvable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What we will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Connect QA with the customer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1" y="1207008"/>
            <a:ext cx="10460012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005072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454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428853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Report closure rate alongside QA by contact reason and sub-reason. Use the same status logic: 70%+ closure is green and 85%+ CSAT is green.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746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751451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Assign each improvement to the relevant contact reason. The Dissatisfaction_Owner field only appears in about 4% of audits, so it should not be used as the primary ownership 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1037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521436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Add correct information as a critical Chat attribute to improve measurement accuracy. Under this scoring, Chat QA would be 80.14. This improves the scorecard, but does not directly improve CSAT.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32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5677280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Track the official CSAT for each targeted contact reason to measure whether the change is working.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How we will know it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15968"/>
            <a:ext cx="525780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4315968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431596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464515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QA vs CSAT (R²)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70367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R² 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R² 0.25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464515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0614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01091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5" y="50109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Close-rate vs CSAT (R²)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7928" y="506943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6A34A"/>
                </a:solidFill>
                <a:latin typeface="Inter"/>
              </a:rPr>
              <a:t>R² 0.64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Keep 0.50 or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501091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ongoing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37190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0255" y="53766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543519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85.0%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537667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73766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574243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5" y="574243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Recontact (human: Phone + Chat)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7928" y="580095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3193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15.56%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6" y="574243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10342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5" y="610819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Phone share of audits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7928" y="616671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3193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F59E0B"/>
                </a:solidFill>
                <a:latin typeface="Inter"/>
              </a:rPr>
              <a:t>14.4%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30%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2176" y="610819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month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646918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Action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What must change. Who owns it. When it lands.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Business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Delivery is the only line of business in the data. Plans are cut by Business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Business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070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207008"/>
            <a:ext cx="27614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2056" y="1207008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91056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1591056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80.74% on 46,071 surveys; order status repeats at 19.34%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591056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live courier ETA to the agent console so customers receive a verifiable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591056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84708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93395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84708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2677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377440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377440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Full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2377440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79.67%, the lowest of the volume lines; undelivered orders audit at 68.2 on 49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377440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Give Phone agents limited same-call refund authority for eligible undelivered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377440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2377440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633472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2034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633472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9061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163824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Market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3163824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80.34% on 3,489 surveys; worst Phone QA reason (47.5) but on only 4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3163824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Define a clear merchant-escalation SLA and script for “completed but not received.” Low confidence: run 20+ audits on this reason before committing merchant-side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163824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Merchant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3163824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419856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350672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3419856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4544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3950208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All Business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6" y="3950208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Refund or compensation not received is 18.8% of negative verbatims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3950208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Send an automatic notification whenever refund status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3950208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Product + CX 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056" y="3950208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06240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4293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4206240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31829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4736592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Data quality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6" y="4736592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'Other' Business Type holds 558 surveys at 26.5% CSAT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1496" y="4736592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Fix the CR-to-Business-Type mapping so detractors are correctly classified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6" y="4736592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92056" y="4736592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4992624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507949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4992624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18213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7607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Severity rates how large the gap is. None of these actions has started yet.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167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Market Place. </a:t>
            </a:r>
            <a:r>
              <a:rPr sz="900" b="0">
                <a:solidFill>
                  <a:srgbClr val="4B5563"/>
                </a:solidFill>
                <a:latin typeface="Inter"/>
              </a:rPr>
              <a:t>That case rests on a contact reason with only 4 audits, the same low-volume reason flagged as unreliable in the Phone QA section. Validate with more audits before committing resources.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Owners are role-level; names to be confirmed with CX Leadership at the weekly review.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channel, people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Owner, deadline and the severity of the problem behind each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20700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207008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207008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207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1572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Increase Phone QA coverage to at least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572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 is 14.4% of audits and the only channel below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572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664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751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664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25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0299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029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2029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Coach Time Management using a system-check script for money disputes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029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64.3% of Phone defects, 133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029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1214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2082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1214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82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24871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24871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Run weekly coaching for the 42 QA-Q4 agents, starting with the five teams with the highest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4871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26 agents below the QA goal; Supervisor 13 alone carries three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871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4871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5786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26654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25786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396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29443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29443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3936" y="29443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Chat critical attribute for correct information, aligned with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29443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372 chats did not follow process; 297 still score 100. Current Chat QA: 96.01. Adjusted QA under proposed scoring: 80.14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9443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29443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30358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31226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30358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968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34015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4015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Do not add Chat headcount. The 15.99% sits on contact reasons that cannot close, mainly order status and refunds.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4015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 generates 67.2% of every repeat contact in the business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4015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4015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34930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35798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34930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8540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38587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" y="3858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858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closure rate weekly and assign an owner to every unclosed case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3858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The field is already on the form. Followed process, did not solve, still averages 96.87 on QA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858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CX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37776" y="3858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42448" y="3950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52176" y="4037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716768" y="3950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11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5216" y="4315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4315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QA and recontact weekly by channel, including Phone+Chat vs the official global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0096" y="4315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Blended figures hid a 13-point channel gap and a 10-point recontact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315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4315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4074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52176" y="449427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16768" y="44074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768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5047488"/>
            <a:ext cx="5074920" cy="120700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6656" y="5193792"/>
            <a:ext cx="4636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Inter"/>
              </a:rPr>
              <a:t>Tagged actions — one action can serve two KPIs. Unique list is on the matrix.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5554980"/>
            <a:ext cx="68580" cy="1417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2960" y="548640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5104" y="5486400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Inter"/>
              </a:rPr>
              <a:t>94.14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62656" y="5486400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8 actions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54864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5801868"/>
            <a:ext cx="68580" cy="141732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573328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5104" y="5733288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62656" y="573328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6 actions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57332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" y="6048756"/>
            <a:ext cx="68580" cy="1417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22960" y="59801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Recontact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75104" y="5980176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Inter"/>
              </a:rPr>
              <a:t>5.83%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2656" y="5980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4 actions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598017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88152" y="5047488"/>
            <a:ext cx="5946343" cy="12070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788152" y="5047488"/>
            <a:ext cx="38404" cy="12070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99048" y="523036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Fix what we measure vs what the customer gets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614416"/>
            <a:ext cx="5379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Closure reporting and the Chat critical change the scorecard. ETA, refund authority and refund notifications change the outcome. Do not mix those two. See the action matrix.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Process compliance looks healthy. Customer outcome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22677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38404" cy="22677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389888"/>
            <a:ext cx="10710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What this month is telling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73936"/>
            <a:ext cx="1071036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Inter"/>
              </a:rPr>
              <a:t>Our operation looks healthy when we measure agent process compliance (QA 94.14), but the customer outcome tells a different story. Blended CSAT is 79.95% against 85% (Phone 86.3%, Chat 77.6%), and human-channel recontact is 15.56%, nearly three times the 5.44% goal. The largest gaps sit in contact reasons where agents cannot close the case: policy, tooling, or no visibility. The priority is not simply more coaching. Measure resolution. Fix the QA scoring gaps. Give agents a way to close the highest-volume failure reasons.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Three things to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Measure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Put % closed next to QA, by contact reason. Closure is strongly associated with CSAT and is a more meaningful indicator of customer outcome than current QA. Close-rate vs CSAT: R² 0.64.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1162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2330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Fix the QA scoring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330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Current Chat QA: 96.01. Adjusted QA under proposed scoring: 80.14. The second is a scenario if process-fails scored 0, not today's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Let agents close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Policy, tools, and visibility on the highest-volume failure reasons. The priority is the process constraint, not only agent coaching.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6994</Words>
  <Application>Microsoft Office PowerPoint</Application>
  <PresentationFormat>Panorámica</PresentationFormat>
  <Paragraphs>993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Calibri</vt:lpstr>
      <vt:lpstr>Google Sans Text</vt:lpstr>
      <vt:lpstr>Inter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Santiago Varon</cp:lastModifiedBy>
  <cp:revision>9</cp:revision>
  <dcterms:created xsi:type="dcterms:W3CDTF">2013-01-27T09:14:16Z</dcterms:created>
  <dcterms:modified xsi:type="dcterms:W3CDTF">2026-08-23T08:04:46Z</dcterms:modified>
  <cp:category/>
</cp:coreProperties>
</file>