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di_mark_orange.png"/>
          <p:cNvPicPr>
            <a:picLocks noChangeAspect="1"/>
          </p:cNvPicPr>
          <p:nvPr/>
        </p:nvPicPr>
        <p:blipFill>
          <a:blip r:embed="rId2"/>
          <a:stretch>
            <a:fillRect/>
          </a:stretch>
        </p:blipFill>
        <p:spPr>
          <a:xfrm>
            <a:off x="5144871" y="1481328"/>
            <a:ext cx="566928" cy="566928"/>
          </a:xfrm>
          <a:prstGeom prst="rect">
            <a:avLst/>
          </a:prstGeom>
        </p:spPr>
      </p:pic>
      <p:sp>
        <p:nvSpPr>
          <p:cNvPr id="4" name="TextBox 3"/>
          <p:cNvSpPr txBox="1"/>
          <p:nvPr/>
        </p:nvSpPr>
        <p:spPr>
          <a:xfrm>
            <a:off x="5858103" y="1481328"/>
            <a:ext cx="1188720" cy="566928"/>
          </a:xfrm>
          <a:prstGeom prst="rect">
            <a:avLst/>
          </a:prstGeom>
          <a:noFill/>
        </p:spPr>
        <p:txBody>
          <a:bodyPr wrap="square" lIns="0" rIns="0" tIns="0" bIns="0" anchor="ctr">
            <a:spAutoFit/>
          </a:bodyPr>
          <a:lstStyle/>
          <a:p>
            <a:pPr algn="l">
              <a:lnSpc>
                <a:spcPct val="115000"/>
              </a:lnSpc>
              <a:spcAft>
                <a:spcPts val="0"/>
              </a:spcAft>
            </a:pPr>
            <a:r>
              <a:rPr sz="3000" b="1">
                <a:solidFill>
                  <a:srgbClr val="FFFFFF"/>
                </a:solidFill>
                <a:latin typeface="Inter"/>
              </a:rPr>
              <a:t>DiDi</a:t>
            </a:r>
          </a:p>
        </p:txBody>
      </p:sp>
      <p:sp>
        <p:nvSpPr>
          <p:cNvPr id="5" name="TextBox 4"/>
          <p:cNvSpPr txBox="1"/>
          <p:nvPr/>
        </p:nvSpPr>
        <p:spPr>
          <a:xfrm>
            <a:off x="457200" y="2395728"/>
            <a:ext cx="11277295" cy="685800"/>
          </a:xfrm>
          <a:prstGeom prst="rect">
            <a:avLst/>
          </a:prstGeom>
          <a:noFill/>
        </p:spPr>
        <p:txBody>
          <a:bodyPr wrap="square" lIns="0" rIns="0" tIns="0" bIns="0" anchor="t">
            <a:spAutoFit/>
          </a:bodyPr>
          <a:lstStyle/>
          <a:p>
            <a:pPr algn="ctr">
              <a:lnSpc>
                <a:spcPct val="115000"/>
              </a:lnSpc>
              <a:spcAft>
                <a:spcPts val="0"/>
              </a:spcAft>
            </a:pPr>
            <a:r>
              <a:rPr sz="3600" b="1">
                <a:solidFill>
                  <a:srgbClr val="FFFFFF"/>
                </a:solidFill>
                <a:latin typeface="Inter"/>
              </a:rPr>
              <a:t>Weekly Performance Report</a:t>
            </a:r>
          </a:p>
        </p:txBody>
      </p:sp>
      <p:sp>
        <p:nvSpPr>
          <p:cNvPr id="6" name="TextBox 5"/>
          <p:cNvSpPr txBox="1"/>
          <p:nvPr/>
        </p:nvSpPr>
        <p:spPr>
          <a:xfrm>
            <a:off x="457200" y="3218688"/>
            <a:ext cx="11277295" cy="320040"/>
          </a:xfrm>
          <a:prstGeom prst="rect">
            <a:avLst/>
          </a:prstGeom>
          <a:noFill/>
        </p:spPr>
        <p:txBody>
          <a:bodyPr wrap="square" lIns="0" rIns="0" tIns="0" bIns="0" anchor="t">
            <a:spAutoFit/>
          </a:bodyPr>
          <a:lstStyle/>
          <a:p>
            <a:pPr algn="ctr">
              <a:lnSpc>
                <a:spcPct val="115000"/>
              </a:lnSpc>
              <a:spcAft>
                <a:spcPts val="0"/>
              </a:spcAft>
            </a:pPr>
            <a:r>
              <a:rPr sz="1500" b="0">
                <a:solidFill>
                  <a:srgbClr val="C9CCD1"/>
                </a:solidFill>
                <a:latin typeface="Inter"/>
              </a:rPr>
              <a:t>CX Service Operations  ·  Delivery LOB  ·  Phone and Live Chat</a:t>
            </a:r>
          </a:p>
        </p:txBody>
      </p:sp>
      <p:sp>
        <p:nvSpPr>
          <p:cNvPr id="7" name="Rectangle 6"/>
          <p:cNvSpPr/>
          <p:nvPr/>
        </p:nvSpPr>
        <p:spPr>
          <a:xfrm>
            <a:off x="5638647" y="3803904"/>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041648"/>
            <a:ext cx="11277295" cy="274320"/>
          </a:xfrm>
          <a:prstGeom prst="rect">
            <a:avLst/>
          </a:prstGeom>
          <a:noFill/>
        </p:spPr>
        <p:txBody>
          <a:bodyPr wrap="square" lIns="0" rIns="0" tIns="0" bIns="0" anchor="t">
            <a:spAutoFit/>
          </a:bodyPr>
          <a:lstStyle/>
          <a:p>
            <a:pPr algn="ctr">
              <a:lnSpc>
                <a:spcPct val="115000"/>
              </a:lnSpc>
              <a:spcAft>
                <a:spcPts val="0"/>
              </a:spcAft>
            </a:pPr>
            <a:r>
              <a:rPr sz="1100" b="0">
                <a:solidFill>
                  <a:srgbClr val="A8ACB3"/>
                </a:solidFill>
                <a:latin typeface="Inter"/>
              </a:rPr>
              <a:t>Deliverable 2: CX Quality Analyst business case</a:t>
            </a:r>
          </a:p>
        </p:txBody>
      </p:sp>
      <p:sp>
        <p:nvSpPr>
          <p:cNvPr id="9" name="Rounded Rectangle 8"/>
          <p:cNvSpPr/>
          <p:nvPr/>
        </p:nvSpPr>
        <p:spPr>
          <a:xfrm>
            <a:off x="2895447" y="5065776"/>
            <a:ext cx="457200" cy="393192"/>
          </a:xfrm>
          <a:prstGeom prst="roundRect">
            <a:avLst>
              <a:gd name="adj" fmla="val 16279"/>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13735" y="5084064"/>
            <a:ext cx="420624" cy="685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03346" y="4983480"/>
            <a:ext cx="40233" cy="8229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4514" y="4983480"/>
            <a:ext cx="40233" cy="8229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17062"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3930"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90798"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17062"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03930"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90798"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69567" y="5660136"/>
            <a:ext cx="3108960" cy="274320"/>
          </a:xfrm>
          <a:prstGeom prst="rect">
            <a:avLst/>
          </a:prstGeom>
          <a:noFill/>
        </p:spPr>
        <p:txBody>
          <a:bodyPr wrap="square" lIns="0" rIns="0" tIns="0" bIns="0" anchor="t">
            <a:spAutoFit/>
          </a:bodyPr>
          <a:lstStyle/>
          <a:p>
            <a:pPr algn="ctr">
              <a:lnSpc>
                <a:spcPct val="115000"/>
              </a:lnSpc>
              <a:spcAft>
                <a:spcPts val="0"/>
              </a:spcAft>
            </a:pPr>
            <a:r>
              <a:rPr sz="1000" b="0">
                <a:solidFill>
                  <a:srgbClr val="A8ACB3"/>
                </a:solidFill>
                <a:latin typeface="Inter"/>
              </a:rPr>
              <a:t>1–31 May 2026  ·  W19–W22</a:t>
            </a:r>
          </a:p>
        </p:txBody>
      </p:sp>
      <p:sp>
        <p:nvSpPr>
          <p:cNvPr id="20" name="Oval 19"/>
          <p:cNvSpPr/>
          <p:nvPr/>
        </p:nvSpPr>
        <p:spPr>
          <a:xfrm>
            <a:off x="5867247" y="5001768"/>
            <a:ext cx="457200" cy="457200"/>
          </a:xfrm>
          <a:prstGeom prst="ellipse">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99835" y="5001768"/>
            <a:ext cx="192024" cy="457200"/>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67247" y="5224018"/>
            <a:ext cx="457200" cy="127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90107" y="5123433"/>
            <a:ext cx="411479" cy="127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1367" y="5660136"/>
            <a:ext cx="3108960" cy="274320"/>
          </a:xfrm>
          <a:prstGeom prst="rect">
            <a:avLst/>
          </a:prstGeom>
          <a:noFill/>
        </p:spPr>
        <p:txBody>
          <a:bodyPr wrap="square" lIns="0" rIns="0" tIns="0" bIns="0" anchor="t">
            <a:spAutoFit/>
          </a:bodyPr>
          <a:lstStyle/>
          <a:p>
            <a:pPr algn="ctr">
              <a:lnSpc>
                <a:spcPct val="115000"/>
              </a:lnSpc>
              <a:spcAft>
                <a:spcPts val="0"/>
              </a:spcAft>
            </a:pPr>
            <a:r>
              <a:rPr sz="1000" b="0">
                <a:solidFill>
                  <a:srgbClr val="A8ACB3"/>
                </a:solidFill>
                <a:latin typeface="Inter"/>
              </a:rPr>
              <a:t>MX  ·  CO  ·  CR  ·  PE</a:t>
            </a:r>
          </a:p>
        </p:txBody>
      </p:sp>
      <p:sp>
        <p:nvSpPr>
          <p:cNvPr id="25" name="Oval 24"/>
          <p:cNvSpPr/>
          <p:nvPr/>
        </p:nvSpPr>
        <p:spPr>
          <a:xfrm>
            <a:off x="8989923" y="5020055"/>
            <a:ext cx="155448" cy="155448"/>
          </a:xfrm>
          <a:prstGeom prst="ellipse">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930487" y="5221224"/>
            <a:ext cx="274320" cy="164592"/>
          </a:xfrm>
          <a:prstGeom prst="roundRect">
            <a:avLst>
              <a:gd name="adj" fmla="val 47222"/>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843619" y="5065776"/>
            <a:ext cx="118872" cy="118872"/>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802471" y="5248655"/>
            <a:ext cx="146304" cy="128016"/>
          </a:xfrm>
          <a:prstGeom prst="roundRect">
            <a:avLst>
              <a:gd name="adj" fmla="val 46428"/>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172803" y="5065776"/>
            <a:ext cx="118872" cy="118872"/>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186519" y="5248655"/>
            <a:ext cx="146304" cy="128016"/>
          </a:xfrm>
          <a:prstGeom prst="roundRect">
            <a:avLst>
              <a:gd name="adj" fmla="val 46428"/>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13167" y="5660136"/>
            <a:ext cx="3108960" cy="274320"/>
          </a:xfrm>
          <a:prstGeom prst="rect">
            <a:avLst/>
          </a:prstGeom>
          <a:noFill/>
        </p:spPr>
        <p:txBody>
          <a:bodyPr wrap="square" lIns="0" rIns="0" tIns="0" bIns="0" anchor="t">
            <a:spAutoFit/>
          </a:bodyPr>
          <a:lstStyle/>
          <a:p>
            <a:pPr algn="ctr">
              <a:lnSpc>
                <a:spcPct val="115000"/>
              </a:lnSpc>
              <a:spcAft>
                <a:spcPts val="0"/>
              </a:spcAft>
            </a:pPr>
            <a:r>
              <a:rPr sz="1000" b="0">
                <a:solidFill>
                  <a:srgbClr val="A8ACB3"/>
                </a:solidFill>
                <a:latin typeface="Inter"/>
              </a:rPr>
              <a:t>Prepared for CX Leadership</a:t>
            </a:r>
          </a:p>
        </p:txBody>
      </p:sp>
      <p:sp>
        <p:nvSpPr>
          <p:cNvPr id="32" name="TextBox 31"/>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01 / 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Scope, data and assumptions</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What this report is built on</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02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80160"/>
            <a:ext cx="1127455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280160"/>
            <a:ext cx="1618487"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Source</a:t>
            </a:r>
          </a:p>
        </p:txBody>
      </p:sp>
      <p:sp>
        <p:nvSpPr>
          <p:cNvPr id="13" name="TextBox 12"/>
          <p:cNvSpPr txBox="1"/>
          <p:nvPr/>
        </p:nvSpPr>
        <p:spPr>
          <a:xfrm>
            <a:off x="2459736" y="1280160"/>
            <a:ext cx="271576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Grain: one row is…</a:t>
            </a:r>
          </a:p>
        </p:txBody>
      </p:sp>
      <p:sp>
        <p:nvSpPr>
          <p:cNvPr id="14" name="TextBox 13"/>
          <p:cNvSpPr txBox="1"/>
          <p:nvPr/>
        </p:nvSpPr>
        <p:spPr>
          <a:xfrm>
            <a:off x="5431536" y="1280160"/>
            <a:ext cx="97840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Volume</a:t>
            </a:r>
          </a:p>
        </p:txBody>
      </p:sp>
      <p:sp>
        <p:nvSpPr>
          <p:cNvPr id="15" name="TextBox 14"/>
          <p:cNvSpPr txBox="1"/>
          <p:nvPr/>
        </p:nvSpPr>
        <p:spPr>
          <a:xfrm>
            <a:off x="6665976" y="1280160"/>
            <a:ext cx="116128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Period</a:t>
            </a:r>
          </a:p>
        </p:txBody>
      </p:sp>
      <p:sp>
        <p:nvSpPr>
          <p:cNvPr id="16" name="TextBox 15"/>
          <p:cNvSpPr txBox="1"/>
          <p:nvPr/>
        </p:nvSpPr>
        <p:spPr>
          <a:xfrm>
            <a:off x="8083296" y="1280160"/>
            <a:ext cx="3520439"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What it answers</a:t>
            </a:r>
          </a:p>
        </p:txBody>
      </p:sp>
      <p:sp>
        <p:nvSpPr>
          <p:cNvPr id="17" name="TextBox 16"/>
          <p:cNvSpPr txBox="1"/>
          <p:nvPr/>
        </p:nvSpPr>
        <p:spPr>
          <a:xfrm>
            <a:off x="585216" y="1664208"/>
            <a:ext cx="1618487"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QA audits</a:t>
            </a:r>
          </a:p>
        </p:txBody>
      </p:sp>
      <p:sp>
        <p:nvSpPr>
          <p:cNvPr id="18" name="TextBox 17"/>
          <p:cNvSpPr txBox="1"/>
          <p:nvPr/>
        </p:nvSpPr>
        <p:spPr>
          <a:xfrm>
            <a:off x="2459736" y="1664208"/>
            <a:ext cx="271576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One audited interaction</a:t>
            </a:r>
          </a:p>
        </p:txBody>
      </p:sp>
      <p:sp>
        <p:nvSpPr>
          <p:cNvPr id="19" name="TextBox 18"/>
          <p:cNvSpPr txBox="1"/>
          <p:nvPr/>
        </p:nvSpPr>
        <p:spPr>
          <a:xfrm>
            <a:off x="5431536" y="1664208"/>
            <a:ext cx="97840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2,460</a:t>
            </a:r>
          </a:p>
        </p:txBody>
      </p:sp>
      <p:sp>
        <p:nvSpPr>
          <p:cNvPr id="20" name="TextBox 19"/>
          <p:cNvSpPr txBox="1"/>
          <p:nvPr/>
        </p:nvSpPr>
        <p:spPr>
          <a:xfrm>
            <a:off x="6665976" y="1664208"/>
            <a:ext cx="116128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4–29 May</a:t>
            </a:r>
          </a:p>
        </p:txBody>
      </p:sp>
      <p:sp>
        <p:nvSpPr>
          <p:cNvPr id="21" name="TextBox 20"/>
          <p:cNvSpPr txBox="1"/>
          <p:nvPr/>
        </p:nvSpPr>
        <p:spPr>
          <a:xfrm>
            <a:off x="8083296" y="1664208"/>
            <a:ext cx="3520439"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QA score, attribute defects, channel</a:t>
            </a:r>
          </a:p>
        </p:txBody>
      </p:sp>
      <p:sp>
        <p:nvSpPr>
          <p:cNvPr id="22" name="Rectangle 21"/>
          <p:cNvSpPr/>
          <p:nvPr/>
        </p:nvSpPr>
        <p:spPr>
          <a:xfrm>
            <a:off x="457200" y="2134933"/>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139696"/>
            <a:ext cx="11274552"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5216" y="2139696"/>
            <a:ext cx="1618487"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QA attribute fails</a:t>
            </a:r>
          </a:p>
        </p:txBody>
      </p:sp>
      <p:sp>
        <p:nvSpPr>
          <p:cNvPr id="25" name="TextBox 24"/>
          <p:cNvSpPr txBox="1"/>
          <p:nvPr/>
        </p:nvSpPr>
        <p:spPr>
          <a:xfrm>
            <a:off x="2459736" y="2139696"/>
            <a:ext cx="271576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One failed attribute in an audit</a:t>
            </a:r>
          </a:p>
        </p:txBody>
      </p:sp>
      <p:sp>
        <p:nvSpPr>
          <p:cNvPr id="26" name="TextBox 25"/>
          <p:cNvSpPr txBox="1"/>
          <p:nvPr/>
        </p:nvSpPr>
        <p:spPr>
          <a:xfrm>
            <a:off x="5431536" y="2139696"/>
            <a:ext cx="97840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518</a:t>
            </a:r>
          </a:p>
        </p:txBody>
      </p:sp>
      <p:sp>
        <p:nvSpPr>
          <p:cNvPr id="27" name="TextBox 26"/>
          <p:cNvSpPr txBox="1"/>
          <p:nvPr/>
        </p:nvSpPr>
        <p:spPr>
          <a:xfrm>
            <a:off x="6665976" y="2139696"/>
            <a:ext cx="116128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4–29 May</a:t>
            </a:r>
          </a:p>
        </p:txBody>
      </p:sp>
      <p:sp>
        <p:nvSpPr>
          <p:cNvPr id="28" name="TextBox 27"/>
          <p:cNvSpPr txBox="1"/>
          <p:nvPr/>
        </p:nvSpPr>
        <p:spPr>
          <a:xfrm>
            <a:off x="8083296" y="2139696"/>
            <a:ext cx="3520439"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Pareto of defects, critical vs non-critical</a:t>
            </a:r>
          </a:p>
        </p:txBody>
      </p:sp>
      <p:sp>
        <p:nvSpPr>
          <p:cNvPr id="29" name="Rectangle 28"/>
          <p:cNvSpPr/>
          <p:nvPr/>
        </p:nvSpPr>
        <p:spPr>
          <a:xfrm>
            <a:off x="457200" y="261042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5216" y="2615184"/>
            <a:ext cx="1618487"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CSAT surveys</a:t>
            </a:r>
          </a:p>
        </p:txBody>
      </p:sp>
      <p:sp>
        <p:nvSpPr>
          <p:cNvPr id="31" name="TextBox 30"/>
          <p:cNvSpPr txBox="1"/>
          <p:nvPr/>
        </p:nvSpPr>
        <p:spPr>
          <a:xfrm>
            <a:off x="2459736" y="2615184"/>
            <a:ext cx="271576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One survey answer</a:t>
            </a:r>
          </a:p>
        </p:txBody>
      </p:sp>
      <p:sp>
        <p:nvSpPr>
          <p:cNvPr id="32" name="TextBox 31"/>
          <p:cNvSpPr txBox="1"/>
          <p:nvPr/>
        </p:nvSpPr>
        <p:spPr>
          <a:xfrm>
            <a:off x="5431536" y="2615184"/>
            <a:ext cx="97840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77,266</a:t>
            </a:r>
          </a:p>
        </p:txBody>
      </p:sp>
      <p:sp>
        <p:nvSpPr>
          <p:cNvPr id="33" name="TextBox 32"/>
          <p:cNvSpPr txBox="1"/>
          <p:nvPr/>
        </p:nvSpPr>
        <p:spPr>
          <a:xfrm>
            <a:off x="6665976" y="2615184"/>
            <a:ext cx="116128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1–31 May</a:t>
            </a:r>
          </a:p>
        </p:txBody>
      </p:sp>
      <p:sp>
        <p:nvSpPr>
          <p:cNvPr id="34" name="TextBox 33"/>
          <p:cNvSpPr txBox="1"/>
          <p:nvPr/>
        </p:nvSpPr>
        <p:spPr>
          <a:xfrm>
            <a:off x="8083296" y="2615184"/>
            <a:ext cx="3520439"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CSAT %, star mix, verbatim comments</a:t>
            </a:r>
          </a:p>
        </p:txBody>
      </p:sp>
      <p:sp>
        <p:nvSpPr>
          <p:cNvPr id="35" name="Rectangle 34"/>
          <p:cNvSpPr/>
          <p:nvPr/>
        </p:nvSpPr>
        <p:spPr>
          <a:xfrm>
            <a:off x="457200" y="308590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3090672"/>
            <a:ext cx="11274552"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 y="3090672"/>
            <a:ext cx="1618487"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Recontact</a:t>
            </a:r>
          </a:p>
        </p:txBody>
      </p:sp>
      <p:sp>
        <p:nvSpPr>
          <p:cNvPr id="38" name="TextBox 37"/>
          <p:cNvSpPr txBox="1"/>
          <p:nvPr/>
        </p:nvSpPr>
        <p:spPr>
          <a:xfrm>
            <a:off x="2459736" y="3090672"/>
            <a:ext cx="271576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One contact-reason / channel / day</a:t>
            </a:r>
          </a:p>
        </p:txBody>
      </p:sp>
      <p:sp>
        <p:nvSpPr>
          <p:cNvPr id="39" name="TextBox 38"/>
          <p:cNvSpPr txBox="1"/>
          <p:nvPr/>
        </p:nvSpPr>
        <p:spPr>
          <a:xfrm>
            <a:off x="5431536" y="3090672"/>
            <a:ext cx="97840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994,591</a:t>
            </a:r>
          </a:p>
        </p:txBody>
      </p:sp>
      <p:sp>
        <p:nvSpPr>
          <p:cNvPr id="40" name="TextBox 39"/>
          <p:cNvSpPr txBox="1"/>
          <p:nvPr/>
        </p:nvSpPr>
        <p:spPr>
          <a:xfrm>
            <a:off x="6665976" y="3090672"/>
            <a:ext cx="1161288"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1–31 May</a:t>
            </a:r>
          </a:p>
        </p:txBody>
      </p:sp>
      <p:sp>
        <p:nvSpPr>
          <p:cNvPr id="41" name="TextBox 40"/>
          <p:cNvSpPr txBox="1"/>
          <p:nvPr/>
        </p:nvSpPr>
        <p:spPr>
          <a:xfrm>
            <a:off x="8083296" y="3090672"/>
            <a:ext cx="3520439" cy="475488"/>
          </a:xfrm>
          <a:prstGeom prst="rect">
            <a:avLst/>
          </a:prstGeom>
          <a:noFill/>
        </p:spPr>
        <p:txBody>
          <a:bodyPr wrap="square" lIns="0" rIns="0" tIns="0" bIns="0" anchor="ctr">
            <a:spAutoFit/>
          </a:bodyPr>
          <a:lstStyle/>
          <a:p>
            <a:pPr algn="l">
              <a:lnSpc>
                <a:spcPct val="115000"/>
              </a:lnSpc>
              <a:spcAft>
                <a:spcPts val="0"/>
              </a:spcAft>
            </a:pPr>
            <a:r>
              <a:rPr sz="850" b="0">
                <a:solidFill>
                  <a:srgbClr val="4B5563"/>
                </a:solidFill>
                <a:latin typeface="Inter"/>
              </a:rPr>
              <a:t>Recontact rate, repeat volume by reason</a:t>
            </a:r>
          </a:p>
        </p:txBody>
      </p:sp>
      <p:sp>
        <p:nvSpPr>
          <p:cNvPr id="42" name="Rectangle 41"/>
          <p:cNvSpPr/>
          <p:nvPr/>
        </p:nvSpPr>
        <p:spPr>
          <a:xfrm>
            <a:off x="457200" y="356139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840480"/>
            <a:ext cx="5394960" cy="237744"/>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How we treated the data</a:t>
            </a:r>
          </a:p>
        </p:txBody>
      </p:sp>
      <p:sp>
        <p:nvSpPr>
          <p:cNvPr id="44" name="Rectangle 43"/>
          <p:cNvSpPr/>
          <p:nvPr/>
        </p:nvSpPr>
        <p:spPr>
          <a:xfrm>
            <a:off x="457200" y="425653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 y="4160520"/>
            <a:ext cx="515721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If an attribute is N/A (value 2), we drop it from both the top and the bottom of the score.</a:t>
            </a:r>
          </a:p>
        </p:txBody>
      </p:sp>
      <p:sp>
        <p:nvSpPr>
          <p:cNvPr id="46" name="Rectangle 45"/>
          <p:cNvSpPr/>
          <p:nvPr/>
        </p:nvSpPr>
        <p:spPr>
          <a:xfrm>
            <a:off x="457200" y="454914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4944" y="4453128"/>
            <a:ext cx="515721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One fail on a Critical attribute sends the interaction score to 0.</a:t>
            </a:r>
          </a:p>
        </p:txBody>
      </p:sp>
      <p:sp>
        <p:nvSpPr>
          <p:cNvPr id="48" name="Rectangle 47"/>
          <p:cNvSpPr/>
          <p:nvPr/>
        </p:nvSpPr>
        <p:spPr>
          <a:xfrm>
            <a:off x="457200" y="484174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4944" y="4745736"/>
            <a:ext cx="515721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Phone is scored on 12 attributes. Live Chat on 8. Never mixed. Official QA does not use the solution/process dropdown.</a:t>
            </a:r>
          </a:p>
        </p:txBody>
      </p:sp>
      <p:sp>
        <p:nvSpPr>
          <p:cNvPr id="50" name="Rectangle 49"/>
          <p:cNvSpPr/>
          <p:nvPr/>
        </p:nvSpPr>
        <p:spPr>
          <a:xfrm>
            <a:off x="457200" y="513435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4944" y="5038344"/>
            <a:ext cx="515721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CSAT and recontact are one ratio for the month. Not an average of daily averages.</a:t>
            </a:r>
          </a:p>
        </p:txBody>
      </p:sp>
      <p:sp>
        <p:nvSpPr>
          <p:cNvPr id="52" name="Rectangle 51"/>
          <p:cNvSpPr/>
          <p:nvPr/>
        </p:nvSpPr>
        <p:spPr>
          <a:xfrm>
            <a:off x="457200" y="542696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4944" y="5330952"/>
            <a:ext cx="515721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Agents with fewer than 5 audits do not appear in individual rankings.</a:t>
            </a:r>
          </a:p>
        </p:txBody>
      </p:sp>
      <p:sp>
        <p:nvSpPr>
          <p:cNvPr id="54" name="TextBox 53"/>
          <p:cNvSpPr txBox="1"/>
          <p:nvPr/>
        </p:nvSpPr>
        <p:spPr>
          <a:xfrm>
            <a:off x="6309360" y="3840480"/>
            <a:ext cx="5431536" cy="237744"/>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What this report does not cover</a:t>
            </a:r>
          </a:p>
        </p:txBody>
      </p:sp>
      <p:sp>
        <p:nvSpPr>
          <p:cNvPr id="55" name="Rectangle 54"/>
          <p:cNvSpPr/>
          <p:nvPr/>
        </p:nvSpPr>
        <p:spPr>
          <a:xfrm>
            <a:off x="6309360" y="425653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47104" y="4160520"/>
            <a:ext cx="5193792"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Delivery is the only line of business in the data. Cuts by LOB collapse to Business Type.</a:t>
            </a:r>
          </a:p>
        </p:txBody>
      </p:sp>
      <p:sp>
        <p:nvSpPr>
          <p:cNvPr id="57" name="Rectangle 56"/>
          <p:cNvSpPr/>
          <p:nvPr/>
        </p:nvSpPr>
        <p:spPr>
          <a:xfrm>
            <a:off x="6309360" y="454914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47104" y="4453128"/>
            <a:ext cx="5193792"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QA covers 14.4% Phone and 85.6% Live Chat. Phone is under-sampled.</a:t>
            </a:r>
          </a:p>
        </p:txBody>
      </p:sp>
      <p:sp>
        <p:nvSpPr>
          <p:cNvPr id="59" name="Rectangle 58"/>
          <p:cNvSpPr/>
          <p:nvPr/>
        </p:nvSpPr>
        <p:spPr>
          <a:xfrm>
            <a:off x="6309360" y="484174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47104" y="4745736"/>
            <a:ext cx="5193792"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Recontact covers 12 channels. Only Phone and Live Chat are also audited.</a:t>
            </a:r>
          </a:p>
        </p:txBody>
      </p:sp>
      <p:sp>
        <p:nvSpPr>
          <p:cNvPr id="61" name="Rectangle 60"/>
          <p:cNvSpPr/>
          <p:nvPr/>
        </p:nvSpPr>
        <p:spPr>
          <a:xfrm>
            <a:off x="6309360" y="513435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47104" y="5038344"/>
            <a:ext cx="5193792"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QA and CSAT share 45 contact reasons. The link between them uses only those.</a:t>
            </a:r>
          </a:p>
        </p:txBody>
      </p:sp>
      <p:sp>
        <p:nvSpPr>
          <p:cNvPr id="63" name="Rectangle 62"/>
          <p:cNvSpPr/>
          <p:nvPr/>
        </p:nvSpPr>
        <p:spPr>
          <a:xfrm>
            <a:off x="6309360" y="542696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47104" y="5330952"/>
            <a:ext cx="5193792"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Surveys cover the full month. Audits start on 4 May (W19).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Executive summary</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Performance against goal  ·  May 2026</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03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ounded Rectangle 10"/>
          <p:cNvSpPr/>
          <p:nvPr/>
        </p:nvSpPr>
        <p:spPr>
          <a:xfrm>
            <a:off x="457200" y="1207008"/>
            <a:ext cx="2471928" cy="1572768"/>
          </a:xfrm>
          <a:prstGeom prst="roundRect">
            <a:avLst>
              <a:gd name="adj" fmla="val 5813"/>
            </a:avLst>
          </a:prstGeom>
          <a:solidFill>
            <a:srgbClr val="FFFFFF"/>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371600"/>
            <a:ext cx="1648968" cy="201168"/>
          </a:xfrm>
          <a:prstGeom prst="rect">
            <a:avLst/>
          </a:prstGeom>
          <a:noFill/>
        </p:spPr>
        <p:txBody>
          <a:bodyPr wrap="square" lIns="0" rIns="0" tIns="0" bIns="0" anchor="t">
            <a:spAutoFit/>
          </a:bodyPr>
          <a:lstStyle/>
          <a:p>
            <a:pPr algn="l">
              <a:lnSpc>
                <a:spcPct val="115000"/>
              </a:lnSpc>
              <a:spcAft>
                <a:spcPts val="0"/>
              </a:spcAft>
            </a:pPr>
            <a:r>
              <a:rPr sz="900" b="0">
                <a:solidFill>
                  <a:srgbClr val="6B7280"/>
                </a:solidFill>
                <a:latin typeface="Inter"/>
              </a:rPr>
              <a:t>QA SCORE</a:t>
            </a:r>
          </a:p>
        </p:txBody>
      </p:sp>
      <p:sp>
        <p:nvSpPr>
          <p:cNvPr id="13" name="Oval 12"/>
          <p:cNvSpPr/>
          <p:nvPr/>
        </p:nvSpPr>
        <p:spPr>
          <a:xfrm>
            <a:off x="2417064" y="1325880"/>
            <a:ext cx="292608" cy="292608"/>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rot="18900000">
            <a:off x="2525328" y="1438259"/>
            <a:ext cx="134599"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rot="2700000">
            <a:off x="2493142" y="1473372"/>
            <a:ext cx="76078"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609344"/>
            <a:ext cx="2106168" cy="548640"/>
          </a:xfrm>
          <a:prstGeom prst="rect">
            <a:avLst/>
          </a:prstGeom>
          <a:noFill/>
        </p:spPr>
        <p:txBody>
          <a:bodyPr wrap="square" lIns="0" rIns="0" tIns="0" bIns="0" anchor="t">
            <a:spAutoFit/>
          </a:bodyPr>
          <a:lstStyle/>
          <a:p>
            <a:pPr algn="l">
              <a:lnSpc>
                <a:spcPct val="115000"/>
              </a:lnSpc>
              <a:spcAft>
                <a:spcPts val="0"/>
              </a:spcAft>
            </a:pPr>
            <a:r>
              <a:rPr sz="2700" b="1">
                <a:solidFill>
                  <a:srgbClr val="1A1A1A"/>
                </a:solidFill>
                <a:latin typeface="Inter"/>
              </a:rPr>
              <a:t>94.14</a:t>
            </a:r>
          </a:p>
        </p:txBody>
      </p:sp>
      <p:sp>
        <p:nvSpPr>
          <p:cNvPr id="17" name="Isosceles Triangle 16"/>
          <p:cNvSpPr/>
          <p:nvPr/>
        </p:nvSpPr>
        <p:spPr>
          <a:xfrm>
            <a:off x="653796" y="2080260"/>
            <a:ext cx="100584" cy="100584"/>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029968"/>
            <a:ext cx="1923288" cy="237744"/>
          </a:xfrm>
          <a:prstGeom prst="rect">
            <a:avLst/>
          </a:prstGeom>
          <a:noFill/>
        </p:spPr>
        <p:txBody>
          <a:bodyPr wrap="square" lIns="0" rIns="0" tIns="0" bIns="0" anchor="t">
            <a:spAutoFit/>
          </a:bodyPr>
          <a:lstStyle/>
          <a:p>
            <a:pPr algn="l">
              <a:lnSpc>
                <a:spcPct val="115000"/>
              </a:lnSpc>
              <a:spcAft>
                <a:spcPts val="0"/>
              </a:spcAft>
            </a:pPr>
            <a:r>
              <a:rPr sz="950" b="0">
                <a:solidFill>
                  <a:srgbClr val="6B7280"/>
                </a:solidFill>
                <a:latin typeface="Inter"/>
              </a:rPr>
              <a:t>+9.14 pp vs 85 goal</a:t>
            </a:r>
          </a:p>
        </p:txBody>
      </p:sp>
      <p:sp>
        <p:nvSpPr>
          <p:cNvPr id="19" name="Rounded Rectangle 18"/>
          <p:cNvSpPr/>
          <p:nvPr/>
        </p:nvSpPr>
        <p:spPr>
          <a:xfrm>
            <a:off x="640080" y="2441448"/>
            <a:ext cx="853912"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9808" y="2528315"/>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441448"/>
            <a:ext cx="543016" cy="274320"/>
          </a:xfrm>
          <a:prstGeom prst="rect">
            <a:avLst/>
          </a:prstGeom>
          <a:noFill/>
        </p:spPr>
        <p:txBody>
          <a:bodyPr wrap="square" lIns="0" rIns="0" tIns="0" bIns="0" anchor="ctr">
            <a:spAutoFit/>
          </a:bodyPr>
          <a:lstStyle/>
          <a:p>
            <a:pPr algn="l">
              <a:lnSpc>
                <a:spcPct val="115000"/>
              </a:lnSpc>
              <a:spcAft>
                <a:spcPts val="0"/>
              </a:spcAft>
            </a:pPr>
            <a:r>
              <a:rPr sz="850" b="1">
                <a:solidFill>
                  <a:srgbClr val="16A34A"/>
                </a:solidFill>
                <a:latin typeface="Inter"/>
              </a:rPr>
              <a:t>On goal</a:t>
            </a:r>
          </a:p>
        </p:txBody>
      </p:sp>
      <p:sp>
        <p:nvSpPr>
          <p:cNvPr id="22" name="Rounded Rectangle 21"/>
          <p:cNvSpPr/>
          <p:nvPr/>
        </p:nvSpPr>
        <p:spPr>
          <a:xfrm>
            <a:off x="3130296" y="1207008"/>
            <a:ext cx="2471928" cy="1572768"/>
          </a:xfrm>
          <a:prstGeom prst="roundRect">
            <a:avLst>
              <a:gd name="adj" fmla="val 5813"/>
            </a:avLst>
          </a:prstGeom>
          <a:solidFill>
            <a:srgbClr val="FFFFFF"/>
          </a:solidFill>
          <a:ln w="15875">
            <a:solidFill>
              <a:srgbClr val="E11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1464" y="1371600"/>
            <a:ext cx="1648968" cy="201168"/>
          </a:xfrm>
          <a:prstGeom prst="rect">
            <a:avLst/>
          </a:prstGeom>
          <a:noFill/>
        </p:spPr>
        <p:txBody>
          <a:bodyPr wrap="square" lIns="0" rIns="0" tIns="0" bIns="0" anchor="t">
            <a:spAutoFit/>
          </a:bodyPr>
          <a:lstStyle/>
          <a:p>
            <a:pPr algn="l">
              <a:lnSpc>
                <a:spcPct val="115000"/>
              </a:lnSpc>
              <a:spcAft>
                <a:spcPts val="0"/>
              </a:spcAft>
            </a:pPr>
            <a:r>
              <a:rPr sz="900" b="0">
                <a:solidFill>
                  <a:srgbClr val="6B7280"/>
                </a:solidFill>
                <a:latin typeface="Inter"/>
              </a:rPr>
              <a:t>CSAT (BLENDED)</a:t>
            </a:r>
          </a:p>
        </p:txBody>
      </p:sp>
      <p:sp>
        <p:nvSpPr>
          <p:cNvPr id="24" name="Oval 23"/>
          <p:cNvSpPr/>
          <p:nvPr/>
        </p:nvSpPr>
        <p:spPr>
          <a:xfrm>
            <a:off x="5090160" y="1325880"/>
            <a:ext cx="292608" cy="292608"/>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wn Arrow 24"/>
          <p:cNvSpPr/>
          <p:nvPr/>
        </p:nvSpPr>
        <p:spPr>
          <a:xfrm>
            <a:off x="5177942" y="1393179"/>
            <a:ext cx="117043" cy="158008"/>
          </a:xfrm>
          <a:prstGeom prst="downArrow">
            <a:avLst>
              <a:gd name="adj1" fmla="val 42000"/>
              <a:gd name="adj2" fmla="val 4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13176" y="1609344"/>
            <a:ext cx="2106168" cy="548640"/>
          </a:xfrm>
          <a:prstGeom prst="rect">
            <a:avLst/>
          </a:prstGeom>
          <a:noFill/>
        </p:spPr>
        <p:txBody>
          <a:bodyPr wrap="square" lIns="0" rIns="0" tIns="0" bIns="0" anchor="t">
            <a:spAutoFit/>
          </a:bodyPr>
          <a:lstStyle/>
          <a:p>
            <a:pPr algn="l">
              <a:lnSpc>
                <a:spcPct val="115000"/>
              </a:lnSpc>
              <a:spcAft>
                <a:spcPts val="0"/>
              </a:spcAft>
            </a:pPr>
            <a:r>
              <a:rPr sz="2700" b="1">
                <a:solidFill>
                  <a:srgbClr val="1A1A1A"/>
                </a:solidFill>
                <a:latin typeface="Inter"/>
              </a:rPr>
              <a:t>79.95%</a:t>
            </a:r>
          </a:p>
        </p:txBody>
      </p:sp>
      <p:sp>
        <p:nvSpPr>
          <p:cNvPr id="27" name="Isosceles Triangle 26"/>
          <p:cNvSpPr/>
          <p:nvPr/>
        </p:nvSpPr>
        <p:spPr>
          <a:xfrm rot="10800000">
            <a:off x="3326892" y="2080260"/>
            <a:ext cx="100584" cy="100584"/>
          </a:xfrm>
          <a:prstGeom prst="triangl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96056" y="2029968"/>
            <a:ext cx="1923288" cy="237744"/>
          </a:xfrm>
          <a:prstGeom prst="rect">
            <a:avLst/>
          </a:prstGeom>
          <a:noFill/>
        </p:spPr>
        <p:txBody>
          <a:bodyPr wrap="square" lIns="0" rIns="0" tIns="0" bIns="0" anchor="t">
            <a:spAutoFit/>
          </a:bodyPr>
          <a:lstStyle/>
          <a:p>
            <a:pPr algn="l">
              <a:lnSpc>
                <a:spcPct val="115000"/>
              </a:lnSpc>
              <a:spcAft>
                <a:spcPts val="0"/>
              </a:spcAft>
            </a:pPr>
            <a:r>
              <a:rPr sz="950" b="0">
                <a:solidFill>
                  <a:srgbClr val="6B7280"/>
                </a:solidFill>
                <a:latin typeface="Inter"/>
              </a:rPr>
              <a:t>-5.05 pp vs 85% goal</a:t>
            </a:r>
          </a:p>
        </p:txBody>
      </p:sp>
      <p:sp>
        <p:nvSpPr>
          <p:cNvPr id="29" name="Rounded Rectangle 28"/>
          <p:cNvSpPr/>
          <p:nvPr/>
        </p:nvSpPr>
        <p:spPr>
          <a:xfrm>
            <a:off x="3313176" y="2441448"/>
            <a:ext cx="1821576"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22904" y="252831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87496" y="2441448"/>
            <a:ext cx="1510680" cy="274320"/>
          </a:xfrm>
          <a:prstGeom prst="rect">
            <a:avLst/>
          </a:prstGeom>
          <a:noFill/>
        </p:spPr>
        <p:txBody>
          <a:bodyPr wrap="square" lIns="0" rIns="0" tIns="0" bIns="0" anchor="ctr">
            <a:spAutoFit/>
          </a:bodyPr>
          <a:lstStyle/>
          <a:p>
            <a:pPr algn="l">
              <a:lnSpc>
                <a:spcPct val="115000"/>
              </a:lnSpc>
              <a:spcAft>
                <a:spcPts val="0"/>
              </a:spcAft>
            </a:pPr>
            <a:r>
              <a:rPr sz="850" b="1">
                <a:solidFill>
                  <a:srgbClr val="E11D2E"/>
                </a:solidFill>
                <a:latin typeface="Inter"/>
              </a:rPr>
              <a:t>More than 5 points off</a:t>
            </a:r>
          </a:p>
        </p:txBody>
      </p:sp>
      <p:sp>
        <p:nvSpPr>
          <p:cNvPr id="32" name="Rounded Rectangle 31"/>
          <p:cNvSpPr/>
          <p:nvPr/>
        </p:nvSpPr>
        <p:spPr>
          <a:xfrm>
            <a:off x="5803392" y="1207008"/>
            <a:ext cx="2471928" cy="1572768"/>
          </a:xfrm>
          <a:prstGeom prst="roundRect">
            <a:avLst>
              <a:gd name="adj" fmla="val 5813"/>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04560" y="1371600"/>
            <a:ext cx="1648968" cy="201168"/>
          </a:xfrm>
          <a:prstGeom prst="rect">
            <a:avLst/>
          </a:prstGeom>
          <a:noFill/>
        </p:spPr>
        <p:txBody>
          <a:bodyPr wrap="square" lIns="0" rIns="0" tIns="0" bIns="0" anchor="t">
            <a:spAutoFit/>
          </a:bodyPr>
          <a:lstStyle/>
          <a:p>
            <a:pPr algn="l">
              <a:lnSpc>
                <a:spcPct val="115000"/>
              </a:lnSpc>
              <a:spcAft>
                <a:spcPts val="0"/>
              </a:spcAft>
            </a:pPr>
            <a:r>
              <a:rPr sz="900" b="0">
                <a:solidFill>
                  <a:srgbClr val="6B7280"/>
                </a:solidFill>
                <a:latin typeface="Inter"/>
              </a:rPr>
              <a:t>RECONTACT (GLOBAL)</a:t>
            </a:r>
          </a:p>
        </p:txBody>
      </p:sp>
      <p:sp>
        <p:nvSpPr>
          <p:cNvPr id="34" name="Oval 33"/>
          <p:cNvSpPr/>
          <p:nvPr/>
        </p:nvSpPr>
        <p:spPr>
          <a:xfrm>
            <a:off x="7763256" y="132588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839334" y="1447038"/>
            <a:ext cx="140451"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86272" y="1609344"/>
            <a:ext cx="2106168" cy="548640"/>
          </a:xfrm>
          <a:prstGeom prst="rect">
            <a:avLst/>
          </a:prstGeom>
          <a:noFill/>
        </p:spPr>
        <p:txBody>
          <a:bodyPr wrap="square" lIns="0" rIns="0" tIns="0" bIns="0" anchor="t">
            <a:spAutoFit/>
          </a:bodyPr>
          <a:lstStyle/>
          <a:p>
            <a:pPr algn="l">
              <a:lnSpc>
                <a:spcPct val="115000"/>
              </a:lnSpc>
              <a:spcAft>
                <a:spcPts val="0"/>
              </a:spcAft>
            </a:pPr>
            <a:r>
              <a:rPr sz="2700" b="1">
                <a:solidFill>
                  <a:srgbClr val="1A1A1A"/>
                </a:solidFill>
                <a:latin typeface="Inter"/>
              </a:rPr>
              <a:t>5.83%</a:t>
            </a:r>
          </a:p>
        </p:txBody>
      </p:sp>
      <p:sp>
        <p:nvSpPr>
          <p:cNvPr id="37" name="Isosceles Triangle 36"/>
          <p:cNvSpPr/>
          <p:nvPr/>
        </p:nvSpPr>
        <p:spPr>
          <a:xfrm rot="10800000">
            <a:off x="5999988" y="2080260"/>
            <a:ext cx="100584" cy="100584"/>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69152" y="2029968"/>
            <a:ext cx="1923288" cy="237744"/>
          </a:xfrm>
          <a:prstGeom prst="rect">
            <a:avLst/>
          </a:prstGeom>
          <a:noFill/>
        </p:spPr>
        <p:txBody>
          <a:bodyPr wrap="square" lIns="0" rIns="0" tIns="0" bIns="0" anchor="t">
            <a:spAutoFit/>
          </a:bodyPr>
          <a:lstStyle/>
          <a:p>
            <a:pPr algn="l">
              <a:lnSpc>
                <a:spcPct val="115000"/>
              </a:lnSpc>
              <a:spcAft>
                <a:spcPts val="0"/>
              </a:spcAft>
            </a:pPr>
            <a:r>
              <a:rPr sz="950" b="0">
                <a:solidFill>
                  <a:srgbClr val="6B7280"/>
                </a:solidFill>
                <a:latin typeface="Inter"/>
              </a:rPr>
              <a:t>+0.39 pp vs 5.44% goal</a:t>
            </a:r>
          </a:p>
        </p:txBody>
      </p:sp>
      <p:sp>
        <p:nvSpPr>
          <p:cNvPr id="39" name="Rounded Rectangle 38"/>
          <p:cNvSpPr/>
          <p:nvPr/>
        </p:nvSpPr>
        <p:spPr>
          <a:xfrm>
            <a:off x="5986272" y="2441448"/>
            <a:ext cx="1369999"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096000" y="2528315"/>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0592" y="2441448"/>
            <a:ext cx="1059103" cy="274320"/>
          </a:xfrm>
          <a:prstGeom prst="rect">
            <a:avLst/>
          </a:prstGeom>
          <a:noFill/>
        </p:spPr>
        <p:txBody>
          <a:bodyPr wrap="square" lIns="0" rIns="0" tIns="0" bIns="0" anchor="ctr">
            <a:spAutoFit/>
          </a:bodyPr>
          <a:lstStyle/>
          <a:p>
            <a:pPr algn="l">
              <a:lnSpc>
                <a:spcPct val="115000"/>
              </a:lnSpc>
              <a:spcAft>
                <a:spcPts val="0"/>
              </a:spcAft>
            </a:pPr>
            <a:r>
              <a:rPr sz="850" b="1">
                <a:solidFill>
                  <a:srgbClr val="F59E0B"/>
                </a:solidFill>
                <a:latin typeface="Inter"/>
              </a:rPr>
              <a:t>Within 5 points</a:t>
            </a:r>
          </a:p>
        </p:txBody>
      </p:sp>
      <p:sp>
        <p:nvSpPr>
          <p:cNvPr id="42" name="Rounded Rectangle 41"/>
          <p:cNvSpPr/>
          <p:nvPr/>
        </p:nvSpPr>
        <p:spPr>
          <a:xfrm>
            <a:off x="8476488" y="1207008"/>
            <a:ext cx="3258007" cy="1572768"/>
          </a:xfrm>
          <a:prstGeom prst="roundRect">
            <a:avLst>
              <a:gd name="adj" fmla="val 4651"/>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77656" y="1371600"/>
            <a:ext cx="2855671" cy="219456"/>
          </a:xfrm>
          <a:prstGeom prst="rect">
            <a:avLst/>
          </a:prstGeom>
          <a:noFill/>
        </p:spPr>
        <p:txBody>
          <a:bodyPr wrap="square" lIns="0" rIns="0" tIns="0" bIns="0" anchor="t">
            <a:spAutoFit/>
          </a:bodyPr>
          <a:lstStyle/>
          <a:p>
            <a:pPr algn="l">
              <a:lnSpc>
                <a:spcPct val="115000"/>
              </a:lnSpc>
              <a:spcAft>
                <a:spcPts val="0"/>
              </a:spcAft>
            </a:pPr>
            <a:r>
              <a:rPr sz="1000" b="1">
                <a:solidFill>
                  <a:srgbClr val="1A1A1A"/>
                </a:solidFill>
                <a:latin typeface="Inter"/>
              </a:rPr>
              <a:t>Week in volume</a:t>
            </a:r>
          </a:p>
        </p:txBody>
      </p:sp>
      <p:sp>
        <p:nvSpPr>
          <p:cNvPr id="44" name="TextBox 43"/>
          <p:cNvSpPr txBox="1"/>
          <p:nvPr/>
        </p:nvSpPr>
        <p:spPr>
          <a:xfrm>
            <a:off x="8695944" y="1709928"/>
            <a:ext cx="1371600" cy="237744"/>
          </a:xfrm>
          <a:prstGeom prst="rect">
            <a:avLst/>
          </a:prstGeom>
          <a:noFill/>
        </p:spPr>
        <p:txBody>
          <a:bodyPr wrap="square" lIns="0" rIns="0" tIns="0" bIns="0" anchor="t">
            <a:spAutoFit/>
          </a:bodyPr>
          <a:lstStyle/>
          <a:p>
            <a:pPr algn="l">
              <a:lnSpc>
                <a:spcPct val="115000"/>
              </a:lnSpc>
              <a:spcAft>
                <a:spcPts val="0"/>
              </a:spcAft>
            </a:pPr>
            <a:r>
              <a:rPr sz="1200" b="1">
                <a:solidFill>
                  <a:srgbClr val="1A1A1A"/>
                </a:solidFill>
                <a:latin typeface="Inter"/>
              </a:rPr>
              <a:t>994,591</a:t>
            </a:r>
          </a:p>
        </p:txBody>
      </p:sp>
      <p:sp>
        <p:nvSpPr>
          <p:cNvPr id="45" name="TextBox 44"/>
          <p:cNvSpPr txBox="1"/>
          <p:nvPr/>
        </p:nvSpPr>
        <p:spPr>
          <a:xfrm>
            <a:off x="10122408" y="1737360"/>
            <a:ext cx="1737360" cy="219456"/>
          </a:xfrm>
          <a:prstGeom prst="rect">
            <a:avLst/>
          </a:prstGeom>
          <a:noFill/>
        </p:spPr>
        <p:txBody>
          <a:bodyPr wrap="square" lIns="0" rIns="0" tIns="0" bIns="0" anchor="t">
            <a:spAutoFit/>
          </a:bodyPr>
          <a:lstStyle/>
          <a:p>
            <a:pPr algn="l">
              <a:lnSpc>
                <a:spcPct val="115000"/>
              </a:lnSpc>
              <a:spcAft>
                <a:spcPts val="0"/>
              </a:spcAft>
            </a:pPr>
            <a:r>
              <a:rPr sz="850" b="0">
                <a:solidFill>
                  <a:srgbClr val="6B7280"/>
                </a:solidFill>
                <a:latin typeface="Inter"/>
              </a:rPr>
              <a:t>customer contacts</a:t>
            </a:r>
          </a:p>
        </p:txBody>
      </p:sp>
      <p:sp>
        <p:nvSpPr>
          <p:cNvPr id="46" name="TextBox 45"/>
          <p:cNvSpPr txBox="1"/>
          <p:nvPr/>
        </p:nvSpPr>
        <p:spPr>
          <a:xfrm>
            <a:off x="8695944" y="2057400"/>
            <a:ext cx="1371600" cy="237744"/>
          </a:xfrm>
          <a:prstGeom prst="rect">
            <a:avLst/>
          </a:prstGeom>
          <a:noFill/>
        </p:spPr>
        <p:txBody>
          <a:bodyPr wrap="square" lIns="0" rIns="0" tIns="0" bIns="0" anchor="t">
            <a:spAutoFit/>
          </a:bodyPr>
          <a:lstStyle/>
          <a:p>
            <a:pPr algn="l">
              <a:lnSpc>
                <a:spcPct val="115000"/>
              </a:lnSpc>
              <a:spcAft>
                <a:spcPts val="0"/>
              </a:spcAft>
            </a:pPr>
            <a:r>
              <a:rPr sz="1200" b="1">
                <a:solidFill>
                  <a:srgbClr val="1A1A1A"/>
                </a:solidFill>
                <a:latin typeface="Inter"/>
              </a:rPr>
              <a:t>77,266</a:t>
            </a:r>
          </a:p>
        </p:txBody>
      </p:sp>
      <p:sp>
        <p:nvSpPr>
          <p:cNvPr id="47" name="TextBox 46"/>
          <p:cNvSpPr txBox="1"/>
          <p:nvPr/>
        </p:nvSpPr>
        <p:spPr>
          <a:xfrm>
            <a:off x="10122408" y="2084831"/>
            <a:ext cx="1737360" cy="219456"/>
          </a:xfrm>
          <a:prstGeom prst="rect">
            <a:avLst/>
          </a:prstGeom>
          <a:noFill/>
        </p:spPr>
        <p:txBody>
          <a:bodyPr wrap="square" lIns="0" rIns="0" tIns="0" bIns="0" anchor="t">
            <a:spAutoFit/>
          </a:bodyPr>
          <a:lstStyle/>
          <a:p>
            <a:pPr algn="l">
              <a:lnSpc>
                <a:spcPct val="115000"/>
              </a:lnSpc>
              <a:spcAft>
                <a:spcPts val="0"/>
              </a:spcAft>
            </a:pPr>
            <a:r>
              <a:rPr sz="850" b="0">
                <a:solidFill>
                  <a:srgbClr val="6B7280"/>
                </a:solidFill>
                <a:latin typeface="Inter"/>
              </a:rPr>
              <a:t>CSAT surveys</a:t>
            </a:r>
          </a:p>
        </p:txBody>
      </p:sp>
      <p:sp>
        <p:nvSpPr>
          <p:cNvPr id="48" name="TextBox 47"/>
          <p:cNvSpPr txBox="1"/>
          <p:nvPr/>
        </p:nvSpPr>
        <p:spPr>
          <a:xfrm>
            <a:off x="8695944" y="2404872"/>
            <a:ext cx="1371600" cy="237744"/>
          </a:xfrm>
          <a:prstGeom prst="rect">
            <a:avLst/>
          </a:prstGeom>
          <a:noFill/>
        </p:spPr>
        <p:txBody>
          <a:bodyPr wrap="square" lIns="0" rIns="0" tIns="0" bIns="0" anchor="t">
            <a:spAutoFit/>
          </a:bodyPr>
          <a:lstStyle/>
          <a:p>
            <a:pPr algn="l">
              <a:lnSpc>
                <a:spcPct val="115000"/>
              </a:lnSpc>
              <a:spcAft>
                <a:spcPts val="0"/>
              </a:spcAft>
            </a:pPr>
            <a:r>
              <a:rPr sz="1200" b="1">
                <a:solidFill>
                  <a:srgbClr val="1A1A1A"/>
                </a:solidFill>
                <a:latin typeface="Inter"/>
              </a:rPr>
              <a:t>2,460</a:t>
            </a:r>
          </a:p>
        </p:txBody>
      </p:sp>
      <p:sp>
        <p:nvSpPr>
          <p:cNvPr id="49" name="TextBox 48"/>
          <p:cNvSpPr txBox="1"/>
          <p:nvPr/>
        </p:nvSpPr>
        <p:spPr>
          <a:xfrm>
            <a:off x="10122408" y="2432303"/>
            <a:ext cx="1737360" cy="219456"/>
          </a:xfrm>
          <a:prstGeom prst="rect">
            <a:avLst/>
          </a:prstGeom>
          <a:noFill/>
        </p:spPr>
        <p:txBody>
          <a:bodyPr wrap="square" lIns="0" rIns="0" tIns="0" bIns="0" anchor="t">
            <a:spAutoFit/>
          </a:bodyPr>
          <a:lstStyle/>
          <a:p>
            <a:pPr algn="l">
              <a:lnSpc>
                <a:spcPct val="115000"/>
              </a:lnSpc>
              <a:spcAft>
                <a:spcPts val="0"/>
              </a:spcAft>
            </a:pPr>
            <a:r>
              <a:rPr sz="850" b="0">
                <a:solidFill>
                  <a:srgbClr val="6B7280"/>
                </a:solidFill>
                <a:latin typeface="Inter"/>
              </a:rPr>
              <a:t>QA audits</a:t>
            </a:r>
          </a:p>
        </p:txBody>
      </p:sp>
      <p:sp>
        <p:nvSpPr>
          <p:cNvPr id="50" name="TextBox 49"/>
          <p:cNvSpPr txBox="1"/>
          <p:nvPr/>
        </p:nvSpPr>
        <p:spPr>
          <a:xfrm>
            <a:off x="457200" y="3035808"/>
            <a:ext cx="6903720" cy="237744"/>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The 10-second read</a:t>
            </a:r>
          </a:p>
        </p:txBody>
      </p:sp>
      <p:sp>
        <p:nvSpPr>
          <p:cNvPr id="51" name="TextBox 50"/>
          <p:cNvSpPr txBox="1"/>
          <p:nvPr/>
        </p:nvSpPr>
        <p:spPr>
          <a:xfrm>
            <a:off x="457200" y="3364992"/>
            <a:ext cx="6903720" cy="2834640"/>
          </a:xfrm>
          <a:prstGeom prst="rect">
            <a:avLst/>
          </a:prstGeom>
          <a:noFill/>
        </p:spPr>
        <p:txBody>
          <a:bodyPr wrap="square" lIns="0" rIns="0" tIns="0" bIns="0" anchor="t">
            <a:spAutoFit/>
          </a:bodyPr>
          <a:lstStyle/>
          <a:p>
            <a:pPr algn="l">
              <a:lnSpc>
                <a:spcPct val="130000"/>
              </a:lnSpc>
              <a:spcAft>
                <a:spcPts val="800"/>
              </a:spcAft>
            </a:pPr>
            <a:r>
              <a:rPr sz="1050" b="1">
                <a:solidFill>
                  <a:srgbClr val="1A1A1A"/>
                </a:solidFill>
                <a:latin typeface="Inter"/>
              </a:rPr>
              <a:t>Two of three metrics missed goal. </a:t>
            </a:r>
            <a:r>
              <a:rPr sz="1050" b="0">
                <a:solidFill>
                  <a:srgbClr val="4B5563"/>
                </a:solidFill>
                <a:latin typeface="Inter"/>
              </a:rPr>
              <a:t>QA was strong at 94.14, while blended CSAT was below target at 79.95% (Phone 86.3%, Chat 77.6%). Recontact was 5.83%, slightly above the 5.44% goal, although the final week improved to 5.26%.</a:t>
            </a:r>
          </a:p>
          <a:p>
            <a:pPr algn="l">
              <a:lnSpc>
                <a:spcPct val="130000"/>
              </a:lnSpc>
              <a:spcAft>
                <a:spcPts val="800"/>
              </a:spcAft>
            </a:pPr>
            <a:r>
              <a:rPr sz="1050" b="1">
                <a:solidFill>
                  <a:srgbClr val="1A1A1A"/>
                </a:solidFill>
                <a:latin typeface="Inter"/>
              </a:rPr>
              <a:t>High QA does not necessarily mean a good customer outcome. </a:t>
            </a:r>
            <a:r>
              <a:rPr sz="1050" b="0">
                <a:solidFill>
                  <a:srgbClr val="4B5563"/>
                </a:solidFill>
                <a:latin typeface="Inter"/>
              </a:rPr>
              <a:t>Across 45 shared contact reasons, QA and CSAT have almost no relationship (R² = 0.023). Live Chat scores 96.0 on QA but only 77.6% on CSAT, while Phone scores 83.0 on QA and 86.3% on CSAT.</a:t>
            </a:r>
          </a:p>
          <a:p>
            <a:pPr algn="l">
              <a:lnSpc>
                <a:spcPct val="130000"/>
              </a:lnSpc>
              <a:spcAft>
                <a:spcPts val="800"/>
              </a:spcAft>
            </a:pPr>
            <a:r>
              <a:rPr sz="1050" b="1">
                <a:solidFill>
                  <a:srgbClr val="FF6600"/>
                </a:solidFill>
                <a:latin typeface="Inter"/>
              </a:rPr>
              <a:t>Two gaps stand out in the scorecard. </a:t>
            </a:r>
            <a:r>
              <a:rPr sz="1050" b="0">
                <a:solidFill>
                  <a:srgbClr val="4B5563"/>
                </a:solidFill>
                <a:latin typeface="Inter"/>
              </a:rPr>
              <a:t>First, 527 audits followed process but did not resolve the case, yet still averaged 96.87 QA. We should keep the agent score but also track whether the case was closed. Second, Chat does not treat correct information as a critical attribute. As a result, 297 of 372 process-fail chats still score 100. Under the proposed scoring change, Chat QA would fall to 80.14.</a:t>
            </a:r>
          </a:p>
        </p:txBody>
      </p:sp>
      <p:sp>
        <p:nvSpPr>
          <p:cNvPr id="52" name="Rounded Rectangle 51"/>
          <p:cNvSpPr/>
          <p:nvPr/>
        </p:nvSpPr>
        <p:spPr>
          <a:xfrm>
            <a:off x="7726679" y="3035808"/>
            <a:ext cx="4007815" cy="3246120"/>
          </a:xfrm>
          <a:prstGeom prst="roundRect">
            <a:avLst>
              <a:gd name="adj" fmla="val 2253"/>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27848" y="3200400"/>
            <a:ext cx="3605479" cy="219456"/>
          </a:xfrm>
          <a:prstGeom prst="rect">
            <a:avLst/>
          </a:prstGeom>
          <a:noFill/>
        </p:spPr>
        <p:txBody>
          <a:bodyPr wrap="square" lIns="0" rIns="0" tIns="0" bIns="0" anchor="t">
            <a:spAutoFit/>
          </a:bodyPr>
          <a:lstStyle/>
          <a:p>
            <a:pPr algn="l">
              <a:lnSpc>
                <a:spcPct val="115000"/>
              </a:lnSpc>
              <a:spcAft>
                <a:spcPts val="0"/>
              </a:spcAft>
            </a:pPr>
            <a:r>
              <a:rPr sz="1000" b="1">
                <a:solidFill>
                  <a:srgbClr val="1A1A1A"/>
                </a:solidFill>
                <a:latin typeface="Inter"/>
              </a:rPr>
              <a:t>Status legend</a:t>
            </a:r>
          </a:p>
        </p:txBody>
      </p:sp>
      <p:sp>
        <p:nvSpPr>
          <p:cNvPr id="54" name="Rectangle 53"/>
          <p:cNvSpPr/>
          <p:nvPr/>
        </p:nvSpPr>
        <p:spPr>
          <a:xfrm>
            <a:off x="7927848" y="36713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65592" y="3575304"/>
            <a:ext cx="3602736" cy="274320"/>
          </a:xfrm>
          <a:prstGeom prst="rect">
            <a:avLst/>
          </a:prstGeom>
          <a:noFill/>
        </p:spPr>
        <p:txBody>
          <a:bodyPr wrap="square" lIns="0" rIns="0" tIns="0" bIns="0" anchor="t">
            <a:spAutoFit/>
          </a:bodyPr>
          <a:lstStyle/>
          <a:p>
            <a:pPr algn="l">
              <a:lnSpc>
                <a:spcPct val="128000"/>
              </a:lnSpc>
              <a:spcAft>
                <a:spcPts val="0"/>
              </a:spcAft>
            </a:pPr>
            <a:r>
              <a:rPr sz="950" b="1">
                <a:solidFill>
                  <a:srgbClr val="1A1A1A"/>
                </a:solidFill>
                <a:latin typeface="Inter"/>
              </a:rPr>
              <a:t>Green </a:t>
            </a:r>
            <a:r>
              <a:rPr sz="950" b="0">
                <a:solidFill>
                  <a:srgbClr val="4B5563"/>
                </a:solidFill>
                <a:latin typeface="Inter"/>
              </a:rPr>
              <a:t>: at or above goal.</a:t>
            </a:r>
          </a:p>
        </p:txBody>
      </p:sp>
      <p:sp>
        <p:nvSpPr>
          <p:cNvPr id="56" name="Rectangle 55"/>
          <p:cNvSpPr/>
          <p:nvPr/>
        </p:nvSpPr>
        <p:spPr>
          <a:xfrm>
            <a:off x="7927848" y="39456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65592" y="3849624"/>
            <a:ext cx="3602736" cy="274320"/>
          </a:xfrm>
          <a:prstGeom prst="rect">
            <a:avLst/>
          </a:prstGeom>
          <a:noFill/>
        </p:spPr>
        <p:txBody>
          <a:bodyPr wrap="square" lIns="0" rIns="0" tIns="0" bIns="0" anchor="t">
            <a:spAutoFit/>
          </a:bodyPr>
          <a:lstStyle/>
          <a:p>
            <a:pPr algn="l">
              <a:lnSpc>
                <a:spcPct val="128000"/>
              </a:lnSpc>
              <a:spcAft>
                <a:spcPts val="0"/>
              </a:spcAft>
            </a:pPr>
            <a:r>
              <a:rPr sz="950" b="1">
                <a:solidFill>
                  <a:srgbClr val="1A1A1A"/>
                </a:solidFill>
                <a:latin typeface="Inter"/>
              </a:rPr>
              <a:t>Amber </a:t>
            </a:r>
            <a:r>
              <a:rPr sz="950" b="0">
                <a:solidFill>
                  <a:srgbClr val="4B5563"/>
                </a:solidFill>
                <a:latin typeface="Inter"/>
              </a:rPr>
              <a:t>: within 5 points of goal.</a:t>
            </a:r>
          </a:p>
        </p:txBody>
      </p:sp>
      <p:sp>
        <p:nvSpPr>
          <p:cNvPr id="58" name="Rectangle 57"/>
          <p:cNvSpPr/>
          <p:nvPr/>
        </p:nvSpPr>
        <p:spPr>
          <a:xfrm>
            <a:off x="7927848" y="421995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65592" y="4123944"/>
            <a:ext cx="3602736" cy="274320"/>
          </a:xfrm>
          <a:prstGeom prst="rect">
            <a:avLst/>
          </a:prstGeom>
          <a:noFill/>
        </p:spPr>
        <p:txBody>
          <a:bodyPr wrap="square" lIns="0" rIns="0" tIns="0" bIns="0" anchor="t">
            <a:spAutoFit/>
          </a:bodyPr>
          <a:lstStyle/>
          <a:p>
            <a:pPr algn="l">
              <a:lnSpc>
                <a:spcPct val="128000"/>
              </a:lnSpc>
              <a:spcAft>
                <a:spcPts val="0"/>
              </a:spcAft>
            </a:pPr>
            <a:r>
              <a:rPr sz="950" b="1">
                <a:solidFill>
                  <a:srgbClr val="1A1A1A"/>
                </a:solidFill>
                <a:latin typeface="Inter"/>
              </a:rPr>
              <a:t>Red </a:t>
            </a:r>
            <a:r>
              <a:rPr sz="950" b="0">
                <a:solidFill>
                  <a:srgbClr val="4B5563"/>
                </a:solidFill>
                <a:latin typeface="Inter"/>
              </a:rPr>
              <a:t>: more than 5 points off goal.</a:t>
            </a:r>
          </a:p>
        </p:txBody>
      </p:sp>
      <p:sp>
        <p:nvSpPr>
          <p:cNvPr id="60" name="TextBox 59"/>
          <p:cNvSpPr txBox="1"/>
          <p:nvPr/>
        </p:nvSpPr>
        <p:spPr>
          <a:xfrm>
            <a:off x="7927848" y="4517136"/>
            <a:ext cx="3840480" cy="1554480"/>
          </a:xfrm>
          <a:prstGeom prst="rect">
            <a:avLst/>
          </a:prstGeom>
          <a:noFill/>
        </p:spPr>
        <p:txBody>
          <a:bodyPr wrap="square" lIns="0" rIns="0" tIns="0" bIns="0" anchor="t">
            <a:spAutoFit/>
          </a:bodyPr>
          <a:lstStyle/>
          <a:p>
            <a:pPr algn="l">
              <a:lnSpc>
                <a:spcPct val="134000"/>
              </a:lnSpc>
              <a:spcAft>
                <a:spcPts val="0"/>
              </a:spcAft>
            </a:pPr>
            <a:r>
              <a:rPr sz="950" b="0">
                <a:solidFill>
                  <a:srgbClr val="6B7280"/>
                </a:solidFill>
                <a:latin typeface="Inter"/>
              </a:rPr>
              <a:t>QA is measured against 85. CSAT against 85%. Recontact against 5.44%, and lower is better. That 5.44% goal is on the global rate (all channels). Built on 2,460 audits, 77,266 surveys and 994,591 contacts.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Two paths after the same QA step</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QA scores step 2. CSAT scores step 4. Recontact is step 5. Close vs CSAT R² 0.64  ·  QA vs CSAT R² 0.023</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04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cx_two_paths.png"/>
          <p:cNvPicPr>
            <a:picLocks noChangeAspect="1"/>
          </p:cNvPicPr>
          <p:nvPr/>
        </p:nvPicPr>
        <p:blipFill>
          <a:blip r:embed="rId3"/>
          <a:stretch>
            <a:fillRect/>
          </a:stretch>
        </p:blipFill>
        <p:spPr>
          <a:xfrm>
            <a:off x="2670735" y="1207008"/>
            <a:ext cx="6850224" cy="2816352"/>
          </a:xfrm>
          <a:prstGeom prst="rect">
            <a:avLst/>
          </a:prstGeom>
        </p:spPr>
      </p:pic>
      <p:sp>
        <p:nvSpPr>
          <p:cNvPr id="12" name="TextBox 11"/>
          <p:cNvSpPr txBox="1"/>
          <p:nvPr/>
        </p:nvSpPr>
        <p:spPr>
          <a:xfrm>
            <a:off x="457200" y="4059936"/>
            <a:ext cx="11277295" cy="201168"/>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May shows on each path</a:t>
            </a:r>
          </a:p>
        </p:txBody>
      </p:sp>
      <p:sp>
        <p:nvSpPr>
          <p:cNvPr id="13" name="Rectangle 12"/>
          <p:cNvSpPr/>
          <p:nvPr/>
        </p:nvSpPr>
        <p:spPr>
          <a:xfrm>
            <a:off x="457200" y="4297680"/>
            <a:ext cx="11274552"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4297680"/>
            <a:ext cx="1042415" cy="310896"/>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 </a:t>
            </a:r>
          </a:p>
        </p:txBody>
      </p:sp>
      <p:sp>
        <p:nvSpPr>
          <p:cNvPr id="15" name="TextBox 14"/>
          <p:cNvSpPr txBox="1"/>
          <p:nvPr/>
        </p:nvSpPr>
        <p:spPr>
          <a:xfrm>
            <a:off x="1883664" y="4297680"/>
            <a:ext cx="4727448" cy="310896"/>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If policy / tools allow it</a:t>
            </a:r>
          </a:p>
        </p:txBody>
      </p:sp>
      <p:sp>
        <p:nvSpPr>
          <p:cNvPr id="16" name="TextBox 15"/>
          <p:cNvSpPr txBox="1"/>
          <p:nvPr/>
        </p:nvSpPr>
        <p:spPr>
          <a:xfrm>
            <a:off x="6867144" y="4297680"/>
            <a:ext cx="4736592" cy="310896"/>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If they do not</a:t>
            </a:r>
          </a:p>
        </p:txBody>
      </p:sp>
      <p:sp>
        <p:nvSpPr>
          <p:cNvPr id="17" name="TextBox 16"/>
          <p:cNvSpPr txBox="1"/>
          <p:nvPr/>
        </p:nvSpPr>
        <p:spPr>
          <a:xfrm>
            <a:off x="585216" y="4608576"/>
            <a:ext cx="1042415" cy="384048"/>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Step 2 · QA</a:t>
            </a:r>
          </a:p>
        </p:txBody>
      </p:sp>
      <p:sp>
        <p:nvSpPr>
          <p:cNvPr id="18" name="TextBox 17"/>
          <p:cNvSpPr txBox="1"/>
          <p:nvPr/>
        </p:nvSpPr>
        <p:spPr>
          <a:xfrm>
            <a:off x="1883664" y="4608576"/>
            <a:ext cx="4727448" cy="384048"/>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1,169 audits resolved + followed process · QA 95.86</a:t>
            </a:r>
          </a:p>
        </p:txBody>
      </p:sp>
      <p:sp>
        <p:nvSpPr>
          <p:cNvPr id="19" name="TextBox 18"/>
          <p:cNvSpPr txBox="1"/>
          <p:nvPr/>
        </p:nvSpPr>
        <p:spPr>
          <a:xfrm>
            <a:off x="6867144" y="4608576"/>
            <a:ext cx="4736592" cy="384048"/>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527 audits not resolved + followed process · QA 96.87</a:t>
            </a:r>
          </a:p>
        </p:txBody>
      </p:sp>
      <p:sp>
        <p:nvSpPr>
          <p:cNvPr id="20" name="Rectangle 19"/>
          <p:cNvSpPr/>
          <p:nvPr/>
        </p:nvSpPr>
        <p:spPr>
          <a:xfrm>
            <a:off x="457200" y="498786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992624"/>
            <a:ext cx="11274552" cy="38404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 y="4992624"/>
            <a:ext cx="1042415" cy="384048"/>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Step 3 · Close</a:t>
            </a:r>
          </a:p>
        </p:txBody>
      </p:sp>
      <p:sp>
        <p:nvSpPr>
          <p:cNvPr id="23" name="TextBox 22"/>
          <p:cNvSpPr txBox="1"/>
          <p:nvPr/>
        </p:nvSpPr>
        <p:spPr>
          <a:xfrm>
            <a:off x="1883664" y="4992624"/>
            <a:ext cx="4727448" cy="384048"/>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Closed 1,415 of 2,114 assessed (66.9%)</a:t>
            </a:r>
          </a:p>
        </p:txBody>
      </p:sp>
      <p:sp>
        <p:nvSpPr>
          <p:cNvPr id="24" name="TextBox 23"/>
          <p:cNvSpPr txBox="1"/>
          <p:nvPr/>
        </p:nvSpPr>
        <p:spPr>
          <a:xfrm>
            <a:off x="6867144" y="4992624"/>
            <a:ext cx="4736592" cy="384048"/>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75.4% of not-resolved still followed process · 215 policy + 116 tools</a:t>
            </a:r>
          </a:p>
        </p:txBody>
      </p:sp>
      <p:sp>
        <p:nvSpPr>
          <p:cNvPr id="25" name="Rectangle 24"/>
          <p:cNvSpPr/>
          <p:nvPr/>
        </p:nvSpPr>
        <p:spPr>
          <a:xfrm>
            <a:off x="457200" y="537190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5376672"/>
            <a:ext cx="1042415" cy="384048"/>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Step 4 · CSAT</a:t>
            </a:r>
          </a:p>
        </p:txBody>
      </p:sp>
      <p:sp>
        <p:nvSpPr>
          <p:cNvPr id="27" name="TextBox 26"/>
          <p:cNvSpPr txBox="1"/>
          <p:nvPr/>
        </p:nvSpPr>
        <p:spPr>
          <a:xfrm>
            <a:off x="1883664" y="5376672"/>
            <a:ext cx="4727448" cy="384048"/>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Wrong / damaged / inedible / incomplete order: 89–92% CSAT</a:t>
            </a:r>
          </a:p>
        </p:txBody>
      </p:sp>
      <p:sp>
        <p:nvSpPr>
          <p:cNvPr id="28" name="TextBox 27"/>
          <p:cNvSpPr txBox="1"/>
          <p:nvPr/>
        </p:nvSpPr>
        <p:spPr>
          <a:xfrm>
            <a:off x="6867144" y="5376672"/>
            <a:ext cx="4736592" cy="384048"/>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Order status &amp; delays: 64.7% CSAT despite QA 97.3</a:t>
            </a:r>
          </a:p>
        </p:txBody>
      </p:sp>
      <p:sp>
        <p:nvSpPr>
          <p:cNvPr id="29" name="Rectangle 28"/>
          <p:cNvSpPr/>
          <p:nvPr/>
        </p:nvSpPr>
        <p:spPr>
          <a:xfrm>
            <a:off x="457200" y="575595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760720"/>
            <a:ext cx="11274552" cy="38404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5216" y="5760720"/>
            <a:ext cx="1042415" cy="384048"/>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Step 5 · Recontact</a:t>
            </a:r>
          </a:p>
        </p:txBody>
      </p:sp>
      <p:sp>
        <p:nvSpPr>
          <p:cNvPr id="32" name="TextBox 31"/>
          <p:cNvSpPr txBox="1"/>
          <p:nvPr/>
        </p:nvSpPr>
        <p:spPr>
          <a:xfrm>
            <a:off x="1883664" y="5760720"/>
            <a:ext cx="4727448" cy="384048"/>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Those reasons: 2.9–5.2% recontact</a:t>
            </a:r>
          </a:p>
        </p:txBody>
      </p:sp>
      <p:sp>
        <p:nvSpPr>
          <p:cNvPr id="33" name="TextBox 32"/>
          <p:cNvSpPr txBox="1"/>
          <p:nvPr/>
        </p:nvSpPr>
        <p:spPr>
          <a:xfrm>
            <a:off x="6867144" y="5760720"/>
            <a:ext cx="4736592" cy="384048"/>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Order status &amp; delays: 19.34% (7,680 repeats) · human 15.56%</a:t>
            </a:r>
          </a:p>
        </p:txBody>
      </p:sp>
      <p:sp>
        <p:nvSpPr>
          <p:cNvPr id="34" name="Rectangle 33"/>
          <p:cNvSpPr/>
          <p:nvPr/>
        </p:nvSpPr>
        <p:spPr>
          <a:xfrm>
            <a:off x="457200" y="61400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199631"/>
            <a:ext cx="11277295" cy="182880"/>
          </a:xfrm>
          <a:prstGeom prst="rect">
            <a:avLst/>
          </a:prstGeom>
          <a:noFill/>
        </p:spPr>
        <p:txBody>
          <a:bodyPr wrap="square" lIns="0" rIns="0" tIns="0" bIns="0" anchor="t">
            <a:spAutoFit/>
          </a:bodyPr>
          <a:lstStyle/>
          <a:p>
            <a:pPr algn="l">
              <a:lnSpc>
                <a:spcPct val="115000"/>
              </a:lnSpc>
              <a:spcAft>
                <a:spcPts val="0"/>
              </a:spcAft>
            </a:pPr>
            <a:r>
              <a:rPr sz="800" b="0">
                <a:solidFill>
                  <a:srgbClr val="6B7280"/>
                </a:solidFill>
                <a:latin typeface="Inter"/>
              </a:rPr>
              <a:t>CSAT is the official ratio of that contact reason, not a ticket score. Both paths can score green on QA. Only the close path lines up with CSAT and recontact.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The finding that needs a decision</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We are scoring the conversation. The customer is scoring the result.</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05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ounded Rectangle 10"/>
          <p:cNvSpPr/>
          <p:nvPr/>
        </p:nvSpPr>
        <p:spPr>
          <a:xfrm>
            <a:off x="457200" y="1207008"/>
            <a:ext cx="2065263" cy="621792"/>
          </a:xfrm>
          <a:prstGeom prst="roundRect">
            <a:avLst>
              <a:gd name="adj" fmla="val 11764"/>
            </a:avLst>
          </a:prstGeom>
          <a:solidFill>
            <a:srgbClr val="F4F5F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207008"/>
            <a:ext cx="38404" cy="6217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280160"/>
            <a:ext cx="1937247" cy="475488"/>
          </a:xfrm>
          <a:prstGeom prst="rect">
            <a:avLst/>
          </a:prstGeom>
          <a:noFill/>
        </p:spPr>
        <p:txBody>
          <a:bodyPr wrap="square" lIns="0" rIns="0" tIns="0" bIns="0" anchor="ctr">
            <a:spAutoFit/>
          </a:bodyPr>
          <a:lstStyle/>
          <a:p>
            <a:pPr algn="ctr">
              <a:lnSpc>
                <a:spcPct val="115000"/>
              </a:lnSpc>
              <a:spcAft>
                <a:spcPts val="0"/>
              </a:spcAft>
            </a:pPr>
            <a:r>
              <a:rPr sz="1000" b="1">
                <a:solidFill>
                  <a:srgbClr val="1A1A1A"/>
                </a:solidFill>
                <a:latin typeface="Inter"/>
              </a:rPr>
              <a:t>Customer has a problem</a:t>
            </a:r>
          </a:p>
        </p:txBody>
      </p:sp>
      <p:sp>
        <p:nvSpPr>
          <p:cNvPr id="14" name="TextBox 13"/>
          <p:cNvSpPr txBox="1"/>
          <p:nvPr/>
        </p:nvSpPr>
        <p:spPr>
          <a:xfrm>
            <a:off x="2522463" y="1207008"/>
            <a:ext cx="237744" cy="621792"/>
          </a:xfrm>
          <a:prstGeom prst="rect">
            <a:avLst/>
          </a:prstGeom>
          <a:noFill/>
        </p:spPr>
        <p:txBody>
          <a:bodyPr wrap="square" lIns="0" rIns="0" tIns="0" bIns="0" anchor="ctr">
            <a:spAutoFit/>
          </a:bodyPr>
          <a:lstStyle/>
          <a:p>
            <a:pPr algn="ctr">
              <a:lnSpc>
                <a:spcPct val="115000"/>
              </a:lnSpc>
              <a:spcAft>
                <a:spcPts val="0"/>
              </a:spcAft>
            </a:pPr>
            <a:r>
              <a:rPr sz="1400" b="1">
                <a:solidFill>
                  <a:srgbClr val="FF6600"/>
                </a:solidFill>
                <a:latin typeface="Inter"/>
              </a:rPr>
              <a:t>→</a:t>
            </a:r>
          </a:p>
        </p:txBody>
      </p:sp>
      <p:sp>
        <p:nvSpPr>
          <p:cNvPr id="15" name="Rounded Rectangle 14"/>
          <p:cNvSpPr/>
          <p:nvPr/>
        </p:nvSpPr>
        <p:spPr>
          <a:xfrm>
            <a:off x="2760207" y="1207008"/>
            <a:ext cx="2065263" cy="621792"/>
          </a:xfrm>
          <a:prstGeom prst="roundRect">
            <a:avLst>
              <a:gd name="adj" fmla="val 11764"/>
            </a:avLst>
          </a:prstGeom>
          <a:solidFill>
            <a:srgbClr val="F4F5F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60207" y="1207008"/>
            <a:ext cx="38404" cy="6217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3359" y="1252728"/>
            <a:ext cx="1937247" cy="146304"/>
          </a:xfrm>
          <a:prstGeom prst="rect">
            <a:avLst/>
          </a:prstGeom>
          <a:noFill/>
        </p:spPr>
        <p:txBody>
          <a:bodyPr wrap="square" lIns="0" rIns="0" tIns="0" bIns="0" anchor="t">
            <a:spAutoFit/>
          </a:bodyPr>
          <a:lstStyle/>
          <a:p>
            <a:pPr algn="ctr">
              <a:lnSpc>
                <a:spcPct val="115000"/>
              </a:lnSpc>
              <a:spcAft>
                <a:spcPts val="0"/>
              </a:spcAft>
            </a:pPr>
            <a:r>
              <a:rPr sz="800" b="1">
                <a:solidFill>
                  <a:srgbClr val="FF6600"/>
                </a:solidFill>
                <a:latin typeface="Inter"/>
              </a:rPr>
              <a:t>QA</a:t>
            </a:r>
          </a:p>
        </p:txBody>
      </p:sp>
      <p:sp>
        <p:nvSpPr>
          <p:cNvPr id="18" name="TextBox 17"/>
          <p:cNvSpPr txBox="1"/>
          <p:nvPr/>
        </p:nvSpPr>
        <p:spPr>
          <a:xfrm>
            <a:off x="2833359" y="1408176"/>
            <a:ext cx="1937247" cy="365760"/>
          </a:xfrm>
          <a:prstGeom prst="rect">
            <a:avLst/>
          </a:prstGeom>
          <a:noFill/>
        </p:spPr>
        <p:txBody>
          <a:bodyPr wrap="square" lIns="0" rIns="0" tIns="0" bIns="0" anchor="ctr">
            <a:spAutoFit/>
          </a:bodyPr>
          <a:lstStyle/>
          <a:p>
            <a:pPr algn="ctr">
              <a:lnSpc>
                <a:spcPct val="115000"/>
              </a:lnSpc>
              <a:spcAft>
                <a:spcPts val="0"/>
              </a:spcAft>
            </a:pPr>
            <a:r>
              <a:rPr sz="1000" b="1">
                <a:solidFill>
                  <a:srgbClr val="1A1A1A"/>
                </a:solidFill>
                <a:latin typeface="Inter"/>
              </a:rPr>
              <a:t>Agent follows the process</a:t>
            </a:r>
          </a:p>
        </p:txBody>
      </p:sp>
      <p:sp>
        <p:nvSpPr>
          <p:cNvPr id="19" name="TextBox 18"/>
          <p:cNvSpPr txBox="1"/>
          <p:nvPr/>
        </p:nvSpPr>
        <p:spPr>
          <a:xfrm>
            <a:off x="4825471" y="1207008"/>
            <a:ext cx="237744" cy="621792"/>
          </a:xfrm>
          <a:prstGeom prst="rect">
            <a:avLst/>
          </a:prstGeom>
          <a:noFill/>
        </p:spPr>
        <p:txBody>
          <a:bodyPr wrap="square" lIns="0" rIns="0" tIns="0" bIns="0" anchor="ctr">
            <a:spAutoFit/>
          </a:bodyPr>
          <a:lstStyle/>
          <a:p>
            <a:pPr algn="ctr">
              <a:lnSpc>
                <a:spcPct val="115000"/>
              </a:lnSpc>
              <a:spcAft>
                <a:spcPts val="0"/>
              </a:spcAft>
            </a:pPr>
            <a:r>
              <a:rPr sz="1400" b="1">
                <a:solidFill>
                  <a:srgbClr val="FF6600"/>
                </a:solidFill>
                <a:latin typeface="Inter"/>
              </a:rPr>
              <a:t>→</a:t>
            </a:r>
          </a:p>
        </p:txBody>
      </p:sp>
      <p:sp>
        <p:nvSpPr>
          <p:cNvPr id="20" name="Rounded Rectangle 19"/>
          <p:cNvSpPr/>
          <p:nvPr/>
        </p:nvSpPr>
        <p:spPr>
          <a:xfrm>
            <a:off x="5063215" y="1207008"/>
            <a:ext cx="2065263" cy="621792"/>
          </a:xfrm>
          <a:prstGeom prst="roundRect">
            <a:avLst>
              <a:gd name="adj" fmla="val 11764"/>
            </a:avLst>
          </a:prstGeom>
          <a:solidFill>
            <a:srgbClr val="F4F5F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63215" y="1207008"/>
            <a:ext cx="38404" cy="6217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36367" y="1280160"/>
            <a:ext cx="1937247" cy="475488"/>
          </a:xfrm>
          <a:prstGeom prst="rect">
            <a:avLst/>
          </a:prstGeom>
          <a:noFill/>
        </p:spPr>
        <p:txBody>
          <a:bodyPr wrap="square" lIns="0" rIns="0" tIns="0" bIns="0" anchor="ctr">
            <a:spAutoFit/>
          </a:bodyPr>
          <a:lstStyle/>
          <a:p>
            <a:pPr algn="ctr">
              <a:lnSpc>
                <a:spcPct val="115000"/>
              </a:lnSpc>
              <a:spcAft>
                <a:spcPts val="0"/>
              </a:spcAft>
            </a:pPr>
            <a:r>
              <a:rPr sz="1000" b="1">
                <a:solidFill>
                  <a:srgbClr val="1A1A1A"/>
                </a:solidFill>
                <a:latin typeface="Inter"/>
              </a:rPr>
              <a:t>The process cannot close it</a:t>
            </a:r>
          </a:p>
        </p:txBody>
      </p:sp>
      <p:sp>
        <p:nvSpPr>
          <p:cNvPr id="23" name="TextBox 22"/>
          <p:cNvSpPr txBox="1"/>
          <p:nvPr/>
        </p:nvSpPr>
        <p:spPr>
          <a:xfrm>
            <a:off x="7128479" y="1207008"/>
            <a:ext cx="237744" cy="621792"/>
          </a:xfrm>
          <a:prstGeom prst="rect">
            <a:avLst/>
          </a:prstGeom>
          <a:noFill/>
        </p:spPr>
        <p:txBody>
          <a:bodyPr wrap="square" lIns="0" rIns="0" tIns="0" bIns="0" anchor="ctr">
            <a:spAutoFit/>
          </a:bodyPr>
          <a:lstStyle/>
          <a:p>
            <a:pPr algn="ctr">
              <a:lnSpc>
                <a:spcPct val="115000"/>
              </a:lnSpc>
              <a:spcAft>
                <a:spcPts val="0"/>
              </a:spcAft>
            </a:pPr>
            <a:r>
              <a:rPr sz="1400" b="1">
                <a:solidFill>
                  <a:srgbClr val="FF6600"/>
                </a:solidFill>
                <a:latin typeface="Inter"/>
              </a:rPr>
              <a:t>→</a:t>
            </a:r>
          </a:p>
        </p:txBody>
      </p:sp>
      <p:sp>
        <p:nvSpPr>
          <p:cNvPr id="24" name="Rounded Rectangle 23"/>
          <p:cNvSpPr/>
          <p:nvPr/>
        </p:nvSpPr>
        <p:spPr>
          <a:xfrm>
            <a:off x="7366223" y="1207008"/>
            <a:ext cx="2065263" cy="621792"/>
          </a:xfrm>
          <a:prstGeom prst="roundRect">
            <a:avLst>
              <a:gd name="adj" fmla="val 11764"/>
            </a:avLst>
          </a:prstGeom>
          <a:solidFill>
            <a:srgbClr val="F4F5F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6223" y="1207008"/>
            <a:ext cx="38404" cy="6217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39375" y="1252728"/>
            <a:ext cx="1937247" cy="146304"/>
          </a:xfrm>
          <a:prstGeom prst="rect">
            <a:avLst/>
          </a:prstGeom>
          <a:noFill/>
        </p:spPr>
        <p:txBody>
          <a:bodyPr wrap="square" lIns="0" rIns="0" tIns="0" bIns="0" anchor="t">
            <a:spAutoFit/>
          </a:bodyPr>
          <a:lstStyle/>
          <a:p>
            <a:pPr algn="ctr">
              <a:lnSpc>
                <a:spcPct val="115000"/>
              </a:lnSpc>
              <a:spcAft>
                <a:spcPts val="0"/>
              </a:spcAft>
            </a:pPr>
            <a:r>
              <a:rPr sz="800" b="1">
                <a:solidFill>
                  <a:srgbClr val="FF6600"/>
                </a:solidFill>
                <a:latin typeface="Inter"/>
              </a:rPr>
              <a:t>CSAT</a:t>
            </a:r>
          </a:p>
        </p:txBody>
      </p:sp>
      <p:sp>
        <p:nvSpPr>
          <p:cNvPr id="27" name="TextBox 26"/>
          <p:cNvSpPr txBox="1"/>
          <p:nvPr/>
        </p:nvSpPr>
        <p:spPr>
          <a:xfrm>
            <a:off x="7439375" y="1408176"/>
            <a:ext cx="1937247" cy="365760"/>
          </a:xfrm>
          <a:prstGeom prst="rect">
            <a:avLst/>
          </a:prstGeom>
          <a:noFill/>
        </p:spPr>
        <p:txBody>
          <a:bodyPr wrap="square" lIns="0" rIns="0" tIns="0" bIns="0" anchor="ctr">
            <a:spAutoFit/>
          </a:bodyPr>
          <a:lstStyle/>
          <a:p>
            <a:pPr algn="ctr">
              <a:lnSpc>
                <a:spcPct val="115000"/>
              </a:lnSpc>
              <a:spcAft>
                <a:spcPts val="0"/>
              </a:spcAft>
            </a:pPr>
            <a:r>
              <a:rPr sz="1000" b="1">
                <a:solidFill>
                  <a:srgbClr val="1A1A1A"/>
                </a:solidFill>
                <a:latin typeface="Inter"/>
              </a:rPr>
              <a:t>Customer is unsatisfied</a:t>
            </a:r>
          </a:p>
        </p:txBody>
      </p:sp>
      <p:sp>
        <p:nvSpPr>
          <p:cNvPr id="28" name="TextBox 27"/>
          <p:cNvSpPr txBox="1"/>
          <p:nvPr/>
        </p:nvSpPr>
        <p:spPr>
          <a:xfrm>
            <a:off x="9431487" y="1207008"/>
            <a:ext cx="237744" cy="621792"/>
          </a:xfrm>
          <a:prstGeom prst="rect">
            <a:avLst/>
          </a:prstGeom>
          <a:noFill/>
        </p:spPr>
        <p:txBody>
          <a:bodyPr wrap="square" lIns="0" rIns="0" tIns="0" bIns="0" anchor="ctr">
            <a:spAutoFit/>
          </a:bodyPr>
          <a:lstStyle/>
          <a:p>
            <a:pPr algn="ctr">
              <a:lnSpc>
                <a:spcPct val="115000"/>
              </a:lnSpc>
              <a:spcAft>
                <a:spcPts val="0"/>
              </a:spcAft>
            </a:pPr>
            <a:r>
              <a:rPr sz="1400" b="1">
                <a:solidFill>
                  <a:srgbClr val="FF6600"/>
                </a:solidFill>
                <a:latin typeface="Inter"/>
              </a:rPr>
              <a:t>→</a:t>
            </a:r>
          </a:p>
        </p:txBody>
      </p:sp>
      <p:sp>
        <p:nvSpPr>
          <p:cNvPr id="29" name="Rounded Rectangle 28"/>
          <p:cNvSpPr/>
          <p:nvPr/>
        </p:nvSpPr>
        <p:spPr>
          <a:xfrm>
            <a:off x="9669231" y="1207008"/>
            <a:ext cx="2065263" cy="621792"/>
          </a:xfrm>
          <a:prstGeom prst="roundRect">
            <a:avLst>
              <a:gd name="adj" fmla="val 11764"/>
            </a:avLst>
          </a:prstGeom>
          <a:solidFill>
            <a:srgbClr val="F4F5F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669231" y="1207008"/>
            <a:ext cx="38404" cy="6217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42383" y="1252728"/>
            <a:ext cx="1937247" cy="146304"/>
          </a:xfrm>
          <a:prstGeom prst="rect">
            <a:avLst/>
          </a:prstGeom>
          <a:noFill/>
        </p:spPr>
        <p:txBody>
          <a:bodyPr wrap="square" lIns="0" rIns="0" tIns="0" bIns="0" anchor="t">
            <a:spAutoFit/>
          </a:bodyPr>
          <a:lstStyle/>
          <a:p>
            <a:pPr algn="ctr">
              <a:lnSpc>
                <a:spcPct val="115000"/>
              </a:lnSpc>
              <a:spcAft>
                <a:spcPts val="0"/>
              </a:spcAft>
            </a:pPr>
            <a:r>
              <a:rPr sz="800" b="1">
                <a:solidFill>
                  <a:srgbClr val="FF6600"/>
                </a:solidFill>
                <a:latin typeface="Inter"/>
              </a:rPr>
              <a:t>Recontact</a:t>
            </a:r>
          </a:p>
        </p:txBody>
      </p:sp>
      <p:sp>
        <p:nvSpPr>
          <p:cNvPr id="32" name="TextBox 31"/>
          <p:cNvSpPr txBox="1"/>
          <p:nvPr/>
        </p:nvSpPr>
        <p:spPr>
          <a:xfrm>
            <a:off x="9742383" y="1408176"/>
            <a:ext cx="1937247" cy="365760"/>
          </a:xfrm>
          <a:prstGeom prst="rect">
            <a:avLst/>
          </a:prstGeom>
          <a:noFill/>
        </p:spPr>
        <p:txBody>
          <a:bodyPr wrap="square" lIns="0" rIns="0" tIns="0" bIns="0" anchor="ctr">
            <a:spAutoFit/>
          </a:bodyPr>
          <a:lstStyle/>
          <a:p>
            <a:pPr algn="ctr">
              <a:lnSpc>
                <a:spcPct val="115000"/>
              </a:lnSpc>
              <a:spcAft>
                <a:spcPts val="0"/>
              </a:spcAft>
            </a:pPr>
            <a:r>
              <a:rPr sz="1000" b="1">
                <a:solidFill>
                  <a:srgbClr val="1A1A1A"/>
                </a:solidFill>
                <a:latin typeface="Inter"/>
              </a:rPr>
              <a:t>Contacts us again</a:t>
            </a:r>
          </a:p>
        </p:txBody>
      </p:sp>
      <p:sp>
        <p:nvSpPr>
          <p:cNvPr id="33" name="Rectangle 32"/>
          <p:cNvSpPr/>
          <p:nvPr/>
        </p:nvSpPr>
        <p:spPr>
          <a:xfrm>
            <a:off x="457200" y="1920240"/>
            <a:ext cx="11277295" cy="9601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1920240"/>
            <a:ext cx="38404" cy="9601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1965960"/>
            <a:ext cx="10710367" cy="201168"/>
          </a:xfrm>
          <a:prstGeom prst="rect">
            <a:avLst/>
          </a:prstGeom>
          <a:noFill/>
        </p:spPr>
        <p:txBody>
          <a:bodyPr wrap="square" lIns="0" rIns="0" tIns="0" bIns="0" anchor="ctr">
            <a:spAutoFit/>
          </a:bodyPr>
          <a:lstStyle/>
          <a:p>
            <a:pPr algn="l">
              <a:lnSpc>
                <a:spcPct val="115000"/>
              </a:lnSpc>
              <a:spcAft>
                <a:spcPts val="0"/>
              </a:spcAft>
            </a:pPr>
            <a:r>
              <a:rPr sz="1300" b="1">
                <a:solidFill>
                  <a:srgbClr val="1A1A1A"/>
                </a:solidFill>
                <a:latin typeface="Inter"/>
              </a:rPr>
              <a:t>QA stays high even when the case is not resolved</a:t>
            </a:r>
          </a:p>
        </p:txBody>
      </p:sp>
      <p:sp>
        <p:nvSpPr>
          <p:cNvPr id="36" name="TextBox 35"/>
          <p:cNvSpPr txBox="1"/>
          <p:nvPr/>
        </p:nvSpPr>
        <p:spPr>
          <a:xfrm>
            <a:off x="768096" y="2157984"/>
            <a:ext cx="10710367" cy="667512"/>
          </a:xfrm>
          <a:prstGeom prst="rect">
            <a:avLst/>
          </a:prstGeom>
          <a:noFill/>
        </p:spPr>
        <p:txBody>
          <a:bodyPr wrap="square" lIns="0" rIns="0" tIns="0" bIns="0" anchor="t">
            <a:spAutoFit/>
          </a:bodyPr>
          <a:lstStyle/>
          <a:p>
            <a:pPr algn="l">
              <a:lnSpc>
                <a:spcPct val="118000"/>
              </a:lnSpc>
              <a:spcAft>
                <a:spcPts val="0"/>
              </a:spcAft>
            </a:pPr>
            <a:r>
              <a:rPr sz="1000" b="0">
                <a:solidFill>
                  <a:srgbClr val="4B5563"/>
                </a:solidFill>
                <a:latin typeface="Inter"/>
              </a:rPr>
              <a:t>The agent followed process, but the case was not resolved. These 527 audits still averaged 96.87 QA. Keep the agent score, but also track closure. Chat has a second gap: correct information is not scored as a critical attribute. As a result, 297 of 372 process-fail chats still score 100. Under the proposed scoring, Chat QA would be 80.14. Overall, 82.7% of audits currently score exactly 100.</a:t>
            </a:r>
          </a:p>
        </p:txBody>
      </p:sp>
      <p:pic>
        <p:nvPicPr>
          <p:cNvPr id="37" name="Picture 36" descr="bar_auditor_outcome.png"/>
          <p:cNvPicPr>
            <a:picLocks noChangeAspect="1"/>
          </p:cNvPicPr>
          <p:nvPr/>
        </p:nvPicPr>
        <p:blipFill>
          <a:blip r:embed="rId3"/>
          <a:stretch>
            <a:fillRect/>
          </a:stretch>
        </p:blipFill>
        <p:spPr>
          <a:xfrm>
            <a:off x="889007" y="2962656"/>
            <a:ext cx="5125705" cy="2377440"/>
          </a:xfrm>
          <a:prstGeom prst="rect">
            <a:avLst/>
          </a:prstGeom>
        </p:spPr>
      </p:pic>
      <p:pic>
        <p:nvPicPr>
          <p:cNvPr id="38" name="Picture 37" descr="scatter_qa_csat.png"/>
          <p:cNvPicPr>
            <a:picLocks noChangeAspect="1"/>
          </p:cNvPicPr>
          <p:nvPr/>
        </p:nvPicPr>
        <p:blipFill>
          <a:blip r:embed="rId4"/>
          <a:stretch>
            <a:fillRect/>
          </a:stretch>
        </p:blipFill>
        <p:spPr>
          <a:xfrm>
            <a:off x="7600695" y="2962656"/>
            <a:ext cx="3589529" cy="2377440"/>
          </a:xfrm>
          <a:prstGeom prst="rect">
            <a:avLst/>
          </a:prstGeom>
        </p:spPr>
      </p:pic>
      <p:sp>
        <p:nvSpPr>
          <p:cNvPr id="39" name="TextBox 38"/>
          <p:cNvSpPr txBox="1"/>
          <p:nvPr/>
        </p:nvSpPr>
        <p:spPr>
          <a:xfrm>
            <a:off x="457200" y="5449824"/>
            <a:ext cx="585216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the audits show</a:t>
            </a:r>
          </a:p>
        </p:txBody>
      </p:sp>
      <p:sp>
        <p:nvSpPr>
          <p:cNvPr id="40" name="Rectangle 39"/>
          <p:cNvSpPr/>
          <p:nvPr/>
        </p:nvSpPr>
        <p:spPr>
          <a:xfrm>
            <a:off x="457200" y="582930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944" y="5733288"/>
            <a:ext cx="5614416" cy="274320"/>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527 audits followed process but did not resolve the case, yet still averaged 96.87 QA.</a:t>
            </a:r>
          </a:p>
        </p:txBody>
      </p:sp>
      <p:sp>
        <p:nvSpPr>
          <p:cNvPr id="42" name="Rectangle 41"/>
          <p:cNvSpPr/>
          <p:nvPr/>
        </p:nvSpPr>
        <p:spPr>
          <a:xfrm>
            <a:off x="457200" y="610362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 y="6007608"/>
            <a:ext cx="5614416" cy="274320"/>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297 of 372 process-fail chats still score 100.</a:t>
            </a:r>
          </a:p>
        </p:txBody>
      </p:sp>
      <p:sp>
        <p:nvSpPr>
          <p:cNvPr id="44" name="Rectangle 43"/>
          <p:cNvSpPr/>
          <p:nvPr/>
        </p:nvSpPr>
        <p:spPr>
          <a:xfrm>
            <a:off x="457200" y="637794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 y="6281928"/>
            <a:ext cx="5614416" cy="274320"/>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Under the proposed scoring, Chat QA would be 80.14, below the 85 goal.</a:t>
            </a:r>
          </a:p>
        </p:txBody>
      </p:sp>
      <p:sp>
        <p:nvSpPr>
          <p:cNvPr id="46" name="TextBox 45"/>
          <p:cNvSpPr txBox="1"/>
          <p:nvPr/>
        </p:nvSpPr>
        <p:spPr>
          <a:xfrm>
            <a:off x="6601968" y="5449824"/>
            <a:ext cx="557784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Does higher QA mean better customer outcomes?</a:t>
            </a:r>
          </a:p>
        </p:txBody>
      </p:sp>
      <p:sp>
        <p:nvSpPr>
          <p:cNvPr id="47" name="Rectangle 46"/>
          <p:cNvSpPr/>
          <p:nvPr/>
        </p:nvSpPr>
        <p:spPr>
          <a:xfrm>
            <a:off x="6601968" y="582930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39712" y="5733288"/>
            <a:ext cx="5340096" cy="274320"/>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The link between QA and CSAT is -0.151 across 45 contact reasons.</a:t>
            </a:r>
          </a:p>
        </p:txBody>
      </p:sp>
      <p:sp>
        <p:nvSpPr>
          <p:cNvPr id="49" name="Rectangle 48"/>
          <p:cNvSpPr/>
          <p:nvPr/>
        </p:nvSpPr>
        <p:spPr>
          <a:xfrm>
            <a:off x="6601968" y="610362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39712" y="6007608"/>
            <a:ext cx="5340096" cy="274320"/>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R² is 0.023. QA explains 2.3% of how CSAT varies. Almost none.</a:t>
            </a:r>
          </a:p>
        </p:txBody>
      </p:sp>
      <p:sp>
        <p:nvSpPr>
          <p:cNvPr id="51" name="Rectangle 50"/>
          <p:cNvSpPr/>
          <p:nvPr/>
        </p:nvSpPr>
        <p:spPr>
          <a:xfrm>
            <a:off x="6601968" y="637794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39712" y="6281928"/>
            <a:ext cx="5340096" cy="274320"/>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CSAT is much more closely related to whether the case was resolved than to whether the agent followed the current QA process. Adding the Chat attribute would improve measurement, but would not directly improve CSAT.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Was this a noisy month, or is this the process?</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One point per day. Whole month.</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06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run_qa.png"/>
          <p:cNvPicPr>
            <a:picLocks noChangeAspect="1"/>
          </p:cNvPicPr>
          <p:nvPr/>
        </p:nvPicPr>
        <p:blipFill>
          <a:blip r:embed="rId3"/>
          <a:stretch>
            <a:fillRect/>
          </a:stretch>
        </p:blipFill>
        <p:spPr>
          <a:xfrm>
            <a:off x="477506" y="1298448"/>
            <a:ext cx="3608757" cy="2331720"/>
          </a:xfrm>
          <a:prstGeom prst="rect">
            <a:avLst/>
          </a:prstGeom>
        </p:spPr>
      </p:pic>
      <p:sp>
        <p:nvSpPr>
          <p:cNvPr id="12" name="TextBox 11"/>
          <p:cNvSpPr txBox="1"/>
          <p:nvPr/>
        </p:nvSpPr>
        <p:spPr>
          <a:xfrm>
            <a:off x="457200" y="3712464"/>
            <a:ext cx="3649370" cy="219456"/>
          </a:xfrm>
          <a:prstGeom prst="rect">
            <a:avLst/>
          </a:prstGeom>
          <a:noFill/>
        </p:spPr>
        <p:txBody>
          <a:bodyPr wrap="square" lIns="0" rIns="0" tIns="0" bIns="0" anchor="t">
            <a:spAutoFit/>
          </a:bodyPr>
          <a:lstStyle/>
          <a:p>
            <a:pPr algn="ctr">
              <a:lnSpc>
                <a:spcPct val="115000"/>
              </a:lnSpc>
              <a:spcAft>
                <a:spcPts val="0"/>
              </a:spcAft>
            </a:pPr>
            <a:r>
              <a:rPr sz="900" b="1">
                <a:solidFill>
                  <a:srgbClr val="1A1A1A"/>
                </a:solidFill>
                <a:latin typeface="Inter"/>
              </a:rPr>
              <a:t>QA: one dip on 6 May. Otherwise steady</a:t>
            </a:r>
          </a:p>
        </p:txBody>
      </p:sp>
      <p:pic>
        <p:nvPicPr>
          <p:cNvPr id="13" name="Picture 12" descr="run_csat.png"/>
          <p:cNvPicPr>
            <a:picLocks noChangeAspect="1"/>
          </p:cNvPicPr>
          <p:nvPr/>
        </p:nvPicPr>
        <p:blipFill>
          <a:blip r:embed="rId4"/>
          <a:stretch>
            <a:fillRect/>
          </a:stretch>
        </p:blipFill>
        <p:spPr>
          <a:xfrm>
            <a:off x="4288464" y="1298448"/>
            <a:ext cx="3614766" cy="2331720"/>
          </a:xfrm>
          <a:prstGeom prst="rect">
            <a:avLst/>
          </a:prstGeom>
        </p:spPr>
      </p:pic>
      <p:sp>
        <p:nvSpPr>
          <p:cNvPr id="14" name="TextBox 13"/>
          <p:cNvSpPr txBox="1"/>
          <p:nvPr/>
        </p:nvSpPr>
        <p:spPr>
          <a:xfrm>
            <a:off x="4271162" y="3712464"/>
            <a:ext cx="3649370" cy="219456"/>
          </a:xfrm>
          <a:prstGeom prst="rect">
            <a:avLst/>
          </a:prstGeom>
          <a:noFill/>
        </p:spPr>
        <p:txBody>
          <a:bodyPr wrap="square" lIns="0" rIns="0" tIns="0" bIns="0" anchor="t">
            <a:spAutoFit/>
          </a:bodyPr>
          <a:lstStyle/>
          <a:p>
            <a:pPr algn="ctr">
              <a:lnSpc>
                <a:spcPct val="115000"/>
              </a:lnSpc>
              <a:spcAft>
                <a:spcPts val="0"/>
              </a:spcAft>
            </a:pPr>
            <a:r>
              <a:rPr sz="900" b="1">
                <a:solidFill>
                  <a:srgbClr val="1A1A1A"/>
                </a:solidFill>
                <a:latin typeface="Inter"/>
              </a:rPr>
              <a:t>CSAT blended: steady. Every day below goal</a:t>
            </a:r>
          </a:p>
        </p:txBody>
      </p:sp>
      <p:pic>
        <p:nvPicPr>
          <p:cNvPr id="15" name="Picture 14" descr="run_recontact.png"/>
          <p:cNvPicPr>
            <a:picLocks noChangeAspect="1"/>
          </p:cNvPicPr>
          <p:nvPr/>
        </p:nvPicPr>
        <p:blipFill>
          <a:blip r:embed="rId5"/>
          <a:stretch>
            <a:fillRect/>
          </a:stretch>
        </p:blipFill>
        <p:spPr>
          <a:xfrm>
            <a:off x="8093412" y="1298448"/>
            <a:ext cx="3632795" cy="2331720"/>
          </a:xfrm>
          <a:prstGeom prst="rect">
            <a:avLst/>
          </a:prstGeom>
        </p:spPr>
      </p:pic>
      <p:sp>
        <p:nvSpPr>
          <p:cNvPr id="16" name="TextBox 15"/>
          <p:cNvSpPr txBox="1"/>
          <p:nvPr/>
        </p:nvSpPr>
        <p:spPr>
          <a:xfrm>
            <a:off x="8085124" y="3712464"/>
            <a:ext cx="3649370" cy="219456"/>
          </a:xfrm>
          <a:prstGeom prst="rect">
            <a:avLst/>
          </a:prstGeom>
          <a:noFill/>
        </p:spPr>
        <p:txBody>
          <a:bodyPr wrap="square" lIns="0" rIns="0" tIns="0" bIns="0" anchor="t">
            <a:spAutoFit/>
          </a:bodyPr>
          <a:lstStyle/>
          <a:p>
            <a:pPr algn="ctr">
              <a:lnSpc>
                <a:spcPct val="115000"/>
              </a:lnSpc>
              <a:spcAft>
                <a:spcPts val="0"/>
              </a:spcAft>
            </a:pPr>
            <a:r>
              <a:rPr sz="900" b="1">
                <a:solidFill>
                  <a:srgbClr val="1A1A1A"/>
                </a:solidFill>
                <a:latin typeface="Inter"/>
              </a:rPr>
              <a:t>Recontact global: last week under goal. Month still amber</a:t>
            </a:r>
          </a:p>
        </p:txBody>
      </p:sp>
      <p:sp>
        <p:nvSpPr>
          <p:cNvPr id="17" name="Rectangle 16"/>
          <p:cNvSpPr/>
          <p:nvPr/>
        </p:nvSpPr>
        <p:spPr>
          <a:xfrm>
            <a:off x="457200" y="4151376"/>
            <a:ext cx="11277295" cy="178308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151376"/>
            <a:ext cx="38404" cy="17830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334256"/>
            <a:ext cx="10710367" cy="292608"/>
          </a:xfrm>
          <a:prstGeom prst="rect">
            <a:avLst/>
          </a:prstGeom>
          <a:noFill/>
        </p:spPr>
        <p:txBody>
          <a:bodyPr wrap="square" lIns="0" rIns="0" tIns="0" bIns="0" anchor="t">
            <a:spAutoFit/>
          </a:bodyPr>
          <a:lstStyle/>
          <a:p>
            <a:pPr algn="l">
              <a:lnSpc>
                <a:spcPct val="115000"/>
              </a:lnSpc>
              <a:spcAft>
                <a:spcPts val="0"/>
              </a:spcAft>
            </a:pPr>
            <a:r>
              <a:rPr sz="1300" b="1">
                <a:solidFill>
                  <a:srgbClr val="1A1A1A"/>
                </a:solidFill>
                <a:latin typeface="Inter"/>
              </a:rPr>
              <a:t>Blended CSAT remained below goal throughout the month</a:t>
            </a:r>
          </a:p>
        </p:txBody>
      </p:sp>
      <p:sp>
        <p:nvSpPr>
          <p:cNvPr id="20" name="TextBox 19"/>
          <p:cNvSpPr txBox="1"/>
          <p:nvPr/>
        </p:nvSpPr>
        <p:spPr>
          <a:xfrm>
            <a:off x="768096" y="4718304"/>
            <a:ext cx="10710367" cy="1069848"/>
          </a:xfrm>
          <a:prstGeom prst="rect">
            <a:avLst/>
          </a:prstGeom>
          <a:noFill/>
        </p:spPr>
        <p:txBody>
          <a:bodyPr wrap="square" lIns="0" rIns="0" tIns="0" bIns="0" anchor="t">
            <a:spAutoFit/>
          </a:bodyPr>
          <a:lstStyle/>
          <a:p>
            <a:pPr algn="l">
              <a:lnSpc>
                <a:spcPct val="132000"/>
              </a:lnSpc>
              <a:spcAft>
                <a:spcPts val="400"/>
              </a:spcAft>
            </a:pPr>
            <a:r>
              <a:rPr sz="1000" b="0">
                <a:solidFill>
                  <a:srgbClr val="4B5563"/>
                </a:solidFill>
                <a:latin typeface="Inter"/>
              </a:rPr>
              <a:t>All 31 days stayed within the normal control limits (76.60–83.24), but every day remained below the 85% CSAT goal. This suggests a consistent process issue rather than a single bad day or agent. QA had one notable dip on 6 May (86.44), while recontact improved during the final week to 5.26% (month still 5.83%, above the 5.44% goal).</a:t>
            </a:r>
          </a:p>
          <a:p>
            <a:pPr algn="l">
              <a:lnSpc>
                <a:spcPct val="132000"/>
              </a:lnSpc>
              <a:spcAft>
                <a:spcPts val="400"/>
              </a:spcAft>
            </a:pPr>
            <a:r>
              <a:rPr sz="1000" b="0">
                <a:solidFill>
                  <a:srgbClr val="4B5563"/>
                </a:solidFill>
                <a:latin typeface="Inter"/>
              </a:rPr>
              <a:t>CSAT is more likely to improve when agents have a clear way to resolve the issue—for example, approving a refund, seeing an ETA, or escalating through a defined path. Coaching alone is unlikely to shift a result that stayed below goal for all 31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148840"/>
            <a:ext cx="2743200" cy="1005840"/>
          </a:xfrm>
          <a:prstGeom prst="rect">
            <a:avLst/>
          </a:prstGeom>
          <a:noFill/>
        </p:spPr>
        <p:txBody>
          <a:bodyPr wrap="square" lIns="0" rIns="0" tIns="0" bIns="0" anchor="t">
            <a:spAutoFit/>
          </a:bodyPr>
          <a:lstStyle/>
          <a:p>
            <a:pPr algn="l">
              <a:lnSpc>
                <a:spcPct val="115000"/>
              </a:lnSpc>
              <a:spcAft>
                <a:spcPts val="0"/>
              </a:spcAft>
            </a:pPr>
            <a:r>
              <a:rPr sz="6400" b="1">
                <a:solidFill>
                  <a:srgbClr val="FF6600"/>
                </a:solidFill>
                <a:latin typeface="Inter"/>
              </a:rPr>
              <a:t>01</a:t>
            </a:r>
          </a:p>
        </p:txBody>
      </p:sp>
      <p:sp>
        <p:nvSpPr>
          <p:cNvPr id="5" name="TextBox 4"/>
          <p:cNvSpPr txBox="1"/>
          <p:nvPr/>
        </p:nvSpPr>
        <p:spPr>
          <a:xfrm>
            <a:off x="1188720" y="3246120"/>
            <a:ext cx="8686800" cy="548640"/>
          </a:xfrm>
          <a:prstGeom prst="rect">
            <a:avLst/>
          </a:prstGeom>
          <a:noFill/>
        </p:spPr>
        <p:txBody>
          <a:bodyPr wrap="square" lIns="0" rIns="0" tIns="0" bIns="0" anchor="t">
            <a:spAutoFit/>
          </a:bodyPr>
          <a:lstStyle/>
          <a:p>
            <a:pPr algn="l">
              <a:lnSpc>
                <a:spcPct val="115000"/>
              </a:lnSpc>
              <a:spcAft>
                <a:spcPts val="0"/>
              </a:spcAft>
            </a:pPr>
            <a:r>
              <a:rPr sz="3000" b="1">
                <a:solidFill>
                  <a:srgbClr val="FFFFFF"/>
                </a:solidFill>
                <a:latin typeface="Inter"/>
              </a:rPr>
              <a:t>QA analysis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87952"/>
            <a:ext cx="7863840" cy="822960"/>
          </a:xfrm>
          <a:prstGeom prst="rect">
            <a:avLst/>
          </a:prstGeom>
          <a:noFill/>
        </p:spPr>
        <p:txBody>
          <a:bodyPr wrap="square" lIns="0" rIns="0" tIns="0" bIns="0" anchor="t">
            <a:spAutoFit/>
          </a:bodyPr>
          <a:lstStyle/>
          <a:p>
            <a:pPr algn="l">
              <a:lnSpc>
                <a:spcPct val="140000"/>
              </a:lnSpc>
              <a:spcAft>
                <a:spcPts val="0"/>
              </a:spcAft>
            </a:pPr>
            <a:r>
              <a:rPr sz="1300" b="0">
                <a:solidFill>
                  <a:srgbClr val="C9CCD1"/>
                </a:solidFill>
                <a:latin typeface="Inter"/>
              </a:rPr>
              <a:t>Score against goal by channel and by contact reason. Then the defects behind each gap.</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rIns="0" tIns="0" bIns="0" anchor="ctr">
            <a:spAutoFit/>
          </a:bodyPr>
          <a:lstStyle/>
          <a:p>
            <a:pPr algn="l">
              <a:lnSpc>
                <a:spcPct val="115000"/>
              </a:lnSpc>
              <a:spcAft>
                <a:spcPts val="0"/>
              </a:spcAft>
            </a:pPr>
            <a:r>
              <a:rPr sz="1500" b="1">
                <a:solidFill>
                  <a:srgbClr val="FFFFFF"/>
                </a:solidFill>
                <a:latin typeface="Inter"/>
              </a:rPr>
              <a:t>DiDi</a:t>
            </a:r>
          </a:p>
        </p:txBody>
      </p:sp>
      <p:sp>
        <p:nvSpPr>
          <p:cNvPr id="10" name="TextBox 9"/>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07 / 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QA analysis by channel</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Phone and Live Chat scored on their own lists. Never mixed.</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08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channel_compare.png"/>
          <p:cNvPicPr>
            <a:picLocks noChangeAspect="1"/>
          </p:cNvPicPr>
          <p:nvPr/>
        </p:nvPicPr>
        <p:blipFill>
          <a:blip r:embed="rId3"/>
          <a:stretch>
            <a:fillRect/>
          </a:stretch>
        </p:blipFill>
        <p:spPr>
          <a:xfrm>
            <a:off x="556447" y="1207008"/>
            <a:ext cx="6339464" cy="2395728"/>
          </a:xfrm>
          <a:prstGeom prst="rect">
            <a:avLst/>
          </a:prstGeom>
        </p:spPr>
      </p:pic>
      <p:sp>
        <p:nvSpPr>
          <p:cNvPr id="12" name="Rectangle 11"/>
          <p:cNvSpPr/>
          <p:nvPr/>
        </p:nvSpPr>
        <p:spPr>
          <a:xfrm>
            <a:off x="7223760" y="1298448"/>
            <a:ext cx="4343400"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51776" y="1298448"/>
            <a:ext cx="932688" cy="36576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Channel</a:t>
            </a:r>
          </a:p>
        </p:txBody>
      </p:sp>
      <p:sp>
        <p:nvSpPr>
          <p:cNvPr id="14" name="TextBox 13"/>
          <p:cNvSpPr txBox="1"/>
          <p:nvPr/>
        </p:nvSpPr>
        <p:spPr>
          <a:xfrm>
            <a:off x="8540496" y="1298448"/>
            <a:ext cx="384047" cy="365760"/>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QA</a:t>
            </a:r>
          </a:p>
        </p:txBody>
      </p:sp>
      <p:sp>
        <p:nvSpPr>
          <p:cNvPr id="15" name="TextBox 14"/>
          <p:cNvSpPr txBox="1"/>
          <p:nvPr/>
        </p:nvSpPr>
        <p:spPr>
          <a:xfrm>
            <a:off x="9180576" y="1298448"/>
            <a:ext cx="429768" cy="365760"/>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vs 85</a:t>
            </a:r>
          </a:p>
        </p:txBody>
      </p:sp>
      <p:sp>
        <p:nvSpPr>
          <p:cNvPr id="16" name="TextBox 15"/>
          <p:cNvSpPr txBox="1"/>
          <p:nvPr/>
        </p:nvSpPr>
        <p:spPr>
          <a:xfrm>
            <a:off x="9866376" y="1298448"/>
            <a:ext cx="521207" cy="365760"/>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Audits</a:t>
            </a:r>
          </a:p>
        </p:txBody>
      </p:sp>
      <p:sp>
        <p:nvSpPr>
          <p:cNvPr id="17" name="TextBox 16"/>
          <p:cNvSpPr txBox="1"/>
          <p:nvPr/>
        </p:nvSpPr>
        <p:spPr>
          <a:xfrm>
            <a:off x="10643616" y="1298448"/>
            <a:ext cx="795527" cy="36576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Status</a:t>
            </a:r>
          </a:p>
        </p:txBody>
      </p:sp>
      <p:sp>
        <p:nvSpPr>
          <p:cNvPr id="18" name="TextBox 17"/>
          <p:cNvSpPr txBox="1"/>
          <p:nvPr/>
        </p:nvSpPr>
        <p:spPr>
          <a:xfrm>
            <a:off x="7351776" y="1664208"/>
            <a:ext cx="932688" cy="475488"/>
          </a:xfrm>
          <a:prstGeom prst="rect">
            <a:avLst/>
          </a:prstGeom>
          <a:noFill/>
        </p:spPr>
        <p:txBody>
          <a:bodyPr wrap="square" lIns="0" rIns="0" tIns="0" bIns="0" anchor="ctr">
            <a:spAutoFit/>
          </a:bodyPr>
          <a:lstStyle/>
          <a:p>
            <a:pPr algn="l">
              <a:lnSpc>
                <a:spcPct val="115000"/>
              </a:lnSpc>
              <a:spcAft>
                <a:spcPts val="0"/>
              </a:spcAft>
            </a:pPr>
            <a:r>
              <a:rPr sz="850" b="1">
                <a:solidFill>
                  <a:srgbClr val="1A1A1A"/>
                </a:solidFill>
                <a:latin typeface="Inter"/>
              </a:rPr>
              <a:t>Phone</a:t>
            </a:r>
          </a:p>
        </p:txBody>
      </p:sp>
      <p:sp>
        <p:nvSpPr>
          <p:cNvPr id="19" name="Rounded Rectangle 18"/>
          <p:cNvSpPr/>
          <p:nvPr/>
        </p:nvSpPr>
        <p:spPr>
          <a:xfrm>
            <a:off x="8476488" y="1728216"/>
            <a:ext cx="512063" cy="347472"/>
          </a:xfrm>
          <a:prstGeom prst="roundRect">
            <a:avLst>
              <a:gd name="adj" fmla="val 13157"/>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0496" y="1664208"/>
            <a:ext cx="384047" cy="475488"/>
          </a:xfrm>
          <a:prstGeom prst="rect">
            <a:avLst/>
          </a:prstGeom>
          <a:noFill/>
        </p:spPr>
        <p:txBody>
          <a:bodyPr wrap="square" lIns="0" rIns="0" tIns="0" bIns="0" anchor="ctr">
            <a:spAutoFit/>
          </a:bodyPr>
          <a:lstStyle/>
          <a:p>
            <a:pPr algn="r">
              <a:lnSpc>
                <a:spcPct val="115000"/>
              </a:lnSpc>
              <a:spcAft>
                <a:spcPts val="0"/>
              </a:spcAft>
            </a:pPr>
            <a:r>
              <a:rPr sz="850" b="1">
                <a:solidFill>
                  <a:srgbClr val="F59E0B"/>
                </a:solidFill>
                <a:latin typeface="Inter"/>
              </a:rPr>
              <a:t>83.04</a:t>
            </a:r>
          </a:p>
        </p:txBody>
      </p:sp>
      <p:sp>
        <p:nvSpPr>
          <p:cNvPr id="21" name="TextBox 20"/>
          <p:cNvSpPr txBox="1"/>
          <p:nvPr/>
        </p:nvSpPr>
        <p:spPr>
          <a:xfrm>
            <a:off x="9180576" y="1664208"/>
            <a:ext cx="429768" cy="475488"/>
          </a:xfrm>
          <a:prstGeom prst="rect">
            <a:avLst/>
          </a:prstGeom>
          <a:noFill/>
        </p:spPr>
        <p:txBody>
          <a:bodyPr wrap="square" lIns="0" rIns="0" tIns="0" bIns="0" anchor="ctr">
            <a:spAutoFit/>
          </a:bodyPr>
          <a:lstStyle/>
          <a:p>
            <a:pPr algn="r">
              <a:lnSpc>
                <a:spcPct val="115000"/>
              </a:lnSpc>
              <a:spcAft>
                <a:spcPts val="0"/>
              </a:spcAft>
            </a:pPr>
            <a:r>
              <a:rPr sz="850" b="0">
                <a:solidFill>
                  <a:srgbClr val="4B5563"/>
                </a:solidFill>
                <a:latin typeface="Inter"/>
              </a:rPr>
              <a:t>-1.96</a:t>
            </a:r>
          </a:p>
        </p:txBody>
      </p:sp>
      <p:sp>
        <p:nvSpPr>
          <p:cNvPr id="22" name="TextBox 21"/>
          <p:cNvSpPr txBox="1"/>
          <p:nvPr/>
        </p:nvSpPr>
        <p:spPr>
          <a:xfrm>
            <a:off x="9866376" y="1664208"/>
            <a:ext cx="521207" cy="475488"/>
          </a:xfrm>
          <a:prstGeom prst="rect">
            <a:avLst/>
          </a:prstGeom>
          <a:noFill/>
        </p:spPr>
        <p:txBody>
          <a:bodyPr wrap="square" lIns="0" rIns="0" tIns="0" bIns="0" anchor="ctr">
            <a:spAutoFit/>
          </a:bodyPr>
          <a:lstStyle/>
          <a:p>
            <a:pPr algn="r">
              <a:lnSpc>
                <a:spcPct val="115000"/>
              </a:lnSpc>
              <a:spcAft>
                <a:spcPts val="0"/>
              </a:spcAft>
            </a:pPr>
            <a:r>
              <a:rPr sz="850" b="0">
                <a:solidFill>
                  <a:srgbClr val="4B5563"/>
                </a:solidFill>
                <a:latin typeface="Inter"/>
              </a:rPr>
              <a:t>355</a:t>
            </a:r>
          </a:p>
        </p:txBody>
      </p:sp>
      <p:sp>
        <p:nvSpPr>
          <p:cNvPr id="23" name="Rounded Rectangle 22"/>
          <p:cNvSpPr/>
          <p:nvPr/>
        </p:nvSpPr>
        <p:spPr>
          <a:xfrm>
            <a:off x="10643616" y="1764792"/>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753344" y="1851660"/>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17936" y="1764792"/>
            <a:ext cx="603732"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Near goal</a:t>
            </a:r>
          </a:p>
        </p:txBody>
      </p:sp>
      <p:sp>
        <p:nvSpPr>
          <p:cNvPr id="26" name="Rectangle 25"/>
          <p:cNvSpPr/>
          <p:nvPr/>
        </p:nvSpPr>
        <p:spPr>
          <a:xfrm>
            <a:off x="7223760" y="2134933"/>
            <a:ext cx="43434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23760" y="2139696"/>
            <a:ext cx="4343400"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51776" y="2139696"/>
            <a:ext cx="932688" cy="475488"/>
          </a:xfrm>
          <a:prstGeom prst="rect">
            <a:avLst/>
          </a:prstGeom>
          <a:noFill/>
        </p:spPr>
        <p:txBody>
          <a:bodyPr wrap="square" lIns="0" rIns="0" tIns="0" bIns="0" anchor="ctr">
            <a:spAutoFit/>
          </a:bodyPr>
          <a:lstStyle/>
          <a:p>
            <a:pPr algn="l">
              <a:lnSpc>
                <a:spcPct val="115000"/>
              </a:lnSpc>
              <a:spcAft>
                <a:spcPts val="0"/>
              </a:spcAft>
            </a:pPr>
            <a:r>
              <a:rPr sz="850" b="1">
                <a:solidFill>
                  <a:srgbClr val="1A1A1A"/>
                </a:solidFill>
                <a:latin typeface="Inter"/>
              </a:rPr>
              <a:t>Live Chat</a:t>
            </a:r>
          </a:p>
        </p:txBody>
      </p:sp>
      <p:sp>
        <p:nvSpPr>
          <p:cNvPr id="29" name="Rounded Rectangle 28"/>
          <p:cNvSpPr/>
          <p:nvPr/>
        </p:nvSpPr>
        <p:spPr>
          <a:xfrm>
            <a:off x="8476488" y="2203704"/>
            <a:ext cx="512063" cy="347472"/>
          </a:xfrm>
          <a:prstGeom prst="roundRect">
            <a:avLst>
              <a:gd name="adj" fmla="val 13157"/>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0496" y="2139696"/>
            <a:ext cx="384047" cy="475488"/>
          </a:xfrm>
          <a:prstGeom prst="rect">
            <a:avLst/>
          </a:prstGeom>
          <a:noFill/>
        </p:spPr>
        <p:txBody>
          <a:bodyPr wrap="square" lIns="0" rIns="0" tIns="0" bIns="0" anchor="ctr">
            <a:spAutoFit/>
          </a:bodyPr>
          <a:lstStyle/>
          <a:p>
            <a:pPr algn="r">
              <a:lnSpc>
                <a:spcPct val="115000"/>
              </a:lnSpc>
              <a:spcAft>
                <a:spcPts val="0"/>
              </a:spcAft>
            </a:pPr>
            <a:r>
              <a:rPr sz="850" b="1">
                <a:solidFill>
                  <a:srgbClr val="16A34A"/>
                </a:solidFill>
                <a:latin typeface="Inter"/>
              </a:rPr>
              <a:t>96.01</a:t>
            </a:r>
          </a:p>
        </p:txBody>
      </p:sp>
      <p:sp>
        <p:nvSpPr>
          <p:cNvPr id="31" name="TextBox 30"/>
          <p:cNvSpPr txBox="1"/>
          <p:nvPr/>
        </p:nvSpPr>
        <p:spPr>
          <a:xfrm>
            <a:off x="9180576" y="2139696"/>
            <a:ext cx="429768" cy="475488"/>
          </a:xfrm>
          <a:prstGeom prst="rect">
            <a:avLst/>
          </a:prstGeom>
          <a:noFill/>
        </p:spPr>
        <p:txBody>
          <a:bodyPr wrap="square" lIns="0" rIns="0" tIns="0" bIns="0" anchor="ctr">
            <a:spAutoFit/>
          </a:bodyPr>
          <a:lstStyle/>
          <a:p>
            <a:pPr algn="r">
              <a:lnSpc>
                <a:spcPct val="115000"/>
              </a:lnSpc>
              <a:spcAft>
                <a:spcPts val="0"/>
              </a:spcAft>
            </a:pPr>
            <a:r>
              <a:rPr sz="850" b="0">
                <a:solidFill>
                  <a:srgbClr val="4B5563"/>
                </a:solidFill>
                <a:latin typeface="Inter"/>
              </a:rPr>
              <a:t>+11.01</a:t>
            </a:r>
          </a:p>
        </p:txBody>
      </p:sp>
      <p:sp>
        <p:nvSpPr>
          <p:cNvPr id="32" name="TextBox 31"/>
          <p:cNvSpPr txBox="1"/>
          <p:nvPr/>
        </p:nvSpPr>
        <p:spPr>
          <a:xfrm>
            <a:off x="9866376" y="2139696"/>
            <a:ext cx="521207" cy="475488"/>
          </a:xfrm>
          <a:prstGeom prst="rect">
            <a:avLst/>
          </a:prstGeom>
          <a:noFill/>
        </p:spPr>
        <p:txBody>
          <a:bodyPr wrap="square" lIns="0" rIns="0" tIns="0" bIns="0" anchor="ctr">
            <a:spAutoFit/>
          </a:bodyPr>
          <a:lstStyle/>
          <a:p>
            <a:pPr algn="r">
              <a:lnSpc>
                <a:spcPct val="115000"/>
              </a:lnSpc>
              <a:spcAft>
                <a:spcPts val="0"/>
              </a:spcAft>
            </a:pPr>
            <a:r>
              <a:rPr sz="850" b="0">
                <a:solidFill>
                  <a:srgbClr val="4B5563"/>
                </a:solidFill>
                <a:latin typeface="Inter"/>
              </a:rPr>
              <a:t>2,105</a:t>
            </a:r>
          </a:p>
        </p:txBody>
      </p:sp>
      <p:sp>
        <p:nvSpPr>
          <p:cNvPr id="33" name="Rounded Rectangle 32"/>
          <p:cNvSpPr/>
          <p:nvPr/>
        </p:nvSpPr>
        <p:spPr>
          <a:xfrm>
            <a:off x="10643616" y="2240280"/>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753344" y="2327148"/>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17936" y="2240280"/>
            <a:ext cx="489889" cy="274320"/>
          </a:xfrm>
          <a:prstGeom prst="rect">
            <a:avLst/>
          </a:prstGeom>
          <a:noFill/>
        </p:spPr>
        <p:txBody>
          <a:bodyPr wrap="square" lIns="0" rIns="0" tIns="0" bIns="0" anchor="ctr">
            <a:spAutoFit/>
          </a:bodyPr>
          <a:lstStyle/>
          <a:p>
            <a:pPr algn="l">
              <a:lnSpc>
                <a:spcPct val="115000"/>
              </a:lnSpc>
              <a:spcAft>
                <a:spcPts val="0"/>
              </a:spcAft>
            </a:pPr>
            <a:r>
              <a:rPr sz="750" b="1">
                <a:solidFill>
                  <a:srgbClr val="16A34A"/>
                </a:solidFill>
                <a:latin typeface="Inter"/>
              </a:rPr>
              <a:t>On goal</a:t>
            </a:r>
          </a:p>
        </p:txBody>
      </p:sp>
      <p:sp>
        <p:nvSpPr>
          <p:cNvPr id="36" name="Rectangle 35"/>
          <p:cNvSpPr/>
          <p:nvPr/>
        </p:nvSpPr>
        <p:spPr>
          <a:xfrm>
            <a:off x="7223760" y="2610421"/>
            <a:ext cx="43434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0" y="2724912"/>
            <a:ext cx="457200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Why Phone is below the QA goal</a:t>
            </a:r>
          </a:p>
        </p:txBody>
      </p:sp>
      <p:sp>
        <p:nvSpPr>
          <p:cNvPr id="38" name="Rectangle 37"/>
          <p:cNvSpPr/>
          <p:nvPr/>
        </p:nvSpPr>
        <p:spPr>
          <a:xfrm>
            <a:off x="7223760" y="31043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61504" y="3008376"/>
            <a:ext cx="433425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Phone handles a higher share of complex issues such as refunds, charges and undelivered orders.</a:t>
            </a:r>
          </a:p>
        </p:txBody>
      </p:sp>
      <p:sp>
        <p:nvSpPr>
          <p:cNvPr id="40" name="Rectangle 39"/>
          <p:cNvSpPr/>
          <p:nvPr/>
        </p:nvSpPr>
        <p:spPr>
          <a:xfrm>
            <a:off x="7223760" y="339699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61504" y="3300984"/>
            <a:ext cx="433425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Critical attributes fail in 13.52% of Phone audits, compared with 2.95% in Chat.</a:t>
            </a:r>
          </a:p>
        </p:txBody>
      </p:sp>
      <p:sp>
        <p:nvSpPr>
          <p:cNvPr id="42" name="Rectangle 41"/>
          <p:cNvSpPr/>
          <p:nvPr/>
        </p:nvSpPr>
        <p:spPr>
          <a:xfrm>
            <a:off x="7223760" y="368960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61504" y="3593592"/>
            <a:ext cx="433425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Phone represents only 14.4% of audits, so its lower score has limited impact on the overall QA result.</a:t>
            </a:r>
          </a:p>
        </p:txBody>
      </p:sp>
      <p:sp>
        <p:nvSpPr>
          <p:cNvPr id="44" name="Rectangle 43"/>
          <p:cNvSpPr/>
          <p:nvPr/>
        </p:nvSpPr>
        <p:spPr>
          <a:xfrm>
            <a:off x="457200" y="3877056"/>
            <a:ext cx="11277295" cy="129844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3877056"/>
            <a:ext cx="38404" cy="12984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096" y="4059936"/>
            <a:ext cx="10710367" cy="292608"/>
          </a:xfrm>
          <a:prstGeom prst="rect">
            <a:avLst/>
          </a:prstGeom>
          <a:noFill/>
        </p:spPr>
        <p:txBody>
          <a:bodyPr wrap="square" lIns="0" rIns="0" tIns="0" bIns="0" anchor="t">
            <a:spAutoFit/>
          </a:bodyPr>
          <a:lstStyle/>
          <a:p>
            <a:pPr algn="l">
              <a:lnSpc>
                <a:spcPct val="115000"/>
              </a:lnSpc>
              <a:spcAft>
                <a:spcPts val="0"/>
              </a:spcAft>
            </a:pPr>
            <a:r>
              <a:rPr sz="1300" b="1">
                <a:solidFill>
                  <a:srgbClr val="1A1A1A"/>
                </a:solidFill>
                <a:latin typeface="Inter"/>
              </a:rPr>
              <a:t>Phone is below goal, while Chat represents most of the QA sample.</a:t>
            </a:r>
          </a:p>
        </p:txBody>
      </p:sp>
      <p:sp>
        <p:nvSpPr>
          <p:cNvPr id="47" name="TextBox 46"/>
          <p:cNvSpPr txBox="1"/>
          <p:nvPr/>
        </p:nvSpPr>
        <p:spPr>
          <a:xfrm>
            <a:off x="768096" y="4443984"/>
            <a:ext cx="10710367" cy="585215"/>
          </a:xfrm>
          <a:prstGeom prst="rect">
            <a:avLst/>
          </a:prstGeom>
          <a:noFill/>
        </p:spPr>
        <p:txBody>
          <a:bodyPr wrap="square" lIns="0" rIns="0" tIns="0" bIns="0" anchor="t">
            <a:spAutoFit/>
          </a:bodyPr>
          <a:lstStyle/>
          <a:p>
            <a:pPr algn="l">
              <a:lnSpc>
                <a:spcPct val="132000"/>
              </a:lnSpc>
              <a:spcAft>
                <a:spcPts val="400"/>
              </a:spcAft>
            </a:pPr>
            <a:r>
              <a:rPr sz="1000" b="0">
                <a:solidFill>
                  <a:srgbClr val="4B5563"/>
                </a:solidFill>
                <a:latin typeface="Inter"/>
              </a:rPr>
              <a:t>Phone QA is 83.04, 1.96 points below goal. Chat is 96.01 and represents 85.6% of audits, which drives the overall QA score to 94.14. Chat also uses a less stringent approach because correct information is not currently a critical attribute. Under the proposed scoring, Chat QA would be 80.14. Despite the lower QA score, Phone has higher CSAT than Chat (86.26% vs. 77.55%).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QA analysis: Phone</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355 audits  ·  12 attributes  ·  score 83.04 vs 85 goal</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09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phone.png"/>
          <p:cNvPicPr>
            <a:picLocks noChangeAspect="1"/>
          </p:cNvPicPr>
          <p:nvPr/>
        </p:nvPicPr>
        <p:blipFill>
          <a:blip r:embed="rId3"/>
          <a:stretch>
            <a:fillRect/>
          </a:stretch>
        </p:blipFill>
        <p:spPr>
          <a:xfrm>
            <a:off x="1293130" y="1207008"/>
            <a:ext cx="4774658" cy="3063240"/>
          </a:xfrm>
          <a:prstGeom prst="rect">
            <a:avLst/>
          </a:prstGeom>
        </p:spPr>
      </p:pic>
      <p:sp>
        <p:nvSpPr>
          <p:cNvPr id="12" name="TextBox 11"/>
          <p:cNvSpPr txBox="1"/>
          <p:nvPr/>
        </p:nvSpPr>
        <p:spPr>
          <a:xfrm>
            <a:off x="7132320" y="1225296"/>
            <a:ext cx="46177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Contact reasons with the lowest QA</a:t>
            </a:r>
          </a:p>
        </p:txBody>
      </p:sp>
      <p:sp>
        <p:nvSpPr>
          <p:cNvPr id="13" name="Rectangle 12"/>
          <p:cNvSpPr/>
          <p:nvPr/>
        </p:nvSpPr>
        <p:spPr>
          <a:xfrm>
            <a:off x="7132320" y="1536192"/>
            <a:ext cx="4544568"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1536192"/>
            <a:ext cx="239572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Contact reason (CR Lv4)</a:t>
            </a:r>
          </a:p>
        </p:txBody>
      </p:sp>
      <p:sp>
        <p:nvSpPr>
          <p:cNvPr id="15" name="TextBox 14"/>
          <p:cNvSpPr txBox="1"/>
          <p:nvPr/>
        </p:nvSpPr>
        <p:spPr>
          <a:xfrm>
            <a:off x="9912096" y="1536192"/>
            <a:ext cx="246888"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QA</a:t>
            </a:r>
          </a:p>
        </p:txBody>
      </p:sp>
      <p:sp>
        <p:nvSpPr>
          <p:cNvPr id="16" name="TextBox 15"/>
          <p:cNvSpPr txBox="1"/>
          <p:nvPr/>
        </p:nvSpPr>
        <p:spPr>
          <a:xfrm>
            <a:off x="10415016" y="1536192"/>
            <a:ext cx="128015"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n</a:t>
            </a:r>
          </a:p>
        </p:txBody>
      </p:sp>
      <p:sp>
        <p:nvSpPr>
          <p:cNvPr id="17" name="TextBox 16"/>
          <p:cNvSpPr txBox="1"/>
          <p:nvPr/>
        </p:nvSpPr>
        <p:spPr>
          <a:xfrm>
            <a:off x="10799064" y="1536192"/>
            <a:ext cx="74980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Status</a:t>
            </a:r>
          </a:p>
        </p:txBody>
      </p:sp>
      <p:sp>
        <p:nvSpPr>
          <p:cNvPr id="18" name="TextBox 17"/>
          <p:cNvSpPr txBox="1"/>
          <p:nvPr/>
        </p:nvSpPr>
        <p:spPr>
          <a:xfrm>
            <a:off x="7260336" y="1865376"/>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Completed but not received — market pla…</a:t>
            </a:r>
          </a:p>
        </p:txBody>
      </p:sp>
      <p:sp>
        <p:nvSpPr>
          <p:cNvPr id="19" name="Rounded Rectangle 18"/>
          <p:cNvSpPr/>
          <p:nvPr/>
        </p:nvSpPr>
        <p:spPr>
          <a:xfrm>
            <a:off x="9848088" y="1929384"/>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12096" y="1865376"/>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47.5</a:t>
            </a:r>
          </a:p>
        </p:txBody>
      </p:sp>
      <p:sp>
        <p:nvSpPr>
          <p:cNvPr id="21" name="TextBox 20"/>
          <p:cNvSpPr txBox="1"/>
          <p:nvPr/>
        </p:nvSpPr>
        <p:spPr>
          <a:xfrm>
            <a:off x="10415016" y="1865376"/>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a:t>
            </a:r>
          </a:p>
        </p:txBody>
      </p:sp>
      <p:sp>
        <p:nvSpPr>
          <p:cNvPr id="22" name="Rounded Rectangle 21"/>
          <p:cNvSpPr/>
          <p:nvPr/>
        </p:nvSpPr>
        <p:spPr>
          <a:xfrm>
            <a:off x="10799064"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908792"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73384" y="193852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25" name="Rectangle 24"/>
          <p:cNvSpPr/>
          <p:nvPr/>
        </p:nvSpPr>
        <p:spPr>
          <a:xfrm>
            <a:off x="7132320" y="2281237"/>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0" y="2286000"/>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60336" y="2286000"/>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Active order, already received</a:t>
            </a:r>
          </a:p>
        </p:txBody>
      </p:sp>
      <p:sp>
        <p:nvSpPr>
          <p:cNvPr id="28" name="Rounded Rectangle 27"/>
          <p:cNvSpPr/>
          <p:nvPr/>
        </p:nvSpPr>
        <p:spPr>
          <a:xfrm>
            <a:off x="9848088" y="2350008"/>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12096" y="2286000"/>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65.8</a:t>
            </a:r>
          </a:p>
        </p:txBody>
      </p:sp>
      <p:sp>
        <p:nvSpPr>
          <p:cNvPr id="30" name="TextBox 29"/>
          <p:cNvSpPr txBox="1"/>
          <p:nvPr/>
        </p:nvSpPr>
        <p:spPr>
          <a:xfrm>
            <a:off x="10415016" y="2286000"/>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12</a:t>
            </a:r>
          </a:p>
        </p:txBody>
      </p:sp>
      <p:sp>
        <p:nvSpPr>
          <p:cNvPr id="31" name="Rounded Rectangle 30"/>
          <p:cNvSpPr/>
          <p:nvPr/>
        </p:nvSpPr>
        <p:spPr>
          <a:xfrm>
            <a:off x="10799064" y="235915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908792" y="2446020"/>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73384" y="2359152"/>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34" name="Rectangle 33"/>
          <p:cNvSpPr/>
          <p:nvPr/>
        </p:nvSpPr>
        <p:spPr>
          <a:xfrm>
            <a:off x="7132320" y="2701861"/>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60336" y="2706624"/>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Paying the courier</a:t>
            </a:r>
          </a:p>
        </p:txBody>
      </p:sp>
      <p:sp>
        <p:nvSpPr>
          <p:cNvPr id="36" name="Rounded Rectangle 35"/>
          <p:cNvSpPr/>
          <p:nvPr/>
        </p:nvSpPr>
        <p:spPr>
          <a:xfrm>
            <a:off x="9848088" y="2770632"/>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12096" y="2706624"/>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66.7</a:t>
            </a:r>
          </a:p>
        </p:txBody>
      </p:sp>
      <p:sp>
        <p:nvSpPr>
          <p:cNvPr id="38" name="TextBox 37"/>
          <p:cNvSpPr txBox="1"/>
          <p:nvPr/>
        </p:nvSpPr>
        <p:spPr>
          <a:xfrm>
            <a:off x="10415016" y="2706624"/>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3</a:t>
            </a:r>
          </a:p>
        </p:txBody>
      </p:sp>
      <p:sp>
        <p:nvSpPr>
          <p:cNvPr id="39" name="Rounded Rectangle 38"/>
          <p:cNvSpPr/>
          <p:nvPr/>
        </p:nvSpPr>
        <p:spPr>
          <a:xfrm>
            <a:off x="10799064" y="277977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08792" y="286664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073384" y="2779776"/>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42" name="Rectangle 41"/>
          <p:cNvSpPr/>
          <p:nvPr/>
        </p:nvSpPr>
        <p:spPr>
          <a:xfrm>
            <a:off x="7132320" y="3122485"/>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32320" y="3127248"/>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60336" y="3127248"/>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Completed but not received — full servi…</a:t>
            </a:r>
          </a:p>
        </p:txBody>
      </p:sp>
      <p:sp>
        <p:nvSpPr>
          <p:cNvPr id="45" name="Rounded Rectangle 44"/>
          <p:cNvSpPr/>
          <p:nvPr/>
        </p:nvSpPr>
        <p:spPr>
          <a:xfrm>
            <a:off x="9848088" y="3191256"/>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12096" y="3127248"/>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68.2</a:t>
            </a:r>
          </a:p>
        </p:txBody>
      </p:sp>
      <p:sp>
        <p:nvSpPr>
          <p:cNvPr id="47" name="TextBox 46"/>
          <p:cNvSpPr txBox="1"/>
          <p:nvPr/>
        </p:nvSpPr>
        <p:spPr>
          <a:xfrm>
            <a:off x="10415016" y="3127248"/>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49</a:t>
            </a:r>
          </a:p>
        </p:txBody>
      </p:sp>
      <p:sp>
        <p:nvSpPr>
          <p:cNvPr id="48" name="Rounded Rectangle 47"/>
          <p:cNvSpPr/>
          <p:nvPr/>
        </p:nvSpPr>
        <p:spPr>
          <a:xfrm>
            <a:off x="10799064" y="3200400"/>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908792" y="3287268"/>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073384" y="3200400"/>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51" name="Rectangle 50"/>
          <p:cNvSpPr/>
          <p:nvPr/>
        </p:nvSpPr>
        <p:spPr>
          <a:xfrm>
            <a:off x="7132320" y="3543109"/>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60336" y="3547872"/>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Courier overcharged me</a:t>
            </a:r>
          </a:p>
        </p:txBody>
      </p:sp>
      <p:sp>
        <p:nvSpPr>
          <p:cNvPr id="53" name="Rounded Rectangle 52"/>
          <p:cNvSpPr/>
          <p:nvPr/>
        </p:nvSpPr>
        <p:spPr>
          <a:xfrm>
            <a:off x="9848088" y="3611879"/>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12096" y="3547872"/>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68.6</a:t>
            </a:r>
          </a:p>
        </p:txBody>
      </p:sp>
      <p:sp>
        <p:nvSpPr>
          <p:cNvPr id="55" name="TextBox 54"/>
          <p:cNvSpPr txBox="1"/>
          <p:nvPr/>
        </p:nvSpPr>
        <p:spPr>
          <a:xfrm>
            <a:off x="10415016" y="3547872"/>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7</a:t>
            </a:r>
          </a:p>
        </p:txBody>
      </p:sp>
      <p:sp>
        <p:nvSpPr>
          <p:cNvPr id="56" name="Rounded Rectangle 55"/>
          <p:cNvSpPr/>
          <p:nvPr/>
        </p:nvSpPr>
        <p:spPr>
          <a:xfrm>
            <a:off x="10799064" y="3621024"/>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908792" y="3707892"/>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073384" y="3621024"/>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59" name="Rectangle 58"/>
          <p:cNvSpPr/>
          <p:nvPr/>
        </p:nvSpPr>
        <p:spPr>
          <a:xfrm>
            <a:off x="7132320" y="3963733"/>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32320" y="4206240"/>
            <a:ext cx="46177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is driving these low scores</a:t>
            </a:r>
          </a:p>
        </p:txBody>
      </p:sp>
      <p:sp>
        <p:nvSpPr>
          <p:cNvPr id="61" name="Rectangle 60"/>
          <p:cNvSpPr/>
          <p:nvPr/>
        </p:nvSpPr>
        <p:spPr>
          <a:xfrm>
            <a:off x="713232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70064" y="4489703"/>
            <a:ext cx="43799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These five reasons mainly involve disputed charges or undelivered orders. Agents often depend on system information before they can move forward.</a:t>
            </a:r>
          </a:p>
        </p:txBody>
      </p:sp>
      <p:sp>
        <p:nvSpPr>
          <p:cNvPr id="63" name="Rectangle 62"/>
          <p:cNvSpPr/>
          <p:nvPr/>
        </p:nvSpPr>
        <p:spPr>
          <a:xfrm>
            <a:off x="7132320" y="503034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70064" y="4934330"/>
            <a:ext cx="43799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Time management is the main issue, followed by complete and correct information.</a:t>
            </a:r>
          </a:p>
        </p:txBody>
      </p:sp>
      <p:sp>
        <p:nvSpPr>
          <p:cNvPr id="65" name="Rectangle 64"/>
          <p:cNvSpPr/>
          <p:nvPr/>
        </p:nvSpPr>
        <p:spPr>
          <a:xfrm>
            <a:off x="7132320" y="532295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70064" y="5226939"/>
            <a:ext cx="43799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Because that attribute is critical, a failure reduces the score to 0.</a:t>
            </a:r>
          </a:p>
        </p:txBody>
      </p:sp>
      <p:sp>
        <p:nvSpPr>
          <p:cNvPr id="67" name="Rectangle 66"/>
          <p:cNvSpPr/>
          <p:nvPr/>
        </p:nvSpPr>
        <p:spPr>
          <a:xfrm>
            <a:off x="7132320" y="561555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70064" y="5519547"/>
            <a:ext cx="43799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Calls can run long without giving the customer a clear next step.</a:t>
            </a:r>
          </a:p>
        </p:txBody>
      </p:sp>
      <p:sp>
        <p:nvSpPr>
          <p:cNvPr id="69" name="TextBox 68"/>
          <p:cNvSpPr txBox="1"/>
          <p:nvPr/>
        </p:nvSpPr>
        <p:spPr>
          <a:xfrm>
            <a:off x="457200" y="4425696"/>
            <a:ext cx="64465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this chart is saying</a:t>
            </a:r>
          </a:p>
        </p:txBody>
      </p:sp>
      <p:sp>
        <p:nvSpPr>
          <p:cNvPr id="70" name="Rectangle 69"/>
          <p:cNvSpPr/>
          <p:nvPr/>
        </p:nvSpPr>
        <p:spPr>
          <a:xfrm>
            <a:off x="457200" y="480517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94944" y="4709159"/>
            <a:ext cx="62087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Time management accounts for 64.3% of Phone defects (133 fails).</a:t>
            </a:r>
          </a:p>
        </p:txBody>
      </p:sp>
      <p:sp>
        <p:nvSpPr>
          <p:cNvPr id="72" name="Rectangle 71"/>
          <p:cNvSpPr/>
          <p:nvPr/>
        </p:nvSpPr>
        <p:spPr>
          <a:xfrm>
            <a:off x="457200" y="509778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94944" y="5001768"/>
            <a:ext cx="62087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Complete and correct information adds another 28 fails and has a larger score impact (6.55 pp) because it is critical.</a:t>
            </a:r>
          </a:p>
        </p:txBody>
      </p:sp>
      <p:sp>
        <p:nvSpPr>
          <p:cNvPr id="74" name="Rectangle 73"/>
          <p:cNvSpPr/>
          <p:nvPr/>
        </p:nvSpPr>
        <p:spPr>
          <a:xfrm>
            <a:off x="457200" y="53903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94944" y="5294376"/>
            <a:ext cx="62087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Together, these two attributes represent 77.8% of Phone defects.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QA analysis: Live Chat</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2,105 audits  ·  8 attributes  ·  official score 96.01 vs 85 goal</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10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chat.png"/>
          <p:cNvPicPr>
            <a:picLocks noChangeAspect="1"/>
          </p:cNvPicPr>
          <p:nvPr/>
        </p:nvPicPr>
        <p:blipFill>
          <a:blip r:embed="rId3"/>
          <a:stretch>
            <a:fillRect/>
          </a:stretch>
        </p:blipFill>
        <p:spPr>
          <a:xfrm>
            <a:off x="1131256" y="1207008"/>
            <a:ext cx="5098406" cy="3063240"/>
          </a:xfrm>
          <a:prstGeom prst="rect">
            <a:avLst/>
          </a:prstGeom>
        </p:spPr>
      </p:pic>
      <p:sp>
        <p:nvSpPr>
          <p:cNvPr id="12" name="TextBox 11"/>
          <p:cNvSpPr txBox="1"/>
          <p:nvPr/>
        </p:nvSpPr>
        <p:spPr>
          <a:xfrm>
            <a:off x="7132320" y="1225296"/>
            <a:ext cx="46177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Contact reasons with the lowest QA</a:t>
            </a:r>
          </a:p>
        </p:txBody>
      </p:sp>
      <p:sp>
        <p:nvSpPr>
          <p:cNvPr id="13" name="Rectangle 12"/>
          <p:cNvSpPr/>
          <p:nvPr/>
        </p:nvSpPr>
        <p:spPr>
          <a:xfrm>
            <a:off x="7132320" y="1536192"/>
            <a:ext cx="4544568"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1536192"/>
            <a:ext cx="239572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Contact reason (CR Lv4)</a:t>
            </a:r>
          </a:p>
        </p:txBody>
      </p:sp>
      <p:sp>
        <p:nvSpPr>
          <p:cNvPr id="15" name="TextBox 14"/>
          <p:cNvSpPr txBox="1"/>
          <p:nvPr/>
        </p:nvSpPr>
        <p:spPr>
          <a:xfrm>
            <a:off x="9912096" y="1536192"/>
            <a:ext cx="246888"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QA</a:t>
            </a:r>
          </a:p>
        </p:txBody>
      </p:sp>
      <p:sp>
        <p:nvSpPr>
          <p:cNvPr id="16" name="TextBox 15"/>
          <p:cNvSpPr txBox="1"/>
          <p:nvPr/>
        </p:nvSpPr>
        <p:spPr>
          <a:xfrm>
            <a:off x="10415016" y="1536192"/>
            <a:ext cx="128015"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n</a:t>
            </a:r>
          </a:p>
        </p:txBody>
      </p:sp>
      <p:sp>
        <p:nvSpPr>
          <p:cNvPr id="17" name="TextBox 16"/>
          <p:cNvSpPr txBox="1"/>
          <p:nvPr/>
        </p:nvSpPr>
        <p:spPr>
          <a:xfrm>
            <a:off x="10799064" y="1536192"/>
            <a:ext cx="74980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Status</a:t>
            </a:r>
          </a:p>
        </p:txBody>
      </p:sp>
      <p:sp>
        <p:nvSpPr>
          <p:cNvPr id="18" name="TextBox 17"/>
          <p:cNvSpPr txBox="1"/>
          <p:nvPr/>
        </p:nvSpPr>
        <p:spPr>
          <a:xfrm>
            <a:off x="7260336" y="1865376"/>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verbal aggression</a:t>
            </a:r>
          </a:p>
        </p:txBody>
      </p:sp>
      <p:sp>
        <p:nvSpPr>
          <p:cNvPr id="19" name="Rounded Rectangle 18"/>
          <p:cNvSpPr/>
          <p:nvPr/>
        </p:nvSpPr>
        <p:spPr>
          <a:xfrm>
            <a:off x="9848088" y="1929384"/>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12096" y="1865376"/>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76.0</a:t>
            </a:r>
          </a:p>
        </p:txBody>
      </p:sp>
      <p:sp>
        <p:nvSpPr>
          <p:cNvPr id="21" name="TextBox 20"/>
          <p:cNvSpPr txBox="1"/>
          <p:nvPr/>
        </p:nvSpPr>
        <p:spPr>
          <a:xfrm>
            <a:off x="10415016" y="1865376"/>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a:t>
            </a:r>
          </a:p>
        </p:txBody>
      </p:sp>
      <p:sp>
        <p:nvSpPr>
          <p:cNvPr id="22" name="Rounded Rectangle 21"/>
          <p:cNvSpPr/>
          <p:nvPr/>
        </p:nvSpPr>
        <p:spPr>
          <a:xfrm>
            <a:off x="10799064"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908792"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73384" y="193852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25" name="Rectangle 24"/>
          <p:cNvSpPr/>
          <p:nvPr/>
        </p:nvSpPr>
        <p:spPr>
          <a:xfrm>
            <a:off x="7132320" y="2281237"/>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0" y="2286000"/>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60336" y="2286000"/>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referral coupon information</a:t>
            </a:r>
          </a:p>
        </p:txBody>
      </p:sp>
      <p:sp>
        <p:nvSpPr>
          <p:cNvPr id="28" name="Rounded Rectangle 27"/>
          <p:cNvSpPr/>
          <p:nvPr/>
        </p:nvSpPr>
        <p:spPr>
          <a:xfrm>
            <a:off x="9848088" y="2350008"/>
            <a:ext cx="37490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12096" y="2286000"/>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F59E0B"/>
                </a:solidFill>
                <a:latin typeface="Inter"/>
              </a:rPr>
              <a:t>80.0</a:t>
            </a:r>
          </a:p>
        </p:txBody>
      </p:sp>
      <p:sp>
        <p:nvSpPr>
          <p:cNvPr id="30" name="TextBox 29"/>
          <p:cNvSpPr txBox="1"/>
          <p:nvPr/>
        </p:nvSpPr>
        <p:spPr>
          <a:xfrm>
            <a:off x="10415016" y="2286000"/>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a:t>
            </a:r>
          </a:p>
        </p:txBody>
      </p:sp>
      <p:sp>
        <p:nvSpPr>
          <p:cNvPr id="31" name="Rounded Rectangle 30"/>
          <p:cNvSpPr/>
          <p:nvPr/>
        </p:nvSpPr>
        <p:spPr>
          <a:xfrm>
            <a:off x="10799064" y="2359152"/>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908792" y="2446020"/>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73384" y="2359152"/>
            <a:ext cx="603732"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Near goal</a:t>
            </a:r>
          </a:p>
        </p:txBody>
      </p:sp>
      <p:sp>
        <p:nvSpPr>
          <p:cNvPr id="34" name="Rectangle 33"/>
          <p:cNvSpPr/>
          <p:nvPr/>
        </p:nvSpPr>
        <p:spPr>
          <a:xfrm>
            <a:off x="7132320" y="2701861"/>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60336" y="2706624"/>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store registration</a:t>
            </a:r>
          </a:p>
        </p:txBody>
      </p:sp>
      <p:sp>
        <p:nvSpPr>
          <p:cNvPr id="36" name="Rounded Rectangle 35"/>
          <p:cNvSpPr/>
          <p:nvPr/>
        </p:nvSpPr>
        <p:spPr>
          <a:xfrm>
            <a:off x="9848088" y="2770632"/>
            <a:ext cx="37490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12096" y="2706624"/>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F59E0B"/>
                </a:solidFill>
                <a:latin typeface="Inter"/>
              </a:rPr>
              <a:t>80.0</a:t>
            </a:r>
          </a:p>
        </p:txBody>
      </p:sp>
      <p:sp>
        <p:nvSpPr>
          <p:cNvPr id="38" name="TextBox 37"/>
          <p:cNvSpPr txBox="1"/>
          <p:nvPr/>
        </p:nvSpPr>
        <p:spPr>
          <a:xfrm>
            <a:off x="10415016" y="2706624"/>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a:t>
            </a:r>
          </a:p>
        </p:txBody>
      </p:sp>
      <p:sp>
        <p:nvSpPr>
          <p:cNvPr id="39" name="Rounded Rectangle 38"/>
          <p:cNvSpPr/>
          <p:nvPr/>
        </p:nvSpPr>
        <p:spPr>
          <a:xfrm>
            <a:off x="10799064" y="2779776"/>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08792" y="286664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073384" y="2779776"/>
            <a:ext cx="603732"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Near goal</a:t>
            </a:r>
          </a:p>
        </p:txBody>
      </p:sp>
      <p:sp>
        <p:nvSpPr>
          <p:cNvPr id="42" name="Rectangle 41"/>
          <p:cNvSpPr/>
          <p:nvPr/>
        </p:nvSpPr>
        <p:spPr>
          <a:xfrm>
            <a:off x="7132320" y="3122485"/>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32320" y="3127248"/>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60336" y="3127248"/>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cancel the order</a:t>
            </a:r>
          </a:p>
        </p:txBody>
      </p:sp>
      <p:sp>
        <p:nvSpPr>
          <p:cNvPr id="45" name="Rounded Rectangle 44"/>
          <p:cNvSpPr/>
          <p:nvPr/>
        </p:nvSpPr>
        <p:spPr>
          <a:xfrm>
            <a:off x="9848088" y="3191256"/>
            <a:ext cx="37490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12096" y="3127248"/>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86.7</a:t>
            </a:r>
          </a:p>
        </p:txBody>
      </p:sp>
      <p:sp>
        <p:nvSpPr>
          <p:cNvPr id="47" name="TextBox 46"/>
          <p:cNvSpPr txBox="1"/>
          <p:nvPr/>
        </p:nvSpPr>
        <p:spPr>
          <a:xfrm>
            <a:off x="10415016" y="3127248"/>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9</a:t>
            </a:r>
          </a:p>
        </p:txBody>
      </p:sp>
      <p:sp>
        <p:nvSpPr>
          <p:cNvPr id="48" name="Rounded Rectangle 47"/>
          <p:cNvSpPr/>
          <p:nvPr/>
        </p:nvSpPr>
        <p:spPr>
          <a:xfrm>
            <a:off x="10799064" y="3200400"/>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908792" y="3287268"/>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073384" y="3200400"/>
            <a:ext cx="489889" cy="274320"/>
          </a:xfrm>
          <a:prstGeom prst="rect">
            <a:avLst/>
          </a:prstGeom>
          <a:noFill/>
        </p:spPr>
        <p:txBody>
          <a:bodyPr wrap="square" lIns="0" rIns="0" tIns="0" bIns="0" anchor="ctr">
            <a:spAutoFit/>
          </a:bodyPr>
          <a:lstStyle/>
          <a:p>
            <a:pPr algn="l">
              <a:lnSpc>
                <a:spcPct val="115000"/>
              </a:lnSpc>
              <a:spcAft>
                <a:spcPts val="0"/>
              </a:spcAft>
            </a:pPr>
            <a:r>
              <a:rPr sz="750" b="1">
                <a:solidFill>
                  <a:srgbClr val="16A34A"/>
                </a:solidFill>
                <a:latin typeface="Inter"/>
              </a:rPr>
              <a:t>On goal</a:t>
            </a:r>
          </a:p>
        </p:txBody>
      </p:sp>
      <p:sp>
        <p:nvSpPr>
          <p:cNvPr id="51" name="Rectangle 50"/>
          <p:cNvSpPr/>
          <p:nvPr/>
        </p:nvSpPr>
        <p:spPr>
          <a:xfrm>
            <a:off x="7132320" y="3543109"/>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60336" y="3547872"/>
            <a:ext cx="239572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modify payment method</a:t>
            </a:r>
          </a:p>
        </p:txBody>
      </p:sp>
      <p:sp>
        <p:nvSpPr>
          <p:cNvPr id="53" name="Rounded Rectangle 52"/>
          <p:cNvSpPr/>
          <p:nvPr/>
        </p:nvSpPr>
        <p:spPr>
          <a:xfrm>
            <a:off x="9848088" y="3611879"/>
            <a:ext cx="37490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12096" y="3547872"/>
            <a:ext cx="246888" cy="420624"/>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86.7</a:t>
            </a:r>
          </a:p>
        </p:txBody>
      </p:sp>
      <p:sp>
        <p:nvSpPr>
          <p:cNvPr id="55" name="TextBox 54"/>
          <p:cNvSpPr txBox="1"/>
          <p:nvPr/>
        </p:nvSpPr>
        <p:spPr>
          <a:xfrm>
            <a:off x="10415016" y="3547872"/>
            <a:ext cx="1280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9</a:t>
            </a:r>
          </a:p>
        </p:txBody>
      </p:sp>
      <p:sp>
        <p:nvSpPr>
          <p:cNvPr id="56" name="Rounded Rectangle 55"/>
          <p:cNvSpPr/>
          <p:nvPr/>
        </p:nvSpPr>
        <p:spPr>
          <a:xfrm>
            <a:off x="10799064" y="3621024"/>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908792" y="3707892"/>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073384" y="3621024"/>
            <a:ext cx="489889" cy="274320"/>
          </a:xfrm>
          <a:prstGeom prst="rect">
            <a:avLst/>
          </a:prstGeom>
          <a:noFill/>
        </p:spPr>
        <p:txBody>
          <a:bodyPr wrap="square" lIns="0" rIns="0" tIns="0" bIns="0" anchor="ctr">
            <a:spAutoFit/>
          </a:bodyPr>
          <a:lstStyle/>
          <a:p>
            <a:pPr algn="l">
              <a:lnSpc>
                <a:spcPct val="115000"/>
              </a:lnSpc>
              <a:spcAft>
                <a:spcPts val="0"/>
              </a:spcAft>
            </a:pPr>
            <a:r>
              <a:rPr sz="750" b="1">
                <a:solidFill>
                  <a:srgbClr val="16A34A"/>
                </a:solidFill>
                <a:latin typeface="Inter"/>
              </a:rPr>
              <a:t>On goal</a:t>
            </a:r>
          </a:p>
        </p:txBody>
      </p:sp>
      <p:sp>
        <p:nvSpPr>
          <p:cNvPr id="59" name="Rectangle 58"/>
          <p:cNvSpPr/>
          <p:nvPr/>
        </p:nvSpPr>
        <p:spPr>
          <a:xfrm>
            <a:off x="7132320" y="3963733"/>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32320" y="4206240"/>
            <a:ext cx="46177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is driving the gap</a:t>
            </a:r>
          </a:p>
        </p:txBody>
      </p:sp>
      <p:sp>
        <p:nvSpPr>
          <p:cNvPr id="61" name="Rectangle 60"/>
          <p:cNvSpPr/>
          <p:nvPr/>
        </p:nvSpPr>
        <p:spPr>
          <a:xfrm>
            <a:off x="713232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70064" y="4489703"/>
            <a:ext cx="43799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Chat does not currently treat complete and correct information as a critical attribute, unlike Phone.</a:t>
            </a:r>
          </a:p>
        </p:txBody>
      </p:sp>
      <p:sp>
        <p:nvSpPr>
          <p:cNvPr id="63" name="Rectangle 62"/>
          <p:cNvSpPr/>
          <p:nvPr/>
        </p:nvSpPr>
        <p:spPr>
          <a:xfrm>
            <a:off x="7132320" y="487832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70064" y="4782312"/>
            <a:ext cx="43799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As a result, 297 of 372 process-fail chats still score 100.</a:t>
            </a:r>
          </a:p>
        </p:txBody>
      </p:sp>
      <p:sp>
        <p:nvSpPr>
          <p:cNvPr id="65" name="Rectangle 64"/>
          <p:cNvSpPr/>
          <p:nvPr/>
        </p:nvSpPr>
        <p:spPr>
          <a:xfrm>
            <a:off x="7132320" y="517093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70064" y="5074920"/>
            <a:ext cx="43799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Under the proposed scoring, Chat QA would be 80.14, below the 85 goal.</a:t>
            </a:r>
          </a:p>
        </p:txBody>
      </p:sp>
      <p:sp>
        <p:nvSpPr>
          <p:cNvPr id="67" name="TextBox 66"/>
          <p:cNvSpPr txBox="1"/>
          <p:nvPr/>
        </p:nvSpPr>
        <p:spPr>
          <a:xfrm>
            <a:off x="457200" y="4425696"/>
            <a:ext cx="64465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this chart is saying</a:t>
            </a:r>
          </a:p>
        </p:txBody>
      </p:sp>
      <p:sp>
        <p:nvSpPr>
          <p:cNvPr id="68" name="Rectangle 67"/>
          <p:cNvSpPr/>
          <p:nvPr/>
        </p:nvSpPr>
        <p:spPr>
          <a:xfrm>
            <a:off x="457200" y="480517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94944" y="4709159"/>
            <a:ext cx="62087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Greeting and identification account for 30.9% of Chat defects, followed by service attitude at 22.2%.</a:t>
            </a:r>
          </a:p>
        </p:txBody>
      </p:sp>
      <p:sp>
        <p:nvSpPr>
          <p:cNvPr id="70" name="Rectangle 69"/>
          <p:cNvSpPr/>
          <p:nvPr/>
        </p:nvSpPr>
        <p:spPr>
          <a:xfrm>
            <a:off x="457200" y="509778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94944" y="5001768"/>
            <a:ext cx="62087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Service availability has the largest score impact among these defects because it is critical (46 fails, 2.10 pp).</a:t>
            </a:r>
          </a:p>
        </p:txBody>
      </p:sp>
      <p:sp>
        <p:nvSpPr>
          <p:cNvPr id="72" name="Rectangle 71"/>
          <p:cNvSpPr/>
          <p:nvPr/>
        </p:nvSpPr>
        <p:spPr>
          <a:xfrm>
            <a:off x="457200" y="53903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94944" y="5294376"/>
            <a:ext cx="62087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The current Chat form also does not check whether the agent used the knowledge base or provided correct information.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QA analysis: where the defects are</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20 attributes scored (12 Phone, 8 Chat). Official QA never mixes them. This chart is a blended view.</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11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defects.png"/>
          <p:cNvPicPr>
            <a:picLocks noChangeAspect="1"/>
          </p:cNvPicPr>
          <p:nvPr/>
        </p:nvPicPr>
        <p:blipFill>
          <a:blip r:embed="rId3"/>
          <a:stretch>
            <a:fillRect/>
          </a:stretch>
        </p:blipFill>
        <p:spPr>
          <a:xfrm>
            <a:off x="1267897" y="1207008"/>
            <a:ext cx="4870844" cy="3246120"/>
          </a:xfrm>
          <a:prstGeom prst="rect">
            <a:avLst/>
          </a:prstGeom>
        </p:spPr>
      </p:pic>
      <p:pic>
        <p:nvPicPr>
          <p:cNvPr id="12" name="Picture 11" descr="hist_qa.png"/>
          <p:cNvPicPr>
            <a:picLocks noChangeAspect="1"/>
          </p:cNvPicPr>
          <p:nvPr/>
        </p:nvPicPr>
        <p:blipFill>
          <a:blip r:embed="rId4"/>
          <a:stretch>
            <a:fillRect/>
          </a:stretch>
        </p:blipFill>
        <p:spPr>
          <a:xfrm>
            <a:off x="7210226" y="1298448"/>
            <a:ext cx="4507626" cy="2788920"/>
          </a:xfrm>
          <a:prstGeom prst="rect">
            <a:avLst/>
          </a:prstGeom>
        </p:spPr>
      </p:pic>
      <p:sp>
        <p:nvSpPr>
          <p:cNvPr id="13" name="TextBox 12"/>
          <p:cNvSpPr txBox="1"/>
          <p:nvPr/>
        </p:nvSpPr>
        <p:spPr>
          <a:xfrm>
            <a:off x="7178040" y="4224528"/>
            <a:ext cx="457200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How the scores are distributed</a:t>
            </a:r>
          </a:p>
        </p:txBody>
      </p:sp>
      <p:sp>
        <p:nvSpPr>
          <p:cNvPr id="14" name="Rectangle 13"/>
          <p:cNvSpPr/>
          <p:nvPr/>
        </p:nvSpPr>
        <p:spPr>
          <a:xfrm>
            <a:off x="7178040" y="460400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15783" y="4507992"/>
            <a:ext cx="4334256" cy="274320"/>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82.7% of audits score exactly 100, while 4.5% score 0 because of a critical failure.</a:t>
            </a:r>
          </a:p>
        </p:txBody>
      </p:sp>
      <p:sp>
        <p:nvSpPr>
          <p:cNvPr id="16" name="Rectangle 15"/>
          <p:cNvSpPr/>
          <p:nvPr/>
        </p:nvSpPr>
        <p:spPr>
          <a:xfrm>
            <a:off x="7178040" y="487832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15783" y="4782312"/>
            <a:ext cx="4334256" cy="274320"/>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Very few audits fall between these two extremes, making the current scale behave more like pass/fail than a continuous score.</a:t>
            </a:r>
          </a:p>
        </p:txBody>
      </p:sp>
      <p:sp>
        <p:nvSpPr>
          <p:cNvPr id="18" name="TextBox 17"/>
          <p:cNvSpPr txBox="1"/>
          <p:nvPr/>
        </p:nvSpPr>
        <p:spPr>
          <a:xfrm>
            <a:off x="457200" y="4608576"/>
            <a:ext cx="649224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this chart is saying</a:t>
            </a:r>
          </a:p>
        </p:txBody>
      </p:sp>
      <p:sp>
        <p:nvSpPr>
          <p:cNvPr id="19" name="Rectangle 18"/>
          <p:cNvSpPr/>
          <p:nvPr/>
        </p:nvSpPr>
        <p:spPr>
          <a:xfrm>
            <a:off x="457200" y="498805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4892040"/>
            <a:ext cx="62544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7 bars make 82.8% of all 518 fails. That is not 7 of 20 attributes: Phone and Chat lists are separate (12 + 8).</a:t>
            </a:r>
          </a:p>
        </p:txBody>
      </p:sp>
      <p:sp>
        <p:nvSpPr>
          <p:cNvPr id="21" name="Rectangle 20"/>
          <p:cNvSpPr/>
          <p:nvPr/>
        </p:nvSpPr>
        <p:spPr>
          <a:xfrm>
            <a:off x="457200" y="528066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184648"/>
            <a:ext cx="62544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Orange is Phone. Grey is Chat. ★ is critical: one fail zeroes that audit. Phone criticals: complete information, refunds, denial, rudeness, service attitude. Chat criticals: service availability, chat objectivity.</a:t>
            </a:r>
          </a:p>
        </p:txBody>
      </p:sp>
      <p:sp>
        <p:nvSpPr>
          <p:cNvPr id="23" name="Rectangle 22"/>
          <p:cNvSpPr/>
          <p:nvPr/>
        </p:nvSpPr>
        <p:spPr>
          <a:xfrm>
            <a:off x="457200" y="572528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629275"/>
            <a:ext cx="62544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Time management (Phone, not critical) is the volume leader. Complete and correct information (Phone, critical) is fewer fails but costs more score.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QA analysis by contact reason (CR Lv4)</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Blended ranking (Phone + Chat together). Official QA never mixes the two lists. At least 3 audits.</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12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qa_by_cr.png"/>
          <p:cNvPicPr>
            <a:picLocks noChangeAspect="1"/>
          </p:cNvPicPr>
          <p:nvPr/>
        </p:nvPicPr>
        <p:blipFill>
          <a:blip r:embed="rId3"/>
          <a:stretch>
            <a:fillRect/>
          </a:stretch>
        </p:blipFill>
        <p:spPr>
          <a:xfrm>
            <a:off x="457200" y="1382030"/>
            <a:ext cx="5989320" cy="3033235"/>
          </a:xfrm>
          <a:prstGeom prst="rect">
            <a:avLst/>
          </a:prstGeom>
        </p:spPr>
      </p:pic>
      <p:sp>
        <p:nvSpPr>
          <p:cNvPr id="12" name="TextBox 11"/>
          <p:cNvSpPr txBox="1"/>
          <p:nvPr/>
        </p:nvSpPr>
        <p:spPr>
          <a:xfrm>
            <a:off x="6629400" y="1207008"/>
            <a:ext cx="512064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Lowest QA reasons (blended)</a:t>
            </a:r>
          </a:p>
        </p:txBody>
      </p:sp>
      <p:sp>
        <p:nvSpPr>
          <p:cNvPr id="13" name="Rectangle 12"/>
          <p:cNvSpPr/>
          <p:nvPr/>
        </p:nvSpPr>
        <p:spPr>
          <a:xfrm>
            <a:off x="6629400" y="1517904"/>
            <a:ext cx="51206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57416" y="1517904"/>
            <a:ext cx="225856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Contact reason</a:t>
            </a:r>
          </a:p>
        </p:txBody>
      </p:sp>
      <p:sp>
        <p:nvSpPr>
          <p:cNvPr id="15" name="TextBox 14"/>
          <p:cNvSpPr txBox="1"/>
          <p:nvPr/>
        </p:nvSpPr>
        <p:spPr>
          <a:xfrm>
            <a:off x="9272016" y="1517904"/>
            <a:ext cx="274319"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QA</a:t>
            </a:r>
          </a:p>
        </p:txBody>
      </p:sp>
      <p:sp>
        <p:nvSpPr>
          <p:cNvPr id="16" name="TextBox 15"/>
          <p:cNvSpPr txBox="1"/>
          <p:nvPr/>
        </p:nvSpPr>
        <p:spPr>
          <a:xfrm>
            <a:off x="9802368" y="1517904"/>
            <a:ext cx="155448"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n</a:t>
            </a:r>
          </a:p>
        </p:txBody>
      </p:sp>
      <p:sp>
        <p:nvSpPr>
          <p:cNvPr id="17" name="TextBox 16"/>
          <p:cNvSpPr txBox="1"/>
          <p:nvPr/>
        </p:nvSpPr>
        <p:spPr>
          <a:xfrm>
            <a:off x="10213848" y="1517904"/>
            <a:ext cx="1408176"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Status</a:t>
            </a:r>
          </a:p>
        </p:txBody>
      </p:sp>
      <p:sp>
        <p:nvSpPr>
          <p:cNvPr id="18" name="TextBox 17"/>
          <p:cNvSpPr txBox="1"/>
          <p:nvPr/>
        </p:nvSpPr>
        <p:spPr>
          <a:xfrm>
            <a:off x="6757416" y="1847088"/>
            <a:ext cx="2258568" cy="457200"/>
          </a:xfrm>
          <a:prstGeom prst="rect">
            <a:avLst/>
          </a:prstGeom>
          <a:noFill/>
        </p:spPr>
        <p:txBody>
          <a:bodyPr wrap="square" lIns="0" rIns="0" tIns="0" bIns="0" anchor="ctr">
            <a:spAutoFit/>
          </a:bodyPr>
          <a:lstStyle/>
          <a:p>
            <a:pPr algn="l">
              <a:lnSpc>
                <a:spcPct val="115000"/>
              </a:lnSpc>
              <a:spcAft>
                <a:spcPts val="0"/>
              </a:spcAft>
            </a:pPr>
            <a:r>
              <a:rPr sz="780" b="0">
                <a:solidFill>
                  <a:srgbClr val="4B5563"/>
                </a:solidFill>
                <a:latin typeface="Inter"/>
              </a:rPr>
              <a:t>Completed but not received — market p…</a:t>
            </a:r>
          </a:p>
        </p:txBody>
      </p:sp>
      <p:sp>
        <p:nvSpPr>
          <p:cNvPr id="19" name="Rounded Rectangle 18"/>
          <p:cNvSpPr/>
          <p:nvPr/>
        </p:nvSpPr>
        <p:spPr>
          <a:xfrm>
            <a:off x="9208008" y="1911095"/>
            <a:ext cx="402335"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72016" y="1847088"/>
            <a:ext cx="274319" cy="457200"/>
          </a:xfrm>
          <a:prstGeom prst="rect">
            <a:avLst/>
          </a:prstGeom>
          <a:noFill/>
        </p:spPr>
        <p:txBody>
          <a:bodyPr wrap="square" lIns="0" rIns="0" tIns="0" bIns="0" anchor="ctr">
            <a:spAutoFit/>
          </a:bodyPr>
          <a:lstStyle/>
          <a:p>
            <a:pPr algn="r">
              <a:lnSpc>
                <a:spcPct val="115000"/>
              </a:lnSpc>
              <a:spcAft>
                <a:spcPts val="0"/>
              </a:spcAft>
            </a:pPr>
            <a:r>
              <a:rPr sz="780" b="1">
                <a:solidFill>
                  <a:srgbClr val="E11D2E"/>
                </a:solidFill>
                <a:latin typeface="Inter"/>
              </a:rPr>
              <a:t>58.0</a:t>
            </a:r>
          </a:p>
        </p:txBody>
      </p:sp>
      <p:sp>
        <p:nvSpPr>
          <p:cNvPr id="21" name="TextBox 20"/>
          <p:cNvSpPr txBox="1"/>
          <p:nvPr/>
        </p:nvSpPr>
        <p:spPr>
          <a:xfrm>
            <a:off x="9802368" y="1847088"/>
            <a:ext cx="155448" cy="457200"/>
          </a:xfrm>
          <a:prstGeom prst="rect">
            <a:avLst/>
          </a:prstGeom>
          <a:noFill/>
        </p:spPr>
        <p:txBody>
          <a:bodyPr wrap="square" lIns="0" rIns="0" tIns="0" bIns="0" anchor="ctr">
            <a:spAutoFit/>
          </a:bodyPr>
          <a:lstStyle/>
          <a:p>
            <a:pPr algn="r">
              <a:lnSpc>
                <a:spcPct val="115000"/>
              </a:lnSpc>
              <a:spcAft>
                <a:spcPts val="0"/>
              </a:spcAft>
            </a:pPr>
            <a:r>
              <a:rPr sz="780" b="0">
                <a:solidFill>
                  <a:srgbClr val="4B5563"/>
                </a:solidFill>
                <a:latin typeface="Inter"/>
              </a:rPr>
              <a:t>5</a:t>
            </a:r>
          </a:p>
        </p:txBody>
      </p:sp>
      <p:sp>
        <p:nvSpPr>
          <p:cNvPr id="22" name="Rounded Rectangle 21"/>
          <p:cNvSpPr/>
          <p:nvPr/>
        </p:nvSpPr>
        <p:spPr>
          <a:xfrm>
            <a:off x="10213848"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23576"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88168" y="193852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25" name="Rectangle 24"/>
          <p:cNvSpPr/>
          <p:nvPr/>
        </p:nvSpPr>
        <p:spPr>
          <a:xfrm>
            <a:off x="6629400" y="22995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29400" y="2304288"/>
            <a:ext cx="5120640"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57416" y="2304288"/>
            <a:ext cx="2258568" cy="457200"/>
          </a:xfrm>
          <a:prstGeom prst="rect">
            <a:avLst/>
          </a:prstGeom>
          <a:noFill/>
        </p:spPr>
        <p:txBody>
          <a:bodyPr wrap="square" lIns="0" rIns="0" tIns="0" bIns="0" anchor="ctr">
            <a:spAutoFit/>
          </a:bodyPr>
          <a:lstStyle/>
          <a:p>
            <a:pPr algn="l">
              <a:lnSpc>
                <a:spcPct val="115000"/>
              </a:lnSpc>
              <a:spcAft>
                <a:spcPts val="0"/>
              </a:spcAft>
            </a:pPr>
            <a:r>
              <a:rPr sz="780" b="0">
                <a:solidFill>
                  <a:srgbClr val="4B5563"/>
                </a:solidFill>
                <a:latin typeface="Inter"/>
              </a:rPr>
              <a:t>Referral coupon information</a:t>
            </a:r>
          </a:p>
        </p:txBody>
      </p:sp>
      <p:sp>
        <p:nvSpPr>
          <p:cNvPr id="28" name="Rounded Rectangle 27"/>
          <p:cNvSpPr/>
          <p:nvPr/>
        </p:nvSpPr>
        <p:spPr>
          <a:xfrm>
            <a:off x="9208008" y="2368296"/>
            <a:ext cx="402335"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72016" y="2304288"/>
            <a:ext cx="274319" cy="457200"/>
          </a:xfrm>
          <a:prstGeom prst="rect">
            <a:avLst/>
          </a:prstGeom>
          <a:noFill/>
        </p:spPr>
        <p:txBody>
          <a:bodyPr wrap="square" lIns="0" rIns="0" tIns="0" bIns="0" anchor="ctr">
            <a:spAutoFit/>
          </a:bodyPr>
          <a:lstStyle/>
          <a:p>
            <a:pPr algn="r">
              <a:lnSpc>
                <a:spcPct val="115000"/>
              </a:lnSpc>
              <a:spcAft>
                <a:spcPts val="0"/>
              </a:spcAft>
            </a:pPr>
            <a:r>
              <a:rPr sz="780" b="1">
                <a:solidFill>
                  <a:srgbClr val="E11D2E"/>
                </a:solidFill>
                <a:latin typeface="Inter"/>
              </a:rPr>
              <a:t>66.7</a:t>
            </a:r>
          </a:p>
        </p:txBody>
      </p:sp>
      <p:sp>
        <p:nvSpPr>
          <p:cNvPr id="30" name="TextBox 29"/>
          <p:cNvSpPr txBox="1"/>
          <p:nvPr/>
        </p:nvSpPr>
        <p:spPr>
          <a:xfrm>
            <a:off x="9802368" y="2304288"/>
            <a:ext cx="155448" cy="457200"/>
          </a:xfrm>
          <a:prstGeom prst="rect">
            <a:avLst/>
          </a:prstGeom>
          <a:noFill/>
        </p:spPr>
        <p:txBody>
          <a:bodyPr wrap="square" lIns="0" rIns="0" tIns="0" bIns="0" anchor="ctr">
            <a:spAutoFit/>
          </a:bodyPr>
          <a:lstStyle/>
          <a:p>
            <a:pPr algn="r">
              <a:lnSpc>
                <a:spcPct val="115000"/>
              </a:lnSpc>
              <a:spcAft>
                <a:spcPts val="0"/>
              </a:spcAft>
            </a:pPr>
            <a:r>
              <a:rPr sz="780" b="0">
                <a:solidFill>
                  <a:srgbClr val="4B5563"/>
                </a:solidFill>
                <a:latin typeface="Inter"/>
              </a:rPr>
              <a:t>6</a:t>
            </a:r>
          </a:p>
        </p:txBody>
      </p:sp>
      <p:sp>
        <p:nvSpPr>
          <p:cNvPr id="31" name="Rounded Rectangle 30"/>
          <p:cNvSpPr/>
          <p:nvPr/>
        </p:nvSpPr>
        <p:spPr>
          <a:xfrm>
            <a:off x="10213848" y="23957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23576" y="248259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88168" y="239572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34" name="Rectangle 33"/>
          <p:cNvSpPr/>
          <p:nvPr/>
        </p:nvSpPr>
        <p:spPr>
          <a:xfrm>
            <a:off x="6629400" y="27567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57416" y="2761488"/>
            <a:ext cx="2258568" cy="457200"/>
          </a:xfrm>
          <a:prstGeom prst="rect">
            <a:avLst/>
          </a:prstGeom>
          <a:noFill/>
        </p:spPr>
        <p:txBody>
          <a:bodyPr wrap="square" lIns="0" rIns="0" tIns="0" bIns="0" anchor="ctr">
            <a:spAutoFit/>
          </a:bodyPr>
          <a:lstStyle/>
          <a:p>
            <a:pPr algn="l">
              <a:lnSpc>
                <a:spcPct val="115000"/>
              </a:lnSpc>
              <a:spcAft>
                <a:spcPts val="0"/>
              </a:spcAft>
            </a:pPr>
            <a:r>
              <a:rPr sz="780" b="0">
                <a:solidFill>
                  <a:srgbClr val="4B5563"/>
                </a:solidFill>
                <a:latin typeface="Inter"/>
              </a:rPr>
              <a:t>store registration</a:t>
            </a:r>
          </a:p>
        </p:txBody>
      </p:sp>
      <p:sp>
        <p:nvSpPr>
          <p:cNvPr id="36" name="Rounded Rectangle 35"/>
          <p:cNvSpPr/>
          <p:nvPr/>
        </p:nvSpPr>
        <p:spPr>
          <a:xfrm>
            <a:off x="9208008" y="2825496"/>
            <a:ext cx="402335" cy="329184"/>
          </a:xfrm>
          <a:prstGeom prst="roundRect">
            <a:avLst>
              <a:gd name="adj" fmla="val 13888"/>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72016" y="2761488"/>
            <a:ext cx="274319" cy="457200"/>
          </a:xfrm>
          <a:prstGeom prst="rect">
            <a:avLst/>
          </a:prstGeom>
          <a:noFill/>
        </p:spPr>
        <p:txBody>
          <a:bodyPr wrap="square" lIns="0" rIns="0" tIns="0" bIns="0" anchor="ctr">
            <a:spAutoFit/>
          </a:bodyPr>
          <a:lstStyle/>
          <a:p>
            <a:pPr algn="r">
              <a:lnSpc>
                <a:spcPct val="115000"/>
              </a:lnSpc>
              <a:spcAft>
                <a:spcPts val="0"/>
              </a:spcAft>
            </a:pPr>
            <a:r>
              <a:rPr sz="780" b="1">
                <a:solidFill>
                  <a:srgbClr val="F59E0B"/>
                </a:solidFill>
                <a:latin typeface="Inter"/>
              </a:rPr>
              <a:t>80.0</a:t>
            </a:r>
          </a:p>
        </p:txBody>
      </p:sp>
      <p:sp>
        <p:nvSpPr>
          <p:cNvPr id="38" name="TextBox 37"/>
          <p:cNvSpPr txBox="1"/>
          <p:nvPr/>
        </p:nvSpPr>
        <p:spPr>
          <a:xfrm>
            <a:off x="9802368" y="2761488"/>
            <a:ext cx="155448" cy="457200"/>
          </a:xfrm>
          <a:prstGeom prst="rect">
            <a:avLst/>
          </a:prstGeom>
          <a:noFill/>
        </p:spPr>
        <p:txBody>
          <a:bodyPr wrap="square" lIns="0" rIns="0" tIns="0" bIns="0" anchor="ctr">
            <a:spAutoFit/>
          </a:bodyPr>
          <a:lstStyle/>
          <a:p>
            <a:pPr algn="r">
              <a:lnSpc>
                <a:spcPct val="115000"/>
              </a:lnSpc>
              <a:spcAft>
                <a:spcPts val="0"/>
              </a:spcAft>
            </a:pPr>
            <a:r>
              <a:rPr sz="780" b="0">
                <a:solidFill>
                  <a:srgbClr val="4B5563"/>
                </a:solidFill>
                <a:latin typeface="Inter"/>
              </a:rPr>
              <a:t>5</a:t>
            </a:r>
          </a:p>
        </p:txBody>
      </p:sp>
      <p:sp>
        <p:nvSpPr>
          <p:cNvPr id="39" name="Rounded Rectangle 38"/>
          <p:cNvSpPr/>
          <p:nvPr/>
        </p:nvSpPr>
        <p:spPr>
          <a:xfrm>
            <a:off x="10213848" y="2852928"/>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323576" y="293979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88168" y="2852928"/>
            <a:ext cx="603732"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Near goal</a:t>
            </a:r>
          </a:p>
        </p:txBody>
      </p:sp>
      <p:sp>
        <p:nvSpPr>
          <p:cNvPr id="42" name="Rectangle 41"/>
          <p:cNvSpPr/>
          <p:nvPr/>
        </p:nvSpPr>
        <p:spPr>
          <a:xfrm>
            <a:off x="6629400" y="32139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629400" y="3218688"/>
            <a:ext cx="5120640"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57416" y="3218688"/>
            <a:ext cx="2258568" cy="457200"/>
          </a:xfrm>
          <a:prstGeom prst="rect">
            <a:avLst/>
          </a:prstGeom>
          <a:noFill/>
        </p:spPr>
        <p:txBody>
          <a:bodyPr wrap="square" lIns="0" rIns="0" tIns="0" bIns="0" anchor="ctr">
            <a:spAutoFit/>
          </a:bodyPr>
          <a:lstStyle/>
          <a:p>
            <a:pPr algn="l">
              <a:lnSpc>
                <a:spcPct val="115000"/>
              </a:lnSpc>
              <a:spcAft>
                <a:spcPts val="0"/>
              </a:spcAft>
            </a:pPr>
            <a:r>
              <a:rPr sz="780" b="0">
                <a:solidFill>
                  <a:srgbClr val="4B5563"/>
                </a:solidFill>
                <a:latin typeface="Inter"/>
              </a:rPr>
              <a:t>verbal aggression</a:t>
            </a:r>
          </a:p>
        </p:txBody>
      </p:sp>
      <p:sp>
        <p:nvSpPr>
          <p:cNvPr id="45" name="Rounded Rectangle 44"/>
          <p:cNvSpPr/>
          <p:nvPr/>
        </p:nvSpPr>
        <p:spPr>
          <a:xfrm>
            <a:off x="9208008" y="3282696"/>
            <a:ext cx="402335" cy="329184"/>
          </a:xfrm>
          <a:prstGeom prst="roundRect">
            <a:avLst>
              <a:gd name="adj" fmla="val 13888"/>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72016" y="3218688"/>
            <a:ext cx="274319" cy="457200"/>
          </a:xfrm>
          <a:prstGeom prst="rect">
            <a:avLst/>
          </a:prstGeom>
          <a:noFill/>
        </p:spPr>
        <p:txBody>
          <a:bodyPr wrap="square" lIns="0" rIns="0" tIns="0" bIns="0" anchor="ctr">
            <a:spAutoFit/>
          </a:bodyPr>
          <a:lstStyle/>
          <a:p>
            <a:pPr algn="r">
              <a:lnSpc>
                <a:spcPct val="115000"/>
              </a:lnSpc>
              <a:spcAft>
                <a:spcPts val="0"/>
              </a:spcAft>
            </a:pPr>
            <a:r>
              <a:rPr sz="780" b="1">
                <a:solidFill>
                  <a:srgbClr val="F59E0B"/>
                </a:solidFill>
                <a:latin typeface="Inter"/>
              </a:rPr>
              <a:t>82.5</a:t>
            </a:r>
          </a:p>
        </p:txBody>
      </p:sp>
      <p:sp>
        <p:nvSpPr>
          <p:cNvPr id="47" name="TextBox 46"/>
          <p:cNvSpPr txBox="1"/>
          <p:nvPr/>
        </p:nvSpPr>
        <p:spPr>
          <a:xfrm>
            <a:off x="9802368" y="3218688"/>
            <a:ext cx="155448" cy="457200"/>
          </a:xfrm>
          <a:prstGeom prst="rect">
            <a:avLst/>
          </a:prstGeom>
          <a:noFill/>
        </p:spPr>
        <p:txBody>
          <a:bodyPr wrap="square" lIns="0" rIns="0" tIns="0" bIns="0" anchor="ctr">
            <a:spAutoFit/>
          </a:bodyPr>
          <a:lstStyle/>
          <a:p>
            <a:pPr algn="r">
              <a:lnSpc>
                <a:spcPct val="115000"/>
              </a:lnSpc>
              <a:spcAft>
                <a:spcPts val="0"/>
              </a:spcAft>
            </a:pPr>
            <a:r>
              <a:rPr sz="780" b="0">
                <a:solidFill>
                  <a:srgbClr val="4B5563"/>
                </a:solidFill>
                <a:latin typeface="Inter"/>
              </a:rPr>
              <a:t>8</a:t>
            </a:r>
          </a:p>
        </p:txBody>
      </p:sp>
      <p:sp>
        <p:nvSpPr>
          <p:cNvPr id="48" name="Rounded Rectangle 47"/>
          <p:cNvSpPr/>
          <p:nvPr/>
        </p:nvSpPr>
        <p:spPr>
          <a:xfrm>
            <a:off x="10213848" y="3310128"/>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23576" y="339699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88168" y="3310128"/>
            <a:ext cx="603732"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Near goal</a:t>
            </a:r>
          </a:p>
        </p:txBody>
      </p:sp>
      <p:sp>
        <p:nvSpPr>
          <p:cNvPr id="51" name="Rectangle 50"/>
          <p:cNvSpPr/>
          <p:nvPr/>
        </p:nvSpPr>
        <p:spPr>
          <a:xfrm>
            <a:off x="6629400" y="36711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57416" y="3675887"/>
            <a:ext cx="2258568" cy="457200"/>
          </a:xfrm>
          <a:prstGeom prst="rect">
            <a:avLst/>
          </a:prstGeom>
          <a:noFill/>
        </p:spPr>
        <p:txBody>
          <a:bodyPr wrap="square" lIns="0" rIns="0" tIns="0" bIns="0" anchor="ctr">
            <a:spAutoFit/>
          </a:bodyPr>
          <a:lstStyle/>
          <a:p>
            <a:pPr algn="l">
              <a:lnSpc>
                <a:spcPct val="115000"/>
              </a:lnSpc>
              <a:spcAft>
                <a:spcPts val="0"/>
              </a:spcAft>
            </a:pPr>
            <a:r>
              <a:rPr sz="780" b="0">
                <a:solidFill>
                  <a:srgbClr val="4B5563"/>
                </a:solidFill>
                <a:latin typeface="Inter"/>
              </a:rPr>
              <a:t>Completed but not received — full ser…</a:t>
            </a:r>
          </a:p>
        </p:txBody>
      </p:sp>
      <p:sp>
        <p:nvSpPr>
          <p:cNvPr id="53" name="Rounded Rectangle 52"/>
          <p:cNvSpPr/>
          <p:nvPr/>
        </p:nvSpPr>
        <p:spPr>
          <a:xfrm>
            <a:off x="9208008" y="3739896"/>
            <a:ext cx="402335"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72016" y="3675887"/>
            <a:ext cx="274319" cy="457200"/>
          </a:xfrm>
          <a:prstGeom prst="rect">
            <a:avLst/>
          </a:prstGeom>
          <a:noFill/>
        </p:spPr>
        <p:txBody>
          <a:bodyPr wrap="square" lIns="0" rIns="0" tIns="0" bIns="0" anchor="ctr">
            <a:spAutoFit/>
          </a:bodyPr>
          <a:lstStyle/>
          <a:p>
            <a:pPr algn="r">
              <a:lnSpc>
                <a:spcPct val="115000"/>
              </a:lnSpc>
              <a:spcAft>
                <a:spcPts val="0"/>
              </a:spcAft>
            </a:pPr>
            <a:r>
              <a:rPr sz="780" b="1">
                <a:solidFill>
                  <a:srgbClr val="16A34A"/>
                </a:solidFill>
                <a:latin typeface="Inter"/>
              </a:rPr>
              <a:t>86.5</a:t>
            </a:r>
          </a:p>
        </p:txBody>
      </p:sp>
      <p:sp>
        <p:nvSpPr>
          <p:cNvPr id="55" name="TextBox 54"/>
          <p:cNvSpPr txBox="1"/>
          <p:nvPr/>
        </p:nvSpPr>
        <p:spPr>
          <a:xfrm>
            <a:off x="9802368" y="3675887"/>
            <a:ext cx="155448" cy="457200"/>
          </a:xfrm>
          <a:prstGeom prst="rect">
            <a:avLst/>
          </a:prstGeom>
          <a:noFill/>
        </p:spPr>
        <p:txBody>
          <a:bodyPr wrap="square" lIns="0" rIns="0" tIns="0" bIns="0" anchor="ctr">
            <a:spAutoFit/>
          </a:bodyPr>
          <a:lstStyle/>
          <a:p>
            <a:pPr algn="r">
              <a:lnSpc>
                <a:spcPct val="115000"/>
              </a:lnSpc>
              <a:spcAft>
                <a:spcPts val="0"/>
              </a:spcAft>
            </a:pPr>
            <a:r>
              <a:rPr sz="780" b="0">
                <a:solidFill>
                  <a:srgbClr val="4B5563"/>
                </a:solidFill>
                <a:latin typeface="Inter"/>
              </a:rPr>
              <a:t>138</a:t>
            </a:r>
          </a:p>
        </p:txBody>
      </p:sp>
      <p:sp>
        <p:nvSpPr>
          <p:cNvPr id="56" name="Rounded Rectangle 55"/>
          <p:cNvSpPr/>
          <p:nvPr/>
        </p:nvSpPr>
        <p:spPr>
          <a:xfrm>
            <a:off x="10213848" y="3767327"/>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323576" y="3854196"/>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88168" y="3767327"/>
            <a:ext cx="489889" cy="274320"/>
          </a:xfrm>
          <a:prstGeom prst="rect">
            <a:avLst/>
          </a:prstGeom>
          <a:noFill/>
        </p:spPr>
        <p:txBody>
          <a:bodyPr wrap="square" lIns="0" rIns="0" tIns="0" bIns="0" anchor="ctr">
            <a:spAutoFit/>
          </a:bodyPr>
          <a:lstStyle/>
          <a:p>
            <a:pPr algn="l">
              <a:lnSpc>
                <a:spcPct val="115000"/>
              </a:lnSpc>
              <a:spcAft>
                <a:spcPts val="0"/>
              </a:spcAft>
            </a:pPr>
            <a:r>
              <a:rPr sz="750" b="1">
                <a:solidFill>
                  <a:srgbClr val="16A34A"/>
                </a:solidFill>
                <a:latin typeface="Inter"/>
              </a:rPr>
              <a:t>On goal</a:t>
            </a:r>
          </a:p>
        </p:txBody>
      </p:sp>
      <p:sp>
        <p:nvSpPr>
          <p:cNvPr id="59" name="Rectangle 58"/>
          <p:cNvSpPr/>
          <p:nvPr/>
        </p:nvSpPr>
        <p:spPr>
          <a:xfrm>
            <a:off x="6629400" y="41283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29400" y="4352544"/>
            <a:ext cx="512064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Why two numbers for the same reason</a:t>
            </a:r>
          </a:p>
        </p:txBody>
      </p:sp>
      <p:sp>
        <p:nvSpPr>
          <p:cNvPr id="61" name="Rectangle 60"/>
          <p:cNvSpPr/>
          <p:nvPr/>
        </p:nvSpPr>
        <p:spPr>
          <a:xfrm>
            <a:off x="6629400" y="473202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67144" y="4636007"/>
            <a:ext cx="48828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This slide is blended. The Phone slide and the Chat slide are not.</a:t>
            </a:r>
          </a:p>
        </p:txBody>
      </p:sp>
      <p:sp>
        <p:nvSpPr>
          <p:cNvPr id="63" name="Rectangle 62"/>
          <p:cNvSpPr/>
          <p:nvPr/>
        </p:nvSpPr>
        <p:spPr>
          <a:xfrm>
            <a:off x="6629400" y="502462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67144" y="4928616"/>
            <a:ext cx="48828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Verbal aggression looks like 82.5 here (8 audits). Split: Chat 76.0 on 5, Phone 93.3 on 3.</a:t>
            </a:r>
          </a:p>
        </p:txBody>
      </p:sp>
      <p:sp>
        <p:nvSpPr>
          <p:cNvPr id="65" name="Rectangle 64"/>
          <p:cNvSpPr/>
          <p:nvPr/>
        </p:nvSpPr>
        <p:spPr>
          <a:xfrm>
            <a:off x="6629400" y="53172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867144" y="5221224"/>
            <a:ext cx="48828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Undelivered full-service looks like 86.5 here (138 audits). On Phone alone it is 68.2 on 49.</a:t>
            </a:r>
          </a:p>
        </p:txBody>
      </p:sp>
      <p:sp>
        <p:nvSpPr>
          <p:cNvPr id="67" name="Rectangle 66"/>
          <p:cNvSpPr/>
          <p:nvPr/>
        </p:nvSpPr>
        <p:spPr>
          <a:xfrm>
            <a:off x="6629400" y="560984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867144" y="5513832"/>
            <a:ext cx="48828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If you only read the blended number, a red Phone queue can look green.</a:t>
            </a:r>
          </a:p>
        </p:txBody>
      </p:sp>
      <p:sp>
        <p:nvSpPr>
          <p:cNvPr id="69" name="Rectangle 68"/>
          <p:cNvSpPr/>
          <p:nvPr/>
        </p:nvSpPr>
        <p:spPr>
          <a:xfrm>
            <a:off x="457200" y="4754880"/>
            <a:ext cx="5989320" cy="9601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57200" y="4754880"/>
            <a:ext cx="38404" cy="9601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68096" y="4800600"/>
            <a:ext cx="5422392" cy="201168"/>
          </a:xfrm>
          <a:prstGeom prst="rect">
            <a:avLst/>
          </a:prstGeom>
          <a:noFill/>
        </p:spPr>
        <p:txBody>
          <a:bodyPr wrap="square" lIns="0" rIns="0" tIns="0" bIns="0" anchor="ctr">
            <a:spAutoFit/>
          </a:bodyPr>
          <a:lstStyle/>
          <a:p>
            <a:pPr algn="l">
              <a:lnSpc>
                <a:spcPct val="115000"/>
              </a:lnSpc>
              <a:spcAft>
                <a:spcPts val="0"/>
              </a:spcAft>
            </a:pPr>
            <a:r>
              <a:rPr sz="1200" b="1">
                <a:solidFill>
                  <a:srgbClr val="1A1A1A"/>
                </a:solidFill>
                <a:latin typeface="Inter"/>
              </a:rPr>
              <a:t>Read Phone and Chat apart before you trust this blended ranking</a:t>
            </a:r>
          </a:p>
        </p:txBody>
      </p:sp>
      <p:sp>
        <p:nvSpPr>
          <p:cNvPr id="72" name="TextBox 71"/>
          <p:cNvSpPr txBox="1"/>
          <p:nvPr/>
        </p:nvSpPr>
        <p:spPr>
          <a:xfrm>
            <a:off x="768096" y="4992624"/>
            <a:ext cx="5422392" cy="667512"/>
          </a:xfrm>
          <a:prstGeom prst="rect">
            <a:avLst/>
          </a:prstGeom>
          <a:noFill/>
        </p:spPr>
        <p:txBody>
          <a:bodyPr wrap="square" lIns="0" rIns="0" tIns="0" bIns="0" anchor="t">
            <a:spAutoFit/>
          </a:bodyPr>
          <a:lstStyle/>
          <a:p>
            <a:pPr algn="l">
              <a:lnSpc>
                <a:spcPct val="118000"/>
              </a:lnSpc>
              <a:spcAft>
                <a:spcPts val="0"/>
              </a:spcAft>
            </a:pPr>
            <a:r>
              <a:rPr sz="1000" b="0">
                <a:solidFill>
                  <a:srgbClr val="4B5563"/>
                </a:solidFill>
                <a:latin typeface="Inter"/>
              </a:rPr>
              <a:t>Take “order completed but not received — full service.” On Phone that is 68.2 QA from 49 audits, under the 85 goal. Blend in Chat and the same reason becomes 86.5 from 138 audits, which looks fine. Chat did not fix Phone. It only diluted the average.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148840"/>
            <a:ext cx="2743200" cy="1005840"/>
          </a:xfrm>
          <a:prstGeom prst="rect">
            <a:avLst/>
          </a:prstGeom>
          <a:noFill/>
        </p:spPr>
        <p:txBody>
          <a:bodyPr wrap="square" lIns="0" rIns="0" tIns="0" bIns="0" anchor="t">
            <a:spAutoFit/>
          </a:bodyPr>
          <a:lstStyle/>
          <a:p>
            <a:pPr algn="l">
              <a:lnSpc>
                <a:spcPct val="115000"/>
              </a:lnSpc>
              <a:spcAft>
                <a:spcPts val="0"/>
              </a:spcAft>
            </a:pPr>
            <a:r>
              <a:rPr sz="6400" b="1">
                <a:solidFill>
                  <a:srgbClr val="FF6600"/>
                </a:solidFill>
                <a:latin typeface="Inter"/>
              </a:rPr>
              <a:t>02</a:t>
            </a:r>
          </a:p>
        </p:txBody>
      </p:sp>
      <p:sp>
        <p:nvSpPr>
          <p:cNvPr id="5" name="TextBox 4"/>
          <p:cNvSpPr txBox="1"/>
          <p:nvPr/>
        </p:nvSpPr>
        <p:spPr>
          <a:xfrm>
            <a:off x="1188720" y="3246120"/>
            <a:ext cx="8686800" cy="548640"/>
          </a:xfrm>
          <a:prstGeom prst="rect">
            <a:avLst/>
          </a:prstGeom>
          <a:noFill/>
        </p:spPr>
        <p:txBody>
          <a:bodyPr wrap="square" lIns="0" rIns="0" tIns="0" bIns="0" anchor="t">
            <a:spAutoFit/>
          </a:bodyPr>
          <a:lstStyle/>
          <a:p>
            <a:pPr algn="l">
              <a:lnSpc>
                <a:spcPct val="115000"/>
              </a:lnSpc>
              <a:spcAft>
                <a:spcPts val="0"/>
              </a:spcAft>
            </a:pPr>
            <a:r>
              <a:rPr sz="3000" b="1">
                <a:solidFill>
                  <a:srgbClr val="FFFFFF"/>
                </a:solidFill>
                <a:latin typeface="Inter"/>
              </a:rPr>
              <a:t>CSAT and voice of the customer</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87952"/>
            <a:ext cx="7863840" cy="822960"/>
          </a:xfrm>
          <a:prstGeom prst="rect">
            <a:avLst/>
          </a:prstGeom>
          <a:noFill/>
        </p:spPr>
        <p:txBody>
          <a:bodyPr wrap="square" lIns="0" rIns="0" tIns="0" bIns="0" anchor="t">
            <a:spAutoFit/>
          </a:bodyPr>
          <a:lstStyle/>
          <a:p>
            <a:pPr algn="l">
              <a:lnSpc>
                <a:spcPct val="140000"/>
              </a:lnSpc>
              <a:spcAft>
                <a:spcPts val="0"/>
              </a:spcAft>
            </a:pPr>
            <a:r>
              <a:rPr sz="1300" b="0">
                <a:solidFill>
                  <a:srgbClr val="C9CCD1"/>
                </a:solidFill>
                <a:latin typeface="Inter"/>
              </a:rPr>
              <a:t>Blended CSAT against goal. Then Phone vs Chat. Who is dragging it. What detractors say.</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rIns="0" tIns="0" bIns="0" anchor="ctr">
            <a:spAutoFit/>
          </a:bodyPr>
          <a:lstStyle/>
          <a:p>
            <a:pPr algn="l">
              <a:lnSpc>
                <a:spcPct val="115000"/>
              </a:lnSpc>
              <a:spcAft>
                <a:spcPts val="0"/>
              </a:spcAft>
            </a:pPr>
            <a:r>
              <a:rPr sz="1500" b="1">
                <a:solidFill>
                  <a:srgbClr val="FFFFFF"/>
                </a:solidFill>
                <a:latin typeface="Inter"/>
              </a:rPr>
              <a:t>DiDi</a:t>
            </a:r>
          </a:p>
        </p:txBody>
      </p:sp>
      <p:sp>
        <p:nvSpPr>
          <p:cNvPr id="10" name="TextBox 9"/>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13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CSAT analysis</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Blended 79.95% vs 85%  ·  Phone 86.26%  ·  Chat 77.55%  ·  77,266 surveys</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14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stars.png"/>
          <p:cNvPicPr>
            <a:picLocks noChangeAspect="1"/>
          </p:cNvPicPr>
          <p:nvPr/>
        </p:nvPicPr>
        <p:blipFill>
          <a:blip r:embed="rId3"/>
          <a:stretch>
            <a:fillRect/>
          </a:stretch>
        </p:blipFill>
        <p:spPr>
          <a:xfrm>
            <a:off x="1477007" y="1207008"/>
            <a:ext cx="3766825" cy="2267712"/>
          </a:xfrm>
          <a:prstGeom prst="rect">
            <a:avLst/>
          </a:prstGeom>
        </p:spPr>
      </p:pic>
      <p:pic>
        <p:nvPicPr>
          <p:cNvPr id="12" name="Picture 11" descr="bar_business_type.png"/>
          <p:cNvPicPr>
            <a:picLocks noChangeAspect="1"/>
          </p:cNvPicPr>
          <p:nvPr/>
        </p:nvPicPr>
        <p:blipFill>
          <a:blip r:embed="rId4"/>
          <a:stretch>
            <a:fillRect/>
          </a:stretch>
        </p:blipFill>
        <p:spPr>
          <a:xfrm>
            <a:off x="1226717" y="3547872"/>
            <a:ext cx="4267405" cy="1810512"/>
          </a:xfrm>
          <a:prstGeom prst="rect">
            <a:avLst/>
          </a:prstGeom>
        </p:spPr>
      </p:pic>
      <p:sp>
        <p:nvSpPr>
          <p:cNvPr id="13" name="TextBox 12"/>
          <p:cNvSpPr txBox="1"/>
          <p:nvPr/>
        </p:nvSpPr>
        <p:spPr>
          <a:xfrm>
            <a:off x="6492240" y="1207008"/>
            <a:ext cx="5257800" cy="201168"/>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Phone vs Chat vs blended</a:t>
            </a:r>
          </a:p>
        </p:txBody>
      </p:sp>
      <p:sp>
        <p:nvSpPr>
          <p:cNvPr id="14" name="Rectangle 13"/>
          <p:cNvSpPr/>
          <p:nvPr/>
        </p:nvSpPr>
        <p:spPr>
          <a:xfrm>
            <a:off x="6492240" y="1463040"/>
            <a:ext cx="5239512"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0255" y="1463040"/>
            <a:ext cx="1298448" cy="310896"/>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Channel</a:t>
            </a:r>
          </a:p>
        </p:txBody>
      </p:sp>
      <p:sp>
        <p:nvSpPr>
          <p:cNvPr id="16" name="TextBox 15"/>
          <p:cNvSpPr txBox="1"/>
          <p:nvPr/>
        </p:nvSpPr>
        <p:spPr>
          <a:xfrm>
            <a:off x="8174736" y="1463040"/>
            <a:ext cx="457200" cy="310896"/>
          </a:xfrm>
          <a:prstGeom prst="rect">
            <a:avLst/>
          </a:prstGeom>
          <a:noFill/>
        </p:spPr>
        <p:txBody>
          <a:bodyPr wrap="square" lIns="0" rIns="0" tIns="0" bIns="0" anchor="ctr">
            <a:spAutoFit/>
          </a:bodyPr>
          <a:lstStyle/>
          <a:p>
            <a:pPr algn="r">
              <a:lnSpc>
                <a:spcPct val="115000"/>
              </a:lnSpc>
              <a:spcAft>
                <a:spcPts val="0"/>
              </a:spcAft>
            </a:pPr>
            <a:r>
              <a:rPr sz="800" b="1">
                <a:solidFill>
                  <a:srgbClr val="FFFFFF"/>
                </a:solidFill>
                <a:latin typeface="Inter"/>
              </a:rPr>
              <a:t>CSAT</a:t>
            </a:r>
          </a:p>
        </p:txBody>
      </p:sp>
      <p:sp>
        <p:nvSpPr>
          <p:cNvPr id="17" name="TextBox 16"/>
          <p:cNvSpPr txBox="1"/>
          <p:nvPr/>
        </p:nvSpPr>
        <p:spPr>
          <a:xfrm>
            <a:off x="8887967" y="1463040"/>
            <a:ext cx="768096" cy="310896"/>
          </a:xfrm>
          <a:prstGeom prst="rect">
            <a:avLst/>
          </a:prstGeom>
          <a:noFill/>
        </p:spPr>
        <p:txBody>
          <a:bodyPr wrap="square" lIns="0" rIns="0" tIns="0" bIns="0" anchor="ctr">
            <a:spAutoFit/>
          </a:bodyPr>
          <a:lstStyle/>
          <a:p>
            <a:pPr algn="r">
              <a:lnSpc>
                <a:spcPct val="115000"/>
              </a:lnSpc>
              <a:spcAft>
                <a:spcPts val="0"/>
              </a:spcAft>
            </a:pPr>
            <a:r>
              <a:rPr sz="800" b="1">
                <a:solidFill>
                  <a:srgbClr val="FFFFFF"/>
                </a:solidFill>
                <a:latin typeface="Inter"/>
              </a:rPr>
              <a:t>Surveys</a:t>
            </a:r>
          </a:p>
        </p:txBody>
      </p:sp>
      <p:sp>
        <p:nvSpPr>
          <p:cNvPr id="18" name="TextBox 17"/>
          <p:cNvSpPr txBox="1"/>
          <p:nvPr/>
        </p:nvSpPr>
        <p:spPr>
          <a:xfrm>
            <a:off x="9912096" y="1463040"/>
            <a:ext cx="521207" cy="310896"/>
          </a:xfrm>
          <a:prstGeom prst="rect">
            <a:avLst/>
          </a:prstGeom>
          <a:noFill/>
        </p:spPr>
        <p:txBody>
          <a:bodyPr wrap="square" lIns="0" rIns="0" tIns="0" bIns="0" anchor="ctr">
            <a:spAutoFit/>
          </a:bodyPr>
          <a:lstStyle/>
          <a:p>
            <a:pPr algn="r">
              <a:lnSpc>
                <a:spcPct val="115000"/>
              </a:lnSpc>
              <a:spcAft>
                <a:spcPts val="0"/>
              </a:spcAft>
            </a:pPr>
            <a:r>
              <a:rPr sz="800" b="1">
                <a:solidFill>
                  <a:srgbClr val="FFFFFF"/>
                </a:solidFill>
                <a:latin typeface="Inter"/>
              </a:rPr>
              <a:t>vs 85</a:t>
            </a:r>
          </a:p>
        </p:txBody>
      </p:sp>
      <p:sp>
        <p:nvSpPr>
          <p:cNvPr id="19" name="TextBox 18"/>
          <p:cNvSpPr txBox="1"/>
          <p:nvPr/>
        </p:nvSpPr>
        <p:spPr>
          <a:xfrm>
            <a:off x="10689336" y="1463040"/>
            <a:ext cx="914400" cy="310896"/>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Status</a:t>
            </a:r>
          </a:p>
        </p:txBody>
      </p:sp>
      <p:sp>
        <p:nvSpPr>
          <p:cNvPr id="20" name="TextBox 19"/>
          <p:cNvSpPr txBox="1"/>
          <p:nvPr/>
        </p:nvSpPr>
        <p:spPr>
          <a:xfrm>
            <a:off x="6620255" y="1773936"/>
            <a:ext cx="1298448" cy="36576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Phone</a:t>
            </a:r>
          </a:p>
        </p:txBody>
      </p:sp>
      <p:sp>
        <p:nvSpPr>
          <p:cNvPr id="21" name="Rounded Rectangle 20"/>
          <p:cNvSpPr/>
          <p:nvPr/>
        </p:nvSpPr>
        <p:spPr>
          <a:xfrm>
            <a:off x="8110727" y="1832457"/>
            <a:ext cx="585216"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773936"/>
            <a:ext cx="457200" cy="365760"/>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86.3%</a:t>
            </a:r>
          </a:p>
        </p:txBody>
      </p:sp>
      <p:sp>
        <p:nvSpPr>
          <p:cNvPr id="23" name="TextBox 22"/>
          <p:cNvSpPr txBox="1"/>
          <p:nvPr/>
        </p:nvSpPr>
        <p:spPr>
          <a:xfrm>
            <a:off x="8887967" y="1773936"/>
            <a:ext cx="768096" cy="36576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21,304</a:t>
            </a:r>
          </a:p>
        </p:txBody>
      </p:sp>
      <p:sp>
        <p:nvSpPr>
          <p:cNvPr id="24" name="TextBox 23"/>
          <p:cNvSpPr txBox="1"/>
          <p:nvPr/>
        </p:nvSpPr>
        <p:spPr>
          <a:xfrm>
            <a:off x="9912096" y="1773936"/>
            <a:ext cx="521207" cy="36576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+1.26 pp</a:t>
            </a:r>
          </a:p>
        </p:txBody>
      </p:sp>
      <p:sp>
        <p:nvSpPr>
          <p:cNvPr id="25" name="Rounded Rectangle 24"/>
          <p:cNvSpPr/>
          <p:nvPr/>
        </p:nvSpPr>
        <p:spPr>
          <a:xfrm>
            <a:off x="10689336" y="1819656"/>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799064" y="1906524"/>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63656" y="1819656"/>
            <a:ext cx="489889" cy="274320"/>
          </a:xfrm>
          <a:prstGeom prst="rect">
            <a:avLst/>
          </a:prstGeom>
          <a:noFill/>
        </p:spPr>
        <p:txBody>
          <a:bodyPr wrap="square" lIns="0" rIns="0" tIns="0" bIns="0" anchor="ctr">
            <a:spAutoFit/>
          </a:bodyPr>
          <a:lstStyle/>
          <a:p>
            <a:pPr algn="l">
              <a:lnSpc>
                <a:spcPct val="115000"/>
              </a:lnSpc>
              <a:spcAft>
                <a:spcPts val="0"/>
              </a:spcAft>
            </a:pPr>
            <a:r>
              <a:rPr sz="750" b="1">
                <a:solidFill>
                  <a:srgbClr val="16A34A"/>
                </a:solidFill>
                <a:latin typeface="Inter"/>
              </a:rPr>
              <a:t>On goal</a:t>
            </a:r>
          </a:p>
        </p:txBody>
      </p:sp>
      <p:sp>
        <p:nvSpPr>
          <p:cNvPr id="28" name="Rectangle 27"/>
          <p:cNvSpPr/>
          <p:nvPr/>
        </p:nvSpPr>
        <p:spPr>
          <a:xfrm>
            <a:off x="6492240" y="213493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92240" y="2139696"/>
            <a:ext cx="5239512"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0255" y="2139696"/>
            <a:ext cx="1298448" cy="36576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Live Chat</a:t>
            </a:r>
          </a:p>
        </p:txBody>
      </p:sp>
      <p:sp>
        <p:nvSpPr>
          <p:cNvPr id="31" name="Rounded Rectangle 30"/>
          <p:cNvSpPr/>
          <p:nvPr/>
        </p:nvSpPr>
        <p:spPr>
          <a:xfrm>
            <a:off x="8110727" y="2198217"/>
            <a:ext cx="585216"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74736" y="2139696"/>
            <a:ext cx="457200" cy="36576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77.6%</a:t>
            </a:r>
          </a:p>
        </p:txBody>
      </p:sp>
      <p:sp>
        <p:nvSpPr>
          <p:cNvPr id="33" name="TextBox 32"/>
          <p:cNvSpPr txBox="1"/>
          <p:nvPr/>
        </p:nvSpPr>
        <p:spPr>
          <a:xfrm>
            <a:off x="8887967" y="2139696"/>
            <a:ext cx="768096" cy="36576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55,962</a:t>
            </a:r>
          </a:p>
        </p:txBody>
      </p:sp>
      <p:sp>
        <p:nvSpPr>
          <p:cNvPr id="34" name="TextBox 33"/>
          <p:cNvSpPr txBox="1"/>
          <p:nvPr/>
        </p:nvSpPr>
        <p:spPr>
          <a:xfrm>
            <a:off x="9912096" y="2139696"/>
            <a:ext cx="521207" cy="36576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-7.45 pp</a:t>
            </a:r>
          </a:p>
        </p:txBody>
      </p:sp>
      <p:sp>
        <p:nvSpPr>
          <p:cNvPr id="35" name="Rounded Rectangle 34"/>
          <p:cNvSpPr/>
          <p:nvPr/>
        </p:nvSpPr>
        <p:spPr>
          <a:xfrm>
            <a:off x="10689336" y="218541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799064" y="227228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63656" y="2185416"/>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38" name="Rectangle 37"/>
          <p:cNvSpPr/>
          <p:nvPr/>
        </p:nvSpPr>
        <p:spPr>
          <a:xfrm>
            <a:off x="6492240" y="250069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20255" y="2505456"/>
            <a:ext cx="1298448" cy="36576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Blended (official)</a:t>
            </a:r>
          </a:p>
        </p:txBody>
      </p:sp>
      <p:sp>
        <p:nvSpPr>
          <p:cNvPr id="40" name="Rounded Rectangle 39"/>
          <p:cNvSpPr/>
          <p:nvPr/>
        </p:nvSpPr>
        <p:spPr>
          <a:xfrm>
            <a:off x="8110727" y="2563977"/>
            <a:ext cx="585216"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74736" y="2505456"/>
            <a:ext cx="457200" cy="36576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80.0%</a:t>
            </a:r>
          </a:p>
        </p:txBody>
      </p:sp>
      <p:sp>
        <p:nvSpPr>
          <p:cNvPr id="42" name="TextBox 41"/>
          <p:cNvSpPr txBox="1"/>
          <p:nvPr/>
        </p:nvSpPr>
        <p:spPr>
          <a:xfrm>
            <a:off x="8887967" y="2505456"/>
            <a:ext cx="768096" cy="36576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77,266</a:t>
            </a:r>
          </a:p>
        </p:txBody>
      </p:sp>
      <p:sp>
        <p:nvSpPr>
          <p:cNvPr id="43" name="TextBox 42"/>
          <p:cNvSpPr txBox="1"/>
          <p:nvPr/>
        </p:nvSpPr>
        <p:spPr>
          <a:xfrm>
            <a:off x="9912096" y="2505456"/>
            <a:ext cx="521207" cy="36576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-5.05 pp</a:t>
            </a:r>
          </a:p>
        </p:txBody>
      </p:sp>
      <p:sp>
        <p:nvSpPr>
          <p:cNvPr id="44" name="Rounded Rectangle 43"/>
          <p:cNvSpPr/>
          <p:nvPr/>
        </p:nvSpPr>
        <p:spPr>
          <a:xfrm>
            <a:off x="10689336" y="255117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799064" y="263804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63656" y="2551176"/>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47" name="Rectangle 46"/>
          <p:cNvSpPr/>
          <p:nvPr/>
        </p:nvSpPr>
        <p:spPr>
          <a:xfrm>
            <a:off x="6492240" y="286645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92240" y="3017520"/>
            <a:ext cx="5257800" cy="201168"/>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Contact reasons dragging CSAT down (blended)</a:t>
            </a:r>
          </a:p>
        </p:txBody>
      </p:sp>
      <p:sp>
        <p:nvSpPr>
          <p:cNvPr id="49" name="Rectangle 48"/>
          <p:cNvSpPr/>
          <p:nvPr/>
        </p:nvSpPr>
        <p:spPr>
          <a:xfrm>
            <a:off x="6492240" y="3273552"/>
            <a:ext cx="5239511"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20255" y="3273552"/>
            <a:ext cx="2075687" cy="310896"/>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Contact reason (CR Lv4)</a:t>
            </a:r>
          </a:p>
        </p:txBody>
      </p:sp>
      <p:sp>
        <p:nvSpPr>
          <p:cNvPr id="51" name="TextBox 50"/>
          <p:cNvSpPr txBox="1"/>
          <p:nvPr/>
        </p:nvSpPr>
        <p:spPr>
          <a:xfrm>
            <a:off x="8951976" y="3273552"/>
            <a:ext cx="438912" cy="310896"/>
          </a:xfrm>
          <a:prstGeom prst="rect">
            <a:avLst/>
          </a:prstGeom>
          <a:noFill/>
        </p:spPr>
        <p:txBody>
          <a:bodyPr wrap="square" lIns="0" rIns="0" tIns="0" bIns="0" anchor="ctr">
            <a:spAutoFit/>
          </a:bodyPr>
          <a:lstStyle/>
          <a:p>
            <a:pPr algn="r">
              <a:lnSpc>
                <a:spcPct val="115000"/>
              </a:lnSpc>
              <a:spcAft>
                <a:spcPts val="0"/>
              </a:spcAft>
            </a:pPr>
            <a:r>
              <a:rPr sz="800" b="1">
                <a:solidFill>
                  <a:srgbClr val="FFFFFF"/>
                </a:solidFill>
                <a:latin typeface="Inter"/>
              </a:rPr>
              <a:t>Blended</a:t>
            </a:r>
          </a:p>
        </p:txBody>
      </p:sp>
      <p:sp>
        <p:nvSpPr>
          <p:cNvPr id="52" name="TextBox 51"/>
          <p:cNvSpPr txBox="1"/>
          <p:nvPr/>
        </p:nvSpPr>
        <p:spPr>
          <a:xfrm>
            <a:off x="9646919" y="3273552"/>
            <a:ext cx="402335" cy="310896"/>
          </a:xfrm>
          <a:prstGeom prst="rect">
            <a:avLst/>
          </a:prstGeom>
          <a:noFill/>
        </p:spPr>
        <p:txBody>
          <a:bodyPr wrap="square" lIns="0" rIns="0" tIns="0" bIns="0" anchor="ctr">
            <a:spAutoFit/>
          </a:bodyPr>
          <a:lstStyle/>
          <a:p>
            <a:pPr algn="r">
              <a:lnSpc>
                <a:spcPct val="115000"/>
              </a:lnSpc>
              <a:spcAft>
                <a:spcPts val="0"/>
              </a:spcAft>
            </a:pPr>
            <a:r>
              <a:rPr sz="800" b="1">
                <a:solidFill>
                  <a:srgbClr val="FFFFFF"/>
                </a:solidFill>
                <a:latin typeface="Inter"/>
              </a:rPr>
              <a:t>Phone</a:t>
            </a:r>
          </a:p>
        </p:txBody>
      </p:sp>
      <p:sp>
        <p:nvSpPr>
          <p:cNvPr id="53" name="TextBox 52"/>
          <p:cNvSpPr txBox="1"/>
          <p:nvPr/>
        </p:nvSpPr>
        <p:spPr>
          <a:xfrm>
            <a:off x="10305288" y="3273552"/>
            <a:ext cx="402335" cy="310896"/>
          </a:xfrm>
          <a:prstGeom prst="rect">
            <a:avLst/>
          </a:prstGeom>
          <a:noFill/>
        </p:spPr>
        <p:txBody>
          <a:bodyPr wrap="square" lIns="0" rIns="0" tIns="0" bIns="0" anchor="ctr">
            <a:spAutoFit/>
          </a:bodyPr>
          <a:lstStyle/>
          <a:p>
            <a:pPr algn="r">
              <a:lnSpc>
                <a:spcPct val="115000"/>
              </a:lnSpc>
              <a:spcAft>
                <a:spcPts val="0"/>
              </a:spcAft>
            </a:pPr>
            <a:r>
              <a:rPr sz="800" b="1">
                <a:solidFill>
                  <a:srgbClr val="FFFFFF"/>
                </a:solidFill>
                <a:latin typeface="Inter"/>
              </a:rPr>
              <a:t>Chat</a:t>
            </a:r>
          </a:p>
        </p:txBody>
      </p:sp>
      <p:sp>
        <p:nvSpPr>
          <p:cNvPr id="54" name="TextBox 53"/>
          <p:cNvSpPr txBox="1"/>
          <p:nvPr/>
        </p:nvSpPr>
        <p:spPr>
          <a:xfrm>
            <a:off x="10963656" y="3273552"/>
            <a:ext cx="640080" cy="310896"/>
          </a:xfrm>
          <a:prstGeom prst="rect">
            <a:avLst/>
          </a:prstGeom>
          <a:noFill/>
        </p:spPr>
        <p:txBody>
          <a:bodyPr wrap="square" lIns="0" rIns="0" tIns="0" bIns="0" anchor="ctr">
            <a:spAutoFit/>
          </a:bodyPr>
          <a:lstStyle/>
          <a:p>
            <a:pPr algn="r">
              <a:lnSpc>
                <a:spcPct val="115000"/>
              </a:lnSpc>
              <a:spcAft>
                <a:spcPts val="0"/>
              </a:spcAft>
            </a:pPr>
            <a:r>
              <a:rPr sz="800" b="1">
                <a:solidFill>
                  <a:srgbClr val="FFFFFF"/>
                </a:solidFill>
                <a:latin typeface="Inter"/>
              </a:rPr>
              <a:t>Surveys</a:t>
            </a:r>
          </a:p>
        </p:txBody>
      </p:sp>
      <p:sp>
        <p:nvSpPr>
          <p:cNvPr id="55" name="TextBox 54"/>
          <p:cNvSpPr txBox="1"/>
          <p:nvPr/>
        </p:nvSpPr>
        <p:spPr>
          <a:xfrm>
            <a:off x="6620255" y="3584448"/>
            <a:ext cx="2075687" cy="365760"/>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Order status / delay inform…</a:t>
            </a:r>
          </a:p>
        </p:txBody>
      </p:sp>
      <p:sp>
        <p:nvSpPr>
          <p:cNvPr id="56" name="Rounded Rectangle 55"/>
          <p:cNvSpPr/>
          <p:nvPr/>
        </p:nvSpPr>
        <p:spPr>
          <a:xfrm>
            <a:off x="8887967" y="364296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951976" y="3584448"/>
            <a:ext cx="438912"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67.8%</a:t>
            </a:r>
          </a:p>
        </p:txBody>
      </p:sp>
      <p:sp>
        <p:nvSpPr>
          <p:cNvPr id="58" name="Rounded Rectangle 57"/>
          <p:cNvSpPr/>
          <p:nvPr/>
        </p:nvSpPr>
        <p:spPr>
          <a:xfrm>
            <a:off x="9582911" y="3642969"/>
            <a:ext cx="530352"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46919" y="358444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F59E0B"/>
                </a:solidFill>
                <a:latin typeface="Inter"/>
              </a:rPr>
              <a:t>80.3%</a:t>
            </a:r>
          </a:p>
        </p:txBody>
      </p:sp>
      <p:sp>
        <p:nvSpPr>
          <p:cNvPr id="60" name="Rounded Rectangle 59"/>
          <p:cNvSpPr/>
          <p:nvPr/>
        </p:nvSpPr>
        <p:spPr>
          <a:xfrm>
            <a:off x="10241280" y="364296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305288" y="358444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62.8%</a:t>
            </a:r>
          </a:p>
        </p:txBody>
      </p:sp>
      <p:sp>
        <p:nvSpPr>
          <p:cNvPr id="62" name="TextBox 61"/>
          <p:cNvSpPr txBox="1"/>
          <p:nvPr/>
        </p:nvSpPr>
        <p:spPr>
          <a:xfrm>
            <a:off x="10963656" y="3584448"/>
            <a:ext cx="640080" cy="365760"/>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9,918</a:t>
            </a:r>
          </a:p>
        </p:txBody>
      </p:sp>
      <p:sp>
        <p:nvSpPr>
          <p:cNvPr id="63" name="Rectangle 62"/>
          <p:cNvSpPr/>
          <p:nvPr/>
        </p:nvSpPr>
        <p:spPr>
          <a:xfrm>
            <a:off x="6492240" y="394544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492240" y="3950208"/>
            <a:ext cx="5239511"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20255" y="3950208"/>
            <a:ext cx="2075687" cy="365760"/>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Disagrees with cancellation…</a:t>
            </a:r>
          </a:p>
        </p:txBody>
      </p:sp>
      <p:sp>
        <p:nvSpPr>
          <p:cNvPr id="66" name="Rounded Rectangle 65"/>
          <p:cNvSpPr/>
          <p:nvPr/>
        </p:nvSpPr>
        <p:spPr>
          <a:xfrm>
            <a:off x="8887967" y="400872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951976" y="3950208"/>
            <a:ext cx="438912"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67.4%</a:t>
            </a:r>
          </a:p>
        </p:txBody>
      </p:sp>
      <p:sp>
        <p:nvSpPr>
          <p:cNvPr id="68" name="Rounded Rectangle 67"/>
          <p:cNvSpPr/>
          <p:nvPr/>
        </p:nvSpPr>
        <p:spPr>
          <a:xfrm>
            <a:off x="9582911" y="400872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646919" y="395020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77.6%</a:t>
            </a:r>
          </a:p>
        </p:txBody>
      </p:sp>
      <p:sp>
        <p:nvSpPr>
          <p:cNvPr id="70" name="Rounded Rectangle 69"/>
          <p:cNvSpPr/>
          <p:nvPr/>
        </p:nvSpPr>
        <p:spPr>
          <a:xfrm>
            <a:off x="10241280" y="400872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05288" y="395020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63.6%</a:t>
            </a:r>
          </a:p>
        </p:txBody>
      </p:sp>
      <p:sp>
        <p:nvSpPr>
          <p:cNvPr id="72" name="TextBox 71"/>
          <p:cNvSpPr txBox="1"/>
          <p:nvPr/>
        </p:nvSpPr>
        <p:spPr>
          <a:xfrm>
            <a:off x="10963656" y="3950208"/>
            <a:ext cx="640080" cy="365760"/>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5,992</a:t>
            </a:r>
          </a:p>
        </p:txBody>
      </p:sp>
      <p:sp>
        <p:nvSpPr>
          <p:cNvPr id="73" name="Rectangle 72"/>
          <p:cNvSpPr/>
          <p:nvPr/>
        </p:nvSpPr>
        <p:spPr>
          <a:xfrm>
            <a:off x="6492240" y="431120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620255" y="4315968"/>
            <a:ext cx="2075687" cy="365760"/>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order status &amp; delays</a:t>
            </a:r>
          </a:p>
        </p:txBody>
      </p:sp>
      <p:sp>
        <p:nvSpPr>
          <p:cNvPr id="75" name="Rounded Rectangle 74"/>
          <p:cNvSpPr/>
          <p:nvPr/>
        </p:nvSpPr>
        <p:spPr>
          <a:xfrm>
            <a:off x="8887967" y="437448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951976" y="4315968"/>
            <a:ext cx="438912"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64.7%</a:t>
            </a:r>
          </a:p>
        </p:txBody>
      </p:sp>
      <p:sp>
        <p:nvSpPr>
          <p:cNvPr id="77" name="Rounded Rectangle 76"/>
          <p:cNvSpPr/>
          <p:nvPr/>
        </p:nvSpPr>
        <p:spPr>
          <a:xfrm>
            <a:off x="9582911" y="437448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646919" y="431596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79.8%</a:t>
            </a:r>
          </a:p>
        </p:txBody>
      </p:sp>
      <p:sp>
        <p:nvSpPr>
          <p:cNvPr id="79" name="Rounded Rectangle 78"/>
          <p:cNvSpPr/>
          <p:nvPr/>
        </p:nvSpPr>
        <p:spPr>
          <a:xfrm>
            <a:off x="10241280" y="437448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305288" y="431596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60.3%</a:t>
            </a:r>
          </a:p>
        </p:txBody>
      </p:sp>
      <p:sp>
        <p:nvSpPr>
          <p:cNvPr id="81" name="TextBox 80"/>
          <p:cNvSpPr txBox="1"/>
          <p:nvPr/>
        </p:nvSpPr>
        <p:spPr>
          <a:xfrm>
            <a:off x="10963656" y="4315968"/>
            <a:ext cx="640080" cy="365760"/>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5,096</a:t>
            </a:r>
          </a:p>
        </p:txBody>
      </p:sp>
      <p:sp>
        <p:nvSpPr>
          <p:cNvPr id="82" name="Rectangle 81"/>
          <p:cNvSpPr/>
          <p:nvPr/>
        </p:nvSpPr>
        <p:spPr>
          <a:xfrm>
            <a:off x="6492240" y="467696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492240" y="4681728"/>
            <a:ext cx="5239511"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620255" y="4681728"/>
            <a:ext cx="2075687" cy="365760"/>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No longer wants the order</a:t>
            </a:r>
          </a:p>
        </p:txBody>
      </p:sp>
      <p:sp>
        <p:nvSpPr>
          <p:cNvPr id="85" name="Rounded Rectangle 84"/>
          <p:cNvSpPr/>
          <p:nvPr/>
        </p:nvSpPr>
        <p:spPr>
          <a:xfrm>
            <a:off x="8887967" y="4740249"/>
            <a:ext cx="566928"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951976" y="4681728"/>
            <a:ext cx="438912" cy="365760"/>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88.3%</a:t>
            </a:r>
          </a:p>
        </p:txBody>
      </p:sp>
      <p:sp>
        <p:nvSpPr>
          <p:cNvPr id="87" name="Rounded Rectangle 86"/>
          <p:cNvSpPr/>
          <p:nvPr/>
        </p:nvSpPr>
        <p:spPr>
          <a:xfrm>
            <a:off x="9582911" y="4740249"/>
            <a:ext cx="530352"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646919" y="468172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94.2%</a:t>
            </a:r>
          </a:p>
        </p:txBody>
      </p:sp>
      <p:sp>
        <p:nvSpPr>
          <p:cNvPr id="89" name="Rounded Rectangle 88"/>
          <p:cNvSpPr/>
          <p:nvPr/>
        </p:nvSpPr>
        <p:spPr>
          <a:xfrm>
            <a:off x="10241280" y="4740249"/>
            <a:ext cx="530352"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305288" y="468172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F59E0B"/>
                </a:solidFill>
                <a:latin typeface="Inter"/>
              </a:rPr>
              <a:t>81.9%</a:t>
            </a:r>
          </a:p>
        </p:txBody>
      </p:sp>
      <p:sp>
        <p:nvSpPr>
          <p:cNvPr id="91" name="TextBox 90"/>
          <p:cNvSpPr txBox="1"/>
          <p:nvPr/>
        </p:nvSpPr>
        <p:spPr>
          <a:xfrm>
            <a:off x="10963656" y="4681728"/>
            <a:ext cx="640080" cy="365760"/>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10,518</a:t>
            </a:r>
          </a:p>
        </p:txBody>
      </p:sp>
      <p:sp>
        <p:nvSpPr>
          <p:cNvPr id="92" name="Rectangle 91"/>
          <p:cNvSpPr/>
          <p:nvPr/>
        </p:nvSpPr>
        <p:spPr>
          <a:xfrm>
            <a:off x="6492240" y="504272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620255" y="5047488"/>
            <a:ext cx="2075687" cy="365760"/>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refund status and conditions</a:t>
            </a:r>
          </a:p>
        </p:txBody>
      </p:sp>
      <p:sp>
        <p:nvSpPr>
          <p:cNvPr id="94" name="Rounded Rectangle 93"/>
          <p:cNvSpPr/>
          <p:nvPr/>
        </p:nvSpPr>
        <p:spPr>
          <a:xfrm>
            <a:off x="8887967" y="510600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951976" y="5047488"/>
            <a:ext cx="438912"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67.0%</a:t>
            </a:r>
          </a:p>
        </p:txBody>
      </p:sp>
      <p:sp>
        <p:nvSpPr>
          <p:cNvPr id="96" name="Rounded Rectangle 95"/>
          <p:cNvSpPr/>
          <p:nvPr/>
        </p:nvSpPr>
        <p:spPr>
          <a:xfrm>
            <a:off x="9582911" y="510600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646919" y="504748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78.7%</a:t>
            </a:r>
          </a:p>
        </p:txBody>
      </p:sp>
      <p:sp>
        <p:nvSpPr>
          <p:cNvPr id="98" name="Rounded Rectangle 97"/>
          <p:cNvSpPr/>
          <p:nvPr/>
        </p:nvSpPr>
        <p:spPr>
          <a:xfrm>
            <a:off x="10241280" y="510600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305288" y="5047488"/>
            <a:ext cx="402335" cy="365760"/>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57.0%</a:t>
            </a:r>
          </a:p>
        </p:txBody>
      </p:sp>
      <p:sp>
        <p:nvSpPr>
          <p:cNvPr id="100" name="TextBox 99"/>
          <p:cNvSpPr txBox="1"/>
          <p:nvPr/>
        </p:nvSpPr>
        <p:spPr>
          <a:xfrm>
            <a:off x="10963656" y="5047488"/>
            <a:ext cx="640080" cy="365760"/>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3,582</a:t>
            </a:r>
          </a:p>
        </p:txBody>
      </p:sp>
      <p:sp>
        <p:nvSpPr>
          <p:cNvPr id="101" name="Rectangle 100"/>
          <p:cNvSpPr/>
          <p:nvPr/>
        </p:nvSpPr>
        <p:spPr>
          <a:xfrm>
            <a:off x="6492240" y="540848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492240" y="560984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729983" y="5513832"/>
            <a:ext cx="5020056" cy="274320"/>
          </a:xfrm>
          <a:prstGeom prst="rect">
            <a:avLst/>
          </a:prstGeom>
          <a:noFill/>
        </p:spPr>
        <p:txBody>
          <a:bodyPr wrap="square" lIns="0" rIns="0" tIns="0" bIns="0" anchor="t">
            <a:spAutoFit/>
          </a:bodyPr>
          <a:lstStyle/>
          <a:p>
            <a:pPr algn="l">
              <a:lnSpc>
                <a:spcPct val="128000"/>
              </a:lnSpc>
              <a:spcAft>
                <a:spcPts val="0"/>
              </a:spcAft>
            </a:pPr>
            <a:r>
              <a:rPr sz="900" b="0">
                <a:solidFill>
                  <a:srgbClr val="4B5563"/>
                </a:solidFill>
                <a:latin typeface="Inter"/>
              </a:rPr>
              <a:t>Phone is above the 85% goal. Chat is not. The official 79.95% is the blended number: Chat is what pulls it down.</a:t>
            </a:r>
          </a:p>
        </p:txBody>
      </p:sp>
      <p:sp>
        <p:nvSpPr>
          <p:cNvPr id="104" name="Rectangle 103"/>
          <p:cNvSpPr/>
          <p:nvPr/>
        </p:nvSpPr>
        <p:spPr>
          <a:xfrm>
            <a:off x="6492240" y="588416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729983" y="5788152"/>
            <a:ext cx="5020056" cy="274320"/>
          </a:xfrm>
          <a:prstGeom prst="rect">
            <a:avLst/>
          </a:prstGeom>
          <a:noFill/>
        </p:spPr>
        <p:txBody>
          <a:bodyPr wrap="square" lIns="0" rIns="0" tIns="0" bIns="0" anchor="t">
            <a:spAutoFit/>
          </a:bodyPr>
          <a:lstStyle/>
          <a:p>
            <a:pPr algn="l">
              <a:lnSpc>
                <a:spcPct val="128000"/>
              </a:lnSpc>
              <a:spcAft>
                <a:spcPts val="0"/>
              </a:spcAft>
            </a:pPr>
            <a:r>
              <a:rPr sz="900" b="0">
                <a:solidFill>
                  <a:srgbClr val="4B5563"/>
                </a:solidFill>
                <a:latin typeface="Inter"/>
              </a:rPr>
              <a:t>Stars and Business Type on the left are also blended. 16.5% of surveys are 1 star and 75.7% are 5 stars.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Voice of the customer</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2,749 classified comments from 1–3★ surveys</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15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voc.png"/>
          <p:cNvPicPr>
            <a:picLocks noChangeAspect="1"/>
          </p:cNvPicPr>
          <p:nvPr/>
        </p:nvPicPr>
        <p:blipFill>
          <a:blip r:embed="rId3"/>
          <a:stretch>
            <a:fillRect/>
          </a:stretch>
        </p:blipFill>
        <p:spPr>
          <a:xfrm>
            <a:off x="457200" y="1234921"/>
            <a:ext cx="5806440" cy="2915972"/>
          </a:xfrm>
          <a:prstGeom prst="rect">
            <a:avLst/>
          </a:prstGeom>
        </p:spPr>
      </p:pic>
      <p:sp>
        <p:nvSpPr>
          <p:cNvPr id="12" name="TextBox 11"/>
          <p:cNvSpPr txBox="1"/>
          <p:nvPr/>
        </p:nvSpPr>
        <p:spPr>
          <a:xfrm>
            <a:off x="6492240" y="1207008"/>
            <a:ext cx="525780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customers are telling us</a:t>
            </a:r>
          </a:p>
        </p:txBody>
      </p:sp>
      <p:sp>
        <p:nvSpPr>
          <p:cNvPr id="13" name="TextBox 12"/>
          <p:cNvSpPr txBox="1"/>
          <p:nvPr/>
        </p:nvSpPr>
        <p:spPr>
          <a:xfrm>
            <a:off x="6492240" y="1536192"/>
            <a:ext cx="5257800" cy="2194560"/>
          </a:xfrm>
          <a:prstGeom prst="rect">
            <a:avLst/>
          </a:prstGeom>
          <a:noFill/>
        </p:spPr>
        <p:txBody>
          <a:bodyPr wrap="square" lIns="0" rIns="0" tIns="0" bIns="0" anchor="t">
            <a:spAutoFit/>
          </a:bodyPr>
          <a:lstStyle/>
          <a:p>
            <a:pPr algn="l">
              <a:lnSpc>
                <a:spcPct val="132000"/>
              </a:lnSpc>
              <a:spcAft>
                <a:spcPts val="800"/>
              </a:spcAft>
            </a:pPr>
            <a:r>
              <a:rPr sz="1000" b="1">
                <a:solidFill>
                  <a:srgbClr val="1A1A1A"/>
                </a:solidFill>
                <a:latin typeface="Inter"/>
              </a:rPr>
              <a:t>35.4% of negative comments mention a missing refund or an issue that was not resolved. </a:t>
            </a:r>
            <a:r>
              <a:rPr sz="1000" b="0">
                <a:solidFill>
                  <a:srgbClr val="4B5563"/>
                </a:solidFill>
                <a:latin typeface="Inter"/>
              </a:rPr>
              <a:t>Agent attitude, which is heavily represented in QA, appears in only 4.3% of these comments.</a:t>
            </a:r>
          </a:p>
          <a:p>
            <a:pPr algn="l">
              <a:lnSpc>
                <a:spcPct val="132000"/>
              </a:lnSpc>
              <a:spcAft>
                <a:spcPts val="800"/>
              </a:spcAft>
            </a:pPr>
            <a:r>
              <a:rPr sz="1000" b="0">
                <a:solidFill>
                  <a:srgbClr val="4B5563"/>
                </a:solidFill>
                <a:latin typeface="Inter"/>
              </a:rPr>
              <a:t>Customers are mainly describing unresolved issues rather than poor agent behaviour.</a:t>
            </a:r>
          </a:p>
        </p:txBody>
      </p:sp>
      <p:sp>
        <p:nvSpPr>
          <p:cNvPr id="14" name="TextBox 13"/>
          <p:cNvSpPr txBox="1"/>
          <p:nvPr/>
        </p:nvSpPr>
        <p:spPr>
          <a:xfrm>
            <a:off x="6492240" y="3218688"/>
            <a:ext cx="525780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Who owns the dissatisfaction</a:t>
            </a:r>
          </a:p>
        </p:txBody>
      </p:sp>
      <p:sp>
        <p:nvSpPr>
          <p:cNvPr id="15" name="Rectangle 14"/>
          <p:cNvSpPr/>
          <p:nvPr/>
        </p:nvSpPr>
        <p:spPr>
          <a:xfrm>
            <a:off x="6492240" y="3529584"/>
            <a:ext cx="438912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0255" y="3529584"/>
            <a:ext cx="257860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Owner the auditor tagged</a:t>
            </a:r>
          </a:p>
        </p:txBody>
      </p:sp>
      <p:sp>
        <p:nvSpPr>
          <p:cNvPr id="17" name="TextBox 16"/>
          <p:cNvSpPr txBox="1"/>
          <p:nvPr/>
        </p:nvSpPr>
        <p:spPr>
          <a:xfrm>
            <a:off x="9454896" y="3529584"/>
            <a:ext cx="521207"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Cases</a:t>
            </a:r>
          </a:p>
        </p:txBody>
      </p:sp>
      <p:sp>
        <p:nvSpPr>
          <p:cNvPr id="18" name="TextBox 17"/>
          <p:cNvSpPr txBox="1"/>
          <p:nvPr/>
        </p:nvSpPr>
        <p:spPr>
          <a:xfrm>
            <a:off x="10232136" y="3529584"/>
            <a:ext cx="521207"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Share</a:t>
            </a:r>
          </a:p>
        </p:txBody>
      </p:sp>
      <p:sp>
        <p:nvSpPr>
          <p:cNvPr id="19" name="TextBox 18"/>
          <p:cNvSpPr txBox="1"/>
          <p:nvPr/>
        </p:nvSpPr>
        <p:spPr>
          <a:xfrm>
            <a:off x="6620255" y="3858768"/>
            <a:ext cx="2578608" cy="40233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CX Process</a:t>
            </a:r>
          </a:p>
        </p:txBody>
      </p:sp>
      <p:sp>
        <p:nvSpPr>
          <p:cNvPr id="20" name="TextBox 19"/>
          <p:cNvSpPr txBox="1"/>
          <p:nvPr/>
        </p:nvSpPr>
        <p:spPr>
          <a:xfrm>
            <a:off x="9454896" y="3858768"/>
            <a:ext cx="521207" cy="40233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54</a:t>
            </a:r>
          </a:p>
        </p:txBody>
      </p:sp>
      <p:sp>
        <p:nvSpPr>
          <p:cNvPr id="21" name="TextBox 20"/>
          <p:cNvSpPr txBox="1"/>
          <p:nvPr/>
        </p:nvSpPr>
        <p:spPr>
          <a:xfrm>
            <a:off x="10232136" y="3858768"/>
            <a:ext cx="521207" cy="40233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49.5%</a:t>
            </a:r>
          </a:p>
        </p:txBody>
      </p:sp>
      <p:sp>
        <p:nvSpPr>
          <p:cNvPr id="22" name="Rectangle 21"/>
          <p:cNvSpPr/>
          <p:nvPr/>
        </p:nvSpPr>
        <p:spPr>
          <a:xfrm>
            <a:off x="6492240" y="4256341"/>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261104"/>
            <a:ext cx="4389120" cy="40233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0255" y="4261104"/>
            <a:ext cx="2578608" cy="40233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People (CSR)</a:t>
            </a:r>
          </a:p>
        </p:txBody>
      </p:sp>
      <p:sp>
        <p:nvSpPr>
          <p:cNvPr id="25" name="TextBox 24"/>
          <p:cNvSpPr txBox="1"/>
          <p:nvPr/>
        </p:nvSpPr>
        <p:spPr>
          <a:xfrm>
            <a:off x="9454896" y="4261104"/>
            <a:ext cx="521207" cy="40233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24</a:t>
            </a:r>
          </a:p>
        </p:txBody>
      </p:sp>
      <p:sp>
        <p:nvSpPr>
          <p:cNvPr id="26" name="TextBox 25"/>
          <p:cNvSpPr txBox="1"/>
          <p:nvPr/>
        </p:nvSpPr>
        <p:spPr>
          <a:xfrm>
            <a:off x="10232136" y="4261104"/>
            <a:ext cx="521207" cy="40233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22.0%</a:t>
            </a:r>
          </a:p>
        </p:txBody>
      </p:sp>
      <p:sp>
        <p:nvSpPr>
          <p:cNvPr id="27" name="Rectangle 26"/>
          <p:cNvSpPr/>
          <p:nvPr/>
        </p:nvSpPr>
        <p:spPr>
          <a:xfrm>
            <a:off x="6492240" y="4658677"/>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0255" y="4663440"/>
            <a:ext cx="2578608" cy="40233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End User</a:t>
            </a:r>
          </a:p>
        </p:txBody>
      </p:sp>
      <p:sp>
        <p:nvSpPr>
          <p:cNvPr id="29" name="TextBox 28"/>
          <p:cNvSpPr txBox="1"/>
          <p:nvPr/>
        </p:nvSpPr>
        <p:spPr>
          <a:xfrm>
            <a:off x="9454896" y="4663440"/>
            <a:ext cx="521207" cy="40233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11</a:t>
            </a:r>
          </a:p>
        </p:txBody>
      </p:sp>
      <p:sp>
        <p:nvSpPr>
          <p:cNvPr id="30" name="TextBox 29"/>
          <p:cNvSpPr txBox="1"/>
          <p:nvPr/>
        </p:nvSpPr>
        <p:spPr>
          <a:xfrm>
            <a:off x="10232136" y="4663440"/>
            <a:ext cx="521207" cy="40233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10.1%</a:t>
            </a:r>
          </a:p>
        </p:txBody>
      </p:sp>
      <p:sp>
        <p:nvSpPr>
          <p:cNvPr id="31" name="Rectangle 30"/>
          <p:cNvSpPr/>
          <p:nvPr/>
        </p:nvSpPr>
        <p:spPr>
          <a:xfrm>
            <a:off x="6492240" y="5061013"/>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92240" y="5065776"/>
            <a:ext cx="4389120" cy="40233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0255" y="5065776"/>
            <a:ext cx="2578608" cy="40233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External Factors</a:t>
            </a:r>
          </a:p>
        </p:txBody>
      </p:sp>
      <p:sp>
        <p:nvSpPr>
          <p:cNvPr id="34" name="TextBox 33"/>
          <p:cNvSpPr txBox="1"/>
          <p:nvPr/>
        </p:nvSpPr>
        <p:spPr>
          <a:xfrm>
            <a:off x="9454896" y="5065776"/>
            <a:ext cx="521207" cy="40233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10</a:t>
            </a:r>
          </a:p>
        </p:txBody>
      </p:sp>
      <p:sp>
        <p:nvSpPr>
          <p:cNvPr id="35" name="TextBox 34"/>
          <p:cNvSpPr txBox="1"/>
          <p:nvPr/>
        </p:nvSpPr>
        <p:spPr>
          <a:xfrm>
            <a:off x="10232136" y="5065776"/>
            <a:ext cx="521207" cy="40233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9.2%</a:t>
            </a:r>
          </a:p>
        </p:txBody>
      </p:sp>
      <p:sp>
        <p:nvSpPr>
          <p:cNvPr id="36" name="Rectangle 35"/>
          <p:cNvSpPr/>
          <p:nvPr/>
        </p:nvSpPr>
        <p:spPr>
          <a:xfrm>
            <a:off x="6492240" y="5463349"/>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4334256"/>
            <a:ext cx="5806440" cy="137160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4334256"/>
            <a:ext cx="38404" cy="13716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4517136"/>
            <a:ext cx="5239512" cy="292608"/>
          </a:xfrm>
          <a:prstGeom prst="rect">
            <a:avLst/>
          </a:prstGeom>
          <a:noFill/>
        </p:spPr>
        <p:txBody>
          <a:bodyPr wrap="square" lIns="0" rIns="0" tIns="0" bIns="0" anchor="t">
            <a:spAutoFit/>
          </a:bodyPr>
          <a:lstStyle/>
          <a:p>
            <a:pPr algn="l">
              <a:lnSpc>
                <a:spcPct val="115000"/>
              </a:lnSpc>
              <a:spcAft>
                <a:spcPts val="0"/>
              </a:spcAft>
            </a:pPr>
            <a:r>
              <a:rPr sz="1150" b="1">
                <a:solidFill>
                  <a:srgbClr val="1A1A1A"/>
                </a:solidFill>
                <a:latin typeface="Inter"/>
              </a:rPr>
              <a:t>Does higher QA mean better customer outcomes?</a:t>
            </a:r>
          </a:p>
        </p:txBody>
      </p:sp>
      <p:sp>
        <p:nvSpPr>
          <p:cNvPr id="40" name="TextBox 39"/>
          <p:cNvSpPr txBox="1"/>
          <p:nvPr/>
        </p:nvSpPr>
        <p:spPr>
          <a:xfrm>
            <a:off x="768096" y="4901184"/>
            <a:ext cx="5239512" cy="658368"/>
          </a:xfrm>
          <a:prstGeom prst="rect">
            <a:avLst/>
          </a:prstGeom>
          <a:noFill/>
        </p:spPr>
        <p:txBody>
          <a:bodyPr wrap="square" lIns="0" rIns="0" tIns="0" bIns="0" anchor="t">
            <a:spAutoFit/>
          </a:bodyPr>
          <a:lstStyle/>
          <a:p>
            <a:pPr algn="l">
              <a:lnSpc>
                <a:spcPct val="132000"/>
              </a:lnSpc>
              <a:spcAft>
                <a:spcPts val="400"/>
              </a:spcAft>
            </a:pPr>
            <a:r>
              <a:rPr sz="950" b="0">
                <a:solidFill>
                  <a:srgbClr val="4B5563"/>
                </a:solidFill>
                <a:latin typeface="Inter"/>
              </a:rPr>
              <a:t>QA versus CSAT on 45 shared contact reasons: r = -0.151. R² = 0.023. QA explains 2.3% of how CSAT varies. Almost none. QA versus recontact: r = -0.078. Same story. Improving QA as we score it today would not directly improve CSAT.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148840"/>
            <a:ext cx="2743200" cy="1005840"/>
          </a:xfrm>
          <a:prstGeom prst="rect">
            <a:avLst/>
          </a:prstGeom>
          <a:noFill/>
        </p:spPr>
        <p:txBody>
          <a:bodyPr wrap="square" lIns="0" rIns="0" tIns="0" bIns="0" anchor="t">
            <a:spAutoFit/>
          </a:bodyPr>
          <a:lstStyle/>
          <a:p>
            <a:pPr algn="l">
              <a:lnSpc>
                <a:spcPct val="115000"/>
              </a:lnSpc>
              <a:spcAft>
                <a:spcPts val="0"/>
              </a:spcAft>
            </a:pPr>
            <a:r>
              <a:rPr sz="6400" b="1">
                <a:solidFill>
                  <a:srgbClr val="FF6600"/>
                </a:solidFill>
                <a:latin typeface="Inter"/>
              </a:rPr>
              <a:t>03</a:t>
            </a:r>
          </a:p>
        </p:txBody>
      </p:sp>
      <p:sp>
        <p:nvSpPr>
          <p:cNvPr id="5" name="TextBox 4"/>
          <p:cNvSpPr txBox="1"/>
          <p:nvPr/>
        </p:nvSpPr>
        <p:spPr>
          <a:xfrm>
            <a:off x="1188720" y="3246120"/>
            <a:ext cx="8686800" cy="548640"/>
          </a:xfrm>
          <a:prstGeom prst="rect">
            <a:avLst/>
          </a:prstGeom>
          <a:noFill/>
        </p:spPr>
        <p:txBody>
          <a:bodyPr wrap="square" lIns="0" rIns="0" tIns="0" bIns="0" anchor="t">
            <a:spAutoFit/>
          </a:bodyPr>
          <a:lstStyle/>
          <a:p>
            <a:pPr algn="l">
              <a:lnSpc>
                <a:spcPct val="115000"/>
              </a:lnSpc>
              <a:spcAft>
                <a:spcPts val="0"/>
              </a:spcAft>
            </a:pPr>
            <a:r>
              <a:rPr sz="3000" b="1">
                <a:solidFill>
                  <a:srgbClr val="FFFFFF"/>
                </a:solidFill>
                <a:latin typeface="Inter"/>
              </a:rPr>
              <a:t>Recontact analysis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87952"/>
            <a:ext cx="7863840" cy="822960"/>
          </a:xfrm>
          <a:prstGeom prst="rect">
            <a:avLst/>
          </a:prstGeom>
          <a:noFill/>
        </p:spPr>
        <p:txBody>
          <a:bodyPr wrap="square" lIns="0" rIns="0" tIns="0" bIns="0" anchor="t">
            <a:spAutoFit/>
          </a:bodyPr>
          <a:lstStyle/>
          <a:p>
            <a:pPr algn="l">
              <a:lnSpc>
                <a:spcPct val="140000"/>
              </a:lnSpc>
              <a:spcAft>
                <a:spcPts val="0"/>
              </a:spcAft>
            </a:pPr>
            <a:r>
              <a:rPr sz="1300" b="0">
                <a:solidFill>
                  <a:srgbClr val="C9CCD1"/>
                </a:solidFill>
                <a:latin typeface="Inter"/>
              </a:rPr>
              <a:t>Rate against goal. Which channels and contact reasons drive repeat contacts.</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rIns="0" tIns="0" bIns="0" anchor="ctr">
            <a:spAutoFit/>
          </a:bodyPr>
          <a:lstStyle/>
          <a:p>
            <a:pPr algn="l">
              <a:lnSpc>
                <a:spcPct val="115000"/>
              </a:lnSpc>
              <a:spcAft>
                <a:spcPts val="0"/>
              </a:spcAft>
            </a:pPr>
            <a:r>
              <a:rPr sz="1500" b="1">
                <a:solidFill>
                  <a:srgbClr val="FFFFFF"/>
                </a:solidFill>
                <a:latin typeface="Inter"/>
              </a:rPr>
              <a:t>DiDi</a:t>
            </a:r>
          </a:p>
        </p:txBody>
      </p:sp>
      <p:sp>
        <p:nvSpPr>
          <p:cNvPr id="10" name="TextBox 9"/>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Recontact analysis</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5.83% is global (all 12 channels) vs 5.44% goal  ·  Human channels (Phone + Chat): 15.56%</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17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rc_scope.png"/>
          <p:cNvPicPr>
            <a:picLocks noChangeAspect="1"/>
          </p:cNvPicPr>
          <p:nvPr/>
        </p:nvPicPr>
        <p:blipFill>
          <a:blip r:embed="rId3"/>
          <a:stretch>
            <a:fillRect/>
          </a:stretch>
        </p:blipFill>
        <p:spPr>
          <a:xfrm>
            <a:off x="960120" y="1207008"/>
            <a:ext cx="4663440" cy="2331720"/>
          </a:xfrm>
          <a:prstGeom prst="rect">
            <a:avLst/>
          </a:prstGeom>
        </p:spPr>
      </p:pic>
      <p:sp>
        <p:nvSpPr>
          <p:cNvPr id="12" name="TextBox 11"/>
          <p:cNvSpPr txBox="1"/>
          <p:nvPr/>
        </p:nvSpPr>
        <p:spPr>
          <a:xfrm>
            <a:off x="6355080" y="1207008"/>
            <a:ext cx="539496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Rate by channel: where customers contact us again</a:t>
            </a:r>
          </a:p>
        </p:txBody>
      </p:sp>
      <p:sp>
        <p:nvSpPr>
          <p:cNvPr id="13" name="Rectangle 12"/>
          <p:cNvSpPr/>
          <p:nvPr/>
        </p:nvSpPr>
        <p:spPr>
          <a:xfrm>
            <a:off x="6355080" y="1517904"/>
            <a:ext cx="5394960" cy="3474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1517904"/>
            <a:ext cx="1344168" cy="347472"/>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Channel</a:t>
            </a:r>
          </a:p>
        </p:txBody>
      </p:sp>
      <p:sp>
        <p:nvSpPr>
          <p:cNvPr id="15" name="TextBox 14"/>
          <p:cNvSpPr txBox="1"/>
          <p:nvPr/>
        </p:nvSpPr>
        <p:spPr>
          <a:xfrm>
            <a:off x="8083296" y="1517904"/>
            <a:ext cx="704088" cy="347472"/>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Contacts</a:t>
            </a:r>
          </a:p>
        </p:txBody>
      </p:sp>
      <p:sp>
        <p:nvSpPr>
          <p:cNvPr id="16" name="TextBox 15"/>
          <p:cNvSpPr txBox="1"/>
          <p:nvPr/>
        </p:nvSpPr>
        <p:spPr>
          <a:xfrm>
            <a:off x="9043416" y="1517904"/>
            <a:ext cx="612647" cy="347472"/>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Repeats</a:t>
            </a:r>
          </a:p>
        </p:txBody>
      </p:sp>
      <p:sp>
        <p:nvSpPr>
          <p:cNvPr id="17" name="TextBox 16"/>
          <p:cNvSpPr txBox="1"/>
          <p:nvPr/>
        </p:nvSpPr>
        <p:spPr>
          <a:xfrm>
            <a:off x="9912096" y="1517904"/>
            <a:ext cx="429768" cy="347472"/>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Rate</a:t>
            </a:r>
          </a:p>
        </p:txBody>
      </p:sp>
      <p:sp>
        <p:nvSpPr>
          <p:cNvPr id="18" name="TextBox 17"/>
          <p:cNvSpPr txBox="1"/>
          <p:nvPr/>
        </p:nvSpPr>
        <p:spPr>
          <a:xfrm>
            <a:off x="10597896" y="1517904"/>
            <a:ext cx="1024127" cy="347472"/>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Share of repeats</a:t>
            </a:r>
          </a:p>
        </p:txBody>
      </p:sp>
      <p:sp>
        <p:nvSpPr>
          <p:cNvPr id="19" name="TextBox 18"/>
          <p:cNvSpPr txBox="1"/>
          <p:nvPr/>
        </p:nvSpPr>
        <p:spPr>
          <a:xfrm>
            <a:off x="6483096" y="1865376"/>
            <a:ext cx="1344168" cy="420624"/>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Live Chat</a:t>
            </a:r>
          </a:p>
        </p:txBody>
      </p:sp>
      <p:sp>
        <p:nvSpPr>
          <p:cNvPr id="20" name="TextBox 19"/>
          <p:cNvSpPr txBox="1"/>
          <p:nvPr/>
        </p:nvSpPr>
        <p:spPr>
          <a:xfrm>
            <a:off x="8083296" y="1865376"/>
            <a:ext cx="704088"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243,626</a:t>
            </a:r>
          </a:p>
        </p:txBody>
      </p:sp>
      <p:sp>
        <p:nvSpPr>
          <p:cNvPr id="21" name="TextBox 20"/>
          <p:cNvSpPr txBox="1"/>
          <p:nvPr/>
        </p:nvSpPr>
        <p:spPr>
          <a:xfrm>
            <a:off x="9043416" y="1865376"/>
            <a:ext cx="61264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38,961</a:t>
            </a:r>
          </a:p>
        </p:txBody>
      </p:sp>
      <p:sp>
        <p:nvSpPr>
          <p:cNvPr id="22" name="Rounded Rectangle 21"/>
          <p:cNvSpPr/>
          <p:nvPr/>
        </p:nvSpPr>
        <p:spPr>
          <a:xfrm>
            <a:off x="9848088" y="1929384"/>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12096" y="1865376"/>
            <a:ext cx="429768" cy="420624"/>
          </a:xfrm>
          <a:prstGeom prst="rect">
            <a:avLst/>
          </a:prstGeom>
          <a:noFill/>
        </p:spPr>
        <p:txBody>
          <a:bodyPr wrap="square" lIns="0" rIns="0" tIns="0" bIns="0" anchor="ctr">
            <a:spAutoFit/>
          </a:bodyPr>
          <a:lstStyle/>
          <a:p>
            <a:pPr algn="r">
              <a:lnSpc>
                <a:spcPct val="115000"/>
              </a:lnSpc>
              <a:spcAft>
                <a:spcPts val="0"/>
              </a:spcAft>
            </a:pPr>
            <a:r>
              <a:rPr sz="819" b="1">
                <a:solidFill>
                  <a:srgbClr val="E11D2E"/>
                </a:solidFill>
                <a:latin typeface="Inter"/>
              </a:rPr>
              <a:t>15.99%</a:t>
            </a:r>
          </a:p>
        </p:txBody>
      </p:sp>
      <p:sp>
        <p:nvSpPr>
          <p:cNvPr id="24" name="TextBox 23"/>
          <p:cNvSpPr txBox="1"/>
          <p:nvPr/>
        </p:nvSpPr>
        <p:spPr>
          <a:xfrm>
            <a:off x="10597896" y="1865376"/>
            <a:ext cx="102412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67.2%</a:t>
            </a:r>
          </a:p>
        </p:txBody>
      </p:sp>
      <p:sp>
        <p:nvSpPr>
          <p:cNvPr id="25" name="Rectangle 24"/>
          <p:cNvSpPr/>
          <p:nvPr/>
        </p:nvSpPr>
        <p:spPr>
          <a:xfrm>
            <a:off x="6355080" y="2281237"/>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55080" y="2286000"/>
            <a:ext cx="539496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3096" y="2286000"/>
            <a:ext cx="1344168" cy="420624"/>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Self Help</a:t>
            </a:r>
          </a:p>
        </p:txBody>
      </p:sp>
      <p:sp>
        <p:nvSpPr>
          <p:cNvPr id="28" name="TextBox 27"/>
          <p:cNvSpPr txBox="1"/>
          <p:nvPr/>
        </p:nvSpPr>
        <p:spPr>
          <a:xfrm>
            <a:off x="8083296" y="2286000"/>
            <a:ext cx="704088"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666,650</a:t>
            </a:r>
          </a:p>
        </p:txBody>
      </p:sp>
      <p:sp>
        <p:nvSpPr>
          <p:cNvPr id="29" name="TextBox 28"/>
          <p:cNvSpPr txBox="1"/>
          <p:nvPr/>
        </p:nvSpPr>
        <p:spPr>
          <a:xfrm>
            <a:off x="9043416" y="2286000"/>
            <a:ext cx="61264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8,154</a:t>
            </a:r>
          </a:p>
        </p:txBody>
      </p:sp>
      <p:sp>
        <p:nvSpPr>
          <p:cNvPr id="30" name="Rounded Rectangle 29"/>
          <p:cNvSpPr/>
          <p:nvPr/>
        </p:nvSpPr>
        <p:spPr>
          <a:xfrm>
            <a:off x="9848088" y="2350008"/>
            <a:ext cx="55778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12096" y="2286000"/>
            <a:ext cx="429768" cy="420624"/>
          </a:xfrm>
          <a:prstGeom prst="rect">
            <a:avLst/>
          </a:prstGeom>
          <a:noFill/>
        </p:spPr>
        <p:txBody>
          <a:bodyPr wrap="square" lIns="0" rIns="0" tIns="0" bIns="0" anchor="ctr">
            <a:spAutoFit/>
          </a:bodyPr>
          <a:lstStyle/>
          <a:p>
            <a:pPr algn="r">
              <a:lnSpc>
                <a:spcPct val="115000"/>
              </a:lnSpc>
              <a:spcAft>
                <a:spcPts val="0"/>
              </a:spcAft>
            </a:pPr>
            <a:r>
              <a:rPr sz="819" b="1">
                <a:solidFill>
                  <a:srgbClr val="16A34A"/>
                </a:solidFill>
                <a:latin typeface="Inter"/>
              </a:rPr>
              <a:t>1.22%</a:t>
            </a:r>
          </a:p>
        </p:txBody>
      </p:sp>
      <p:sp>
        <p:nvSpPr>
          <p:cNvPr id="32" name="TextBox 31"/>
          <p:cNvSpPr txBox="1"/>
          <p:nvPr/>
        </p:nvSpPr>
        <p:spPr>
          <a:xfrm>
            <a:off x="10597896" y="2286000"/>
            <a:ext cx="102412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14.1%</a:t>
            </a:r>
          </a:p>
        </p:txBody>
      </p:sp>
      <p:sp>
        <p:nvSpPr>
          <p:cNvPr id="33" name="Rectangle 32"/>
          <p:cNvSpPr/>
          <p:nvPr/>
        </p:nvSpPr>
        <p:spPr>
          <a:xfrm>
            <a:off x="6355080" y="2701861"/>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3096" y="2706624"/>
            <a:ext cx="1344168" cy="420624"/>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Phone</a:t>
            </a:r>
          </a:p>
        </p:txBody>
      </p:sp>
      <p:sp>
        <p:nvSpPr>
          <p:cNvPr id="35" name="TextBox 34"/>
          <p:cNvSpPr txBox="1"/>
          <p:nvPr/>
        </p:nvSpPr>
        <p:spPr>
          <a:xfrm>
            <a:off x="8083296" y="2706624"/>
            <a:ext cx="704088"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49,674</a:t>
            </a:r>
          </a:p>
        </p:txBody>
      </p:sp>
      <p:sp>
        <p:nvSpPr>
          <p:cNvPr id="36" name="TextBox 35"/>
          <p:cNvSpPr txBox="1"/>
          <p:nvPr/>
        </p:nvSpPr>
        <p:spPr>
          <a:xfrm>
            <a:off x="9043416" y="2706624"/>
            <a:ext cx="61264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6,690</a:t>
            </a:r>
          </a:p>
        </p:txBody>
      </p:sp>
      <p:sp>
        <p:nvSpPr>
          <p:cNvPr id="37" name="Rounded Rectangle 36"/>
          <p:cNvSpPr/>
          <p:nvPr/>
        </p:nvSpPr>
        <p:spPr>
          <a:xfrm>
            <a:off x="9848088" y="2770632"/>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12096" y="2706624"/>
            <a:ext cx="429768" cy="420624"/>
          </a:xfrm>
          <a:prstGeom prst="rect">
            <a:avLst/>
          </a:prstGeom>
          <a:noFill/>
        </p:spPr>
        <p:txBody>
          <a:bodyPr wrap="square" lIns="0" rIns="0" tIns="0" bIns="0" anchor="ctr">
            <a:spAutoFit/>
          </a:bodyPr>
          <a:lstStyle/>
          <a:p>
            <a:pPr algn="r">
              <a:lnSpc>
                <a:spcPct val="115000"/>
              </a:lnSpc>
              <a:spcAft>
                <a:spcPts val="0"/>
              </a:spcAft>
            </a:pPr>
            <a:r>
              <a:rPr sz="819" b="1">
                <a:solidFill>
                  <a:srgbClr val="E11D2E"/>
                </a:solidFill>
                <a:latin typeface="Inter"/>
              </a:rPr>
              <a:t>13.47%</a:t>
            </a:r>
          </a:p>
        </p:txBody>
      </p:sp>
      <p:sp>
        <p:nvSpPr>
          <p:cNvPr id="39" name="TextBox 38"/>
          <p:cNvSpPr txBox="1"/>
          <p:nvPr/>
        </p:nvSpPr>
        <p:spPr>
          <a:xfrm>
            <a:off x="10597896" y="2706624"/>
            <a:ext cx="102412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11.5%</a:t>
            </a:r>
          </a:p>
        </p:txBody>
      </p:sp>
      <p:sp>
        <p:nvSpPr>
          <p:cNvPr id="40" name="Rectangle 39"/>
          <p:cNvSpPr/>
          <p:nvPr/>
        </p:nvSpPr>
        <p:spPr>
          <a:xfrm>
            <a:off x="6355080" y="3122485"/>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55080" y="3127248"/>
            <a:ext cx="539496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83096" y="3127248"/>
            <a:ext cx="1344168" cy="420624"/>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GPTBot</a:t>
            </a:r>
          </a:p>
        </p:txBody>
      </p:sp>
      <p:sp>
        <p:nvSpPr>
          <p:cNvPr id="43" name="TextBox 42"/>
          <p:cNvSpPr txBox="1"/>
          <p:nvPr/>
        </p:nvSpPr>
        <p:spPr>
          <a:xfrm>
            <a:off x="8083296" y="3127248"/>
            <a:ext cx="704088"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19,508</a:t>
            </a:r>
          </a:p>
        </p:txBody>
      </p:sp>
      <p:sp>
        <p:nvSpPr>
          <p:cNvPr id="44" name="TextBox 43"/>
          <p:cNvSpPr txBox="1"/>
          <p:nvPr/>
        </p:nvSpPr>
        <p:spPr>
          <a:xfrm>
            <a:off x="9043416" y="3127248"/>
            <a:ext cx="61264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2,679</a:t>
            </a:r>
          </a:p>
        </p:txBody>
      </p:sp>
      <p:sp>
        <p:nvSpPr>
          <p:cNvPr id="45" name="Rounded Rectangle 44"/>
          <p:cNvSpPr/>
          <p:nvPr/>
        </p:nvSpPr>
        <p:spPr>
          <a:xfrm>
            <a:off x="9848088" y="3191256"/>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12096" y="3127248"/>
            <a:ext cx="429768" cy="420624"/>
          </a:xfrm>
          <a:prstGeom prst="rect">
            <a:avLst/>
          </a:prstGeom>
          <a:noFill/>
        </p:spPr>
        <p:txBody>
          <a:bodyPr wrap="square" lIns="0" rIns="0" tIns="0" bIns="0" anchor="ctr">
            <a:spAutoFit/>
          </a:bodyPr>
          <a:lstStyle/>
          <a:p>
            <a:pPr algn="r">
              <a:lnSpc>
                <a:spcPct val="115000"/>
              </a:lnSpc>
              <a:spcAft>
                <a:spcPts val="0"/>
              </a:spcAft>
            </a:pPr>
            <a:r>
              <a:rPr sz="819" b="1">
                <a:solidFill>
                  <a:srgbClr val="E11D2E"/>
                </a:solidFill>
                <a:latin typeface="Inter"/>
              </a:rPr>
              <a:t>13.73%</a:t>
            </a:r>
          </a:p>
        </p:txBody>
      </p:sp>
      <p:sp>
        <p:nvSpPr>
          <p:cNvPr id="47" name="TextBox 46"/>
          <p:cNvSpPr txBox="1"/>
          <p:nvPr/>
        </p:nvSpPr>
        <p:spPr>
          <a:xfrm>
            <a:off x="10597896" y="3127248"/>
            <a:ext cx="102412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4.6%</a:t>
            </a:r>
          </a:p>
        </p:txBody>
      </p:sp>
      <p:sp>
        <p:nvSpPr>
          <p:cNvPr id="48" name="Rectangle 47"/>
          <p:cNvSpPr/>
          <p:nvPr/>
        </p:nvSpPr>
        <p:spPr>
          <a:xfrm>
            <a:off x="6355080" y="3543109"/>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83096" y="3547872"/>
            <a:ext cx="1344168" cy="420624"/>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Help Center</a:t>
            </a:r>
          </a:p>
        </p:txBody>
      </p:sp>
      <p:sp>
        <p:nvSpPr>
          <p:cNvPr id="50" name="TextBox 49"/>
          <p:cNvSpPr txBox="1"/>
          <p:nvPr/>
        </p:nvSpPr>
        <p:spPr>
          <a:xfrm>
            <a:off x="8083296" y="3547872"/>
            <a:ext cx="704088"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12,224</a:t>
            </a:r>
          </a:p>
        </p:txBody>
      </p:sp>
      <p:sp>
        <p:nvSpPr>
          <p:cNvPr id="51" name="TextBox 50"/>
          <p:cNvSpPr txBox="1"/>
          <p:nvPr/>
        </p:nvSpPr>
        <p:spPr>
          <a:xfrm>
            <a:off x="9043416" y="3547872"/>
            <a:ext cx="61264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941</a:t>
            </a:r>
          </a:p>
        </p:txBody>
      </p:sp>
      <p:sp>
        <p:nvSpPr>
          <p:cNvPr id="52" name="Rounded Rectangle 51"/>
          <p:cNvSpPr/>
          <p:nvPr/>
        </p:nvSpPr>
        <p:spPr>
          <a:xfrm>
            <a:off x="9848088" y="3611879"/>
            <a:ext cx="55778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912096" y="3547872"/>
            <a:ext cx="429768" cy="420624"/>
          </a:xfrm>
          <a:prstGeom prst="rect">
            <a:avLst/>
          </a:prstGeom>
          <a:noFill/>
        </p:spPr>
        <p:txBody>
          <a:bodyPr wrap="square" lIns="0" rIns="0" tIns="0" bIns="0" anchor="ctr">
            <a:spAutoFit/>
          </a:bodyPr>
          <a:lstStyle/>
          <a:p>
            <a:pPr algn="r">
              <a:lnSpc>
                <a:spcPct val="115000"/>
              </a:lnSpc>
              <a:spcAft>
                <a:spcPts val="0"/>
              </a:spcAft>
            </a:pPr>
            <a:r>
              <a:rPr sz="819" b="1">
                <a:solidFill>
                  <a:srgbClr val="F59E0B"/>
                </a:solidFill>
                <a:latin typeface="Inter"/>
              </a:rPr>
              <a:t>7.70%</a:t>
            </a:r>
          </a:p>
        </p:txBody>
      </p:sp>
      <p:sp>
        <p:nvSpPr>
          <p:cNvPr id="54" name="TextBox 53"/>
          <p:cNvSpPr txBox="1"/>
          <p:nvPr/>
        </p:nvSpPr>
        <p:spPr>
          <a:xfrm>
            <a:off x="10597896" y="3547872"/>
            <a:ext cx="1024127" cy="420624"/>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1.6%</a:t>
            </a:r>
          </a:p>
        </p:txBody>
      </p:sp>
      <p:sp>
        <p:nvSpPr>
          <p:cNvPr id="55" name="Rectangle 54"/>
          <p:cNvSpPr/>
          <p:nvPr/>
        </p:nvSpPr>
        <p:spPr>
          <a:xfrm>
            <a:off x="6355080" y="3963733"/>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55080" y="4206240"/>
            <a:ext cx="539496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Two rates. Do not mix them.</a:t>
            </a:r>
          </a:p>
        </p:txBody>
      </p:sp>
      <p:sp>
        <p:nvSpPr>
          <p:cNvPr id="57" name="Rectangle 56"/>
          <p:cNvSpPr/>
          <p:nvPr/>
        </p:nvSpPr>
        <p:spPr>
          <a:xfrm>
            <a:off x="635508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92824" y="4489703"/>
            <a:ext cx="515721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Self Help represents 67% of contacts and has a 1.22% recontact rate, which lowers the official business rate to 5.83%.</a:t>
            </a:r>
          </a:p>
        </p:txBody>
      </p:sp>
      <p:sp>
        <p:nvSpPr>
          <p:cNvPr id="59" name="Rectangle 58"/>
          <p:cNvSpPr/>
          <p:nvPr/>
        </p:nvSpPr>
        <p:spPr>
          <a:xfrm>
            <a:off x="6355080" y="487832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92824" y="4782312"/>
            <a:ext cx="515721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Human-assisted channels are much higher at 15.56%.</a:t>
            </a:r>
          </a:p>
        </p:txBody>
      </p:sp>
      <p:sp>
        <p:nvSpPr>
          <p:cNvPr id="61" name="Rectangle 60"/>
          <p:cNvSpPr/>
          <p:nvPr/>
        </p:nvSpPr>
        <p:spPr>
          <a:xfrm>
            <a:off x="6355080" y="517093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92824" y="5074920"/>
            <a:ext cx="515721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The official metric is therefore close to goal, while the channels handled by agents remain well above it.</a:t>
            </a:r>
          </a:p>
        </p:txBody>
      </p:sp>
      <p:sp>
        <p:nvSpPr>
          <p:cNvPr id="63" name="Rectangle 62"/>
          <p:cNvSpPr/>
          <p:nvPr/>
        </p:nvSpPr>
        <p:spPr>
          <a:xfrm>
            <a:off x="457200" y="3749039"/>
            <a:ext cx="5669280" cy="192024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57200" y="3749039"/>
            <a:ext cx="38404" cy="19202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68096" y="3931920"/>
            <a:ext cx="5102352" cy="292608"/>
          </a:xfrm>
          <a:prstGeom prst="rect">
            <a:avLst/>
          </a:prstGeom>
          <a:noFill/>
        </p:spPr>
        <p:txBody>
          <a:bodyPr wrap="square" lIns="0" rIns="0" tIns="0" bIns="0" anchor="t">
            <a:spAutoFit/>
          </a:bodyPr>
          <a:lstStyle/>
          <a:p>
            <a:pPr algn="l">
              <a:lnSpc>
                <a:spcPct val="115000"/>
              </a:lnSpc>
              <a:spcAft>
                <a:spcPts val="0"/>
              </a:spcAft>
            </a:pPr>
            <a:r>
              <a:rPr sz="1200" b="1">
                <a:solidFill>
                  <a:srgbClr val="1A1A1A"/>
                </a:solidFill>
                <a:latin typeface="Inter"/>
              </a:rPr>
              <a:t>Self Help is heavily influencing the official recontact rate</a:t>
            </a:r>
          </a:p>
        </p:txBody>
      </p:sp>
      <p:sp>
        <p:nvSpPr>
          <p:cNvPr id="66" name="TextBox 65"/>
          <p:cNvSpPr txBox="1"/>
          <p:nvPr/>
        </p:nvSpPr>
        <p:spPr>
          <a:xfrm>
            <a:off x="768096" y="4315968"/>
            <a:ext cx="5102352" cy="1207008"/>
          </a:xfrm>
          <a:prstGeom prst="rect">
            <a:avLst/>
          </a:prstGeom>
          <a:noFill/>
        </p:spPr>
        <p:txBody>
          <a:bodyPr wrap="square" lIns="0" rIns="0" tIns="0" bIns="0" anchor="t">
            <a:spAutoFit/>
          </a:bodyPr>
          <a:lstStyle/>
          <a:p>
            <a:pPr algn="l">
              <a:lnSpc>
                <a:spcPct val="132000"/>
              </a:lnSpc>
              <a:spcAft>
                <a:spcPts val="400"/>
              </a:spcAft>
            </a:pPr>
            <a:r>
              <a:rPr sz="950" b="0">
                <a:solidFill>
                  <a:srgbClr val="4B5563"/>
                </a:solidFill>
                <a:latin typeface="Inter"/>
              </a:rPr>
              <a:t>The official recontact rate is 5.83%, but excluding Self Help raises it to 15.19%, and Phone + Live Chat alone reach 15.56%. This is nearly three times the 5.44% goal. Live Chat generates 67.2% of repeat contacts. Track both figures: the official rate for business reporting and the human-channel rate for operational performance.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Recontact by contact reason</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Where customers contact us again</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18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recontact.png"/>
          <p:cNvPicPr>
            <a:picLocks noChangeAspect="1"/>
          </p:cNvPicPr>
          <p:nvPr/>
        </p:nvPicPr>
        <p:blipFill>
          <a:blip r:embed="rId3"/>
          <a:stretch>
            <a:fillRect/>
          </a:stretch>
        </p:blipFill>
        <p:spPr>
          <a:xfrm>
            <a:off x="971022" y="1207008"/>
            <a:ext cx="5647475" cy="3383279"/>
          </a:xfrm>
          <a:prstGeom prst="rect">
            <a:avLst/>
          </a:prstGeom>
        </p:spPr>
      </p:pic>
      <p:sp>
        <p:nvSpPr>
          <p:cNvPr id="12" name="TextBox 11"/>
          <p:cNvSpPr txBox="1"/>
          <p:nvPr/>
        </p:nvSpPr>
        <p:spPr>
          <a:xfrm>
            <a:off x="7315200" y="1207008"/>
            <a:ext cx="443484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Highest recontact rates</a:t>
            </a:r>
          </a:p>
        </p:txBody>
      </p:sp>
      <p:sp>
        <p:nvSpPr>
          <p:cNvPr id="13" name="Rectangle 12"/>
          <p:cNvSpPr/>
          <p:nvPr/>
        </p:nvSpPr>
        <p:spPr>
          <a:xfrm>
            <a:off x="7315200" y="1517904"/>
            <a:ext cx="44348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43216" y="1517904"/>
            <a:ext cx="1280160"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Contact reason</a:t>
            </a:r>
          </a:p>
        </p:txBody>
      </p:sp>
      <p:sp>
        <p:nvSpPr>
          <p:cNvPr id="15" name="TextBox 14"/>
          <p:cNvSpPr txBox="1"/>
          <p:nvPr/>
        </p:nvSpPr>
        <p:spPr>
          <a:xfrm>
            <a:off x="8979408" y="1517904"/>
            <a:ext cx="457200"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Contacts</a:t>
            </a:r>
          </a:p>
        </p:txBody>
      </p:sp>
      <p:sp>
        <p:nvSpPr>
          <p:cNvPr id="16" name="TextBox 15"/>
          <p:cNvSpPr txBox="1"/>
          <p:nvPr/>
        </p:nvSpPr>
        <p:spPr>
          <a:xfrm>
            <a:off x="9692640" y="1517904"/>
            <a:ext cx="402335"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Repeats</a:t>
            </a:r>
          </a:p>
        </p:txBody>
      </p:sp>
      <p:sp>
        <p:nvSpPr>
          <p:cNvPr id="17" name="TextBox 16"/>
          <p:cNvSpPr txBox="1"/>
          <p:nvPr/>
        </p:nvSpPr>
        <p:spPr>
          <a:xfrm>
            <a:off x="10351008" y="1517904"/>
            <a:ext cx="310896"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Rate</a:t>
            </a:r>
          </a:p>
        </p:txBody>
      </p:sp>
      <p:sp>
        <p:nvSpPr>
          <p:cNvPr id="18" name="TextBox 17"/>
          <p:cNvSpPr txBox="1"/>
          <p:nvPr/>
        </p:nvSpPr>
        <p:spPr>
          <a:xfrm>
            <a:off x="10917936" y="1517904"/>
            <a:ext cx="70408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Status</a:t>
            </a:r>
          </a:p>
        </p:txBody>
      </p:sp>
      <p:sp>
        <p:nvSpPr>
          <p:cNvPr id="19" name="TextBox 18"/>
          <p:cNvSpPr txBox="1"/>
          <p:nvPr/>
        </p:nvSpPr>
        <p:spPr>
          <a:xfrm>
            <a:off x="7443216" y="1847088"/>
            <a:ext cx="1280160" cy="420624"/>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After-sales fraud review</a:t>
            </a:r>
          </a:p>
        </p:txBody>
      </p:sp>
      <p:sp>
        <p:nvSpPr>
          <p:cNvPr id="20" name="TextBox 19"/>
          <p:cNvSpPr txBox="1"/>
          <p:nvPr/>
        </p:nvSpPr>
        <p:spPr>
          <a:xfrm>
            <a:off x="8979408" y="1847088"/>
            <a:ext cx="457200"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3,146</a:t>
            </a:r>
          </a:p>
        </p:txBody>
      </p:sp>
      <p:sp>
        <p:nvSpPr>
          <p:cNvPr id="21" name="TextBox 20"/>
          <p:cNvSpPr txBox="1"/>
          <p:nvPr/>
        </p:nvSpPr>
        <p:spPr>
          <a:xfrm>
            <a:off x="9692640" y="1847088"/>
            <a:ext cx="402335"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895</a:t>
            </a:r>
          </a:p>
        </p:txBody>
      </p:sp>
      <p:sp>
        <p:nvSpPr>
          <p:cNvPr id="22" name="Rounded Rectangle 21"/>
          <p:cNvSpPr/>
          <p:nvPr/>
        </p:nvSpPr>
        <p:spPr>
          <a:xfrm>
            <a:off x="10287000" y="1911095"/>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51008" y="1847088"/>
            <a:ext cx="310896" cy="42062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28.45%</a:t>
            </a:r>
          </a:p>
        </p:txBody>
      </p:sp>
      <p:sp>
        <p:nvSpPr>
          <p:cNvPr id="24" name="Rounded Rectangle 23"/>
          <p:cNvSpPr/>
          <p:nvPr/>
        </p:nvSpPr>
        <p:spPr>
          <a:xfrm>
            <a:off x="10917936" y="1920240"/>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027664" y="2007107"/>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92256" y="1920240"/>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27" name="Rectangle 26"/>
          <p:cNvSpPr/>
          <p:nvPr/>
        </p:nvSpPr>
        <p:spPr>
          <a:xfrm>
            <a:off x="7315200" y="2262949"/>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0" y="2267712"/>
            <a:ext cx="44348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2267712"/>
            <a:ext cx="1280160" cy="420624"/>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Cash order blocked (ant…</a:t>
            </a:r>
          </a:p>
        </p:txBody>
      </p:sp>
      <p:sp>
        <p:nvSpPr>
          <p:cNvPr id="30" name="TextBox 29"/>
          <p:cNvSpPr txBox="1"/>
          <p:nvPr/>
        </p:nvSpPr>
        <p:spPr>
          <a:xfrm>
            <a:off x="8979408" y="2267712"/>
            <a:ext cx="457200"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7,278</a:t>
            </a:r>
          </a:p>
        </p:txBody>
      </p:sp>
      <p:sp>
        <p:nvSpPr>
          <p:cNvPr id="31" name="TextBox 30"/>
          <p:cNvSpPr txBox="1"/>
          <p:nvPr/>
        </p:nvSpPr>
        <p:spPr>
          <a:xfrm>
            <a:off x="9692640" y="2267712"/>
            <a:ext cx="402335"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1,776</a:t>
            </a:r>
          </a:p>
        </p:txBody>
      </p:sp>
      <p:sp>
        <p:nvSpPr>
          <p:cNvPr id="32" name="Rounded Rectangle 31"/>
          <p:cNvSpPr/>
          <p:nvPr/>
        </p:nvSpPr>
        <p:spPr>
          <a:xfrm>
            <a:off x="10287000" y="2331720"/>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51008" y="2267712"/>
            <a:ext cx="310896" cy="42062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24.40%</a:t>
            </a:r>
          </a:p>
        </p:txBody>
      </p:sp>
      <p:sp>
        <p:nvSpPr>
          <p:cNvPr id="34" name="Rounded Rectangle 33"/>
          <p:cNvSpPr/>
          <p:nvPr/>
        </p:nvSpPr>
        <p:spPr>
          <a:xfrm>
            <a:off x="10917936" y="2340864"/>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027664" y="2427732"/>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192256" y="2340864"/>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37" name="Rectangle 36"/>
          <p:cNvSpPr/>
          <p:nvPr/>
        </p:nvSpPr>
        <p:spPr>
          <a:xfrm>
            <a:off x="7315200" y="2683573"/>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43216" y="2688336"/>
            <a:ext cx="1280160" cy="420624"/>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order status &amp; delays</a:t>
            </a:r>
          </a:p>
        </p:txBody>
      </p:sp>
      <p:sp>
        <p:nvSpPr>
          <p:cNvPr id="39" name="TextBox 38"/>
          <p:cNvSpPr txBox="1"/>
          <p:nvPr/>
        </p:nvSpPr>
        <p:spPr>
          <a:xfrm>
            <a:off x="8979408" y="2688336"/>
            <a:ext cx="457200"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39,706</a:t>
            </a:r>
          </a:p>
        </p:txBody>
      </p:sp>
      <p:sp>
        <p:nvSpPr>
          <p:cNvPr id="40" name="TextBox 39"/>
          <p:cNvSpPr txBox="1"/>
          <p:nvPr/>
        </p:nvSpPr>
        <p:spPr>
          <a:xfrm>
            <a:off x="9692640" y="2688336"/>
            <a:ext cx="402335"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7,680</a:t>
            </a:r>
          </a:p>
        </p:txBody>
      </p:sp>
      <p:sp>
        <p:nvSpPr>
          <p:cNvPr id="41" name="Rounded Rectangle 40"/>
          <p:cNvSpPr/>
          <p:nvPr/>
        </p:nvSpPr>
        <p:spPr>
          <a:xfrm>
            <a:off x="10287000" y="2752344"/>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351008" y="2688336"/>
            <a:ext cx="310896" cy="42062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19.34%</a:t>
            </a:r>
          </a:p>
        </p:txBody>
      </p:sp>
      <p:sp>
        <p:nvSpPr>
          <p:cNvPr id="43" name="Rounded Rectangle 42"/>
          <p:cNvSpPr/>
          <p:nvPr/>
        </p:nvSpPr>
        <p:spPr>
          <a:xfrm>
            <a:off x="10917936" y="276148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027664" y="284835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192256" y="276148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46" name="Rectangle 45"/>
          <p:cNvSpPr/>
          <p:nvPr/>
        </p:nvSpPr>
        <p:spPr>
          <a:xfrm>
            <a:off x="7315200" y="3104197"/>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15200" y="3108960"/>
            <a:ext cx="44348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43216" y="3108960"/>
            <a:ext cx="1280160" cy="420624"/>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Order status / delay in…</a:t>
            </a:r>
          </a:p>
        </p:txBody>
      </p:sp>
      <p:sp>
        <p:nvSpPr>
          <p:cNvPr id="49" name="TextBox 48"/>
          <p:cNvSpPr txBox="1"/>
          <p:nvPr/>
        </p:nvSpPr>
        <p:spPr>
          <a:xfrm>
            <a:off x="8979408" y="3108960"/>
            <a:ext cx="457200"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76,911</a:t>
            </a:r>
          </a:p>
        </p:txBody>
      </p:sp>
      <p:sp>
        <p:nvSpPr>
          <p:cNvPr id="50" name="TextBox 49"/>
          <p:cNvSpPr txBox="1"/>
          <p:nvPr/>
        </p:nvSpPr>
        <p:spPr>
          <a:xfrm>
            <a:off x="9692640" y="3108960"/>
            <a:ext cx="402335"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13,014</a:t>
            </a:r>
          </a:p>
        </p:txBody>
      </p:sp>
      <p:sp>
        <p:nvSpPr>
          <p:cNvPr id="51" name="Rounded Rectangle 50"/>
          <p:cNvSpPr/>
          <p:nvPr/>
        </p:nvSpPr>
        <p:spPr>
          <a:xfrm>
            <a:off x="10287000" y="3172968"/>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51008" y="3108960"/>
            <a:ext cx="310896" cy="42062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16.92%</a:t>
            </a:r>
          </a:p>
        </p:txBody>
      </p:sp>
      <p:sp>
        <p:nvSpPr>
          <p:cNvPr id="53" name="Rounded Rectangle 52"/>
          <p:cNvSpPr/>
          <p:nvPr/>
        </p:nvSpPr>
        <p:spPr>
          <a:xfrm>
            <a:off x="10917936" y="318211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027664" y="3268979"/>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92256" y="3182112"/>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56" name="Rectangle 55"/>
          <p:cNvSpPr/>
          <p:nvPr/>
        </p:nvSpPr>
        <p:spPr>
          <a:xfrm>
            <a:off x="7315200" y="3524821"/>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43216" y="3529584"/>
            <a:ext cx="1280160" cy="420624"/>
          </a:xfrm>
          <a:prstGeom prst="rect">
            <a:avLst/>
          </a:prstGeom>
          <a:noFill/>
        </p:spPr>
        <p:txBody>
          <a:bodyPr wrap="square" lIns="0" rIns="0" tIns="0" bIns="0" anchor="ctr">
            <a:spAutoFit/>
          </a:bodyPr>
          <a:lstStyle/>
          <a:p>
            <a:pPr algn="l">
              <a:lnSpc>
                <a:spcPct val="115000"/>
              </a:lnSpc>
              <a:spcAft>
                <a:spcPts val="0"/>
              </a:spcAft>
            </a:pPr>
            <a:r>
              <a:rPr sz="760" b="0">
                <a:solidFill>
                  <a:srgbClr val="4B5563"/>
                </a:solidFill>
                <a:latin typeface="Inter"/>
              </a:rPr>
              <a:t>refund status and condi…</a:t>
            </a:r>
          </a:p>
        </p:txBody>
      </p:sp>
      <p:sp>
        <p:nvSpPr>
          <p:cNvPr id="58" name="TextBox 57"/>
          <p:cNvSpPr txBox="1"/>
          <p:nvPr/>
        </p:nvSpPr>
        <p:spPr>
          <a:xfrm>
            <a:off x="8979408" y="3529584"/>
            <a:ext cx="457200"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18,484</a:t>
            </a:r>
          </a:p>
        </p:txBody>
      </p:sp>
      <p:sp>
        <p:nvSpPr>
          <p:cNvPr id="59" name="TextBox 58"/>
          <p:cNvSpPr txBox="1"/>
          <p:nvPr/>
        </p:nvSpPr>
        <p:spPr>
          <a:xfrm>
            <a:off x="9692640" y="3529584"/>
            <a:ext cx="402335" cy="42062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2,901</a:t>
            </a:r>
          </a:p>
        </p:txBody>
      </p:sp>
      <p:sp>
        <p:nvSpPr>
          <p:cNvPr id="60" name="Rounded Rectangle 59"/>
          <p:cNvSpPr/>
          <p:nvPr/>
        </p:nvSpPr>
        <p:spPr>
          <a:xfrm>
            <a:off x="10287000" y="3593591"/>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351008" y="3529584"/>
            <a:ext cx="310896" cy="42062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15.69%</a:t>
            </a:r>
          </a:p>
        </p:txBody>
      </p:sp>
      <p:sp>
        <p:nvSpPr>
          <p:cNvPr id="62" name="Rounded Rectangle 61"/>
          <p:cNvSpPr/>
          <p:nvPr/>
        </p:nvSpPr>
        <p:spPr>
          <a:xfrm>
            <a:off x="10917936" y="360273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1027664" y="368960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192256" y="3602736"/>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Off goal</a:t>
            </a:r>
          </a:p>
        </p:txBody>
      </p:sp>
      <p:sp>
        <p:nvSpPr>
          <p:cNvPr id="65" name="Rectangle 64"/>
          <p:cNvSpPr/>
          <p:nvPr/>
        </p:nvSpPr>
        <p:spPr>
          <a:xfrm>
            <a:off x="7315200" y="3945445"/>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15200" y="4023360"/>
            <a:ext cx="4434840" cy="201168"/>
          </a:xfrm>
          <a:prstGeom prst="rect">
            <a:avLst/>
          </a:prstGeom>
          <a:noFill/>
        </p:spPr>
        <p:txBody>
          <a:bodyPr wrap="square" lIns="0" rIns="0" tIns="0" bIns="0" anchor="t">
            <a:spAutoFit/>
          </a:bodyPr>
          <a:lstStyle/>
          <a:p>
            <a:pPr algn="l">
              <a:lnSpc>
                <a:spcPct val="115000"/>
              </a:lnSpc>
              <a:spcAft>
                <a:spcPts val="0"/>
              </a:spcAft>
            </a:pPr>
            <a:r>
              <a:rPr sz="800" b="0">
                <a:solidFill>
                  <a:srgbClr val="6B7280"/>
                </a:solidFill>
                <a:latin typeface="Inter"/>
              </a:rPr>
              <a:t>Rate = repeats ÷ contacts of that reason. More repeats ≠ higher rate.</a:t>
            </a:r>
          </a:p>
        </p:txBody>
      </p:sp>
      <p:sp>
        <p:nvSpPr>
          <p:cNvPr id="67" name="TextBox 66"/>
          <p:cNvSpPr txBox="1"/>
          <p:nvPr/>
        </p:nvSpPr>
        <p:spPr>
          <a:xfrm>
            <a:off x="7315200" y="4279392"/>
            <a:ext cx="443484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How this compares with QA and CSAT</a:t>
            </a:r>
          </a:p>
        </p:txBody>
      </p:sp>
      <p:sp>
        <p:nvSpPr>
          <p:cNvPr id="68" name="Rectangle 67"/>
          <p:cNvSpPr/>
          <p:nvPr/>
        </p:nvSpPr>
        <p:spPr>
          <a:xfrm>
            <a:off x="7315200" y="465886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52944" y="4562856"/>
            <a:ext cx="41970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The highest-recontact reasons are not the lowest QA reasons; several score between 93 and 98.</a:t>
            </a:r>
          </a:p>
        </p:txBody>
      </p:sp>
      <p:sp>
        <p:nvSpPr>
          <p:cNvPr id="70" name="Rectangle 69"/>
          <p:cNvSpPr/>
          <p:nvPr/>
        </p:nvSpPr>
        <p:spPr>
          <a:xfrm>
            <a:off x="7315200" y="495147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552944" y="4855464"/>
            <a:ext cx="41970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However, they also have very low CSAT, especially order status (64.7%) and refunds (67.0%).</a:t>
            </a:r>
          </a:p>
        </p:txBody>
      </p:sp>
      <p:sp>
        <p:nvSpPr>
          <p:cNvPr id="72" name="Rectangle 71"/>
          <p:cNvSpPr/>
          <p:nvPr/>
        </p:nvSpPr>
        <p:spPr>
          <a:xfrm>
            <a:off x="7315200" y="524408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52944" y="5148072"/>
            <a:ext cx="419709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This shows that high QA can coexist with low satisfaction and high recontact when the customer still needs to wait for a resolution.</a:t>
            </a:r>
          </a:p>
        </p:txBody>
      </p:sp>
      <p:sp>
        <p:nvSpPr>
          <p:cNvPr id="74" name="TextBox 73"/>
          <p:cNvSpPr txBox="1"/>
          <p:nvPr/>
        </p:nvSpPr>
        <p:spPr>
          <a:xfrm>
            <a:off x="457200" y="4754880"/>
            <a:ext cx="66751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Where the volume sits</a:t>
            </a:r>
          </a:p>
        </p:txBody>
      </p:sp>
      <p:sp>
        <p:nvSpPr>
          <p:cNvPr id="75" name="Rectangle 74"/>
          <p:cNvSpPr/>
          <p:nvPr/>
        </p:nvSpPr>
        <p:spPr>
          <a:xfrm>
            <a:off x="457200" y="513435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94944" y="5038344"/>
            <a:ext cx="64373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Three contact reasons account for 47.0% of all repeat contacts.</a:t>
            </a:r>
          </a:p>
        </p:txBody>
      </p:sp>
      <p:sp>
        <p:nvSpPr>
          <p:cNvPr id="77" name="Rectangle 76"/>
          <p:cNvSpPr/>
          <p:nvPr/>
        </p:nvSpPr>
        <p:spPr>
          <a:xfrm>
            <a:off x="457200" y="542696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94944" y="5330952"/>
            <a:ext cx="64373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“Order status / delay information” alone represents 22.4% (13,014 repeats).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148840"/>
            <a:ext cx="2743200" cy="1005840"/>
          </a:xfrm>
          <a:prstGeom prst="rect">
            <a:avLst/>
          </a:prstGeom>
          <a:noFill/>
        </p:spPr>
        <p:txBody>
          <a:bodyPr wrap="square" lIns="0" rIns="0" tIns="0" bIns="0" anchor="t">
            <a:spAutoFit/>
          </a:bodyPr>
          <a:lstStyle/>
          <a:p>
            <a:pPr algn="l">
              <a:lnSpc>
                <a:spcPct val="115000"/>
              </a:lnSpc>
              <a:spcAft>
                <a:spcPts val="0"/>
              </a:spcAft>
            </a:pPr>
            <a:r>
              <a:rPr sz="6400" b="1">
                <a:solidFill>
                  <a:srgbClr val="FF6600"/>
                </a:solidFill>
                <a:latin typeface="Inter"/>
              </a:rPr>
              <a:t>04</a:t>
            </a:r>
          </a:p>
        </p:txBody>
      </p:sp>
      <p:sp>
        <p:nvSpPr>
          <p:cNvPr id="5" name="TextBox 4"/>
          <p:cNvSpPr txBox="1"/>
          <p:nvPr/>
        </p:nvSpPr>
        <p:spPr>
          <a:xfrm>
            <a:off x="1188720" y="3246120"/>
            <a:ext cx="8686800" cy="548640"/>
          </a:xfrm>
          <a:prstGeom prst="rect">
            <a:avLst/>
          </a:prstGeom>
          <a:noFill/>
        </p:spPr>
        <p:txBody>
          <a:bodyPr wrap="square" lIns="0" rIns="0" tIns="0" bIns="0" anchor="t">
            <a:spAutoFit/>
          </a:bodyPr>
          <a:lstStyle/>
          <a:p>
            <a:pPr algn="l">
              <a:lnSpc>
                <a:spcPct val="115000"/>
              </a:lnSpc>
              <a:spcAft>
                <a:spcPts val="0"/>
              </a:spcAft>
            </a:pPr>
            <a:r>
              <a:rPr sz="3000" b="1">
                <a:solidFill>
                  <a:srgbClr val="FFFFFF"/>
                </a:solidFill>
                <a:latin typeface="Inter"/>
              </a:rPr>
              <a:t>People: where coaching should focus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87952"/>
            <a:ext cx="7863840" cy="822960"/>
          </a:xfrm>
          <a:prstGeom prst="rect">
            <a:avLst/>
          </a:prstGeom>
          <a:noFill/>
        </p:spPr>
        <p:txBody>
          <a:bodyPr wrap="square" lIns="0" rIns="0" tIns="0" bIns="0" anchor="t">
            <a:spAutoFit/>
          </a:bodyPr>
          <a:lstStyle/>
          <a:p>
            <a:pPr algn="l">
              <a:lnSpc>
                <a:spcPct val="140000"/>
              </a:lnSpc>
              <a:spcAft>
                <a:spcPts val="0"/>
              </a:spcAft>
            </a:pPr>
            <a:r>
              <a:rPr sz="1300" b="0">
                <a:solidFill>
                  <a:srgbClr val="C9CCD1"/>
                </a:solidFill>
                <a:latin typeface="Inter"/>
              </a:rPr>
              <a:t>Which agents sit outside the pack. Which teams carry the coaching load.</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rIns="0" tIns="0" bIns="0" anchor="ctr">
            <a:spAutoFit/>
          </a:bodyPr>
          <a:lstStyle/>
          <a:p>
            <a:pPr algn="l">
              <a:lnSpc>
                <a:spcPct val="115000"/>
              </a:lnSpc>
              <a:spcAft>
                <a:spcPts val="0"/>
              </a:spcAft>
            </a:pPr>
            <a:r>
              <a:rPr sz="1500" b="1">
                <a:solidFill>
                  <a:srgbClr val="FFFFFF"/>
                </a:solidFill>
                <a:latin typeface="Inter"/>
              </a:rPr>
              <a:t>DiDi</a:t>
            </a:r>
          </a:p>
        </p:txBody>
      </p:sp>
      <p:sp>
        <p:nvSpPr>
          <p:cNvPr id="10" name="TextBox 9"/>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19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Who needs attention: agent quartiles</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171 agents with at least 5 audits ranked on QA, 304 with at least 20 surveys ranked on CSAT</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20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quartiles.png"/>
          <p:cNvPicPr>
            <a:picLocks noChangeAspect="1"/>
          </p:cNvPicPr>
          <p:nvPr/>
        </p:nvPicPr>
        <p:blipFill>
          <a:blip r:embed="rId3"/>
          <a:stretch>
            <a:fillRect/>
          </a:stretch>
        </p:blipFill>
        <p:spPr>
          <a:xfrm>
            <a:off x="457200" y="1227230"/>
            <a:ext cx="6355080" cy="2803338"/>
          </a:xfrm>
          <a:prstGeom prst="rect">
            <a:avLst/>
          </a:prstGeom>
        </p:spPr>
      </p:pic>
      <p:sp>
        <p:nvSpPr>
          <p:cNvPr id="12" name="TextBox 11"/>
          <p:cNvSpPr txBox="1"/>
          <p:nvPr/>
        </p:nvSpPr>
        <p:spPr>
          <a:xfrm>
            <a:off x="6903720" y="1207008"/>
            <a:ext cx="48463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The agents who sit outside the pack</a:t>
            </a:r>
          </a:p>
        </p:txBody>
      </p:sp>
      <p:sp>
        <p:nvSpPr>
          <p:cNvPr id="13" name="Rectangle 12"/>
          <p:cNvSpPr/>
          <p:nvPr/>
        </p:nvSpPr>
        <p:spPr>
          <a:xfrm>
            <a:off x="6903720" y="1517904"/>
            <a:ext cx="42062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31736" y="1517904"/>
            <a:ext cx="70408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Agent</a:t>
            </a:r>
          </a:p>
        </p:txBody>
      </p:sp>
      <p:sp>
        <p:nvSpPr>
          <p:cNvPr id="15" name="TextBox 14"/>
          <p:cNvSpPr txBox="1"/>
          <p:nvPr/>
        </p:nvSpPr>
        <p:spPr>
          <a:xfrm>
            <a:off x="7991856" y="1517904"/>
            <a:ext cx="292607"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QA</a:t>
            </a:r>
          </a:p>
        </p:txBody>
      </p:sp>
      <p:sp>
        <p:nvSpPr>
          <p:cNvPr id="16" name="TextBox 15"/>
          <p:cNvSpPr txBox="1"/>
          <p:nvPr/>
        </p:nvSpPr>
        <p:spPr>
          <a:xfrm>
            <a:off x="8540496" y="1517904"/>
            <a:ext cx="310896"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Audits</a:t>
            </a:r>
          </a:p>
        </p:txBody>
      </p:sp>
      <p:sp>
        <p:nvSpPr>
          <p:cNvPr id="17" name="TextBox 16"/>
          <p:cNvSpPr txBox="1"/>
          <p:nvPr/>
        </p:nvSpPr>
        <p:spPr>
          <a:xfrm>
            <a:off x="9107424" y="1517904"/>
            <a:ext cx="70408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Team</a:t>
            </a:r>
          </a:p>
        </p:txBody>
      </p:sp>
      <p:sp>
        <p:nvSpPr>
          <p:cNvPr id="18" name="TextBox 17"/>
          <p:cNvSpPr txBox="1"/>
          <p:nvPr/>
        </p:nvSpPr>
        <p:spPr>
          <a:xfrm>
            <a:off x="10067544" y="1517904"/>
            <a:ext cx="914400"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Coaching priority</a:t>
            </a:r>
          </a:p>
        </p:txBody>
      </p:sp>
      <p:sp>
        <p:nvSpPr>
          <p:cNvPr id="19" name="TextBox 18"/>
          <p:cNvSpPr txBox="1"/>
          <p:nvPr/>
        </p:nvSpPr>
        <p:spPr>
          <a:xfrm>
            <a:off x="7031736" y="1847088"/>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Agent 228</a:t>
            </a:r>
          </a:p>
        </p:txBody>
      </p:sp>
      <p:sp>
        <p:nvSpPr>
          <p:cNvPr id="20" name="Rounded Rectangle 19"/>
          <p:cNvSpPr/>
          <p:nvPr/>
        </p:nvSpPr>
        <p:spPr>
          <a:xfrm>
            <a:off x="7927848" y="1911095"/>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91856" y="1847088"/>
            <a:ext cx="292607"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36.0</a:t>
            </a:r>
          </a:p>
        </p:txBody>
      </p:sp>
      <p:sp>
        <p:nvSpPr>
          <p:cNvPr id="22" name="TextBox 21"/>
          <p:cNvSpPr txBox="1"/>
          <p:nvPr/>
        </p:nvSpPr>
        <p:spPr>
          <a:xfrm>
            <a:off x="8540496" y="1847088"/>
            <a:ext cx="310896"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a:t>
            </a:r>
          </a:p>
        </p:txBody>
      </p:sp>
      <p:sp>
        <p:nvSpPr>
          <p:cNvPr id="23" name="TextBox 22"/>
          <p:cNvSpPr txBox="1"/>
          <p:nvPr/>
        </p:nvSpPr>
        <p:spPr>
          <a:xfrm>
            <a:off x="9107424" y="1847088"/>
            <a:ext cx="70408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S13</a:t>
            </a:r>
          </a:p>
        </p:txBody>
      </p:sp>
      <p:sp>
        <p:nvSpPr>
          <p:cNvPr id="24" name="TextBox 23"/>
          <p:cNvSpPr txBox="1"/>
          <p:nvPr/>
        </p:nvSpPr>
        <p:spPr>
          <a:xfrm>
            <a:off x="10067544" y="1847088"/>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245</a:t>
            </a:r>
          </a:p>
        </p:txBody>
      </p:sp>
      <p:sp>
        <p:nvSpPr>
          <p:cNvPr id="25" name="Rectangle 24"/>
          <p:cNvSpPr/>
          <p:nvPr/>
        </p:nvSpPr>
        <p:spPr>
          <a:xfrm>
            <a:off x="6903720" y="2262949"/>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03720" y="2267712"/>
            <a:ext cx="42062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31736" y="2267712"/>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Agent 21</a:t>
            </a:r>
          </a:p>
        </p:txBody>
      </p:sp>
      <p:sp>
        <p:nvSpPr>
          <p:cNvPr id="28" name="Rounded Rectangle 27"/>
          <p:cNvSpPr/>
          <p:nvPr/>
        </p:nvSpPr>
        <p:spPr>
          <a:xfrm>
            <a:off x="7927848" y="2331720"/>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6" y="2267712"/>
            <a:ext cx="292607"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61.7</a:t>
            </a:r>
          </a:p>
        </p:txBody>
      </p:sp>
      <p:sp>
        <p:nvSpPr>
          <p:cNvPr id="30" name="TextBox 29"/>
          <p:cNvSpPr txBox="1"/>
          <p:nvPr/>
        </p:nvSpPr>
        <p:spPr>
          <a:xfrm>
            <a:off x="8540496" y="2267712"/>
            <a:ext cx="310896"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6</a:t>
            </a:r>
          </a:p>
        </p:txBody>
      </p:sp>
      <p:sp>
        <p:nvSpPr>
          <p:cNvPr id="31" name="TextBox 30"/>
          <p:cNvSpPr txBox="1"/>
          <p:nvPr/>
        </p:nvSpPr>
        <p:spPr>
          <a:xfrm>
            <a:off x="9107424" y="2267712"/>
            <a:ext cx="70408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S9</a:t>
            </a:r>
          </a:p>
        </p:txBody>
      </p:sp>
      <p:sp>
        <p:nvSpPr>
          <p:cNvPr id="32" name="TextBox 31"/>
          <p:cNvSpPr txBox="1"/>
          <p:nvPr/>
        </p:nvSpPr>
        <p:spPr>
          <a:xfrm>
            <a:off x="10067544" y="2267712"/>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140</a:t>
            </a:r>
          </a:p>
        </p:txBody>
      </p:sp>
      <p:sp>
        <p:nvSpPr>
          <p:cNvPr id="33" name="Rectangle 32"/>
          <p:cNvSpPr/>
          <p:nvPr/>
        </p:nvSpPr>
        <p:spPr>
          <a:xfrm>
            <a:off x="6903720" y="2683573"/>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1736" y="2688336"/>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Agent 135</a:t>
            </a:r>
          </a:p>
        </p:txBody>
      </p:sp>
      <p:sp>
        <p:nvSpPr>
          <p:cNvPr id="35" name="Rounded Rectangle 34"/>
          <p:cNvSpPr/>
          <p:nvPr/>
        </p:nvSpPr>
        <p:spPr>
          <a:xfrm>
            <a:off x="7927848" y="2752344"/>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6" y="2688336"/>
            <a:ext cx="292607"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66.7</a:t>
            </a:r>
          </a:p>
        </p:txBody>
      </p:sp>
      <p:sp>
        <p:nvSpPr>
          <p:cNvPr id="37" name="TextBox 36"/>
          <p:cNvSpPr txBox="1"/>
          <p:nvPr/>
        </p:nvSpPr>
        <p:spPr>
          <a:xfrm>
            <a:off x="8540496" y="2688336"/>
            <a:ext cx="310896"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6</a:t>
            </a:r>
          </a:p>
        </p:txBody>
      </p:sp>
      <p:sp>
        <p:nvSpPr>
          <p:cNvPr id="38" name="TextBox 37"/>
          <p:cNvSpPr txBox="1"/>
          <p:nvPr/>
        </p:nvSpPr>
        <p:spPr>
          <a:xfrm>
            <a:off x="9107424" y="2688336"/>
            <a:ext cx="70408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S12</a:t>
            </a:r>
          </a:p>
        </p:txBody>
      </p:sp>
      <p:sp>
        <p:nvSpPr>
          <p:cNvPr id="39" name="TextBox 38"/>
          <p:cNvSpPr txBox="1"/>
          <p:nvPr/>
        </p:nvSpPr>
        <p:spPr>
          <a:xfrm>
            <a:off x="10067544" y="2688336"/>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110</a:t>
            </a:r>
          </a:p>
        </p:txBody>
      </p:sp>
      <p:sp>
        <p:nvSpPr>
          <p:cNvPr id="40" name="Rectangle 39"/>
          <p:cNvSpPr/>
          <p:nvPr/>
        </p:nvSpPr>
        <p:spPr>
          <a:xfrm>
            <a:off x="6903720" y="3104197"/>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03720" y="3108960"/>
            <a:ext cx="42062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31736" y="3108960"/>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Agent 44</a:t>
            </a:r>
          </a:p>
        </p:txBody>
      </p:sp>
      <p:sp>
        <p:nvSpPr>
          <p:cNvPr id="43" name="Rounded Rectangle 42"/>
          <p:cNvSpPr/>
          <p:nvPr/>
        </p:nvSpPr>
        <p:spPr>
          <a:xfrm>
            <a:off x="7927848" y="3172968"/>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91856" y="3108960"/>
            <a:ext cx="292607"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71.4</a:t>
            </a:r>
          </a:p>
        </p:txBody>
      </p:sp>
      <p:sp>
        <p:nvSpPr>
          <p:cNvPr id="45" name="TextBox 44"/>
          <p:cNvSpPr txBox="1"/>
          <p:nvPr/>
        </p:nvSpPr>
        <p:spPr>
          <a:xfrm>
            <a:off x="8540496" y="3108960"/>
            <a:ext cx="310896"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7</a:t>
            </a:r>
          </a:p>
        </p:txBody>
      </p:sp>
      <p:sp>
        <p:nvSpPr>
          <p:cNvPr id="46" name="TextBox 45"/>
          <p:cNvSpPr txBox="1"/>
          <p:nvPr/>
        </p:nvSpPr>
        <p:spPr>
          <a:xfrm>
            <a:off x="9107424" y="3108960"/>
            <a:ext cx="70408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S7</a:t>
            </a:r>
          </a:p>
        </p:txBody>
      </p:sp>
      <p:sp>
        <p:nvSpPr>
          <p:cNvPr id="47" name="TextBox 46"/>
          <p:cNvSpPr txBox="1"/>
          <p:nvPr/>
        </p:nvSpPr>
        <p:spPr>
          <a:xfrm>
            <a:off x="10067544" y="3108960"/>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95</a:t>
            </a:r>
          </a:p>
        </p:txBody>
      </p:sp>
      <p:sp>
        <p:nvSpPr>
          <p:cNvPr id="48" name="Rectangle 47"/>
          <p:cNvSpPr/>
          <p:nvPr/>
        </p:nvSpPr>
        <p:spPr>
          <a:xfrm>
            <a:off x="6903720" y="3524821"/>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31736" y="3529584"/>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Agent 171</a:t>
            </a:r>
          </a:p>
        </p:txBody>
      </p:sp>
      <p:sp>
        <p:nvSpPr>
          <p:cNvPr id="50" name="Rounded Rectangle 49"/>
          <p:cNvSpPr/>
          <p:nvPr/>
        </p:nvSpPr>
        <p:spPr>
          <a:xfrm>
            <a:off x="7927848" y="3593591"/>
            <a:ext cx="420623"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91856" y="3529584"/>
            <a:ext cx="292607" cy="420624"/>
          </a:xfrm>
          <a:prstGeom prst="rect">
            <a:avLst/>
          </a:prstGeom>
          <a:noFill/>
        </p:spPr>
        <p:txBody>
          <a:bodyPr wrap="square" lIns="0" rIns="0" tIns="0" bIns="0" anchor="ctr">
            <a:spAutoFit/>
          </a:bodyPr>
          <a:lstStyle/>
          <a:p>
            <a:pPr algn="r">
              <a:lnSpc>
                <a:spcPct val="115000"/>
              </a:lnSpc>
              <a:spcAft>
                <a:spcPts val="0"/>
              </a:spcAft>
            </a:pPr>
            <a:r>
              <a:rPr sz="800" b="1">
                <a:solidFill>
                  <a:srgbClr val="F59E0B"/>
                </a:solidFill>
                <a:latin typeface="Inter"/>
              </a:rPr>
              <a:t>80.0</a:t>
            </a:r>
          </a:p>
        </p:txBody>
      </p:sp>
      <p:sp>
        <p:nvSpPr>
          <p:cNvPr id="52" name="TextBox 51"/>
          <p:cNvSpPr txBox="1"/>
          <p:nvPr/>
        </p:nvSpPr>
        <p:spPr>
          <a:xfrm>
            <a:off x="8540496" y="3529584"/>
            <a:ext cx="310896"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17</a:t>
            </a:r>
          </a:p>
        </p:txBody>
      </p:sp>
      <p:sp>
        <p:nvSpPr>
          <p:cNvPr id="53" name="TextBox 52"/>
          <p:cNvSpPr txBox="1"/>
          <p:nvPr/>
        </p:nvSpPr>
        <p:spPr>
          <a:xfrm>
            <a:off x="9107424" y="3529584"/>
            <a:ext cx="704088" cy="42062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S20</a:t>
            </a:r>
          </a:p>
        </p:txBody>
      </p:sp>
      <p:sp>
        <p:nvSpPr>
          <p:cNvPr id="54" name="TextBox 53"/>
          <p:cNvSpPr txBox="1"/>
          <p:nvPr/>
        </p:nvSpPr>
        <p:spPr>
          <a:xfrm>
            <a:off x="10067544" y="3529584"/>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85</a:t>
            </a:r>
          </a:p>
        </p:txBody>
      </p:sp>
      <p:sp>
        <p:nvSpPr>
          <p:cNvPr id="55" name="Rectangle 54"/>
          <p:cNvSpPr/>
          <p:nvPr/>
        </p:nvSpPr>
        <p:spPr>
          <a:xfrm>
            <a:off x="6903720" y="3945445"/>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Coaching priority = (85 − QA) × audits, summed. Higher = coach this team/agent first. It weights a real sample, not a one-off.</a:t>
            </a:r>
          </a:p>
        </p:txBody>
      </p:sp>
      <p:sp>
        <p:nvSpPr>
          <p:cNvPr id="57" name="TextBox 56"/>
          <p:cNvSpPr txBox="1"/>
          <p:nvPr/>
        </p:nvSpPr>
        <p:spPr>
          <a:xfrm>
            <a:off x="6903720" y="4187952"/>
            <a:ext cx="48463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Where coaching should focus</a:t>
            </a:r>
          </a:p>
        </p:txBody>
      </p:sp>
      <p:sp>
        <p:nvSpPr>
          <p:cNvPr id="58" name="Rectangle 57"/>
          <p:cNvSpPr/>
          <p:nvPr/>
        </p:nvSpPr>
        <p:spPr>
          <a:xfrm>
            <a:off x="6903720" y="456742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41464" y="4471416"/>
            <a:ext cx="46085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Focus on QA: the 42 agents in Q4 (mean 82.4, range 36–92).</a:t>
            </a:r>
          </a:p>
        </p:txBody>
      </p:sp>
      <p:sp>
        <p:nvSpPr>
          <p:cNvPr id="60" name="Rectangle 59"/>
          <p:cNvSpPr/>
          <p:nvPr/>
        </p:nvSpPr>
        <p:spPr>
          <a:xfrm>
            <a:off x="6903720" y="48600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41464" y="4764024"/>
            <a:ext cx="46085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Focus on CSAT: the 76 agents in Q4 (mean 64.4%). That group is larger. Mostly different people.</a:t>
            </a:r>
          </a:p>
        </p:txBody>
      </p:sp>
      <p:sp>
        <p:nvSpPr>
          <p:cNvPr id="62" name="Rectangle 61"/>
          <p:cNvSpPr/>
          <p:nvPr/>
        </p:nvSpPr>
        <p:spPr>
          <a:xfrm>
            <a:off x="6903720" y="515264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41464" y="5056632"/>
            <a:ext cx="46085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26 agents sit below the 85 QA goal. The top 5 carry 55% of the total coaching priority.</a:t>
            </a:r>
          </a:p>
        </p:txBody>
      </p:sp>
      <p:sp>
        <p:nvSpPr>
          <p:cNvPr id="64" name="Rectangle 63"/>
          <p:cNvSpPr/>
          <p:nvPr/>
        </p:nvSpPr>
        <p:spPr>
          <a:xfrm>
            <a:off x="6903720" y="544525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41464" y="5349240"/>
            <a:ext cx="4608576" cy="292608"/>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'More than 1 year' is the only tenure below the QA goal (83.97). It is also the worst CSAT group (74.1%).</a:t>
            </a:r>
          </a:p>
        </p:txBody>
      </p:sp>
      <p:sp>
        <p:nvSpPr>
          <p:cNvPr id="66" name="Rectangle 65"/>
          <p:cNvSpPr/>
          <p:nvPr/>
        </p:nvSpPr>
        <p:spPr>
          <a:xfrm>
            <a:off x="457200" y="4206240"/>
            <a:ext cx="6355080" cy="148132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57200" y="4206240"/>
            <a:ext cx="38404" cy="148132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68096" y="4389120"/>
            <a:ext cx="5788152" cy="292608"/>
          </a:xfrm>
          <a:prstGeom prst="rect">
            <a:avLst/>
          </a:prstGeom>
          <a:noFill/>
        </p:spPr>
        <p:txBody>
          <a:bodyPr wrap="square" lIns="0" rIns="0" tIns="0" bIns="0" anchor="t">
            <a:spAutoFit/>
          </a:bodyPr>
          <a:lstStyle/>
          <a:p>
            <a:pPr algn="l">
              <a:lnSpc>
                <a:spcPct val="115000"/>
              </a:lnSpc>
              <a:spcAft>
                <a:spcPts val="0"/>
              </a:spcAft>
            </a:pPr>
            <a:r>
              <a:rPr sz="1200" b="1">
                <a:solidFill>
                  <a:srgbClr val="1A1A1A"/>
                </a:solidFill>
                <a:latin typeface="Inter"/>
              </a:rPr>
              <a:t>QA shows limited differences between agents, while CSAT reveals a much wider performance gap.</a:t>
            </a:r>
          </a:p>
        </p:txBody>
      </p:sp>
      <p:sp>
        <p:nvSpPr>
          <p:cNvPr id="69" name="TextBox 68"/>
          <p:cNvSpPr txBox="1"/>
          <p:nvPr/>
        </p:nvSpPr>
        <p:spPr>
          <a:xfrm>
            <a:off x="768096" y="4773168"/>
            <a:ext cx="5788152" cy="768096"/>
          </a:xfrm>
          <a:prstGeom prst="rect">
            <a:avLst/>
          </a:prstGeom>
          <a:noFill/>
        </p:spPr>
        <p:txBody>
          <a:bodyPr wrap="square" lIns="0" rIns="0" tIns="0" bIns="0" anchor="t">
            <a:spAutoFit/>
          </a:bodyPr>
          <a:lstStyle/>
          <a:p>
            <a:pPr algn="l">
              <a:lnSpc>
                <a:spcPct val="132000"/>
              </a:lnSpc>
              <a:spcAft>
                <a:spcPts val="400"/>
              </a:spcAft>
            </a:pPr>
            <a:r>
              <a:rPr sz="950" b="0">
                <a:solidFill>
                  <a:srgbClr val="4B5563"/>
                </a:solidFill>
                <a:latin typeface="Inter"/>
              </a:rPr>
              <a:t>Quartiles 1 to 3 sit at 99.9, 98.8 and 94.9. Three quarters of the floor look the same on QA. The same agents spread from 27.1% to 96.9% on CSAT. Ranking agents by QA identifies very few meaningful differences. CSAT reveals a much clearer group of low performers. A Chat score of 100 does not necessarily mean the process was followed. 88% of Chat audits reach the score ceiling.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Who needs attention: supervisor view</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31 supervisors. Bubble size is audits. Teams with at least 20 audits.</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21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supervisor_scatter.png"/>
          <p:cNvPicPr>
            <a:picLocks noChangeAspect="1"/>
          </p:cNvPicPr>
          <p:nvPr/>
        </p:nvPicPr>
        <p:blipFill>
          <a:blip r:embed="rId3"/>
          <a:stretch>
            <a:fillRect/>
          </a:stretch>
        </p:blipFill>
        <p:spPr>
          <a:xfrm>
            <a:off x="805183" y="1207008"/>
            <a:ext cx="5293353" cy="3429000"/>
          </a:xfrm>
          <a:prstGeom prst="rect">
            <a:avLst/>
          </a:prstGeom>
        </p:spPr>
      </p:pic>
      <p:sp>
        <p:nvSpPr>
          <p:cNvPr id="12" name="TextBox 11"/>
          <p:cNvSpPr txBox="1"/>
          <p:nvPr/>
        </p:nvSpPr>
        <p:spPr>
          <a:xfrm>
            <a:off x="6629400" y="1207008"/>
            <a:ext cx="512064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Coaching queue: teams with the most agents below the QA goal</a:t>
            </a:r>
          </a:p>
        </p:txBody>
      </p:sp>
      <p:sp>
        <p:nvSpPr>
          <p:cNvPr id="13" name="Rectangle 12"/>
          <p:cNvSpPr/>
          <p:nvPr/>
        </p:nvSpPr>
        <p:spPr>
          <a:xfrm>
            <a:off x="6629400" y="1517904"/>
            <a:ext cx="502920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57416" y="1517904"/>
            <a:ext cx="70408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Team</a:t>
            </a:r>
          </a:p>
        </p:txBody>
      </p:sp>
      <p:sp>
        <p:nvSpPr>
          <p:cNvPr id="15" name="TextBox 14"/>
          <p:cNvSpPr txBox="1"/>
          <p:nvPr/>
        </p:nvSpPr>
        <p:spPr>
          <a:xfrm>
            <a:off x="7717536" y="1517904"/>
            <a:ext cx="1042415"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Below QA 85</a:t>
            </a:r>
          </a:p>
        </p:txBody>
      </p:sp>
      <p:sp>
        <p:nvSpPr>
          <p:cNvPr id="16" name="TextBox 15"/>
          <p:cNvSpPr txBox="1"/>
          <p:nvPr/>
        </p:nvSpPr>
        <p:spPr>
          <a:xfrm>
            <a:off x="9015984" y="1517904"/>
            <a:ext cx="384047"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Audits</a:t>
            </a:r>
          </a:p>
        </p:txBody>
      </p:sp>
      <p:sp>
        <p:nvSpPr>
          <p:cNvPr id="17" name="TextBox 16"/>
          <p:cNvSpPr txBox="1"/>
          <p:nvPr/>
        </p:nvSpPr>
        <p:spPr>
          <a:xfrm>
            <a:off x="9656064" y="1517904"/>
            <a:ext cx="704088"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Worst QA</a:t>
            </a:r>
          </a:p>
        </p:txBody>
      </p:sp>
      <p:sp>
        <p:nvSpPr>
          <p:cNvPr id="18" name="TextBox 17"/>
          <p:cNvSpPr txBox="1"/>
          <p:nvPr/>
        </p:nvSpPr>
        <p:spPr>
          <a:xfrm>
            <a:off x="10616184" y="1517904"/>
            <a:ext cx="914400"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Coaching priority</a:t>
            </a:r>
          </a:p>
        </p:txBody>
      </p:sp>
      <p:sp>
        <p:nvSpPr>
          <p:cNvPr id="19" name="TextBox 18"/>
          <p:cNvSpPr txBox="1"/>
          <p:nvPr/>
        </p:nvSpPr>
        <p:spPr>
          <a:xfrm>
            <a:off x="6757416" y="1847088"/>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S13</a:t>
            </a:r>
          </a:p>
        </p:txBody>
      </p:sp>
      <p:sp>
        <p:nvSpPr>
          <p:cNvPr id="20" name="TextBox 19"/>
          <p:cNvSpPr txBox="1"/>
          <p:nvPr/>
        </p:nvSpPr>
        <p:spPr>
          <a:xfrm>
            <a:off x="7717536" y="1847088"/>
            <a:ext cx="10424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3</a:t>
            </a:r>
          </a:p>
        </p:txBody>
      </p:sp>
      <p:sp>
        <p:nvSpPr>
          <p:cNvPr id="21" name="TextBox 20"/>
          <p:cNvSpPr txBox="1"/>
          <p:nvPr/>
        </p:nvSpPr>
        <p:spPr>
          <a:xfrm>
            <a:off x="9015984" y="1847088"/>
            <a:ext cx="384047"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22</a:t>
            </a:r>
          </a:p>
        </p:txBody>
      </p:sp>
      <p:sp>
        <p:nvSpPr>
          <p:cNvPr id="22" name="Rounded Rectangle 21"/>
          <p:cNvSpPr/>
          <p:nvPr/>
        </p:nvSpPr>
        <p:spPr>
          <a:xfrm>
            <a:off x="9592056" y="1911095"/>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56064" y="1847088"/>
            <a:ext cx="7040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36.0</a:t>
            </a:r>
          </a:p>
        </p:txBody>
      </p:sp>
      <p:sp>
        <p:nvSpPr>
          <p:cNvPr id="24" name="TextBox 23"/>
          <p:cNvSpPr txBox="1"/>
          <p:nvPr/>
        </p:nvSpPr>
        <p:spPr>
          <a:xfrm>
            <a:off x="10616184" y="1847088"/>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280</a:t>
            </a:r>
          </a:p>
        </p:txBody>
      </p:sp>
      <p:sp>
        <p:nvSpPr>
          <p:cNvPr id="25" name="Rectangle 24"/>
          <p:cNvSpPr/>
          <p:nvPr/>
        </p:nvSpPr>
        <p:spPr>
          <a:xfrm>
            <a:off x="6629400" y="2262949"/>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29400" y="2267712"/>
            <a:ext cx="502920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57416" y="2267712"/>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S9</a:t>
            </a:r>
          </a:p>
        </p:txBody>
      </p:sp>
      <p:sp>
        <p:nvSpPr>
          <p:cNvPr id="28" name="TextBox 27"/>
          <p:cNvSpPr txBox="1"/>
          <p:nvPr/>
        </p:nvSpPr>
        <p:spPr>
          <a:xfrm>
            <a:off x="7717536" y="2267712"/>
            <a:ext cx="10424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3</a:t>
            </a:r>
          </a:p>
        </p:txBody>
      </p:sp>
      <p:sp>
        <p:nvSpPr>
          <p:cNvPr id="29" name="TextBox 28"/>
          <p:cNvSpPr txBox="1"/>
          <p:nvPr/>
        </p:nvSpPr>
        <p:spPr>
          <a:xfrm>
            <a:off x="9015984" y="2267712"/>
            <a:ext cx="384047"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16</a:t>
            </a:r>
          </a:p>
        </p:txBody>
      </p:sp>
      <p:sp>
        <p:nvSpPr>
          <p:cNvPr id="30" name="Rounded Rectangle 29"/>
          <p:cNvSpPr/>
          <p:nvPr/>
        </p:nvSpPr>
        <p:spPr>
          <a:xfrm>
            <a:off x="9592056" y="2331720"/>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56064" y="2267712"/>
            <a:ext cx="7040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61.7</a:t>
            </a:r>
          </a:p>
        </p:txBody>
      </p:sp>
      <p:sp>
        <p:nvSpPr>
          <p:cNvPr id="32" name="TextBox 31"/>
          <p:cNvSpPr txBox="1"/>
          <p:nvPr/>
        </p:nvSpPr>
        <p:spPr>
          <a:xfrm>
            <a:off x="10616184" y="2267712"/>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220</a:t>
            </a:r>
          </a:p>
        </p:txBody>
      </p:sp>
      <p:sp>
        <p:nvSpPr>
          <p:cNvPr id="33" name="Rectangle 32"/>
          <p:cNvSpPr/>
          <p:nvPr/>
        </p:nvSpPr>
        <p:spPr>
          <a:xfrm>
            <a:off x="6629400" y="2683573"/>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57416" y="2688336"/>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S20</a:t>
            </a:r>
          </a:p>
        </p:txBody>
      </p:sp>
      <p:sp>
        <p:nvSpPr>
          <p:cNvPr id="35" name="TextBox 34"/>
          <p:cNvSpPr txBox="1"/>
          <p:nvPr/>
        </p:nvSpPr>
        <p:spPr>
          <a:xfrm>
            <a:off x="7717536" y="2688336"/>
            <a:ext cx="10424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a:t>
            </a:r>
          </a:p>
        </p:txBody>
      </p:sp>
      <p:sp>
        <p:nvSpPr>
          <p:cNvPr id="36" name="TextBox 35"/>
          <p:cNvSpPr txBox="1"/>
          <p:nvPr/>
        </p:nvSpPr>
        <p:spPr>
          <a:xfrm>
            <a:off x="9015984" y="2688336"/>
            <a:ext cx="384047"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28</a:t>
            </a:r>
          </a:p>
        </p:txBody>
      </p:sp>
      <p:sp>
        <p:nvSpPr>
          <p:cNvPr id="37" name="Rounded Rectangle 36"/>
          <p:cNvSpPr/>
          <p:nvPr/>
        </p:nvSpPr>
        <p:spPr>
          <a:xfrm>
            <a:off x="9592056" y="2752344"/>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56064" y="2688336"/>
            <a:ext cx="7040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79.1</a:t>
            </a:r>
          </a:p>
        </p:txBody>
      </p:sp>
      <p:sp>
        <p:nvSpPr>
          <p:cNvPr id="39" name="TextBox 38"/>
          <p:cNvSpPr txBox="1"/>
          <p:nvPr/>
        </p:nvSpPr>
        <p:spPr>
          <a:xfrm>
            <a:off x="10616184" y="2688336"/>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150</a:t>
            </a:r>
          </a:p>
        </p:txBody>
      </p:sp>
      <p:sp>
        <p:nvSpPr>
          <p:cNvPr id="40" name="Rectangle 39"/>
          <p:cNvSpPr/>
          <p:nvPr/>
        </p:nvSpPr>
        <p:spPr>
          <a:xfrm>
            <a:off x="6629400" y="3104197"/>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629400" y="3108960"/>
            <a:ext cx="502920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57416" y="3108960"/>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S7</a:t>
            </a:r>
          </a:p>
        </p:txBody>
      </p:sp>
      <p:sp>
        <p:nvSpPr>
          <p:cNvPr id="43" name="TextBox 42"/>
          <p:cNvSpPr txBox="1"/>
          <p:nvPr/>
        </p:nvSpPr>
        <p:spPr>
          <a:xfrm>
            <a:off x="7717536" y="3108960"/>
            <a:ext cx="10424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a:t>
            </a:r>
          </a:p>
        </p:txBody>
      </p:sp>
      <p:sp>
        <p:nvSpPr>
          <p:cNvPr id="44" name="TextBox 43"/>
          <p:cNvSpPr txBox="1"/>
          <p:nvPr/>
        </p:nvSpPr>
        <p:spPr>
          <a:xfrm>
            <a:off x="9015984" y="3108960"/>
            <a:ext cx="384047"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23</a:t>
            </a:r>
          </a:p>
        </p:txBody>
      </p:sp>
      <p:sp>
        <p:nvSpPr>
          <p:cNvPr id="45" name="Rounded Rectangle 44"/>
          <p:cNvSpPr/>
          <p:nvPr/>
        </p:nvSpPr>
        <p:spPr>
          <a:xfrm>
            <a:off x="9592056" y="3172968"/>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56064" y="3108960"/>
            <a:ext cx="7040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71.4</a:t>
            </a:r>
          </a:p>
        </p:txBody>
      </p:sp>
      <p:sp>
        <p:nvSpPr>
          <p:cNvPr id="47" name="TextBox 46"/>
          <p:cNvSpPr txBox="1"/>
          <p:nvPr/>
        </p:nvSpPr>
        <p:spPr>
          <a:xfrm>
            <a:off x="10616184" y="3108960"/>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145</a:t>
            </a:r>
          </a:p>
        </p:txBody>
      </p:sp>
      <p:sp>
        <p:nvSpPr>
          <p:cNvPr id="48" name="Rectangle 47"/>
          <p:cNvSpPr/>
          <p:nvPr/>
        </p:nvSpPr>
        <p:spPr>
          <a:xfrm>
            <a:off x="6629400" y="3524821"/>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57416" y="3529584"/>
            <a:ext cx="704088" cy="42062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S12</a:t>
            </a:r>
          </a:p>
        </p:txBody>
      </p:sp>
      <p:sp>
        <p:nvSpPr>
          <p:cNvPr id="50" name="TextBox 49"/>
          <p:cNvSpPr txBox="1"/>
          <p:nvPr/>
        </p:nvSpPr>
        <p:spPr>
          <a:xfrm>
            <a:off x="7717536" y="3529584"/>
            <a:ext cx="1042415"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a:t>
            </a:r>
          </a:p>
        </p:txBody>
      </p:sp>
      <p:sp>
        <p:nvSpPr>
          <p:cNvPr id="51" name="TextBox 50"/>
          <p:cNvSpPr txBox="1"/>
          <p:nvPr/>
        </p:nvSpPr>
        <p:spPr>
          <a:xfrm>
            <a:off x="9015984" y="3529584"/>
            <a:ext cx="384047"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12</a:t>
            </a:r>
          </a:p>
        </p:txBody>
      </p:sp>
      <p:sp>
        <p:nvSpPr>
          <p:cNvPr id="52" name="Rounded Rectangle 51"/>
          <p:cNvSpPr/>
          <p:nvPr/>
        </p:nvSpPr>
        <p:spPr>
          <a:xfrm>
            <a:off x="9592056" y="3593591"/>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56064" y="3529584"/>
            <a:ext cx="704088" cy="420624"/>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66.7</a:t>
            </a:r>
          </a:p>
        </p:txBody>
      </p:sp>
      <p:sp>
        <p:nvSpPr>
          <p:cNvPr id="54" name="TextBox 53"/>
          <p:cNvSpPr txBox="1"/>
          <p:nvPr/>
        </p:nvSpPr>
        <p:spPr>
          <a:xfrm>
            <a:off x="10616184" y="3529584"/>
            <a:ext cx="914400" cy="420624"/>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120</a:t>
            </a:r>
          </a:p>
        </p:txBody>
      </p:sp>
      <p:sp>
        <p:nvSpPr>
          <p:cNvPr id="55" name="Rectangle 54"/>
          <p:cNvSpPr/>
          <p:nvPr/>
        </p:nvSpPr>
        <p:spPr>
          <a:xfrm>
            <a:off x="6629400" y="3945445"/>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29400" y="4187952"/>
            <a:ext cx="512064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the team view shows</a:t>
            </a:r>
          </a:p>
        </p:txBody>
      </p:sp>
      <p:sp>
        <p:nvSpPr>
          <p:cNvPr id="57" name="Rectangle 56"/>
          <p:cNvSpPr/>
          <p:nvPr/>
        </p:nvSpPr>
        <p:spPr>
          <a:xfrm>
            <a:off x="6629400" y="456742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67144" y="4471416"/>
            <a:ext cx="4882896" cy="347472"/>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Five teams account for 14 of the 26 agents below goal, so the coaching need is concentrated in a small number of teams rather than spread across the floor.</a:t>
            </a:r>
          </a:p>
        </p:txBody>
      </p:sp>
      <p:sp>
        <p:nvSpPr>
          <p:cNvPr id="59" name="Rectangle 58"/>
          <p:cNvSpPr/>
          <p:nvPr/>
        </p:nvSpPr>
        <p:spPr>
          <a:xfrm>
            <a:off x="6629400" y="506691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67144" y="4970906"/>
            <a:ext cx="4882896" cy="347472"/>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Supervisor 12 is the only team below the QA goal (82.1 on 53 audits).</a:t>
            </a:r>
          </a:p>
        </p:txBody>
      </p:sp>
      <p:sp>
        <p:nvSpPr>
          <p:cNvPr id="61" name="Rectangle 60"/>
          <p:cNvSpPr/>
          <p:nvPr/>
        </p:nvSpPr>
        <p:spPr>
          <a:xfrm>
            <a:off x="6629400" y="541439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67144" y="5318378"/>
            <a:ext cx="4882896" cy="347472"/>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Supervisor 11 passes QA at 90.7. CSAT comes back at 71.0% on 4,243 surveys. Worst of any team.</a:t>
            </a:r>
          </a:p>
        </p:txBody>
      </p:sp>
      <p:sp>
        <p:nvSpPr>
          <p:cNvPr id="63" name="Rectangle 62"/>
          <p:cNvSpPr/>
          <p:nvPr/>
        </p:nvSpPr>
        <p:spPr>
          <a:xfrm>
            <a:off x="6629400" y="576186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67144" y="5665850"/>
            <a:ext cx="4882896" cy="347472"/>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Supervisor 7 has 43% of its ranked agents in Q4. This suggests a team-level performance pattern rather than a single-agent issue.</a:t>
            </a:r>
          </a:p>
        </p:txBody>
      </p:sp>
      <p:sp>
        <p:nvSpPr>
          <p:cNvPr id="65" name="Rectangle 64"/>
          <p:cNvSpPr/>
          <p:nvPr/>
        </p:nvSpPr>
        <p:spPr>
          <a:xfrm>
            <a:off x="457200" y="4736592"/>
            <a:ext cx="5989320" cy="129844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57200" y="4736592"/>
            <a:ext cx="38404" cy="12984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68096" y="4919472"/>
            <a:ext cx="5422392" cy="292608"/>
          </a:xfrm>
          <a:prstGeom prst="rect">
            <a:avLst/>
          </a:prstGeom>
          <a:noFill/>
        </p:spPr>
        <p:txBody>
          <a:bodyPr wrap="square" lIns="0" rIns="0" tIns="0" bIns="0" anchor="t">
            <a:spAutoFit/>
          </a:bodyPr>
          <a:lstStyle/>
          <a:p>
            <a:pPr algn="l">
              <a:lnSpc>
                <a:spcPct val="115000"/>
              </a:lnSpc>
              <a:spcAft>
                <a:spcPts val="0"/>
              </a:spcAft>
            </a:pPr>
            <a:r>
              <a:rPr sz="1150" b="1">
                <a:solidFill>
                  <a:srgbClr val="1A1A1A"/>
                </a:solidFill>
                <a:latin typeface="Inter"/>
              </a:rPr>
              <a:t>Agent 212 is large enough to name on their own</a:t>
            </a:r>
          </a:p>
        </p:txBody>
      </p:sp>
      <p:sp>
        <p:nvSpPr>
          <p:cNvPr id="68" name="TextBox 67"/>
          <p:cNvSpPr txBox="1"/>
          <p:nvPr/>
        </p:nvSpPr>
        <p:spPr>
          <a:xfrm>
            <a:off x="768096" y="5303520"/>
            <a:ext cx="5422392" cy="585215"/>
          </a:xfrm>
          <a:prstGeom prst="rect">
            <a:avLst/>
          </a:prstGeom>
          <a:noFill/>
        </p:spPr>
        <p:txBody>
          <a:bodyPr wrap="square" lIns="0" rIns="0" tIns="0" bIns="0" anchor="t">
            <a:spAutoFit/>
          </a:bodyPr>
          <a:lstStyle/>
          <a:p>
            <a:pPr algn="l">
              <a:lnSpc>
                <a:spcPct val="132000"/>
              </a:lnSpc>
              <a:spcAft>
                <a:spcPts val="400"/>
              </a:spcAft>
            </a:pPr>
            <a:r>
              <a:rPr sz="950" b="0">
                <a:solidFill>
                  <a:srgbClr val="4B5563"/>
                </a:solidFill>
                <a:latin typeface="Inter"/>
              </a:rPr>
              <a:t>Agent 212 has CSAT of 27.1% on 564 surveys. 411 of those customers were unsatisfied (1–3 stars). That is 2.7% of all unsatisfied surveys in the month. No QA audit flagged this agent.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148840"/>
            <a:ext cx="2743200" cy="1005840"/>
          </a:xfrm>
          <a:prstGeom prst="rect">
            <a:avLst/>
          </a:prstGeom>
          <a:noFill/>
        </p:spPr>
        <p:txBody>
          <a:bodyPr wrap="square" lIns="0" rIns="0" tIns="0" bIns="0" anchor="t">
            <a:spAutoFit/>
          </a:bodyPr>
          <a:lstStyle/>
          <a:p>
            <a:pPr algn="l">
              <a:lnSpc>
                <a:spcPct val="115000"/>
              </a:lnSpc>
              <a:spcAft>
                <a:spcPts val="0"/>
              </a:spcAft>
            </a:pPr>
            <a:r>
              <a:rPr sz="6400" b="1">
                <a:solidFill>
                  <a:srgbClr val="FF6600"/>
                </a:solidFill>
                <a:latin typeface="Inter"/>
              </a:rPr>
              <a:t>05</a:t>
            </a:r>
          </a:p>
        </p:txBody>
      </p:sp>
      <p:sp>
        <p:nvSpPr>
          <p:cNvPr id="5" name="TextBox 4"/>
          <p:cNvSpPr txBox="1"/>
          <p:nvPr/>
        </p:nvSpPr>
        <p:spPr>
          <a:xfrm>
            <a:off x="1188720" y="3246120"/>
            <a:ext cx="8686800" cy="548640"/>
          </a:xfrm>
          <a:prstGeom prst="rect">
            <a:avLst/>
          </a:prstGeom>
          <a:noFill/>
        </p:spPr>
        <p:txBody>
          <a:bodyPr wrap="square" lIns="0" rIns="0" tIns="0" bIns="0" anchor="t">
            <a:spAutoFit/>
          </a:bodyPr>
          <a:lstStyle/>
          <a:p>
            <a:pPr algn="l">
              <a:lnSpc>
                <a:spcPct val="115000"/>
              </a:lnSpc>
              <a:spcAft>
                <a:spcPts val="0"/>
              </a:spcAft>
            </a:pPr>
            <a:r>
              <a:rPr sz="3000" b="1">
                <a:solidFill>
                  <a:srgbClr val="FFFFFF"/>
                </a:solidFill>
                <a:latin typeface="Inter"/>
              </a:rPr>
              <a:t>Combined analysis and root cause</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87952"/>
            <a:ext cx="7863840" cy="822960"/>
          </a:xfrm>
          <a:prstGeom prst="rect">
            <a:avLst/>
          </a:prstGeom>
          <a:noFill/>
        </p:spPr>
        <p:txBody>
          <a:bodyPr wrap="square" lIns="0" rIns="0" tIns="0" bIns="0" anchor="t">
            <a:spAutoFit/>
          </a:bodyPr>
          <a:lstStyle/>
          <a:p>
            <a:pPr algn="l">
              <a:lnSpc>
                <a:spcPct val="140000"/>
              </a:lnSpc>
              <a:spcAft>
                <a:spcPts val="0"/>
              </a:spcAft>
            </a:pPr>
            <a:r>
              <a:rPr sz="1300" b="0">
                <a:solidFill>
                  <a:srgbClr val="C9CCD1"/>
                </a:solidFill>
                <a:latin typeface="Inter"/>
              </a:rPr>
              <a:t>Where QA, CSAT and recontact miss on the same contact reason. Then why.</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rIns="0" tIns="0" bIns="0" anchor="ctr">
            <a:spAutoFit/>
          </a:bodyPr>
          <a:lstStyle/>
          <a:p>
            <a:pPr algn="l">
              <a:lnSpc>
                <a:spcPct val="115000"/>
              </a:lnSpc>
              <a:spcAft>
                <a:spcPts val="0"/>
              </a:spcAft>
            </a:pPr>
            <a:r>
              <a:rPr sz="1500" b="1">
                <a:solidFill>
                  <a:srgbClr val="FFFFFF"/>
                </a:solidFill>
                <a:latin typeface="Inter"/>
              </a:rPr>
              <a:t>DiDi</a:t>
            </a:r>
          </a:p>
        </p:txBody>
      </p:sp>
      <p:sp>
        <p:nvSpPr>
          <p:cNvPr id="10" name="TextBox 9"/>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22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Combined analysis</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Contact reasons that miss on more than one metric (blended Phone + Chat)</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23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09167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207008"/>
            <a:ext cx="262432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Contact reason (CR Lv4)</a:t>
            </a:r>
          </a:p>
        </p:txBody>
      </p:sp>
      <p:sp>
        <p:nvSpPr>
          <p:cNvPr id="13" name="TextBox 12"/>
          <p:cNvSpPr txBox="1"/>
          <p:nvPr/>
        </p:nvSpPr>
        <p:spPr>
          <a:xfrm>
            <a:off x="3465576" y="1207008"/>
            <a:ext cx="310896" cy="384048"/>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QA</a:t>
            </a:r>
          </a:p>
        </p:txBody>
      </p:sp>
      <p:sp>
        <p:nvSpPr>
          <p:cNvPr id="14" name="TextBox 13"/>
          <p:cNvSpPr txBox="1"/>
          <p:nvPr/>
        </p:nvSpPr>
        <p:spPr>
          <a:xfrm>
            <a:off x="4032503" y="1207008"/>
            <a:ext cx="310896" cy="384048"/>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Audits</a:t>
            </a:r>
          </a:p>
        </p:txBody>
      </p:sp>
      <p:sp>
        <p:nvSpPr>
          <p:cNvPr id="15" name="TextBox 14"/>
          <p:cNvSpPr txBox="1"/>
          <p:nvPr/>
        </p:nvSpPr>
        <p:spPr>
          <a:xfrm>
            <a:off x="4599431" y="1207008"/>
            <a:ext cx="402335" cy="384048"/>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CSAT</a:t>
            </a:r>
          </a:p>
        </p:txBody>
      </p:sp>
      <p:sp>
        <p:nvSpPr>
          <p:cNvPr id="16" name="TextBox 15"/>
          <p:cNvSpPr txBox="1"/>
          <p:nvPr/>
        </p:nvSpPr>
        <p:spPr>
          <a:xfrm>
            <a:off x="5257799" y="1207008"/>
            <a:ext cx="585216" cy="384048"/>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Recontact</a:t>
            </a:r>
          </a:p>
        </p:txBody>
      </p:sp>
      <p:sp>
        <p:nvSpPr>
          <p:cNvPr id="17" name="TextBox 16"/>
          <p:cNvSpPr txBox="1"/>
          <p:nvPr/>
        </p:nvSpPr>
        <p:spPr>
          <a:xfrm>
            <a:off x="6099047" y="1207008"/>
            <a:ext cx="658368" cy="384048"/>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Repeat volume</a:t>
            </a:r>
          </a:p>
        </p:txBody>
      </p:sp>
      <p:sp>
        <p:nvSpPr>
          <p:cNvPr id="18" name="TextBox 17"/>
          <p:cNvSpPr txBox="1"/>
          <p:nvPr/>
        </p:nvSpPr>
        <p:spPr>
          <a:xfrm>
            <a:off x="7013447" y="1207008"/>
            <a:ext cx="457200" cy="384048"/>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Surveys</a:t>
            </a:r>
          </a:p>
        </p:txBody>
      </p:sp>
      <p:sp>
        <p:nvSpPr>
          <p:cNvPr id="19" name="TextBox 18"/>
          <p:cNvSpPr txBox="1"/>
          <p:nvPr/>
        </p:nvSpPr>
        <p:spPr>
          <a:xfrm>
            <a:off x="7726679" y="1207008"/>
            <a:ext cx="170992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Pattern</a:t>
            </a:r>
          </a:p>
        </p:txBody>
      </p:sp>
      <p:sp>
        <p:nvSpPr>
          <p:cNvPr id="20" name="TextBox 19"/>
          <p:cNvSpPr txBox="1"/>
          <p:nvPr/>
        </p:nvSpPr>
        <p:spPr>
          <a:xfrm>
            <a:off x="9692640" y="1207008"/>
            <a:ext cx="1728216"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Priority</a:t>
            </a:r>
          </a:p>
        </p:txBody>
      </p:sp>
      <p:sp>
        <p:nvSpPr>
          <p:cNvPr id="21" name="TextBox 20"/>
          <p:cNvSpPr txBox="1"/>
          <p:nvPr/>
        </p:nvSpPr>
        <p:spPr>
          <a:xfrm>
            <a:off x="585216" y="1591056"/>
            <a:ext cx="262432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Order status / delay information</a:t>
            </a:r>
          </a:p>
        </p:txBody>
      </p:sp>
      <p:sp>
        <p:nvSpPr>
          <p:cNvPr id="22" name="Rounded Rectangle 21"/>
          <p:cNvSpPr/>
          <p:nvPr/>
        </p:nvSpPr>
        <p:spPr>
          <a:xfrm>
            <a:off x="3401568" y="16550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65576" y="1591056"/>
            <a:ext cx="310896" cy="457200"/>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95.6</a:t>
            </a:r>
          </a:p>
        </p:txBody>
      </p:sp>
      <p:sp>
        <p:nvSpPr>
          <p:cNvPr id="24" name="TextBox 23"/>
          <p:cNvSpPr txBox="1"/>
          <p:nvPr/>
        </p:nvSpPr>
        <p:spPr>
          <a:xfrm>
            <a:off x="4032503" y="1591056"/>
            <a:ext cx="310896"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25</a:t>
            </a:r>
          </a:p>
        </p:txBody>
      </p:sp>
      <p:sp>
        <p:nvSpPr>
          <p:cNvPr id="25" name="Rounded Rectangle 24"/>
          <p:cNvSpPr/>
          <p:nvPr/>
        </p:nvSpPr>
        <p:spPr>
          <a:xfrm>
            <a:off x="4535424" y="16550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1" y="1591056"/>
            <a:ext cx="402335"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67.8%</a:t>
            </a:r>
          </a:p>
        </p:txBody>
      </p:sp>
      <p:sp>
        <p:nvSpPr>
          <p:cNvPr id="27" name="Rounded Rectangle 26"/>
          <p:cNvSpPr/>
          <p:nvPr/>
        </p:nvSpPr>
        <p:spPr>
          <a:xfrm>
            <a:off x="5193792" y="16550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57799" y="1591056"/>
            <a:ext cx="585216"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16.92%</a:t>
            </a:r>
          </a:p>
        </p:txBody>
      </p:sp>
      <p:sp>
        <p:nvSpPr>
          <p:cNvPr id="29" name="TextBox 28"/>
          <p:cNvSpPr txBox="1"/>
          <p:nvPr/>
        </p:nvSpPr>
        <p:spPr>
          <a:xfrm>
            <a:off x="6099047" y="1591056"/>
            <a:ext cx="658368"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13,014</a:t>
            </a:r>
          </a:p>
        </p:txBody>
      </p:sp>
      <p:sp>
        <p:nvSpPr>
          <p:cNvPr id="30" name="TextBox 29"/>
          <p:cNvSpPr txBox="1"/>
          <p:nvPr/>
        </p:nvSpPr>
        <p:spPr>
          <a:xfrm>
            <a:off x="7013447" y="1591056"/>
            <a:ext cx="457200"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9,918</a:t>
            </a:r>
          </a:p>
        </p:txBody>
      </p:sp>
      <p:sp>
        <p:nvSpPr>
          <p:cNvPr id="31" name="TextBox 30"/>
          <p:cNvSpPr txBox="1"/>
          <p:nvPr/>
        </p:nvSpPr>
        <p:spPr>
          <a:xfrm>
            <a:off x="7726679" y="1591056"/>
            <a:ext cx="17099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Low CSAT + High Recontact</a:t>
            </a:r>
          </a:p>
        </p:txBody>
      </p:sp>
      <p:sp>
        <p:nvSpPr>
          <p:cNvPr id="32" name="Rounded Rectangle 31"/>
          <p:cNvSpPr/>
          <p:nvPr/>
        </p:nvSpPr>
        <p:spPr>
          <a:xfrm>
            <a:off x="9692640" y="16824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802368" y="17693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66960" y="1682496"/>
            <a:ext cx="1002182"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Act this quarter</a:t>
            </a:r>
          </a:p>
        </p:txBody>
      </p:sp>
      <p:sp>
        <p:nvSpPr>
          <p:cNvPr id="35" name="Rectangle 34"/>
          <p:cNvSpPr/>
          <p:nvPr/>
        </p:nvSpPr>
        <p:spPr>
          <a:xfrm>
            <a:off x="457200" y="20434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20482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 y="2048256"/>
            <a:ext cx="262432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order status &amp; delays</a:t>
            </a:r>
          </a:p>
        </p:txBody>
      </p:sp>
      <p:sp>
        <p:nvSpPr>
          <p:cNvPr id="38" name="Rounded Rectangle 37"/>
          <p:cNvSpPr/>
          <p:nvPr/>
        </p:nvSpPr>
        <p:spPr>
          <a:xfrm>
            <a:off x="3401568" y="21122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65576" y="2048256"/>
            <a:ext cx="310896" cy="457200"/>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97.3</a:t>
            </a:r>
          </a:p>
        </p:txBody>
      </p:sp>
      <p:sp>
        <p:nvSpPr>
          <p:cNvPr id="40" name="TextBox 39"/>
          <p:cNvSpPr txBox="1"/>
          <p:nvPr/>
        </p:nvSpPr>
        <p:spPr>
          <a:xfrm>
            <a:off x="4032503" y="2048256"/>
            <a:ext cx="310896"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45</a:t>
            </a:r>
          </a:p>
        </p:txBody>
      </p:sp>
      <p:sp>
        <p:nvSpPr>
          <p:cNvPr id="41" name="Rounded Rectangle 40"/>
          <p:cNvSpPr/>
          <p:nvPr/>
        </p:nvSpPr>
        <p:spPr>
          <a:xfrm>
            <a:off x="4535424" y="21122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99431" y="2048256"/>
            <a:ext cx="402335"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64.7%</a:t>
            </a:r>
          </a:p>
        </p:txBody>
      </p:sp>
      <p:sp>
        <p:nvSpPr>
          <p:cNvPr id="43" name="Rounded Rectangle 42"/>
          <p:cNvSpPr/>
          <p:nvPr/>
        </p:nvSpPr>
        <p:spPr>
          <a:xfrm>
            <a:off x="5193792" y="21122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57799" y="2048256"/>
            <a:ext cx="585216"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19.34%</a:t>
            </a:r>
          </a:p>
        </p:txBody>
      </p:sp>
      <p:sp>
        <p:nvSpPr>
          <p:cNvPr id="45" name="TextBox 44"/>
          <p:cNvSpPr txBox="1"/>
          <p:nvPr/>
        </p:nvSpPr>
        <p:spPr>
          <a:xfrm>
            <a:off x="6099047" y="2048256"/>
            <a:ext cx="658368"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7,680</a:t>
            </a:r>
          </a:p>
        </p:txBody>
      </p:sp>
      <p:sp>
        <p:nvSpPr>
          <p:cNvPr id="46" name="TextBox 45"/>
          <p:cNvSpPr txBox="1"/>
          <p:nvPr/>
        </p:nvSpPr>
        <p:spPr>
          <a:xfrm>
            <a:off x="7013447" y="2048256"/>
            <a:ext cx="457200"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5,096</a:t>
            </a:r>
          </a:p>
        </p:txBody>
      </p:sp>
      <p:sp>
        <p:nvSpPr>
          <p:cNvPr id="47" name="TextBox 46"/>
          <p:cNvSpPr txBox="1"/>
          <p:nvPr/>
        </p:nvSpPr>
        <p:spPr>
          <a:xfrm>
            <a:off x="7726679" y="2048256"/>
            <a:ext cx="17099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Low CSAT + High Recontact</a:t>
            </a:r>
          </a:p>
        </p:txBody>
      </p:sp>
      <p:sp>
        <p:nvSpPr>
          <p:cNvPr id="48" name="Rounded Rectangle 47"/>
          <p:cNvSpPr/>
          <p:nvPr/>
        </p:nvSpPr>
        <p:spPr>
          <a:xfrm>
            <a:off x="9692640" y="21396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802368" y="22265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66960" y="2139696"/>
            <a:ext cx="1002182"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Act this quarter</a:t>
            </a:r>
          </a:p>
        </p:txBody>
      </p:sp>
      <p:sp>
        <p:nvSpPr>
          <p:cNvPr id="51" name="Rectangle 50"/>
          <p:cNvSpPr/>
          <p:nvPr/>
        </p:nvSpPr>
        <p:spPr>
          <a:xfrm>
            <a:off x="457200" y="25006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85216" y="2505456"/>
            <a:ext cx="262432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Disagrees with cancellation charge</a:t>
            </a:r>
          </a:p>
        </p:txBody>
      </p:sp>
      <p:sp>
        <p:nvSpPr>
          <p:cNvPr id="53" name="Rounded Rectangle 52"/>
          <p:cNvSpPr/>
          <p:nvPr/>
        </p:nvSpPr>
        <p:spPr>
          <a:xfrm>
            <a:off x="3401568" y="25694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65576" y="2505456"/>
            <a:ext cx="310896" cy="457200"/>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91.4</a:t>
            </a:r>
          </a:p>
        </p:txBody>
      </p:sp>
      <p:sp>
        <p:nvSpPr>
          <p:cNvPr id="55" name="TextBox 54"/>
          <p:cNvSpPr txBox="1"/>
          <p:nvPr/>
        </p:nvSpPr>
        <p:spPr>
          <a:xfrm>
            <a:off x="4032503" y="2505456"/>
            <a:ext cx="310896"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59</a:t>
            </a:r>
          </a:p>
        </p:txBody>
      </p:sp>
      <p:sp>
        <p:nvSpPr>
          <p:cNvPr id="56" name="Rounded Rectangle 55"/>
          <p:cNvSpPr/>
          <p:nvPr/>
        </p:nvSpPr>
        <p:spPr>
          <a:xfrm>
            <a:off x="4535424" y="25694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99431" y="2505456"/>
            <a:ext cx="402335"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67.4%</a:t>
            </a:r>
          </a:p>
        </p:txBody>
      </p:sp>
      <p:sp>
        <p:nvSpPr>
          <p:cNvPr id="58" name="Rounded Rectangle 57"/>
          <p:cNvSpPr/>
          <p:nvPr/>
        </p:nvSpPr>
        <p:spPr>
          <a:xfrm>
            <a:off x="5193792" y="25694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257799" y="2505456"/>
            <a:ext cx="585216"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12.96%</a:t>
            </a:r>
          </a:p>
        </p:txBody>
      </p:sp>
      <p:sp>
        <p:nvSpPr>
          <p:cNvPr id="60" name="TextBox 59"/>
          <p:cNvSpPr txBox="1"/>
          <p:nvPr/>
        </p:nvSpPr>
        <p:spPr>
          <a:xfrm>
            <a:off x="6099047" y="2505456"/>
            <a:ext cx="658368"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6,599</a:t>
            </a:r>
          </a:p>
        </p:txBody>
      </p:sp>
      <p:sp>
        <p:nvSpPr>
          <p:cNvPr id="61" name="TextBox 60"/>
          <p:cNvSpPr txBox="1"/>
          <p:nvPr/>
        </p:nvSpPr>
        <p:spPr>
          <a:xfrm>
            <a:off x="7013447" y="2505456"/>
            <a:ext cx="457200"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5,992</a:t>
            </a:r>
          </a:p>
        </p:txBody>
      </p:sp>
      <p:sp>
        <p:nvSpPr>
          <p:cNvPr id="62" name="TextBox 61"/>
          <p:cNvSpPr txBox="1"/>
          <p:nvPr/>
        </p:nvSpPr>
        <p:spPr>
          <a:xfrm>
            <a:off x="7726679" y="2505456"/>
            <a:ext cx="17099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Low CSAT + High Recontact</a:t>
            </a:r>
          </a:p>
        </p:txBody>
      </p:sp>
      <p:sp>
        <p:nvSpPr>
          <p:cNvPr id="63" name="Rounded Rectangle 62"/>
          <p:cNvSpPr/>
          <p:nvPr/>
        </p:nvSpPr>
        <p:spPr>
          <a:xfrm>
            <a:off x="9692640" y="25968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802368" y="26837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66960" y="2596896"/>
            <a:ext cx="1002182"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Act this quarter</a:t>
            </a:r>
          </a:p>
        </p:txBody>
      </p:sp>
      <p:sp>
        <p:nvSpPr>
          <p:cNvPr id="66" name="Rectangle 65"/>
          <p:cNvSpPr/>
          <p:nvPr/>
        </p:nvSpPr>
        <p:spPr>
          <a:xfrm>
            <a:off x="457200" y="29578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57200" y="29626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85216" y="2962656"/>
            <a:ext cx="262432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Refund status and conditions</a:t>
            </a:r>
          </a:p>
        </p:txBody>
      </p:sp>
      <p:sp>
        <p:nvSpPr>
          <p:cNvPr id="69" name="Rounded Rectangle 68"/>
          <p:cNvSpPr/>
          <p:nvPr/>
        </p:nvSpPr>
        <p:spPr>
          <a:xfrm>
            <a:off x="3401568" y="30266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465576" y="2962656"/>
            <a:ext cx="310896" cy="457200"/>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90.6</a:t>
            </a:r>
          </a:p>
        </p:txBody>
      </p:sp>
      <p:sp>
        <p:nvSpPr>
          <p:cNvPr id="71" name="TextBox 70"/>
          <p:cNvSpPr txBox="1"/>
          <p:nvPr/>
        </p:nvSpPr>
        <p:spPr>
          <a:xfrm>
            <a:off x="4032503" y="2962656"/>
            <a:ext cx="310896"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70</a:t>
            </a:r>
          </a:p>
        </p:txBody>
      </p:sp>
      <p:sp>
        <p:nvSpPr>
          <p:cNvPr id="72" name="Rounded Rectangle 71"/>
          <p:cNvSpPr/>
          <p:nvPr/>
        </p:nvSpPr>
        <p:spPr>
          <a:xfrm>
            <a:off x="4535424" y="30266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99431" y="2962656"/>
            <a:ext cx="402335"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67.0%</a:t>
            </a:r>
          </a:p>
        </p:txBody>
      </p:sp>
      <p:sp>
        <p:nvSpPr>
          <p:cNvPr id="74" name="Rounded Rectangle 73"/>
          <p:cNvSpPr/>
          <p:nvPr/>
        </p:nvSpPr>
        <p:spPr>
          <a:xfrm>
            <a:off x="5193792" y="30266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257799" y="2962656"/>
            <a:ext cx="585216"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15.69%</a:t>
            </a:r>
          </a:p>
        </p:txBody>
      </p:sp>
      <p:sp>
        <p:nvSpPr>
          <p:cNvPr id="76" name="TextBox 75"/>
          <p:cNvSpPr txBox="1"/>
          <p:nvPr/>
        </p:nvSpPr>
        <p:spPr>
          <a:xfrm>
            <a:off x="6099047" y="2962656"/>
            <a:ext cx="658368"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2,901</a:t>
            </a:r>
          </a:p>
        </p:txBody>
      </p:sp>
      <p:sp>
        <p:nvSpPr>
          <p:cNvPr id="77" name="TextBox 76"/>
          <p:cNvSpPr txBox="1"/>
          <p:nvPr/>
        </p:nvSpPr>
        <p:spPr>
          <a:xfrm>
            <a:off x="7013447" y="2962656"/>
            <a:ext cx="457200"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3,582</a:t>
            </a:r>
          </a:p>
        </p:txBody>
      </p:sp>
      <p:sp>
        <p:nvSpPr>
          <p:cNvPr id="78" name="TextBox 77"/>
          <p:cNvSpPr txBox="1"/>
          <p:nvPr/>
        </p:nvSpPr>
        <p:spPr>
          <a:xfrm>
            <a:off x="7726679" y="2962656"/>
            <a:ext cx="17099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Low CSAT + High Recontact</a:t>
            </a:r>
          </a:p>
        </p:txBody>
      </p:sp>
      <p:sp>
        <p:nvSpPr>
          <p:cNvPr id="79" name="Rounded Rectangle 78"/>
          <p:cNvSpPr/>
          <p:nvPr/>
        </p:nvSpPr>
        <p:spPr>
          <a:xfrm>
            <a:off x="9692640" y="30540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802368" y="31409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66960" y="3054096"/>
            <a:ext cx="1002182"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Act this quarter</a:t>
            </a:r>
          </a:p>
        </p:txBody>
      </p:sp>
      <p:sp>
        <p:nvSpPr>
          <p:cNvPr id="82" name="Rectangle 81"/>
          <p:cNvSpPr/>
          <p:nvPr/>
        </p:nvSpPr>
        <p:spPr>
          <a:xfrm>
            <a:off x="457200" y="34150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85216" y="3419856"/>
            <a:ext cx="262432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Cash order blocked (antifraud)</a:t>
            </a:r>
          </a:p>
        </p:txBody>
      </p:sp>
      <p:sp>
        <p:nvSpPr>
          <p:cNvPr id="84" name="Rounded Rectangle 83"/>
          <p:cNvSpPr/>
          <p:nvPr/>
        </p:nvSpPr>
        <p:spPr>
          <a:xfrm>
            <a:off x="3401568" y="34838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465576" y="3419856"/>
            <a:ext cx="310896" cy="457200"/>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93.6</a:t>
            </a:r>
          </a:p>
        </p:txBody>
      </p:sp>
      <p:sp>
        <p:nvSpPr>
          <p:cNvPr id="86" name="TextBox 85"/>
          <p:cNvSpPr txBox="1"/>
          <p:nvPr/>
        </p:nvSpPr>
        <p:spPr>
          <a:xfrm>
            <a:off x="4032503" y="3419856"/>
            <a:ext cx="310896"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58</a:t>
            </a:r>
          </a:p>
        </p:txBody>
      </p:sp>
      <p:sp>
        <p:nvSpPr>
          <p:cNvPr id="87" name="TextBox 86"/>
          <p:cNvSpPr txBox="1"/>
          <p:nvPr/>
        </p:nvSpPr>
        <p:spPr>
          <a:xfrm>
            <a:off x="4599431" y="3419856"/>
            <a:ext cx="402335"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n/a</a:t>
            </a:r>
          </a:p>
        </p:txBody>
      </p:sp>
      <p:sp>
        <p:nvSpPr>
          <p:cNvPr id="88" name="Rounded Rectangle 87"/>
          <p:cNvSpPr/>
          <p:nvPr/>
        </p:nvSpPr>
        <p:spPr>
          <a:xfrm>
            <a:off x="5193792" y="34838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257799" y="3419856"/>
            <a:ext cx="585216"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24.40%</a:t>
            </a:r>
          </a:p>
        </p:txBody>
      </p:sp>
      <p:sp>
        <p:nvSpPr>
          <p:cNvPr id="90" name="TextBox 89"/>
          <p:cNvSpPr txBox="1"/>
          <p:nvPr/>
        </p:nvSpPr>
        <p:spPr>
          <a:xfrm>
            <a:off x="6099047" y="3419856"/>
            <a:ext cx="658368"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1,776</a:t>
            </a:r>
          </a:p>
        </p:txBody>
      </p:sp>
      <p:sp>
        <p:nvSpPr>
          <p:cNvPr id="91" name="TextBox 90"/>
          <p:cNvSpPr txBox="1"/>
          <p:nvPr/>
        </p:nvSpPr>
        <p:spPr>
          <a:xfrm>
            <a:off x="7013447" y="3419856"/>
            <a:ext cx="457200"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n/a</a:t>
            </a:r>
          </a:p>
        </p:txBody>
      </p:sp>
      <p:sp>
        <p:nvSpPr>
          <p:cNvPr id="92" name="TextBox 91"/>
          <p:cNvSpPr txBox="1"/>
          <p:nvPr/>
        </p:nvSpPr>
        <p:spPr>
          <a:xfrm>
            <a:off x="7726679" y="3419856"/>
            <a:ext cx="17099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High Recontact</a:t>
            </a:r>
          </a:p>
        </p:txBody>
      </p:sp>
      <p:sp>
        <p:nvSpPr>
          <p:cNvPr id="93" name="Rounded Rectangle 92"/>
          <p:cNvSpPr/>
          <p:nvPr/>
        </p:nvSpPr>
        <p:spPr>
          <a:xfrm>
            <a:off x="9692640" y="3511296"/>
            <a:ext cx="800785"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802368" y="359816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966960" y="3511296"/>
            <a:ext cx="489889"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Monitor</a:t>
            </a:r>
          </a:p>
        </p:txBody>
      </p:sp>
      <p:sp>
        <p:nvSpPr>
          <p:cNvPr id="96" name="Rectangle 95"/>
          <p:cNvSpPr/>
          <p:nvPr/>
        </p:nvSpPr>
        <p:spPr>
          <a:xfrm>
            <a:off x="457200" y="38722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457200" y="38770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85216" y="3877056"/>
            <a:ext cx="262432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After-sales fraud review</a:t>
            </a:r>
          </a:p>
        </p:txBody>
      </p:sp>
      <p:sp>
        <p:nvSpPr>
          <p:cNvPr id="99" name="Rounded Rectangle 98"/>
          <p:cNvSpPr/>
          <p:nvPr/>
        </p:nvSpPr>
        <p:spPr>
          <a:xfrm>
            <a:off x="3401568" y="39410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465576" y="3877056"/>
            <a:ext cx="310896" cy="457200"/>
          </a:xfrm>
          <a:prstGeom prst="rect">
            <a:avLst/>
          </a:prstGeom>
          <a:noFill/>
        </p:spPr>
        <p:txBody>
          <a:bodyPr wrap="square" lIns="0" rIns="0" tIns="0" bIns="0" anchor="ctr">
            <a:spAutoFit/>
          </a:bodyPr>
          <a:lstStyle/>
          <a:p>
            <a:pPr algn="r">
              <a:lnSpc>
                <a:spcPct val="115000"/>
              </a:lnSpc>
              <a:spcAft>
                <a:spcPts val="0"/>
              </a:spcAft>
            </a:pPr>
            <a:r>
              <a:rPr sz="800" b="1">
                <a:solidFill>
                  <a:srgbClr val="16A34A"/>
                </a:solidFill>
                <a:latin typeface="Inter"/>
              </a:rPr>
              <a:t>97.4</a:t>
            </a:r>
          </a:p>
        </p:txBody>
      </p:sp>
      <p:sp>
        <p:nvSpPr>
          <p:cNvPr id="101" name="TextBox 100"/>
          <p:cNvSpPr txBox="1"/>
          <p:nvPr/>
        </p:nvSpPr>
        <p:spPr>
          <a:xfrm>
            <a:off x="4032503" y="3877056"/>
            <a:ext cx="310896"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118</a:t>
            </a:r>
          </a:p>
        </p:txBody>
      </p:sp>
      <p:sp>
        <p:nvSpPr>
          <p:cNvPr id="102" name="Rounded Rectangle 101"/>
          <p:cNvSpPr/>
          <p:nvPr/>
        </p:nvSpPr>
        <p:spPr>
          <a:xfrm>
            <a:off x="4535424" y="39410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599431" y="3877056"/>
            <a:ext cx="402335"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6.1%</a:t>
            </a:r>
          </a:p>
        </p:txBody>
      </p:sp>
      <p:sp>
        <p:nvSpPr>
          <p:cNvPr id="104" name="Rounded Rectangle 103"/>
          <p:cNvSpPr/>
          <p:nvPr/>
        </p:nvSpPr>
        <p:spPr>
          <a:xfrm>
            <a:off x="5193792" y="39410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257799" y="3877056"/>
            <a:ext cx="585216" cy="457200"/>
          </a:xfrm>
          <a:prstGeom prst="rect">
            <a:avLst/>
          </a:prstGeom>
          <a:noFill/>
        </p:spPr>
        <p:txBody>
          <a:bodyPr wrap="square" lIns="0" rIns="0" tIns="0" bIns="0" anchor="ctr">
            <a:spAutoFit/>
          </a:bodyPr>
          <a:lstStyle/>
          <a:p>
            <a:pPr algn="r">
              <a:lnSpc>
                <a:spcPct val="115000"/>
              </a:lnSpc>
              <a:spcAft>
                <a:spcPts val="0"/>
              </a:spcAft>
            </a:pPr>
            <a:r>
              <a:rPr sz="800" b="1">
                <a:solidFill>
                  <a:srgbClr val="E11D2E"/>
                </a:solidFill>
                <a:latin typeface="Inter"/>
              </a:rPr>
              <a:t>28.45%</a:t>
            </a:r>
          </a:p>
        </p:txBody>
      </p:sp>
      <p:sp>
        <p:nvSpPr>
          <p:cNvPr id="106" name="TextBox 105"/>
          <p:cNvSpPr txBox="1"/>
          <p:nvPr/>
        </p:nvSpPr>
        <p:spPr>
          <a:xfrm>
            <a:off x="6099047" y="3877056"/>
            <a:ext cx="658368"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895</a:t>
            </a:r>
          </a:p>
        </p:txBody>
      </p:sp>
      <p:sp>
        <p:nvSpPr>
          <p:cNvPr id="107" name="TextBox 106"/>
          <p:cNvSpPr txBox="1"/>
          <p:nvPr/>
        </p:nvSpPr>
        <p:spPr>
          <a:xfrm>
            <a:off x="7013447" y="3877056"/>
            <a:ext cx="457200" cy="457200"/>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475</a:t>
            </a:r>
          </a:p>
        </p:txBody>
      </p:sp>
      <p:sp>
        <p:nvSpPr>
          <p:cNvPr id="108" name="TextBox 107"/>
          <p:cNvSpPr txBox="1"/>
          <p:nvPr/>
        </p:nvSpPr>
        <p:spPr>
          <a:xfrm>
            <a:off x="7726679" y="3877056"/>
            <a:ext cx="17099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Low CSAT + High Recontact</a:t>
            </a:r>
          </a:p>
        </p:txBody>
      </p:sp>
      <p:sp>
        <p:nvSpPr>
          <p:cNvPr id="109" name="Rounded Rectangle 108"/>
          <p:cNvSpPr/>
          <p:nvPr/>
        </p:nvSpPr>
        <p:spPr>
          <a:xfrm>
            <a:off x="9692640" y="3968496"/>
            <a:ext cx="800785"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802368" y="405536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966960" y="3968496"/>
            <a:ext cx="489889"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Monitor</a:t>
            </a:r>
          </a:p>
        </p:txBody>
      </p:sp>
      <p:sp>
        <p:nvSpPr>
          <p:cNvPr id="112" name="Rectangle 111"/>
          <p:cNvSpPr/>
          <p:nvPr/>
        </p:nvSpPr>
        <p:spPr>
          <a:xfrm>
            <a:off x="457200" y="43294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57200" y="4425696"/>
            <a:ext cx="11277295" cy="201168"/>
          </a:xfrm>
          <a:prstGeom prst="rect">
            <a:avLst/>
          </a:prstGeom>
          <a:noFill/>
        </p:spPr>
        <p:txBody>
          <a:bodyPr wrap="square" lIns="0" rIns="0" tIns="0" bIns="0" anchor="t">
            <a:spAutoFit/>
          </a:bodyPr>
          <a:lstStyle/>
          <a:p>
            <a:pPr algn="l">
              <a:lnSpc>
                <a:spcPct val="115000"/>
              </a:lnSpc>
              <a:spcAft>
                <a:spcPts val="0"/>
              </a:spcAft>
            </a:pPr>
            <a:r>
              <a:rPr sz="800" b="0">
                <a:solidFill>
                  <a:srgbClr val="6B7280"/>
                </a:solidFill>
                <a:latin typeface="Inter"/>
              </a:rPr>
              <a:t>QA and CSAT columns are blended Phone + Chat. Refund status QA 90.6 is n=70 (Phone 76.4 n=25 + Chat 98.4 n=45): same contact reason, two casings in the source. Official overall QA still keeps the two attribute lists unmixed.</a:t>
            </a:r>
          </a:p>
        </p:txBody>
      </p:sp>
      <p:sp>
        <p:nvSpPr>
          <p:cNvPr id="114" name="Rectangle 113"/>
          <p:cNvSpPr/>
          <p:nvPr/>
        </p:nvSpPr>
        <p:spPr>
          <a:xfrm>
            <a:off x="457200" y="4681728"/>
            <a:ext cx="6903720" cy="14173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457200" y="4681728"/>
            <a:ext cx="38404" cy="14173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68096" y="4864608"/>
            <a:ext cx="6336792" cy="292608"/>
          </a:xfrm>
          <a:prstGeom prst="rect">
            <a:avLst/>
          </a:prstGeom>
          <a:noFill/>
        </p:spPr>
        <p:txBody>
          <a:bodyPr wrap="square" lIns="0" rIns="0" tIns="0" bIns="0" anchor="t">
            <a:spAutoFit/>
          </a:bodyPr>
          <a:lstStyle/>
          <a:p>
            <a:pPr algn="l">
              <a:lnSpc>
                <a:spcPct val="115000"/>
              </a:lnSpc>
              <a:spcAft>
                <a:spcPts val="0"/>
              </a:spcAft>
            </a:pPr>
            <a:r>
              <a:rPr sz="1200" b="1">
                <a:solidFill>
                  <a:srgbClr val="1A1A1A"/>
                </a:solidFill>
                <a:latin typeface="Inter"/>
              </a:rPr>
              <a:t>The same pattern is visible in a single contact reason</a:t>
            </a:r>
          </a:p>
        </p:txBody>
      </p:sp>
      <p:sp>
        <p:nvSpPr>
          <p:cNvPr id="117" name="TextBox 116"/>
          <p:cNvSpPr txBox="1"/>
          <p:nvPr/>
        </p:nvSpPr>
        <p:spPr>
          <a:xfrm>
            <a:off x="768096" y="5248656"/>
            <a:ext cx="6336792" cy="704088"/>
          </a:xfrm>
          <a:prstGeom prst="rect">
            <a:avLst/>
          </a:prstGeom>
          <a:noFill/>
        </p:spPr>
        <p:txBody>
          <a:bodyPr wrap="square" lIns="0" rIns="0" tIns="0" bIns="0" anchor="t">
            <a:spAutoFit/>
          </a:bodyPr>
          <a:lstStyle/>
          <a:p>
            <a:pPr algn="l">
              <a:lnSpc>
                <a:spcPct val="132000"/>
              </a:lnSpc>
              <a:spcAft>
                <a:spcPts val="400"/>
              </a:spcAft>
            </a:pPr>
            <a:r>
              <a:rPr sz="950" b="0">
                <a:solidFill>
                  <a:srgbClr val="4B5563"/>
                </a:solidFill>
                <a:latin typeface="Inter"/>
              </a:rPr>
              <a:t>“Order status &amp; delays” scores 97.3 on QA, but only 64.7% on CSAT and has a 19.34% recontact rate. It generated 7,680 repeat contacts during the month. Agents follow the process, but they cannot see or change the courier ETA. The interaction is compliant, yet the customer still has no resolution.</a:t>
            </a:r>
          </a:p>
        </p:txBody>
      </p:sp>
      <p:sp>
        <p:nvSpPr>
          <p:cNvPr id="118" name="TextBox 117"/>
          <p:cNvSpPr txBox="1"/>
          <p:nvPr/>
        </p:nvSpPr>
        <p:spPr>
          <a:xfrm>
            <a:off x="7589520" y="4681728"/>
            <a:ext cx="416052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Who the auditor tagged as owner</a:t>
            </a:r>
          </a:p>
        </p:txBody>
      </p:sp>
      <p:sp>
        <p:nvSpPr>
          <p:cNvPr id="119" name="Rectangle 118"/>
          <p:cNvSpPr/>
          <p:nvPr/>
        </p:nvSpPr>
        <p:spPr>
          <a:xfrm>
            <a:off x="7589520" y="506120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7827264" y="4965192"/>
            <a:ext cx="3922776" cy="329184"/>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49.5% of tagged dissatisfaction is attributed to CX Process, compared with 22.0% to the agent.</a:t>
            </a:r>
          </a:p>
        </p:txBody>
      </p:sp>
      <p:sp>
        <p:nvSpPr>
          <p:cNvPr id="121" name="Rectangle 120"/>
          <p:cNvSpPr/>
          <p:nvPr/>
        </p:nvSpPr>
        <p:spPr>
          <a:xfrm>
            <a:off x="7589520" y="53903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827264" y="5294376"/>
            <a:ext cx="3922776" cy="329184"/>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42.2% of cases are marked “not resolution-based.”</a:t>
            </a:r>
          </a:p>
        </p:txBody>
      </p:sp>
      <p:sp>
        <p:nvSpPr>
          <p:cNvPr id="123" name="Rectangle 122"/>
          <p:cNvSpPr/>
          <p:nvPr/>
        </p:nvSpPr>
        <p:spPr>
          <a:xfrm>
            <a:off x="7589520" y="571957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827264" y="5623560"/>
            <a:ext cx="3922776" cy="329184"/>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Only 17.0% are identified as process failures, and Chat QA may understate these because 88% of Chat audits still score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Where we can close the case, CSAT is higher</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By contact reason and its sub-reasons. Same green / amber / red as the rest of the deck.</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24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7295" cy="585216"/>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207008"/>
            <a:ext cx="38404" cy="58521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1252728"/>
            <a:ext cx="10710367" cy="201168"/>
          </a:xfrm>
          <a:prstGeom prst="rect">
            <a:avLst/>
          </a:prstGeom>
          <a:noFill/>
        </p:spPr>
        <p:txBody>
          <a:bodyPr wrap="square" lIns="0" rIns="0" tIns="0" bIns="0" anchor="ctr">
            <a:spAutoFit/>
          </a:bodyPr>
          <a:lstStyle/>
          <a:p>
            <a:pPr algn="l">
              <a:lnSpc>
                <a:spcPct val="115000"/>
              </a:lnSpc>
              <a:spcAft>
                <a:spcPts val="0"/>
              </a:spcAft>
            </a:pPr>
            <a:r>
              <a:rPr sz="1200" b="1">
                <a:solidFill>
                  <a:srgbClr val="1A1A1A"/>
                </a:solidFill>
                <a:latin typeface="Inter"/>
              </a:rPr>
              <a:t>Look at the type of issue, not only the agent.</a:t>
            </a:r>
          </a:p>
        </p:txBody>
      </p:sp>
      <p:sp>
        <p:nvSpPr>
          <p:cNvPr id="14" name="TextBox 13"/>
          <p:cNvSpPr txBox="1"/>
          <p:nvPr/>
        </p:nvSpPr>
        <p:spPr>
          <a:xfrm>
            <a:off x="768096" y="1444752"/>
            <a:ext cx="10710367" cy="292608"/>
          </a:xfrm>
          <a:prstGeom prst="rect">
            <a:avLst/>
          </a:prstGeom>
          <a:noFill/>
        </p:spPr>
        <p:txBody>
          <a:bodyPr wrap="square" lIns="0" rIns="0" tIns="0" bIns="0" anchor="t">
            <a:spAutoFit/>
          </a:bodyPr>
          <a:lstStyle/>
          <a:p>
            <a:pPr algn="l">
              <a:lnSpc>
                <a:spcPct val="118000"/>
              </a:lnSpc>
              <a:spcAft>
                <a:spcPts val="0"/>
              </a:spcAft>
            </a:pPr>
            <a:r>
              <a:rPr sz="919" b="0">
                <a:solidFill>
                  <a:srgbClr val="4B5563"/>
                </a:solidFill>
                <a:latin typeface="Inter"/>
              </a:rPr>
              <a:t>Orange is the contact reason. Grey is the sub-reason. Across 35 contact reasons (at least 3 audits and 20 surveys), closure rate has a strong relationship with CSAT (r = +0.80; R² = 0.64). By comparison, QA and CSAT have almost no relationship (R² = 0.023).</a:t>
            </a:r>
          </a:p>
        </p:txBody>
      </p:sp>
      <p:pic>
        <p:nvPicPr>
          <p:cNvPr id="15" name="Picture 14" descr="cr_subcr_tree.png"/>
          <p:cNvPicPr>
            <a:picLocks noChangeAspect="1"/>
          </p:cNvPicPr>
          <p:nvPr/>
        </p:nvPicPr>
        <p:blipFill>
          <a:blip r:embed="rId3"/>
          <a:stretch>
            <a:fillRect/>
          </a:stretch>
        </p:blipFill>
        <p:spPr>
          <a:xfrm>
            <a:off x="2073905" y="1847088"/>
            <a:ext cx="8043883" cy="2852928"/>
          </a:xfrm>
          <a:prstGeom prst="rect">
            <a:avLst/>
          </a:prstGeom>
        </p:spPr>
      </p:pic>
      <p:sp>
        <p:nvSpPr>
          <p:cNvPr id="16" name="TextBox 15"/>
          <p:cNvSpPr txBox="1"/>
          <p:nvPr/>
        </p:nvSpPr>
        <p:spPr>
          <a:xfrm>
            <a:off x="457200" y="4754880"/>
            <a:ext cx="5074920" cy="164592"/>
          </a:xfrm>
          <a:prstGeom prst="rect">
            <a:avLst/>
          </a:prstGeom>
          <a:noFill/>
        </p:spPr>
        <p:txBody>
          <a:bodyPr wrap="square" lIns="0" rIns="0" tIns="0" bIns="0" anchor="t">
            <a:spAutoFit/>
          </a:bodyPr>
          <a:lstStyle/>
          <a:p>
            <a:pPr algn="l">
              <a:lnSpc>
                <a:spcPct val="115000"/>
              </a:lnSpc>
              <a:spcAft>
                <a:spcPts val="0"/>
              </a:spcAft>
            </a:pPr>
            <a:r>
              <a:rPr sz="1000" b="1">
                <a:solidFill>
                  <a:srgbClr val="1A1A1A"/>
                </a:solidFill>
                <a:latin typeface="Inter"/>
              </a:rPr>
              <a:t>Reasons with higher closure rates</a:t>
            </a:r>
          </a:p>
        </p:txBody>
      </p:sp>
      <p:sp>
        <p:nvSpPr>
          <p:cNvPr id="17" name="Rectangle 16"/>
          <p:cNvSpPr/>
          <p:nvPr/>
        </p:nvSpPr>
        <p:spPr>
          <a:xfrm>
            <a:off x="457200" y="4937760"/>
            <a:ext cx="5074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 y="4937760"/>
            <a:ext cx="2212848" cy="23774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Contact reason (Lv4)</a:t>
            </a:r>
          </a:p>
        </p:txBody>
      </p:sp>
      <p:sp>
        <p:nvSpPr>
          <p:cNvPr id="19" name="TextBox 18"/>
          <p:cNvSpPr txBox="1"/>
          <p:nvPr/>
        </p:nvSpPr>
        <p:spPr>
          <a:xfrm>
            <a:off x="3054096" y="4937760"/>
            <a:ext cx="429768" cy="23774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Resolved</a:t>
            </a:r>
          </a:p>
        </p:txBody>
      </p:sp>
      <p:sp>
        <p:nvSpPr>
          <p:cNvPr id="20" name="TextBox 19"/>
          <p:cNvSpPr txBox="1"/>
          <p:nvPr/>
        </p:nvSpPr>
        <p:spPr>
          <a:xfrm>
            <a:off x="3739896" y="4937760"/>
            <a:ext cx="384047" cy="23774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CSAT</a:t>
            </a:r>
          </a:p>
        </p:txBody>
      </p:sp>
      <p:sp>
        <p:nvSpPr>
          <p:cNvPr id="21" name="TextBox 20"/>
          <p:cNvSpPr txBox="1"/>
          <p:nvPr/>
        </p:nvSpPr>
        <p:spPr>
          <a:xfrm>
            <a:off x="4379976" y="4937760"/>
            <a:ext cx="365760" cy="23774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Audits</a:t>
            </a:r>
          </a:p>
        </p:txBody>
      </p:sp>
      <p:sp>
        <p:nvSpPr>
          <p:cNvPr id="22" name="TextBox 21"/>
          <p:cNvSpPr txBox="1"/>
          <p:nvPr/>
        </p:nvSpPr>
        <p:spPr>
          <a:xfrm>
            <a:off x="5001768" y="4937760"/>
            <a:ext cx="402335" cy="23774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Surveys</a:t>
            </a:r>
          </a:p>
        </p:txBody>
      </p:sp>
      <p:sp>
        <p:nvSpPr>
          <p:cNvPr id="23" name="TextBox 22"/>
          <p:cNvSpPr txBox="1"/>
          <p:nvPr/>
        </p:nvSpPr>
        <p:spPr>
          <a:xfrm>
            <a:off x="585216" y="5175504"/>
            <a:ext cx="2212848" cy="237744"/>
          </a:xfrm>
          <a:prstGeom prst="rect">
            <a:avLst/>
          </a:prstGeom>
          <a:noFill/>
        </p:spPr>
        <p:txBody>
          <a:bodyPr wrap="square" lIns="0" rIns="0" tIns="0" bIns="0" anchor="ctr">
            <a:spAutoFit/>
          </a:bodyPr>
          <a:lstStyle/>
          <a:p>
            <a:pPr algn="l">
              <a:lnSpc>
                <a:spcPct val="115000"/>
              </a:lnSpc>
              <a:spcAft>
                <a:spcPts val="0"/>
              </a:spcAft>
            </a:pPr>
            <a:r>
              <a:rPr sz="760" b="1">
                <a:solidFill>
                  <a:srgbClr val="1A1A1A"/>
                </a:solidFill>
                <a:latin typeface="Inter"/>
              </a:rPr>
              <a:t>Wrong order</a:t>
            </a:r>
          </a:p>
        </p:txBody>
      </p:sp>
      <p:sp>
        <p:nvSpPr>
          <p:cNvPr id="24" name="Rounded Rectangle 23"/>
          <p:cNvSpPr/>
          <p:nvPr/>
        </p:nvSpPr>
        <p:spPr>
          <a:xfrm>
            <a:off x="2990088" y="5213543"/>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54096" y="5175504"/>
            <a:ext cx="429768" cy="237744"/>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90%</a:t>
            </a:r>
          </a:p>
        </p:txBody>
      </p:sp>
      <p:sp>
        <p:nvSpPr>
          <p:cNvPr id="26" name="Rounded Rectangle 25"/>
          <p:cNvSpPr/>
          <p:nvPr/>
        </p:nvSpPr>
        <p:spPr>
          <a:xfrm>
            <a:off x="3675888" y="5213543"/>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9896" y="5175504"/>
            <a:ext cx="384047" cy="237744"/>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92.2%</a:t>
            </a:r>
          </a:p>
        </p:txBody>
      </p:sp>
      <p:sp>
        <p:nvSpPr>
          <p:cNvPr id="28" name="TextBox 27"/>
          <p:cNvSpPr txBox="1"/>
          <p:nvPr/>
        </p:nvSpPr>
        <p:spPr>
          <a:xfrm>
            <a:off x="4379976" y="5175504"/>
            <a:ext cx="365760"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40</a:t>
            </a:r>
          </a:p>
        </p:txBody>
      </p:sp>
      <p:sp>
        <p:nvSpPr>
          <p:cNvPr id="29" name="TextBox 28"/>
          <p:cNvSpPr txBox="1"/>
          <p:nvPr/>
        </p:nvSpPr>
        <p:spPr>
          <a:xfrm>
            <a:off x="5001768" y="5175504"/>
            <a:ext cx="402335"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7,359</a:t>
            </a:r>
          </a:p>
        </p:txBody>
      </p:sp>
      <p:sp>
        <p:nvSpPr>
          <p:cNvPr id="30" name="Rectangle 29"/>
          <p:cNvSpPr/>
          <p:nvPr/>
        </p:nvSpPr>
        <p:spPr>
          <a:xfrm>
            <a:off x="457200" y="5408485"/>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413248"/>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5413248"/>
            <a:ext cx="2212848" cy="237744"/>
          </a:xfrm>
          <a:prstGeom prst="rect">
            <a:avLst/>
          </a:prstGeom>
          <a:noFill/>
        </p:spPr>
        <p:txBody>
          <a:bodyPr wrap="square" lIns="0" rIns="0" tIns="0" bIns="0" anchor="ctr">
            <a:spAutoFit/>
          </a:bodyPr>
          <a:lstStyle/>
          <a:p>
            <a:pPr algn="l">
              <a:lnSpc>
                <a:spcPct val="115000"/>
              </a:lnSpc>
              <a:spcAft>
                <a:spcPts val="0"/>
              </a:spcAft>
            </a:pPr>
            <a:r>
              <a:rPr sz="760" b="1">
                <a:solidFill>
                  <a:srgbClr val="1A1A1A"/>
                </a:solidFill>
                <a:latin typeface="Inter"/>
              </a:rPr>
              <a:t>Damaged order</a:t>
            </a:r>
          </a:p>
        </p:txBody>
      </p:sp>
      <p:sp>
        <p:nvSpPr>
          <p:cNvPr id="33" name="Rounded Rectangle 32"/>
          <p:cNvSpPr/>
          <p:nvPr/>
        </p:nvSpPr>
        <p:spPr>
          <a:xfrm>
            <a:off x="2990088" y="5451287"/>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54096" y="5413248"/>
            <a:ext cx="429768" cy="237744"/>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83%</a:t>
            </a:r>
          </a:p>
        </p:txBody>
      </p:sp>
      <p:sp>
        <p:nvSpPr>
          <p:cNvPr id="35" name="Rounded Rectangle 34"/>
          <p:cNvSpPr/>
          <p:nvPr/>
        </p:nvSpPr>
        <p:spPr>
          <a:xfrm>
            <a:off x="3675888" y="5451287"/>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39896" y="5413248"/>
            <a:ext cx="384047" cy="237744"/>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92.1%</a:t>
            </a:r>
          </a:p>
        </p:txBody>
      </p:sp>
      <p:sp>
        <p:nvSpPr>
          <p:cNvPr id="37" name="TextBox 36"/>
          <p:cNvSpPr txBox="1"/>
          <p:nvPr/>
        </p:nvSpPr>
        <p:spPr>
          <a:xfrm>
            <a:off x="4379976" y="5413248"/>
            <a:ext cx="365760"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47</a:t>
            </a:r>
          </a:p>
        </p:txBody>
      </p:sp>
      <p:sp>
        <p:nvSpPr>
          <p:cNvPr id="38" name="TextBox 37"/>
          <p:cNvSpPr txBox="1"/>
          <p:nvPr/>
        </p:nvSpPr>
        <p:spPr>
          <a:xfrm>
            <a:off x="5001768" y="5413248"/>
            <a:ext cx="402335"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5,962</a:t>
            </a:r>
          </a:p>
        </p:txBody>
      </p:sp>
      <p:sp>
        <p:nvSpPr>
          <p:cNvPr id="39" name="Rectangle 38"/>
          <p:cNvSpPr/>
          <p:nvPr/>
        </p:nvSpPr>
        <p:spPr>
          <a:xfrm>
            <a:off x="457200" y="5646229"/>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5216" y="5650992"/>
            <a:ext cx="2212848" cy="237744"/>
          </a:xfrm>
          <a:prstGeom prst="rect">
            <a:avLst/>
          </a:prstGeom>
          <a:noFill/>
        </p:spPr>
        <p:txBody>
          <a:bodyPr wrap="square" lIns="0" rIns="0" tIns="0" bIns="0" anchor="ctr">
            <a:spAutoFit/>
          </a:bodyPr>
          <a:lstStyle/>
          <a:p>
            <a:pPr algn="l">
              <a:lnSpc>
                <a:spcPct val="115000"/>
              </a:lnSpc>
              <a:spcAft>
                <a:spcPts val="0"/>
              </a:spcAft>
            </a:pPr>
            <a:r>
              <a:rPr sz="760" b="1">
                <a:solidFill>
                  <a:srgbClr val="1A1A1A"/>
                </a:solidFill>
                <a:latin typeface="Inter"/>
              </a:rPr>
              <a:t>Inedible order</a:t>
            </a:r>
          </a:p>
        </p:txBody>
      </p:sp>
      <p:sp>
        <p:nvSpPr>
          <p:cNvPr id="41" name="Rounded Rectangle 40"/>
          <p:cNvSpPr/>
          <p:nvPr/>
        </p:nvSpPr>
        <p:spPr>
          <a:xfrm>
            <a:off x="2990088" y="5689031"/>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54096" y="5650992"/>
            <a:ext cx="429768" cy="237744"/>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87%</a:t>
            </a:r>
          </a:p>
        </p:txBody>
      </p:sp>
      <p:sp>
        <p:nvSpPr>
          <p:cNvPr id="43" name="Rounded Rectangle 42"/>
          <p:cNvSpPr/>
          <p:nvPr/>
        </p:nvSpPr>
        <p:spPr>
          <a:xfrm>
            <a:off x="3675888" y="5689031"/>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739896" y="5650992"/>
            <a:ext cx="384047" cy="237744"/>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91.3%</a:t>
            </a:r>
          </a:p>
        </p:txBody>
      </p:sp>
      <p:sp>
        <p:nvSpPr>
          <p:cNvPr id="45" name="TextBox 44"/>
          <p:cNvSpPr txBox="1"/>
          <p:nvPr/>
        </p:nvSpPr>
        <p:spPr>
          <a:xfrm>
            <a:off x="4379976" y="5650992"/>
            <a:ext cx="365760"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190</a:t>
            </a:r>
          </a:p>
        </p:txBody>
      </p:sp>
      <p:sp>
        <p:nvSpPr>
          <p:cNvPr id="46" name="TextBox 45"/>
          <p:cNvSpPr txBox="1"/>
          <p:nvPr/>
        </p:nvSpPr>
        <p:spPr>
          <a:xfrm>
            <a:off x="5001768" y="5650992"/>
            <a:ext cx="402335"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7,685</a:t>
            </a:r>
          </a:p>
        </p:txBody>
      </p:sp>
      <p:sp>
        <p:nvSpPr>
          <p:cNvPr id="47" name="Rectangle 46"/>
          <p:cNvSpPr/>
          <p:nvPr/>
        </p:nvSpPr>
        <p:spPr>
          <a:xfrm>
            <a:off x="457200" y="5883973"/>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 y="5888736"/>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5216" y="5888736"/>
            <a:ext cx="2212848" cy="237744"/>
          </a:xfrm>
          <a:prstGeom prst="rect">
            <a:avLst/>
          </a:prstGeom>
          <a:noFill/>
        </p:spPr>
        <p:txBody>
          <a:bodyPr wrap="square" lIns="0" rIns="0" tIns="0" bIns="0" anchor="ctr">
            <a:spAutoFit/>
          </a:bodyPr>
          <a:lstStyle/>
          <a:p>
            <a:pPr algn="l">
              <a:lnSpc>
                <a:spcPct val="115000"/>
              </a:lnSpc>
              <a:spcAft>
                <a:spcPts val="0"/>
              </a:spcAft>
            </a:pPr>
            <a:r>
              <a:rPr sz="760" b="1">
                <a:solidFill>
                  <a:srgbClr val="1A1A1A"/>
                </a:solidFill>
                <a:latin typeface="Inter"/>
              </a:rPr>
              <a:t>Incomplete order</a:t>
            </a:r>
          </a:p>
        </p:txBody>
      </p:sp>
      <p:sp>
        <p:nvSpPr>
          <p:cNvPr id="50" name="Rounded Rectangle 49"/>
          <p:cNvSpPr/>
          <p:nvPr/>
        </p:nvSpPr>
        <p:spPr>
          <a:xfrm>
            <a:off x="2990088" y="5926775"/>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054096" y="5888736"/>
            <a:ext cx="429768" cy="237744"/>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86%</a:t>
            </a:r>
          </a:p>
        </p:txBody>
      </p:sp>
      <p:sp>
        <p:nvSpPr>
          <p:cNvPr id="52" name="Rounded Rectangle 51"/>
          <p:cNvSpPr/>
          <p:nvPr/>
        </p:nvSpPr>
        <p:spPr>
          <a:xfrm>
            <a:off x="3675888" y="5926775"/>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39896" y="5888736"/>
            <a:ext cx="384047" cy="237744"/>
          </a:xfrm>
          <a:prstGeom prst="rect">
            <a:avLst/>
          </a:prstGeom>
          <a:noFill/>
        </p:spPr>
        <p:txBody>
          <a:bodyPr wrap="square" lIns="0" rIns="0" tIns="0" bIns="0" anchor="ctr">
            <a:spAutoFit/>
          </a:bodyPr>
          <a:lstStyle/>
          <a:p>
            <a:pPr algn="r">
              <a:lnSpc>
                <a:spcPct val="115000"/>
              </a:lnSpc>
              <a:spcAft>
                <a:spcPts val="0"/>
              </a:spcAft>
            </a:pPr>
            <a:r>
              <a:rPr sz="760" b="1">
                <a:solidFill>
                  <a:srgbClr val="16A34A"/>
                </a:solidFill>
                <a:latin typeface="Inter"/>
              </a:rPr>
              <a:t>89.4%</a:t>
            </a:r>
          </a:p>
        </p:txBody>
      </p:sp>
      <p:sp>
        <p:nvSpPr>
          <p:cNvPr id="54" name="TextBox 53"/>
          <p:cNvSpPr txBox="1"/>
          <p:nvPr/>
        </p:nvSpPr>
        <p:spPr>
          <a:xfrm>
            <a:off x="4379976" y="5888736"/>
            <a:ext cx="365760"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171</a:t>
            </a:r>
          </a:p>
        </p:txBody>
      </p:sp>
      <p:sp>
        <p:nvSpPr>
          <p:cNvPr id="55" name="TextBox 54"/>
          <p:cNvSpPr txBox="1"/>
          <p:nvPr/>
        </p:nvSpPr>
        <p:spPr>
          <a:xfrm>
            <a:off x="5001768" y="5888736"/>
            <a:ext cx="402335"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8,227</a:t>
            </a:r>
          </a:p>
        </p:txBody>
      </p:sp>
      <p:sp>
        <p:nvSpPr>
          <p:cNvPr id="56" name="Rectangle 55"/>
          <p:cNvSpPr/>
          <p:nvPr/>
        </p:nvSpPr>
        <p:spPr>
          <a:xfrm>
            <a:off x="457200" y="6121717"/>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37960" y="4754880"/>
            <a:ext cx="5212080" cy="164592"/>
          </a:xfrm>
          <a:prstGeom prst="rect">
            <a:avLst/>
          </a:prstGeom>
          <a:noFill/>
        </p:spPr>
        <p:txBody>
          <a:bodyPr wrap="square" lIns="0" rIns="0" tIns="0" bIns="0" anchor="t">
            <a:spAutoFit/>
          </a:bodyPr>
          <a:lstStyle/>
          <a:p>
            <a:pPr algn="l">
              <a:lnSpc>
                <a:spcPct val="115000"/>
              </a:lnSpc>
              <a:spcAft>
                <a:spcPts val="0"/>
              </a:spcAft>
            </a:pPr>
            <a:r>
              <a:rPr sz="1000" b="1">
                <a:solidFill>
                  <a:srgbClr val="1A1A1A"/>
                </a:solidFill>
                <a:latin typeface="Inter"/>
              </a:rPr>
              <a:t>Reasons with lower closure rates</a:t>
            </a:r>
          </a:p>
        </p:txBody>
      </p:sp>
      <p:sp>
        <p:nvSpPr>
          <p:cNvPr id="58" name="Rectangle 57"/>
          <p:cNvSpPr/>
          <p:nvPr/>
        </p:nvSpPr>
        <p:spPr>
          <a:xfrm>
            <a:off x="6537960" y="4937760"/>
            <a:ext cx="5074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65976" y="4937760"/>
            <a:ext cx="2212848" cy="23774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Contact reason (Lv4)</a:t>
            </a:r>
          </a:p>
        </p:txBody>
      </p:sp>
      <p:sp>
        <p:nvSpPr>
          <p:cNvPr id="60" name="TextBox 59"/>
          <p:cNvSpPr txBox="1"/>
          <p:nvPr/>
        </p:nvSpPr>
        <p:spPr>
          <a:xfrm>
            <a:off x="9134856" y="4937760"/>
            <a:ext cx="429768" cy="23774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Resolved</a:t>
            </a:r>
          </a:p>
        </p:txBody>
      </p:sp>
      <p:sp>
        <p:nvSpPr>
          <p:cNvPr id="61" name="TextBox 60"/>
          <p:cNvSpPr txBox="1"/>
          <p:nvPr/>
        </p:nvSpPr>
        <p:spPr>
          <a:xfrm>
            <a:off x="9820656" y="4937760"/>
            <a:ext cx="384047" cy="23774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CSAT</a:t>
            </a:r>
          </a:p>
        </p:txBody>
      </p:sp>
      <p:sp>
        <p:nvSpPr>
          <p:cNvPr id="62" name="TextBox 61"/>
          <p:cNvSpPr txBox="1"/>
          <p:nvPr/>
        </p:nvSpPr>
        <p:spPr>
          <a:xfrm>
            <a:off x="10460736" y="4937760"/>
            <a:ext cx="365760" cy="23774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Audits</a:t>
            </a:r>
          </a:p>
        </p:txBody>
      </p:sp>
      <p:sp>
        <p:nvSpPr>
          <p:cNvPr id="63" name="TextBox 62"/>
          <p:cNvSpPr txBox="1"/>
          <p:nvPr/>
        </p:nvSpPr>
        <p:spPr>
          <a:xfrm>
            <a:off x="11082528" y="4937760"/>
            <a:ext cx="402335" cy="23774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Surveys</a:t>
            </a:r>
          </a:p>
        </p:txBody>
      </p:sp>
      <p:sp>
        <p:nvSpPr>
          <p:cNvPr id="64" name="TextBox 63"/>
          <p:cNvSpPr txBox="1"/>
          <p:nvPr/>
        </p:nvSpPr>
        <p:spPr>
          <a:xfrm>
            <a:off x="6665976" y="5175504"/>
            <a:ext cx="2212848" cy="237744"/>
          </a:xfrm>
          <a:prstGeom prst="rect">
            <a:avLst/>
          </a:prstGeom>
          <a:noFill/>
        </p:spPr>
        <p:txBody>
          <a:bodyPr wrap="square" lIns="0" rIns="0" tIns="0" bIns="0" anchor="ctr">
            <a:spAutoFit/>
          </a:bodyPr>
          <a:lstStyle/>
          <a:p>
            <a:pPr algn="l">
              <a:lnSpc>
                <a:spcPct val="115000"/>
              </a:lnSpc>
              <a:spcAft>
                <a:spcPts val="0"/>
              </a:spcAft>
            </a:pPr>
            <a:r>
              <a:rPr sz="760" b="1">
                <a:solidFill>
                  <a:srgbClr val="1A1A1A"/>
                </a:solidFill>
                <a:latin typeface="Inter"/>
              </a:rPr>
              <a:t>After-sales fraud review</a:t>
            </a:r>
          </a:p>
        </p:txBody>
      </p:sp>
      <p:sp>
        <p:nvSpPr>
          <p:cNvPr id="65" name="Rounded Rectangle 64"/>
          <p:cNvSpPr/>
          <p:nvPr/>
        </p:nvSpPr>
        <p:spPr>
          <a:xfrm>
            <a:off x="9070848" y="5213543"/>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34856" y="5175504"/>
            <a:ext cx="429768" cy="23774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38%</a:t>
            </a:r>
          </a:p>
        </p:txBody>
      </p:sp>
      <p:sp>
        <p:nvSpPr>
          <p:cNvPr id="67" name="Rounded Rectangle 66"/>
          <p:cNvSpPr/>
          <p:nvPr/>
        </p:nvSpPr>
        <p:spPr>
          <a:xfrm>
            <a:off x="9756648" y="5213543"/>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820656" y="5175504"/>
            <a:ext cx="384047" cy="23774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6.1%</a:t>
            </a:r>
          </a:p>
        </p:txBody>
      </p:sp>
      <p:sp>
        <p:nvSpPr>
          <p:cNvPr id="69" name="TextBox 68"/>
          <p:cNvSpPr txBox="1"/>
          <p:nvPr/>
        </p:nvSpPr>
        <p:spPr>
          <a:xfrm>
            <a:off x="10460736" y="5175504"/>
            <a:ext cx="365760"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115</a:t>
            </a:r>
          </a:p>
        </p:txBody>
      </p:sp>
      <p:sp>
        <p:nvSpPr>
          <p:cNvPr id="70" name="TextBox 69"/>
          <p:cNvSpPr txBox="1"/>
          <p:nvPr/>
        </p:nvSpPr>
        <p:spPr>
          <a:xfrm>
            <a:off x="11082528" y="5175504"/>
            <a:ext cx="402335"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475</a:t>
            </a:r>
          </a:p>
        </p:txBody>
      </p:sp>
      <p:sp>
        <p:nvSpPr>
          <p:cNvPr id="71" name="Rectangle 70"/>
          <p:cNvSpPr/>
          <p:nvPr/>
        </p:nvSpPr>
        <p:spPr>
          <a:xfrm>
            <a:off x="6537960" y="5408485"/>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537960" y="5413248"/>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665976" y="5413248"/>
            <a:ext cx="2212848" cy="237744"/>
          </a:xfrm>
          <a:prstGeom prst="rect">
            <a:avLst/>
          </a:prstGeom>
          <a:noFill/>
        </p:spPr>
        <p:txBody>
          <a:bodyPr wrap="square" lIns="0" rIns="0" tIns="0" bIns="0" anchor="ctr">
            <a:spAutoFit/>
          </a:bodyPr>
          <a:lstStyle/>
          <a:p>
            <a:pPr algn="l">
              <a:lnSpc>
                <a:spcPct val="115000"/>
              </a:lnSpc>
              <a:spcAft>
                <a:spcPts val="0"/>
              </a:spcAft>
            </a:pPr>
            <a:r>
              <a:rPr sz="760" b="1">
                <a:solidFill>
                  <a:srgbClr val="1A1A1A"/>
                </a:solidFill>
                <a:latin typeface="Inter"/>
              </a:rPr>
              <a:t>Delivery fee</a:t>
            </a:r>
          </a:p>
        </p:txBody>
      </p:sp>
      <p:sp>
        <p:nvSpPr>
          <p:cNvPr id="74" name="Rounded Rectangle 73"/>
          <p:cNvSpPr/>
          <p:nvPr/>
        </p:nvSpPr>
        <p:spPr>
          <a:xfrm>
            <a:off x="9070848" y="5451287"/>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34856" y="5413248"/>
            <a:ext cx="429768" cy="23774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22%</a:t>
            </a:r>
          </a:p>
        </p:txBody>
      </p:sp>
      <p:sp>
        <p:nvSpPr>
          <p:cNvPr id="76" name="Rounded Rectangle 75"/>
          <p:cNvSpPr/>
          <p:nvPr/>
        </p:nvSpPr>
        <p:spPr>
          <a:xfrm>
            <a:off x="9756648" y="5451287"/>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20656" y="5413248"/>
            <a:ext cx="384047" cy="23774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19.0%</a:t>
            </a:r>
          </a:p>
        </p:txBody>
      </p:sp>
      <p:sp>
        <p:nvSpPr>
          <p:cNvPr id="78" name="TextBox 77"/>
          <p:cNvSpPr txBox="1"/>
          <p:nvPr/>
        </p:nvSpPr>
        <p:spPr>
          <a:xfrm>
            <a:off x="10460736" y="5413248"/>
            <a:ext cx="365760"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9</a:t>
            </a:r>
          </a:p>
        </p:txBody>
      </p:sp>
      <p:sp>
        <p:nvSpPr>
          <p:cNvPr id="79" name="TextBox 78"/>
          <p:cNvSpPr txBox="1"/>
          <p:nvPr/>
        </p:nvSpPr>
        <p:spPr>
          <a:xfrm>
            <a:off x="11082528" y="5413248"/>
            <a:ext cx="402335"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21</a:t>
            </a:r>
          </a:p>
        </p:txBody>
      </p:sp>
      <p:sp>
        <p:nvSpPr>
          <p:cNvPr id="80" name="Rectangle 79"/>
          <p:cNvSpPr/>
          <p:nvPr/>
        </p:nvSpPr>
        <p:spPr>
          <a:xfrm>
            <a:off x="6537960" y="5646229"/>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665976" y="5650992"/>
            <a:ext cx="2212848" cy="237744"/>
          </a:xfrm>
          <a:prstGeom prst="rect">
            <a:avLst/>
          </a:prstGeom>
          <a:noFill/>
        </p:spPr>
        <p:txBody>
          <a:bodyPr wrap="square" lIns="0" rIns="0" tIns="0" bIns="0" anchor="ctr">
            <a:spAutoFit/>
          </a:bodyPr>
          <a:lstStyle/>
          <a:p>
            <a:pPr algn="l">
              <a:lnSpc>
                <a:spcPct val="115000"/>
              </a:lnSpc>
              <a:spcAft>
                <a:spcPts val="0"/>
              </a:spcAft>
            </a:pPr>
            <a:r>
              <a:rPr sz="760" b="1">
                <a:solidFill>
                  <a:srgbClr val="1A1A1A"/>
                </a:solidFill>
                <a:latin typeface="Inter"/>
              </a:rPr>
              <a:t>Paying the courier</a:t>
            </a:r>
          </a:p>
        </p:txBody>
      </p:sp>
      <p:sp>
        <p:nvSpPr>
          <p:cNvPr id="82" name="Rounded Rectangle 81"/>
          <p:cNvSpPr/>
          <p:nvPr/>
        </p:nvSpPr>
        <p:spPr>
          <a:xfrm>
            <a:off x="9070848" y="5689031"/>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134856" y="5650992"/>
            <a:ext cx="429768" cy="23774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45%</a:t>
            </a:r>
          </a:p>
        </p:txBody>
      </p:sp>
      <p:sp>
        <p:nvSpPr>
          <p:cNvPr id="84" name="Rounded Rectangle 83"/>
          <p:cNvSpPr/>
          <p:nvPr/>
        </p:nvSpPr>
        <p:spPr>
          <a:xfrm>
            <a:off x="9756648" y="5689031"/>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820656" y="5650992"/>
            <a:ext cx="384047" cy="23774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30.2%</a:t>
            </a:r>
          </a:p>
        </p:txBody>
      </p:sp>
      <p:sp>
        <p:nvSpPr>
          <p:cNvPr id="86" name="TextBox 85"/>
          <p:cNvSpPr txBox="1"/>
          <p:nvPr/>
        </p:nvSpPr>
        <p:spPr>
          <a:xfrm>
            <a:off x="10460736" y="5650992"/>
            <a:ext cx="365760"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29</a:t>
            </a:r>
          </a:p>
        </p:txBody>
      </p:sp>
      <p:sp>
        <p:nvSpPr>
          <p:cNvPr id="87" name="TextBox 86"/>
          <p:cNvSpPr txBox="1"/>
          <p:nvPr/>
        </p:nvSpPr>
        <p:spPr>
          <a:xfrm>
            <a:off x="11082528" y="5650992"/>
            <a:ext cx="402335"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96</a:t>
            </a:r>
          </a:p>
        </p:txBody>
      </p:sp>
      <p:sp>
        <p:nvSpPr>
          <p:cNvPr id="88" name="Rectangle 87"/>
          <p:cNvSpPr/>
          <p:nvPr/>
        </p:nvSpPr>
        <p:spPr>
          <a:xfrm>
            <a:off x="6537960" y="5883973"/>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537960" y="5888736"/>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665976" y="5888736"/>
            <a:ext cx="2212848" cy="237744"/>
          </a:xfrm>
          <a:prstGeom prst="rect">
            <a:avLst/>
          </a:prstGeom>
          <a:noFill/>
        </p:spPr>
        <p:txBody>
          <a:bodyPr wrap="square" lIns="0" rIns="0" tIns="0" bIns="0" anchor="ctr">
            <a:spAutoFit/>
          </a:bodyPr>
          <a:lstStyle/>
          <a:p>
            <a:pPr algn="l">
              <a:lnSpc>
                <a:spcPct val="115000"/>
              </a:lnSpc>
              <a:spcAft>
                <a:spcPts val="0"/>
              </a:spcAft>
            </a:pPr>
            <a:r>
              <a:rPr sz="760" b="1">
                <a:solidFill>
                  <a:srgbClr val="1A1A1A"/>
                </a:solidFill>
                <a:latin typeface="Inter"/>
              </a:rPr>
              <a:t>Modify the order</a:t>
            </a:r>
          </a:p>
        </p:txBody>
      </p:sp>
      <p:sp>
        <p:nvSpPr>
          <p:cNvPr id="91" name="Rounded Rectangle 90"/>
          <p:cNvSpPr/>
          <p:nvPr/>
        </p:nvSpPr>
        <p:spPr>
          <a:xfrm>
            <a:off x="9070848" y="5926775"/>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134856" y="5888736"/>
            <a:ext cx="429768" cy="23774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25%</a:t>
            </a:r>
          </a:p>
        </p:txBody>
      </p:sp>
      <p:sp>
        <p:nvSpPr>
          <p:cNvPr id="93" name="Rounded Rectangle 92"/>
          <p:cNvSpPr/>
          <p:nvPr/>
        </p:nvSpPr>
        <p:spPr>
          <a:xfrm>
            <a:off x="9756648" y="5926775"/>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820656" y="5888736"/>
            <a:ext cx="384047" cy="237744"/>
          </a:xfrm>
          <a:prstGeom prst="rect">
            <a:avLst/>
          </a:prstGeom>
          <a:noFill/>
        </p:spPr>
        <p:txBody>
          <a:bodyPr wrap="square" lIns="0" rIns="0" tIns="0" bIns="0" anchor="ctr">
            <a:spAutoFit/>
          </a:bodyPr>
          <a:lstStyle/>
          <a:p>
            <a:pPr algn="r">
              <a:lnSpc>
                <a:spcPct val="115000"/>
              </a:lnSpc>
              <a:spcAft>
                <a:spcPts val="0"/>
              </a:spcAft>
            </a:pPr>
            <a:r>
              <a:rPr sz="760" b="1">
                <a:solidFill>
                  <a:srgbClr val="E11D2E"/>
                </a:solidFill>
                <a:latin typeface="Inter"/>
              </a:rPr>
              <a:t>34.6%</a:t>
            </a:r>
          </a:p>
        </p:txBody>
      </p:sp>
      <p:sp>
        <p:nvSpPr>
          <p:cNvPr id="95" name="TextBox 94"/>
          <p:cNvSpPr txBox="1"/>
          <p:nvPr/>
        </p:nvSpPr>
        <p:spPr>
          <a:xfrm>
            <a:off x="10460736" y="5888736"/>
            <a:ext cx="365760"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12</a:t>
            </a:r>
          </a:p>
        </p:txBody>
      </p:sp>
      <p:sp>
        <p:nvSpPr>
          <p:cNvPr id="96" name="TextBox 95"/>
          <p:cNvSpPr txBox="1"/>
          <p:nvPr/>
        </p:nvSpPr>
        <p:spPr>
          <a:xfrm>
            <a:off x="11082528" y="5888736"/>
            <a:ext cx="402335" cy="237744"/>
          </a:xfrm>
          <a:prstGeom prst="rect">
            <a:avLst/>
          </a:prstGeom>
          <a:noFill/>
        </p:spPr>
        <p:txBody>
          <a:bodyPr wrap="square" lIns="0" rIns="0" tIns="0" bIns="0" anchor="ctr">
            <a:spAutoFit/>
          </a:bodyPr>
          <a:lstStyle/>
          <a:p>
            <a:pPr algn="r">
              <a:lnSpc>
                <a:spcPct val="115000"/>
              </a:lnSpc>
              <a:spcAft>
                <a:spcPts val="0"/>
              </a:spcAft>
            </a:pPr>
            <a:r>
              <a:rPr sz="760" b="0">
                <a:solidFill>
                  <a:srgbClr val="4B5563"/>
                </a:solidFill>
                <a:latin typeface="Inter"/>
              </a:rPr>
              <a:t>52</a:t>
            </a:r>
          </a:p>
        </p:txBody>
      </p:sp>
      <p:sp>
        <p:nvSpPr>
          <p:cNvPr id="97" name="Rectangle 96"/>
          <p:cNvSpPr/>
          <p:nvPr/>
        </p:nvSpPr>
        <p:spPr>
          <a:xfrm>
            <a:off x="6537960" y="6121717"/>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7200" y="6108192"/>
            <a:ext cx="11277295" cy="292608"/>
          </a:xfrm>
          <a:prstGeom prst="rect">
            <a:avLst/>
          </a:prstGeom>
          <a:noFill/>
        </p:spPr>
        <p:txBody>
          <a:bodyPr wrap="square" lIns="0" rIns="0" tIns="0" bIns="0" anchor="t">
            <a:spAutoFit/>
          </a:bodyPr>
          <a:lstStyle/>
          <a:p>
            <a:pPr algn="l">
              <a:lnSpc>
                <a:spcPct val="115000"/>
              </a:lnSpc>
              <a:spcAft>
                <a:spcPts val="0"/>
              </a:spcAft>
            </a:pPr>
            <a:r>
              <a:rPr sz="850" b="0">
                <a:solidFill>
                  <a:srgbClr val="6B7280"/>
                </a:solidFill>
                <a:latin typeface="Inter"/>
              </a:rPr>
              <a:t>After-sales fraud CSAT 6.1% is 29 satisfied / 475 surveys (432 ones). That is real. Not a small-sample fluke.  One exception remains: “Refund status and conditions” has a 76% closure rate but only 67.0% CSAT on 3,582 surveys, showing that closure alone does not explain every customer outcome.</a:t>
            </a:r>
          </a:p>
        </p:txBody>
      </p:sp>
      <p:sp>
        <p:nvSpPr>
          <p:cNvPr id="99" name="TextBox 98"/>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Audits on this slide = Resolved or Not resolved. After-sales fraud: 115 assessed, 3 Abandoned, 118 in Combined analysis.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5 whys: why we could not close, and what closing actually was</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What the auditor wrote in the 5-whys  ·  699 not closed  ·  1,415 closed  ·  not a KPI</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25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TextBox 10"/>
          <p:cNvSpPr txBox="1"/>
          <p:nvPr/>
        </p:nvSpPr>
        <p:spPr>
          <a:xfrm>
            <a:off x="457200" y="1207008"/>
            <a:ext cx="5532120" cy="402336"/>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Cases that could not be closed  ·  n = 699  ·  527 still followed process</a:t>
            </a:r>
          </a:p>
          <a:p>
            <a:pPr algn="l">
              <a:lnSpc>
                <a:spcPct val="115000"/>
              </a:lnSpc>
              <a:spcAft>
                <a:spcPts val="0"/>
              </a:spcAft>
            </a:pPr>
            <a:r>
              <a:rPr sz="900" b="0">
                <a:solidFill>
                  <a:srgbClr val="6B7280"/>
                </a:solidFill>
                <a:latin typeface="Inter"/>
              </a:rPr>
              <a:t>CSAT of these contact reasons is 52.1%. Not those tickets. Audits and surveys do not share a ticket ID.</a:t>
            </a:r>
          </a:p>
        </p:txBody>
      </p:sp>
      <p:sp>
        <p:nvSpPr>
          <p:cNvPr id="12" name="Rectangle 11"/>
          <p:cNvSpPr/>
          <p:nvPr/>
        </p:nvSpPr>
        <p:spPr>
          <a:xfrm>
            <a:off x="457200" y="1645920"/>
            <a:ext cx="5532120"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1645920"/>
            <a:ext cx="2624328" cy="27432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Why it did not close</a:t>
            </a:r>
          </a:p>
        </p:txBody>
      </p:sp>
      <p:sp>
        <p:nvSpPr>
          <p:cNvPr id="14" name="TextBox 13"/>
          <p:cNvSpPr txBox="1"/>
          <p:nvPr/>
        </p:nvSpPr>
        <p:spPr>
          <a:xfrm>
            <a:off x="3465576" y="1645920"/>
            <a:ext cx="521207" cy="274320"/>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Audits</a:t>
            </a:r>
          </a:p>
        </p:txBody>
      </p:sp>
      <p:sp>
        <p:nvSpPr>
          <p:cNvPr id="15" name="TextBox 14"/>
          <p:cNvSpPr txBox="1"/>
          <p:nvPr/>
        </p:nvSpPr>
        <p:spPr>
          <a:xfrm>
            <a:off x="4242816" y="1645920"/>
            <a:ext cx="475488" cy="274320"/>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Share</a:t>
            </a:r>
          </a:p>
        </p:txBody>
      </p:sp>
      <p:sp>
        <p:nvSpPr>
          <p:cNvPr id="16" name="TextBox 15"/>
          <p:cNvSpPr txBox="1"/>
          <p:nvPr/>
        </p:nvSpPr>
        <p:spPr>
          <a:xfrm>
            <a:off x="4974336" y="1645920"/>
            <a:ext cx="886968" cy="274320"/>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Of those, followed process</a:t>
            </a:r>
          </a:p>
        </p:txBody>
      </p:sp>
      <p:sp>
        <p:nvSpPr>
          <p:cNvPr id="17" name="TextBox 16"/>
          <p:cNvSpPr txBox="1"/>
          <p:nvPr/>
        </p:nvSpPr>
        <p:spPr>
          <a:xfrm>
            <a:off x="585216" y="1920240"/>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Policy blocked refund / close</a:t>
            </a:r>
          </a:p>
        </p:txBody>
      </p:sp>
      <p:sp>
        <p:nvSpPr>
          <p:cNvPr id="18" name="TextBox 17"/>
          <p:cNvSpPr txBox="1"/>
          <p:nvPr/>
        </p:nvSpPr>
        <p:spPr>
          <a:xfrm>
            <a:off x="3465576" y="1920240"/>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267</a:t>
            </a:r>
          </a:p>
        </p:txBody>
      </p:sp>
      <p:sp>
        <p:nvSpPr>
          <p:cNvPr id="19" name="TextBox 18"/>
          <p:cNvSpPr txBox="1"/>
          <p:nvPr/>
        </p:nvSpPr>
        <p:spPr>
          <a:xfrm>
            <a:off x="4242816" y="1920240"/>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38%</a:t>
            </a:r>
          </a:p>
        </p:txBody>
      </p:sp>
      <p:sp>
        <p:nvSpPr>
          <p:cNvPr id="20" name="TextBox 19"/>
          <p:cNvSpPr txBox="1"/>
          <p:nvPr/>
        </p:nvSpPr>
        <p:spPr>
          <a:xfrm>
            <a:off x="4974336" y="1920240"/>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215</a:t>
            </a:r>
          </a:p>
        </p:txBody>
      </p:sp>
      <p:sp>
        <p:nvSpPr>
          <p:cNvPr id="21" name="Rectangle 20"/>
          <p:cNvSpPr/>
          <p:nvPr/>
        </p:nvSpPr>
        <p:spPr>
          <a:xfrm>
            <a:off x="457200" y="2180653"/>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185416"/>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 y="2185416"/>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No tool — must escalate</a:t>
            </a:r>
          </a:p>
        </p:txBody>
      </p:sp>
      <p:sp>
        <p:nvSpPr>
          <p:cNvPr id="24" name="TextBox 23"/>
          <p:cNvSpPr txBox="1"/>
          <p:nvPr/>
        </p:nvSpPr>
        <p:spPr>
          <a:xfrm>
            <a:off x="3465576" y="2185416"/>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158</a:t>
            </a:r>
          </a:p>
        </p:txBody>
      </p:sp>
      <p:sp>
        <p:nvSpPr>
          <p:cNvPr id="25" name="TextBox 24"/>
          <p:cNvSpPr txBox="1"/>
          <p:nvPr/>
        </p:nvSpPr>
        <p:spPr>
          <a:xfrm>
            <a:off x="4242816" y="2185416"/>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23%</a:t>
            </a:r>
          </a:p>
        </p:txBody>
      </p:sp>
      <p:sp>
        <p:nvSpPr>
          <p:cNvPr id="26" name="TextBox 25"/>
          <p:cNvSpPr txBox="1"/>
          <p:nvPr/>
        </p:nvSpPr>
        <p:spPr>
          <a:xfrm>
            <a:off x="4974336" y="2185416"/>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116</a:t>
            </a:r>
          </a:p>
        </p:txBody>
      </p:sp>
      <p:sp>
        <p:nvSpPr>
          <p:cNvPr id="27" name="Rectangle 26"/>
          <p:cNvSpPr/>
          <p:nvPr/>
        </p:nvSpPr>
        <p:spPr>
          <a:xfrm>
            <a:off x="457200" y="2445829"/>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5216" y="2450592"/>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Other / unclear</a:t>
            </a:r>
          </a:p>
        </p:txBody>
      </p:sp>
      <p:sp>
        <p:nvSpPr>
          <p:cNvPr id="29" name="TextBox 28"/>
          <p:cNvSpPr txBox="1"/>
          <p:nvPr/>
        </p:nvSpPr>
        <p:spPr>
          <a:xfrm>
            <a:off x="3465576" y="2450592"/>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103</a:t>
            </a:r>
          </a:p>
        </p:txBody>
      </p:sp>
      <p:sp>
        <p:nvSpPr>
          <p:cNvPr id="30" name="TextBox 29"/>
          <p:cNvSpPr txBox="1"/>
          <p:nvPr/>
        </p:nvSpPr>
        <p:spPr>
          <a:xfrm>
            <a:off x="4242816" y="2450592"/>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15%</a:t>
            </a:r>
          </a:p>
        </p:txBody>
      </p:sp>
      <p:sp>
        <p:nvSpPr>
          <p:cNvPr id="31" name="TextBox 30"/>
          <p:cNvSpPr txBox="1"/>
          <p:nvPr/>
        </p:nvSpPr>
        <p:spPr>
          <a:xfrm>
            <a:off x="4974336" y="2450592"/>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77</a:t>
            </a:r>
          </a:p>
        </p:txBody>
      </p:sp>
      <p:sp>
        <p:nvSpPr>
          <p:cNvPr id="32" name="Rectangle 31"/>
          <p:cNvSpPr/>
          <p:nvPr/>
        </p:nvSpPr>
        <p:spPr>
          <a:xfrm>
            <a:off x="457200" y="2711005"/>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2715768"/>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2715768"/>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No analysis (“No aplica”)</a:t>
            </a:r>
          </a:p>
        </p:txBody>
      </p:sp>
      <p:sp>
        <p:nvSpPr>
          <p:cNvPr id="35" name="TextBox 34"/>
          <p:cNvSpPr txBox="1"/>
          <p:nvPr/>
        </p:nvSpPr>
        <p:spPr>
          <a:xfrm>
            <a:off x="3465576" y="2715768"/>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88</a:t>
            </a:r>
          </a:p>
        </p:txBody>
      </p:sp>
      <p:sp>
        <p:nvSpPr>
          <p:cNvPr id="36" name="TextBox 35"/>
          <p:cNvSpPr txBox="1"/>
          <p:nvPr/>
        </p:nvSpPr>
        <p:spPr>
          <a:xfrm>
            <a:off x="4242816" y="2715768"/>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13%</a:t>
            </a:r>
          </a:p>
        </p:txBody>
      </p:sp>
      <p:sp>
        <p:nvSpPr>
          <p:cNvPr id="37" name="TextBox 36"/>
          <p:cNvSpPr txBox="1"/>
          <p:nvPr/>
        </p:nvSpPr>
        <p:spPr>
          <a:xfrm>
            <a:off x="4974336" y="2715768"/>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63</a:t>
            </a:r>
          </a:p>
        </p:txBody>
      </p:sp>
      <p:sp>
        <p:nvSpPr>
          <p:cNvPr id="38" name="Rectangle 37"/>
          <p:cNvSpPr/>
          <p:nvPr/>
        </p:nvSpPr>
        <p:spPr>
          <a:xfrm>
            <a:off x="457200" y="2976181"/>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5216" y="2980944"/>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Fraud named in the text</a:t>
            </a:r>
          </a:p>
        </p:txBody>
      </p:sp>
      <p:sp>
        <p:nvSpPr>
          <p:cNvPr id="40" name="TextBox 39"/>
          <p:cNvSpPr txBox="1"/>
          <p:nvPr/>
        </p:nvSpPr>
        <p:spPr>
          <a:xfrm>
            <a:off x="3465576" y="2980944"/>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25</a:t>
            </a:r>
          </a:p>
        </p:txBody>
      </p:sp>
      <p:sp>
        <p:nvSpPr>
          <p:cNvPr id="41" name="TextBox 40"/>
          <p:cNvSpPr txBox="1"/>
          <p:nvPr/>
        </p:nvSpPr>
        <p:spPr>
          <a:xfrm>
            <a:off x="4242816" y="2980944"/>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a:t>
            </a:r>
          </a:p>
        </p:txBody>
      </p:sp>
      <p:sp>
        <p:nvSpPr>
          <p:cNvPr id="42" name="TextBox 41"/>
          <p:cNvSpPr txBox="1"/>
          <p:nvPr/>
        </p:nvSpPr>
        <p:spPr>
          <a:xfrm>
            <a:off x="4974336" y="2980944"/>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19</a:t>
            </a:r>
          </a:p>
        </p:txBody>
      </p:sp>
      <p:sp>
        <p:nvSpPr>
          <p:cNvPr id="43" name="Rectangle 42"/>
          <p:cNvSpPr/>
          <p:nvPr/>
        </p:nvSpPr>
        <p:spPr>
          <a:xfrm>
            <a:off x="457200" y="3241357"/>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3246120"/>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5216" y="3246120"/>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Courier / store / restaurant</a:t>
            </a:r>
          </a:p>
        </p:txBody>
      </p:sp>
      <p:sp>
        <p:nvSpPr>
          <p:cNvPr id="46" name="TextBox 45"/>
          <p:cNvSpPr txBox="1"/>
          <p:nvPr/>
        </p:nvSpPr>
        <p:spPr>
          <a:xfrm>
            <a:off x="3465576" y="3246120"/>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18</a:t>
            </a:r>
          </a:p>
        </p:txBody>
      </p:sp>
      <p:sp>
        <p:nvSpPr>
          <p:cNvPr id="47" name="TextBox 46"/>
          <p:cNvSpPr txBox="1"/>
          <p:nvPr/>
        </p:nvSpPr>
        <p:spPr>
          <a:xfrm>
            <a:off x="4242816" y="3246120"/>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3%</a:t>
            </a:r>
          </a:p>
        </p:txBody>
      </p:sp>
      <p:sp>
        <p:nvSpPr>
          <p:cNvPr id="48" name="TextBox 47"/>
          <p:cNvSpPr txBox="1"/>
          <p:nvPr/>
        </p:nvSpPr>
        <p:spPr>
          <a:xfrm>
            <a:off x="4974336" y="3246120"/>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12</a:t>
            </a:r>
          </a:p>
        </p:txBody>
      </p:sp>
      <p:sp>
        <p:nvSpPr>
          <p:cNvPr id="49" name="Rectangle 48"/>
          <p:cNvSpPr/>
          <p:nvPr/>
        </p:nvSpPr>
        <p:spPr>
          <a:xfrm>
            <a:off x="457200" y="3506533"/>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5216" y="3511296"/>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Model: no low CSAT to analyse</a:t>
            </a:r>
          </a:p>
        </p:txBody>
      </p:sp>
      <p:sp>
        <p:nvSpPr>
          <p:cNvPr id="51" name="TextBox 50"/>
          <p:cNvSpPr txBox="1"/>
          <p:nvPr/>
        </p:nvSpPr>
        <p:spPr>
          <a:xfrm>
            <a:off x="3465576" y="3511296"/>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14</a:t>
            </a:r>
          </a:p>
        </p:txBody>
      </p:sp>
      <p:sp>
        <p:nvSpPr>
          <p:cNvPr id="52" name="TextBox 51"/>
          <p:cNvSpPr txBox="1"/>
          <p:nvPr/>
        </p:nvSpPr>
        <p:spPr>
          <a:xfrm>
            <a:off x="4242816" y="3511296"/>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a:t>
            </a:r>
          </a:p>
        </p:txBody>
      </p:sp>
      <p:sp>
        <p:nvSpPr>
          <p:cNvPr id="53" name="TextBox 52"/>
          <p:cNvSpPr txBox="1"/>
          <p:nvPr/>
        </p:nvSpPr>
        <p:spPr>
          <a:xfrm>
            <a:off x="4974336" y="3511296"/>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8</a:t>
            </a:r>
          </a:p>
        </p:txBody>
      </p:sp>
      <p:sp>
        <p:nvSpPr>
          <p:cNvPr id="54" name="Rectangle 53"/>
          <p:cNvSpPr/>
          <p:nvPr/>
        </p:nvSpPr>
        <p:spPr>
          <a:xfrm>
            <a:off x="457200" y="3771709"/>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3776472"/>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85216" y="3776472"/>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Delay / ETA (undercounted)</a:t>
            </a:r>
          </a:p>
        </p:txBody>
      </p:sp>
      <p:sp>
        <p:nvSpPr>
          <p:cNvPr id="57" name="TextBox 56"/>
          <p:cNvSpPr txBox="1"/>
          <p:nvPr/>
        </p:nvSpPr>
        <p:spPr>
          <a:xfrm>
            <a:off x="3465576" y="3776472"/>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17</a:t>
            </a:r>
          </a:p>
        </p:txBody>
      </p:sp>
      <p:sp>
        <p:nvSpPr>
          <p:cNvPr id="58" name="TextBox 57"/>
          <p:cNvSpPr txBox="1"/>
          <p:nvPr/>
        </p:nvSpPr>
        <p:spPr>
          <a:xfrm>
            <a:off x="4242816" y="3776472"/>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a:t>
            </a:r>
          </a:p>
        </p:txBody>
      </p:sp>
      <p:sp>
        <p:nvSpPr>
          <p:cNvPr id="59" name="TextBox 58"/>
          <p:cNvSpPr txBox="1"/>
          <p:nvPr/>
        </p:nvSpPr>
        <p:spPr>
          <a:xfrm>
            <a:off x="4974336" y="3776472"/>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12</a:t>
            </a:r>
          </a:p>
        </p:txBody>
      </p:sp>
      <p:sp>
        <p:nvSpPr>
          <p:cNvPr id="60" name="Rectangle 59"/>
          <p:cNvSpPr/>
          <p:nvPr/>
        </p:nvSpPr>
        <p:spPr>
          <a:xfrm>
            <a:off x="457200" y="4036885"/>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85216" y="4041648"/>
            <a:ext cx="262432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Agent missed the process</a:t>
            </a:r>
          </a:p>
        </p:txBody>
      </p:sp>
      <p:sp>
        <p:nvSpPr>
          <p:cNvPr id="62" name="TextBox 61"/>
          <p:cNvSpPr txBox="1"/>
          <p:nvPr/>
        </p:nvSpPr>
        <p:spPr>
          <a:xfrm>
            <a:off x="3465576" y="4041648"/>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9</a:t>
            </a:r>
          </a:p>
        </p:txBody>
      </p:sp>
      <p:sp>
        <p:nvSpPr>
          <p:cNvPr id="63" name="TextBox 62"/>
          <p:cNvSpPr txBox="1"/>
          <p:nvPr/>
        </p:nvSpPr>
        <p:spPr>
          <a:xfrm>
            <a:off x="4242816" y="4041648"/>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a:t>
            </a:r>
          </a:p>
        </p:txBody>
      </p:sp>
      <p:sp>
        <p:nvSpPr>
          <p:cNvPr id="64" name="TextBox 63"/>
          <p:cNvSpPr txBox="1"/>
          <p:nvPr/>
        </p:nvSpPr>
        <p:spPr>
          <a:xfrm>
            <a:off x="4974336" y="4041648"/>
            <a:ext cx="88696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5</a:t>
            </a:r>
          </a:p>
        </p:txBody>
      </p:sp>
      <p:sp>
        <p:nvSpPr>
          <p:cNvPr id="65" name="Rectangle 64"/>
          <p:cNvSpPr/>
          <p:nvPr/>
        </p:nvSpPr>
        <p:spPr>
          <a:xfrm>
            <a:off x="457200" y="4302061"/>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903720" y="1207008"/>
            <a:ext cx="4846320" cy="402336"/>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Cases that were closed  ·  n = 1,415  ·  how they were resolved</a:t>
            </a:r>
          </a:p>
          <a:p>
            <a:pPr algn="l">
              <a:lnSpc>
                <a:spcPct val="115000"/>
              </a:lnSpc>
              <a:spcAft>
                <a:spcPts val="0"/>
              </a:spcAft>
            </a:pPr>
            <a:r>
              <a:rPr sz="900" b="0">
                <a:solidFill>
                  <a:srgbClr val="6B7280"/>
                </a:solidFill>
                <a:latin typeface="Inter"/>
              </a:rPr>
              <a:t>CSAT of these contact reasons is 70.9%. Not those tickets. Audits and surveys do not share a ticket ID.</a:t>
            </a:r>
          </a:p>
        </p:txBody>
      </p:sp>
      <p:sp>
        <p:nvSpPr>
          <p:cNvPr id="67" name="Rectangle 66"/>
          <p:cNvSpPr/>
          <p:nvPr/>
        </p:nvSpPr>
        <p:spPr>
          <a:xfrm>
            <a:off x="6903720" y="1645920"/>
            <a:ext cx="4434840"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031736" y="1645920"/>
            <a:ext cx="2670048" cy="27432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What closing was</a:t>
            </a:r>
          </a:p>
        </p:txBody>
      </p:sp>
      <p:sp>
        <p:nvSpPr>
          <p:cNvPr id="69" name="TextBox 68"/>
          <p:cNvSpPr txBox="1"/>
          <p:nvPr/>
        </p:nvSpPr>
        <p:spPr>
          <a:xfrm>
            <a:off x="9957816" y="1645920"/>
            <a:ext cx="521207" cy="274320"/>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Audits</a:t>
            </a:r>
          </a:p>
        </p:txBody>
      </p:sp>
      <p:sp>
        <p:nvSpPr>
          <p:cNvPr id="70" name="TextBox 69"/>
          <p:cNvSpPr txBox="1"/>
          <p:nvPr/>
        </p:nvSpPr>
        <p:spPr>
          <a:xfrm>
            <a:off x="10735056" y="1645920"/>
            <a:ext cx="475488" cy="274320"/>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Share</a:t>
            </a:r>
          </a:p>
        </p:txBody>
      </p:sp>
      <p:sp>
        <p:nvSpPr>
          <p:cNvPr id="71" name="TextBox 70"/>
          <p:cNvSpPr txBox="1"/>
          <p:nvPr/>
        </p:nvSpPr>
        <p:spPr>
          <a:xfrm>
            <a:off x="7031736" y="1920240"/>
            <a:ext cx="267004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Confirmed a refund or compensation</a:t>
            </a:r>
          </a:p>
        </p:txBody>
      </p:sp>
      <p:sp>
        <p:nvSpPr>
          <p:cNvPr id="72" name="TextBox 71"/>
          <p:cNvSpPr txBox="1"/>
          <p:nvPr/>
        </p:nvSpPr>
        <p:spPr>
          <a:xfrm>
            <a:off x="9957816" y="1920240"/>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662</a:t>
            </a:r>
          </a:p>
        </p:txBody>
      </p:sp>
      <p:sp>
        <p:nvSpPr>
          <p:cNvPr id="73" name="TextBox 72"/>
          <p:cNvSpPr txBox="1"/>
          <p:nvPr/>
        </p:nvSpPr>
        <p:spPr>
          <a:xfrm>
            <a:off x="10735056" y="1920240"/>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47%</a:t>
            </a:r>
          </a:p>
        </p:txBody>
      </p:sp>
      <p:sp>
        <p:nvSpPr>
          <p:cNvPr id="74" name="Rectangle 73"/>
          <p:cNvSpPr/>
          <p:nvPr/>
        </p:nvSpPr>
        <p:spPr>
          <a:xfrm>
            <a:off x="6903720" y="2180653"/>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903720" y="2185416"/>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031736" y="2185416"/>
            <a:ext cx="267004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Explained / confirmed the process</a:t>
            </a:r>
          </a:p>
        </p:txBody>
      </p:sp>
      <p:sp>
        <p:nvSpPr>
          <p:cNvPr id="77" name="TextBox 76"/>
          <p:cNvSpPr txBox="1"/>
          <p:nvPr/>
        </p:nvSpPr>
        <p:spPr>
          <a:xfrm>
            <a:off x="9957816" y="2185416"/>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124</a:t>
            </a:r>
          </a:p>
        </p:txBody>
      </p:sp>
      <p:sp>
        <p:nvSpPr>
          <p:cNvPr id="78" name="TextBox 77"/>
          <p:cNvSpPr txBox="1"/>
          <p:nvPr/>
        </p:nvSpPr>
        <p:spPr>
          <a:xfrm>
            <a:off x="10735056" y="2185416"/>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9%</a:t>
            </a:r>
          </a:p>
        </p:txBody>
      </p:sp>
      <p:sp>
        <p:nvSpPr>
          <p:cNvPr id="79" name="Rectangle 78"/>
          <p:cNvSpPr/>
          <p:nvPr/>
        </p:nvSpPr>
        <p:spPr>
          <a:xfrm>
            <a:off x="6903720" y="2445829"/>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031736" y="2450592"/>
            <a:ext cx="267004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Used a tool or filed a report</a:t>
            </a:r>
          </a:p>
        </p:txBody>
      </p:sp>
      <p:sp>
        <p:nvSpPr>
          <p:cNvPr id="81" name="TextBox 80"/>
          <p:cNvSpPr txBox="1"/>
          <p:nvPr/>
        </p:nvSpPr>
        <p:spPr>
          <a:xfrm>
            <a:off x="9957816" y="2450592"/>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156</a:t>
            </a:r>
          </a:p>
        </p:txBody>
      </p:sp>
      <p:sp>
        <p:nvSpPr>
          <p:cNvPr id="82" name="TextBox 81"/>
          <p:cNvSpPr txBox="1"/>
          <p:nvPr/>
        </p:nvSpPr>
        <p:spPr>
          <a:xfrm>
            <a:off x="10735056" y="2450592"/>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11%</a:t>
            </a:r>
          </a:p>
        </p:txBody>
      </p:sp>
      <p:sp>
        <p:nvSpPr>
          <p:cNvPr id="83" name="Rectangle 82"/>
          <p:cNvSpPr/>
          <p:nvPr/>
        </p:nvSpPr>
        <p:spPr>
          <a:xfrm>
            <a:off x="6903720" y="2711005"/>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903720" y="2715768"/>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031736" y="2715768"/>
            <a:ext cx="267004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Other / unclear</a:t>
            </a:r>
          </a:p>
        </p:txBody>
      </p:sp>
      <p:sp>
        <p:nvSpPr>
          <p:cNvPr id="86" name="TextBox 85"/>
          <p:cNvSpPr txBox="1"/>
          <p:nvPr/>
        </p:nvSpPr>
        <p:spPr>
          <a:xfrm>
            <a:off x="9957816" y="2715768"/>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251</a:t>
            </a:r>
          </a:p>
        </p:txBody>
      </p:sp>
      <p:sp>
        <p:nvSpPr>
          <p:cNvPr id="87" name="TextBox 86"/>
          <p:cNvSpPr txBox="1"/>
          <p:nvPr/>
        </p:nvSpPr>
        <p:spPr>
          <a:xfrm>
            <a:off x="10735056" y="2715768"/>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18%</a:t>
            </a:r>
          </a:p>
        </p:txBody>
      </p:sp>
      <p:sp>
        <p:nvSpPr>
          <p:cNvPr id="88" name="Rectangle 87"/>
          <p:cNvSpPr/>
          <p:nvPr/>
        </p:nvSpPr>
        <p:spPr>
          <a:xfrm>
            <a:off x="6903720" y="2976181"/>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31736" y="2980944"/>
            <a:ext cx="267004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No analysis (“No aplica”)</a:t>
            </a:r>
          </a:p>
        </p:txBody>
      </p:sp>
      <p:sp>
        <p:nvSpPr>
          <p:cNvPr id="90" name="TextBox 89"/>
          <p:cNvSpPr txBox="1"/>
          <p:nvPr/>
        </p:nvSpPr>
        <p:spPr>
          <a:xfrm>
            <a:off x="9957816" y="2980944"/>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145</a:t>
            </a:r>
          </a:p>
        </p:txBody>
      </p:sp>
      <p:sp>
        <p:nvSpPr>
          <p:cNvPr id="91" name="TextBox 90"/>
          <p:cNvSpPr txBox="1"/>
          <p:nvPr/>
        </p:nvSpPr>
        <p:spPr>
          <a:xfrm>
            <a:off x="10735056" y="2980944"/>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10%</a:t>
            </a:r>
          </a:p>
        </p:txBody>
      </p:sp>
      <p:sp>
        <p:nvSpPr>
          <p:cNvPr id="92" name="Rectangle 91"/>
          <p:cNvSpPr/>
          <p:nvPr/>
        </p:nvSpPr>
        <p:spPr>
          <a:xfrm>
            <a:off x="6903720" y="3241357"/>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903720" y="3246120"/>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031736" y="3246120"/>
            <a:ext cx="267004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Cancellation processed</a:t>
            </a:r>
          </a:p>
        </p:txBody>
      </p:sp>
      <p:sp>
        <p:nvSpPr>
          <p:cNvPr id="95" name="TextBox 94"/>
          <p:cNvSpPr txBox="1"/>
          <p:nvPr/>
        </p:nvSpPr>
        <p:spPr>
          <a:xfrm>
            <a:off x="9957816" y="3246120"/>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43</a:t>
            </a:r>
          </a:p>
        </p:txBody>
      </p:sp>
      <p:sp>
        <p:nvSpPr>
          <p:cNvPr id="96" name="TextBox 95"/>
          <p:cNvSpPr txBox="1"/>
          <p:nvPr/>
        </p:nvSpPr>
        <p:spPr>
          <a:xfrm>
            <a:off x="10735056" y="3246120"/>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3%</a:t>
            </a:r>
          </a:p>
        </p:txBody>
      </p:sp>
      <p:sp>
        <p:nvSpPr>
          <p:cNvPr id="97" name="Rectangle 96"/>
          <p:cNvSpPr/>
          <p:nvPr/>
        </p:nvSpPr>
        <p:spPr>
          <a:xfrm>
            <a:off x="6903720" y="3506533"/>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031736" y="3511296"/>
            <a:ext cx="2670048" cy="265176"/>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Model: no low CSAT to analyse</a:t>
            </a:r>
          </a:p>
        </p:txBody>
      </p:sp>
      <p:sp>
        <p:nvSpPr>
          <p:cNvPr id="99" name="TextBox 98"/>
          <p:cNvSpPr txBox="1"/>
          <p:nvPr/>
        </p:nvSpPr>
        <p:spPr>
          <a:xfrm>
            <a:off x="9957816" y="3511296"/>
            <a:ext cx="521207"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34</a:t>
            </a:r>
          </a:p>
        </p:txBody>
      </p:sp>
      <p:sp>
        <p:nvSpPr>
          <p:cNvPr id="100" name="TextBox 99"/>
          <p:cNvSpPr txBox="1"/>
          <p:nvPr/>
        </p:nvSpPr>
        <p:spPr>
          <a:xfrm>
            <a:off x="10735056" y="3511296"/>
            <a:ext cx="475488" cy="265176"/>
          </a:xfrm>
          <a:prstGeom prst="rect">
            <a:avLst/>
          </a:prstGeom>
          <a:noFill/>
        </p:spPr>
        <p:txBody>
          <a:bodyPr wrap="square" lIns="0" rIns="0" tIns="0" bIns="0" anchor="ctr">
            <a:spAutoFit/>
          </a:bodyPr>
          <a:lstStyle/>
          <a:p>
            <a:pPr algn="r">
              <a:lnSpc>
                <a:spcPct val="115000"/>
              </a:lnSpc>
              <a:spcAft>
                <a:spcPts val="0"/>
              </a:spcAft>
            </a:pPr>
            <a:r>
              <a:rPr sz="800" b="0">
                <a:solidFill>
                  <a:srgbClr val="4B5563"/>
                </a:solidFill>
                <a:latin typeface="Inter"/>
              </a:rPr>
              <a:t>2%</a:t>
            </a:r>
          </a:p>
        </p:txBody>
      </p:sp>
      <p:sp>
        <p:nvSpPr>
          <p:cNvPr id="101" name="Rectangle 100"/>
          <p:cNvSpPr/>
          <p:nvPr/>
        </p:nvSpPr>
        <p:spPr>
          <a:xfrm>
            <a:off x="6903720" y="3771709"/>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57200" y="5010912"/>
            <a:ext cx="5532120" cy="123444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457200" y="5010912"/>
            <a:ext cx="38404" cy="12344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68096" y="5193792"/>
            <a:ext cx="4965192" cy="292608"/>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The main blockers are policy and tools, not agent greetings.</a:t>
            </a:r>
          </a:p>
        </p:txBody>
      </p:sp>
      <p:sp>
        <p:nvSpPr>
          <p:cNvPr id="105" name="TextBox 104"/>
          <p:cNvSpPr txBox="1"/>
          <p:nvPr/>
        </p:nvSpPr>
        <p:spPr>
          <a:xfrm>
            <a:off x="768096" y="5577840"/>
            <a:ext cx="4965192" cy="521208"/>
          </a:xfrm>
          <a:prstGeom prst="rect">
            <a:avLst/>
          </a:prstGeom>
          <a:noFill/>
        </p:spPr>
        <p:txBody>
          <a:bodyPr wrap="square" lIns="0" rIns="0" tIns="0" bIns="0" anchor="t">
            <a:spAutoFit/>
          </a:bodyPr>
          <a:lstStyle/>
          <a:p>
            <a:pPr algn="l">
              <a:lnSpc>
                <a:spcPct val="132000"/>
              </a:lnSpc>
              <a:spcAft>
                <a:spcPts val="400"/>
              </a:spcAft>
            </a:pPr>
            <a:r>
              <a:rPr sz="850" b="0">
                <a:solidFill>
                  <a:srgbClr val="4B5563"/>
                </a:solidFill>
                <a:latin typeface="Inter"/>
              </a:rPr>
              <a:t>Policy: ¿Por qué el cliente está insatisfecho? Porque el agente no resolvió su problema. ¿Por qué no hubo resolución? Porque el agente indicó que un reembolso no era posible. ¿Por qué no era posible? Porque la política Tools: ¿Por qué el cliente está insatisfecho? Porque el pedido está muy retrasado y tiene hambre. ¿Por qué el pedido está retrasado? Porque ya pasaron 2 horas y no lle</a:t>
            </a:r>
          </a:p>
        </p:txBody>
      </p:sp>
      <p:sp>
        <p:nvSpPr>
          <p:cNvPr id="106" name="Rectangle 105"/>
          <p:cNvSpPr/>
          <p:nvPr/>
        </p:nvSpPr>
        <p:spPr>
          <a:xfrm>
            <a:off x="6903720" y="5010912"/>
            <a:ext cx="4846320" cy="123444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903720" y="5010912"/>
            <a:ext cx="38404" cy="12344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214616" y="5193792"/>
            <a:ext cx="4279392" cy="292608"/>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When cases are closed, the resolution usually involves a refund, an explanation, or a tool</a:t>
            </a:r>
          </a:p>
        </p:txBody>
      </p:sp>
      <p:sp>
        <p:nvSpPr>
          <p:cNvPr id="109" name="TextBox 108"/>
          <p:cNvSpPr txBox="1"/>
          <p:nvPr/>
        </p:nvSpPr>
        <p:spPr>
          <a:xfrm>
            <a:off x="7214616" y="5577840"/>
            <a:ext cx="4279392" cy="521208"/>
          </a:xfrm>
          <a:prstGeom prst="rect">
            <a:avLst/>
          </a:prstGeom>
          <a:noFill/>
        </p:spPr>
        <p:txBody>
          <a:bodyPr wrap="square" lIns="0" rIns="0" tIns="0" bIns="0" anchor="t">
            <a:spAutoFit/>
          </a:bodyPr>
          <a:lstStyle/>
          <a:p>
            <a:pPr algn="l">
              <a:lnSpc>
                <a:spcPct val="132000"/>
              </a:lnSpc>
              <a:spcAft>
                <a:spcPts val="400"/>
              </a:spcAft>
            </a:pPr>
            <a:r>
              <a:rPr sz="850" b="0">
                <a:solidFill>
                  <a:srgbClr val="4B5563"/>
                </a:solidFill>
                <a:latin typeface="Inter"/>
              </a:rPr>
              <a:t>¿Por qué el cliente se sintió satisfecho? Porque el agente confirmó el reembolso de su pedido. ¿Por qué el agente confirmó el reembolso? Porque revisó la información del pedido y el estado del reembolso. ¿Por qué revisó la información? Porque el cliente proporcionó los datos soli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Why customers contact us again even when QA is green</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Fishbone. Six buckets. Every line has a number.</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26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fishbone.png"/>
          <p:cNvPicPr>
            <a:picLocks noChangeAspect="1"/>
          </p:cNvPicPr>
          <p:nvPr/>
        </p:nvPicPr>
        <p:blipFill>
          <a:blip r:embed="rId3"/>
          <a:stretch>
            <a:fillRect/>
          </a:stretch>
        </p:blipFill>
        <p:spPr>
          <a:xfrm>
            <a:off x="688658" y="1152144"/>
            <a:ext cx="10814378" cy="4224528"/>
          </a:xfrm>
          <a:prstGeom prst="rect">
            <a:avLst/>
          </a:prstGeom>
        </p:spPr>
      </p:pic>
      <p:sp>
        <p:nvSpPr>
          <p:cNvPr id="12" name="Rectangle 11"/>
          <p:cNvSpPr/>
          <p:nvPr/>
        </p:nvSpPr>
        <p:spPr>
          <a:xfrm>
            <a:off x="457200" y="5468112"/>
            <a:ext cx="11277295" cy="9601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468112"/>
            <a:ext cx="38404" cy="9601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513832"/>
            <a:ext cx="10710367" cy="201168"/>
          </a:xfrm>
          <a:prstGeom prst="rect">
            <a:avLst/>
          </a:prstGeom>
          <a:noFill/>
        </p:spPr>
        <p:txBody>
          <a:bodyPr wrap="square" lIns="0" rIns="0" tIns="0" bIns="0" anchor="ctr">
            <a:spAutoFit/>
          </a:bodyPr>
          <a:lstStyle/>
          <a:p>
            <a:pPr algn="l">
              <a:lnSpc>
                <a:spcPct val="115000"/>
              </a:lnSpc>
              <a:spcAft>
                <a:spcPts val="0"/>
              </a:spcAft>
            </a:pPr>
            <a:r>
              <a:rPr sz="1150" b="1">
                <a:solidFill>
                  <a:srgbClr val="1A1A1A"/>
                </a:solidFill>
                <a:latin typeface="Inter"/>
              </a:rPr>
              <a:t>The key takeaway</a:t>
            </a:r>
          </a:p>
        </p:txBody>
      </p:sp>
      <p:sp>
        <p:nvSpPr>
          <p:cNvPr id="15" name="TextBox 14"/>
          <p:cNvSpPr txBox="1"/>
          <p:nvPr/>
        </p:nvSpPr>
        <p:spPr>
          <a:xfrm>
            <a:off x="768096" y="5705856"/>
            <a:ext cx="10710367" cy="667512"/>
          </a:xfrm>
          <a:prstGeom prst="rect">
            <a:avLst/>
          </a:prstGeom>
          <a:noFill/>
        </p:spPr>
        <p:txBody>
          <a:bodyPr wrap="square" lIns="0" rIns="0" tIns="0" bIns="0" anchor="t">
            <a:spAutoFit/>
          </a:bodyPr>
          <a:lstStyle/>
          <a:p>
            <a:pPr algn="l">
              <a:lnSpc>
                <a:spcPct val="118000"/>
              </a:lnSpc>
              <a:spcAft>
                <a:spcPts val="0"/>
              </a:spcAft>
            </a:pPr>
            <a:r>
              <a:rPr sz="950" b="0">
                <a:solidFill>
                  <a:srgbClr val="4B5563"/>
                </a:solidFill>
                <a:latin typeface="Inter"/>
              </a:rPr>
              <a:t>The scorecard measures how the interaction was handled, while CSAT reflects the customer outcome. That is why QA is 94.14 while blended CSAT is 79.95%, with almost no relationship between them (R² = 0.023). Of 699 cases marked as not closed, 527 still followed process. The main barriers identified are policy and tools. The priority should therefore be fixing the contact reason, not only coaching agent behaviour.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What we will do next</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Connect QA with the customer outcome</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27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flowchart.png"/>
          <p:cNvPicPr>
            <a:picLocks noChangeAspect="1"/>
          </p:cNvPicPr>
          <p:nvPr/>
        </p:nvPicPr>
        <p:blipFill>
          <a:blip r:embed="rId3"/>
          <a:stretch>
            <a:fillRect/>
          </a:stretch>
        </p:blipFill>
        <p:spPr>
          <a:xfrm>
            <a:off x="865841" y="1207008"/>
            <a:ext cx="10460012" cy="2697480"/>
          </a:xfrm>
          <a:prstGeom prst="rect">
            <a:avLst/>
          </a:prstGeom>
        </p:spPr>
      </p:pic>
      <p:sp>
        <p:nvSpPr>
          <p:cNvPr id="12" name="TextBox 11"/>
          <p:cNvSpPr txBox="1"/>
          <p:nvPr/>
        </p:nvSpPr>
        <p:spPr>
          <a:xfrm>
            <a:off x="457200" y="4005072"/>
            <a:ext cx="566928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What changes</a:t>
            </a:r>
          </a:p>
        </p:txBody>
      </p:sp>
      <p:sp>
        <p:nvSpPr>
          <p:cNvPr id="13" name="Rectangle 12"/>
          <p:cNvSpPr/>
          <p:nvPr/>
        </p:nvSpPr>
        <p:spPr>
          <a:xfrm>
            <a:off x="457200" y="438454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4288536"/>
            <a:ext cx="5431536" cy="310896"/>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Report closure rate alongside QA by contact reason and sub-reason. Use the same status logic: 70%+ closure is green and 85%+ CSAT is green.</a:t>
            </a:r>
          </a:p>
        </p:txBody>
      </p:sp>
      <p:sp>
        <p:nvSpPr>
          <p:cNvPr id="15" name="Rectangle 14"/>
          <p:cNvSpPr/>
          <p:nvPr/>
        </p:nvSpPr>
        <p:spPr>
          <a:xfrm>
            <a:off x="457200" y="484746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4751451"/>
            <a:ext cx="5431536" cy="310896"/>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Assign each improvement to the relevant contact reason. The Dissatisfaction_Owner field only appears in about 4% of audits, so it should not be used as the primary ownership map.</a:t>
            </a:r>
          </a:p>
        </p:txBody>
      </p:sp>
      <p:sp>
        <p:nvSpPr>
          <p:cNvPr id="17" name="Rectangle 16"/>
          <p:cNvSpPr/>
          <p:nvPr/>
        </p:nvSpPr>
        <p:spPr>
          <a:xfrm>
            <a:off x="457200" y="531037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214366"/>
            <a:ext cx="5431536" cy="310896"/>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Add correct information as a critical Chat attribute to improve measurement accuracy. Under this scoring, Chat QA would be 80.14. This improves the scorecard, but does not directly improve CSAT.</a:t>
            </a:r>
          </a:p>
        </p:txBody>
      </p:sp>
      <p:sp>
        <p:nvSpPr>
          <p:cNvPr id="19" name="Rectangle 18"/>
          <p:cNvSpPr/>
          <p:nvPr/>
        </p:nvSpPr>
        <p:spPr>
          <a:xfrm>
            <a:off x="457200" y="577329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5677280"/>
            <a:ext cx="5431536" cy="310896"/>
          </a:xfrm>
          <a:prstGeom prst="rect">
            <a:avLst/>
          </a:prstGeom>
          <a:noFill/>
        </p:spPr>
        <p:txBody>
          <a:bodyPr wrap="square" lIns="0" rIns="0" tIns="0" bIns="0" anchor="t">
            <a:spAutoFit/>
          </a:bodyPr>
          <a:lstStyle/>
          <a:p>
            <a:pPr algn="l">
              <a:lnSpc>
                <a:spcPct val="128000"/>
              </a:lnSpc>
              <a:spcAft>
                <a:spcPts val="0"/>
              </a:spcAft>
            </a:pPr>
            <a:r>
              <a:rPr sz="950" b="0">
                <a:solidFill>
                  <a:srgbClr val="4B5563"/>
                </a:solidFill>
                <a:latin typeface="Inter"/>
              </a:rPr>
              <a:t>Track the official CSAT for each targeted contact reason to measure whether the change is working.</a:t>
            </a:r>
          </a:p>
        </p:txBody>
      </p:sp>
      <p:sp>
        <p:nvSpPr>
          <p:cNvPr id="21" name="TextBox 20"/>
          <p:cNvSpPr txBox="1"/>
          <p:nvPr/>
        </p:nvSpPr>
        <p:spPr>
          <a:xfrm>
            <a:off x="6492240" y="4005072"/>
            <a:ext cx="5257800" cy="219456"/>
          </a:xfrm>
          <a:prstGeom prst="rect">
            <a:avLst/>
          </a:prstGeom>
          <a:noFill/>
        </p:spPr>
        <p:txBody>
          <a:bodyPr wrap="square" lIns="0" rIns="0" tIns="0" bIns="0" anchor="t">
            <a:spAutoFit/>
          </a:bodyPr>
          <a:lstStyle/>
          <a:p>
            <a:pPr algn="l">
              <a:lnSpc>
                <a:spcPct val="115000"/>
              </a:lnSpc>
              <a:spcAft>
                <a:spcPts val="0"/>
              </a:spcAft>
            </a:pPr>
            <a:r>
              <a:rPr sz="1050" b="1">
                <a:solidFill>
                  <a:srgbClr val="1A1A1A"/>
                </a:solidFill>
                <a:latin typeface="Inter"/>
              </a:rPr>
              <a:t>How we will know it worked</a:t>
            </a:r>
          </a:p>
        </p:txBody>
      </p:sp>
      <p:sp>
        <p:nvSpPr>
          <p:cNvPr id="22" name="Rectangle 21"/>
          <p:cNvSpPr/>
          <p:nvPr/>
        </p:nvSpPr>
        <p:spPr>
          <a:xfrm>
            <a:off x="6492240" y="4315968"/>
            <a:ext cx="525780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0255" y="4315968"/>
            <a:ext cx="175564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Measure</a:t>
            </a:r>
          </a:p>
        </p:txBody>
      </p:sp>
      <p:sp>
        <p:nvSpPr>
          <p:cNvPr id="24" name="TextBox 23"/>
          <p:cNvSpPr txBox="1"/>
          <p:nvPr/>
        </p:nvSpPr>
        <p:spPr>
          <a:xfrm>
            <a:off x="8631936" y="4315968"/>
            <a:ext cx="704088"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Today</a:t>
            </a:r>
          </a:p>
        </p:txBody>
      </p:sp>
      <p:sp>
        <p:nvSpPr>
          <p:cNvPr id="25" name="TextBox 24"/>
          <p:cNvSpPr txBox="1"/>
          <p:nvPr/>
        </p:nvSpPr>
        <p:spPr>
          <a:xfrm>
            <a:off x="9592056" y="4315968"/>
            <a:ext cx="704088" cy="329184"/>
          </a:xfrm>
          <a:prstGeom prst="rect">
            <a:avLst/>
          </a:prstGeom>
          <a:noFill/>
        </p:spPr>
        <p:txBody>
          <a:bodyPr wrap="square" lIns="0" rIns="0" tIns="0" bIns="0" anchor="ctr">
            <a:spAutoFit/>
          </a:bodyPr>
          <a:lstStyle/>
          <a:p>
            <a:pPr algn="r">
              <a:lnSpc>
                <a:spcPct val="115000"/>
              </a:lnSpc>
              <a:spcAft>
                <a:spcPts val="0"/>
              </a:spcAft>
            </a:pPr>
            <a:r>
              <a:rPr sz="850" b="1">
                <a:solidFill>
                  <a:srgbClr val="FFFFFF"/>
                </a:solidFill>
                <a:latin typeface="Inter"/>
              </a:rPr>
              <a:t>Target</a:t>
            </a:r>
          </a:p>
        </p:txBody>
      </p:sp>
      <p:sp>
        <p:nvSpPr>
          <p:cNvPr id="26" name="TextBox 25"/>
          <p:cNvSpPr txBox="1"/>
          <p:nvPr/>
        </p:nvSpPr>
        <p:spPr>
          <a:xfrm>
            <a:off x="10552176" y="4315968"/>
            <a:ext cx="1069848" cy="329184"/>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Horizon</a:t>
            </a:r>
          </a:p>
        </p:txBody>
      </p:sp>
      <p:sp>
        <p:nvSpPr>
          <p:cNvPr id="27" name="TextBox 26"/>
          <p:cNvSpPr txBox="1"/>
          <p:nvPr/>
        </p:nvSpPr>
        <p:spPr>
          <a:xfrm>
            <a:off x="6620255" y="4645152"/>
            <a:ext cx="1755648" cy="365760"/>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QA vs CSAT (R²)</a:t>
            </a:r>
          </a:p>
        </p:txBody>
      </p:sp>
      <p:sp>
        <p:nvSpPr>
          <p:cNvPr id="28" name="Rounded Rectangle 27"/>
          <p:cNvSpPr/>
          <p:nvPr/>
        </p:nvSpPr>
        <p:spPr>
          <a:xfrm>
            <a:off x="8567928" y="470367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31936" y="4645152"/>
            <a:ext cx="704088" cy="365760"/>
          </a:xfrm>
          <a:prstGeom prst="rect">
            <a:avLst/>
          </a:prstGeom>
          <a:noFill/>
        </p:spPr>
        <p:txBody>
          <a:bodyPr wrap="square" lIns="0" rIns="0" tIns="0" bIns="0" anchor="ctr">
            <a:spAutoFit/>
          </a:bodyPr>
          <a:lstStyle/>
          <a:p>
            <a:pPr algn="r">
              <a:lnSpc>
                <a:spcPct val="115000"/>
              </a:lnSpc>
              <a:spcAft>
                <a:spcPts val="0"/>
              </a:spcAft>
            </a:pPr>
            <a:r>
              <a:rPr sz="819" b="1">
                <a:solidFill>
                  <a:srgbClr val="E11D2E"/>
                </a:solidFill>
                <a:latin typeface="Inter"/>
              </a:rPr>
              <a:t>R² 0.02</a:t>
            </a:r>
          </a:p>
        </p:txBody>
      </p:sp>
      <p:sp>
        <p:nvSpPr>
          <p:cNvPr id="30" name="TextBox 29"/>
          <p:cNvSpPr txBox="1"/>
          <p:nvPr/>
        </p:nvSpPr>
        <p:spPr>
          <a:xfrm>
            <a:off x="9592056" y="4645152"/>
            <a:ext cx="704088" cy="365760"/>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R² 0.25 or above</a:t>
            </a:r>
          </a:p>
        </p:txBody>
      </p:sp>
      <p:sp>
        <p:nvSpPr>
          <p:cNvPr id="31" name="TextBox 30"/>
          <p:cNvSpPr txBox="1"/>
          <p:nvPr/>
        </p:nvSpPr>
        <p:spPr>
          <a:xfrm>
            <a:off x="10552176" y="4645152"/>
            <a:ext cx="1069848" cy="365760"/>
          </a:xfrm>
          <a:prstGeom prst="rect">
            <a:avLst/>
          </a:prstGeom>
          <a:noFill/>
        </p:spPr>
        <p:txBody>
          <a:bodyPr wrap="square" lIns="0" rIns="0" tIns="0" bIns="0" anchor="ctr">
            <a:spAutoFit/>
          </a:bodyPr>
          <a:lstStyle/>
          <a:p>
            <a:pPr algn="l">
              <a:lnSpc>
                <a:spcPct val="115000"/>
              </a:lnSpc>
              <a:spcAft>
                <a:spcPts val="0"/>
              </a:spcAft>
            </a:pPr>
            <a:r>
              <a:rPr sz="819" b="0">
                <a:solidFill>
                  <a:srgbClr val="4B5563"/>
                </a:solidFill>
                <a:latin typeface="Inter"/>
              </a:rPr>
              <a:t>2 quarters</a:t>
            </a:r>
          </a:p>
        </p:txBody>
      </p:sp>
      <p:sp>
        <p:nvSpPr>
          <p:cNvPr id="32" name="Rectangle 31"/>
          <p:cNvSpPr/>
          <p:nvPr/>
        </p:nvSpPr>
        <p:spPr>
          <a:xfrm>
            <a:off x="6492240" y="500614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92240" y="5010912"/>
            <a:ext cx="5257800"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0255" y="5010912"/>
            <a:ext cx="1755648" cy="365760"/>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Close-rate vs CSAT (R²)</a:t>
            </a:r>
          </a:p>
        </p:txBody>
      </p:sp>
      <p:sp>
        <p:nvSpPr>
          <p:cNvPr id="35" name="Rounded Rectangle 34"/>
          <p:cNvSpPr/>
          <p:nvPr/>
        </p:nvSpPr>
        <p:spPr>
          <a:xfrm>
            <a:off x="8567928" y="5069433"/>
            <a:ext cx="832104"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31936" y="5010912"/>
            <a:ext cx="704088" cy="365760"/>
          </a:xfrm>
          <a:prstGeom prst="rect">
            <a:avLst/>
          </a:prstGeom>
          <a:noFill/>
        </p:spPr>
        <p:txBody>
          <a:bodyPr wrap="square" lIns="0" rIns="0" tIns="0" bIns="0" anchor="ctr">
            <a:spAutoFit/>
          </a:bodyPr>
          <a:lstStyle/>
          <a:p>
            <a:pPr algn="r">
              <a:lnSpc>
                <a:spcPct val="115000"/>
              </a:lnSpc>
              <a:spcAft>
                <a:spcPts val="0"/>
              </a:spcAft>
            </a:pPr>
            <a:r>
              <a:rPr sz="819" b="1">
                <a:solidFill>
                  <a:srgbClr val="16A34A"/>
                </a:solidFill>
                <a:latin typeface="Inter"/>
              </a:rPr>
              <a:t>R² 0.64</a:t>
            </a:r>
          </a:p>
        </p:txBody>
      </p:sp>
      <p:sp>
        <p:nvSpPr>
          <p:cNvPr id="37" name="TextBox 36"/>
          <p:cNvSpPr txBox="1"/>
          <p:nvPr/>
        </p:nvSpPr>
        <p:spPr>
          <a:xfrm>
            <a:off x="9592056" y="5010912"/>
            <a:ext cx="704088" cy="365760"/>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Keep 0.50 or above</a:t>
            </a:r>
          </a:p>
        </p:txBody>
      </p:sp>
      <p:sp>
        <p:nvSpPr>
          <p:cNvPr id="38" name="TextBox 37"/>
          <p:cNvSpPr txBox="1"/>
          <p:nvPr/>
        </p:nvSpPr>
        <p:spPr>
          <a:xfrm>
            <a:off x="10552176" y="5010912"/>
            <a:ext cx="1069848" cy="365760"/>
          </a:xfrm>
          <a:prstGeom prst="rect">
            <a:avLst/>
          </a:prstGeom>
          <a:noFill/>
        </p:spPr>
        <p:txBody>
          <a:bodyPr wrap="square" lIns="0" rIns="0" tIns="0" bIns="0" anchor="ctr">
            <a:spAutoFit/>
          </a:bodyPr>
          <a:lstStyle/>
          <a:p>
            <a:pPr algn="l">
              <a:lnSpc>
                <a:spcPct val="115000"/>
              </a:lnSpc>
              <a:spcAft>
                <a:spcPts val="0"/>
              </a:spcAft>
            </a:pPr>
            <a:r>
              <a:rPr sz="819" b="0">
                <a:solidFill>
                  <a:srgbClr val="4B5563"/>
                </a:solidFill>
                <a:latin typeface="Inter"/>
              </a:rPr>
              <a:t>ongoing</a:t>
            </a:r>
          </a:p>
        </p:txBody>
      </p:sp>
      <p:sp>
        <p:nvSpPr>
          <p:cNvPr id="39" name="Rectangle 38"/>
          <p:cNvSpPr/>
          <p:nvPr/>
        </p:nvSpPr>
        <p:spPr>
          <a:xfrm>
            <a:off x="6492240" y="537190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0255" y="5376672"/>
            <a:ext cx="1755648" cy="365760"/>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CSAT</a:t>
            </a:r>
          </a:p>
        </p:txBody>
      </p:sp>
      <p:sp>
        <p:nvSpPr>
          <p:cNvPr id="41" name="Rounded Rectangle 40"/>
          <p:cNvSpPr/>
          <p:nvPr/>
        </p:nvSpPr>
        <p:spPr>
          <a:xfrm>
            <a:off x="8567928" y="543519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31936" y="5376672"/>
            <a:ext cx="704088" cy="365760"/>
          </a:xfrm>
          <a:prstGeom prst="rect">
            <a:avLst/>
          </a:prstGeom>
          <a:noFill/>
        </p:spPr>
        <p:txBody>
          <a:bodyPr wrap="square" lIns="0" rIns="0" tIns="0" bIns="0" anchor="ctr">
            <a:spAutoFit/>
          </a:bodyPr>
          <a:lstStyle/>
          <a:p>
            <a:pPr algn="r">
              <a:lnSpc>
                <a:spcPct val="115000"/>
              </a:lnSpc>
              <a:spcAft>
                <a:spcPts val="0"/>
              </a:spcAft>
            </a:pPr>
            <a:r>
              <a:rPr sz="819" b="1">
                <a:solidFill>
                  <a:srgbClr val="E11D2E"/>
                </a:solidFill>
                <a:latin typeface="Inter"/>
              </a:rPr>
              <a:t>79.95%</a:t>
            </a:r>
          </a:p>
        </p:txBody>
      </p:sp>
      <p:sp>
        <p:nvSpPr>
          <p:cNvPr id="43" name="TextBox 42"/>
          <p:cNvSpPr txBox="1"/>
          <p:nvPr/>
        </p:nvSpPr>
        <p:spPr>
          <a:xfrm>
            <a:off x="9592056" y="5376672"/>
            <a:ext cx="704088" cy="365760"/>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85.0%</a:t>
            </a:r>
          </a:p>
        </p:txBody>
      </p:sp>
      <p:sp>
        <p:nvSpPr>
          <p:cNvPr id="44" name="TextBox 43"/>
          <p:cNvSpPr txBox="1"/>
          <p:nvPr/>
        </p:nvSpPr>
        <p:spPr>
          <a:xfrm>
            <a:off x="10552176" y="5376672"/>
            <a:ext cx="1069848" cy="365760"/>
          </a:xfrm>
          <a:prstGeom prst="rect">
            <a:avLst/>
          </a:prstGeom>
          <a:noFill/>
        </p:spPr>
        <p:txBody>
          <a:bodyPr wrap="square" lIns="0" rIns="0" tIns="0" bIns="0" anchor="ctr">
            <a:spAutoFit/>
          </a:bodyPr>
          <a:lstStyle/>
          <a:p>
            <a:pPr algn="l">
              <a:lnSpc>
                <a:spcPct val="115000"/>
              </a:lnSpc>
              <a:spcAft>
                <a:spcPts val="0"/>
              </a:spcAft>
            </a:pPr>
            <a:r>
              <a:rPr sz="819" b="0">
                <a:solidFill>
                  <a:srgbClr val="4B5563"/>
                </a:solidFill>
                <a:latin typeface="Inter"/>
              </a:rPr>
              <a:t>2 quarters</a:t>
            </a:r>
          </a:p>
        </p:txBody>
      </p:sp>
      <p:sp>
        <p:nvSpPr>
          <p:cNvPr id="45" name="Rectangle 44"/>
          <p:cNvSpPr/>
          <p:nvPr/>
        </p:nvSpPr>
        <p:spPr>
          <a:xfrm>
            <a:off x="6492240" y="573766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92240" y="5742432"/>
            <a:ext cx="5257800"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20255" y="5742432"/>
            <a:ext cx="1755648" cy="365760"/>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Recontact (human: Phone + Chat)</a:t>
            </a:r>
          </a:p>
        </p:txBody>
      </p:sp>
      <p:sp>
        <p:nvSpPr>
          <p:cNvPr id="48" name="Rounded Rectangle 47"/>
          <p:cNvSpPr/>
          <p:nvPr/>
        </p:nvSpPr>
        <p:spPr>
          <a:xfrm>
            <a:off x="8567928" y="580095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31936" y="5742432"/>
            <a:ext cx="704088" cy="365760"/>
          </a:xfrm>
          <a:prstGeom prst="rect">
            <a:avLst/>
          </a:prstGeom>
          <a:noFill/>
        </p:spPr>
        <p:txBody>
          <a:bodyPr wrap="square" lIns="0" rIns="0" tIns="0" bIns="0" anchor="ctr">
            <a:spAutoFit/>
          </a:bodyPr>
          <a:lstStyle/>
          <a:p>
            <a:pPr algn="r">
              <a:lnSpc>
                <a:spcPct val="115000"/>
              </a:lnSpc>
              <a:spcAft>
                <a:spcPts val="0"/>
              </a:spcAft>
            </a:pPr>
            <a:r>
              <a:rPr sz="819" b="1">
                <a:solidFill>
                  <a:srgbClr val="E11D2E"/>
                </a:solidFill>
                <a:latin typeface="Inter"/>
              </a:rPr>
              <a:t>15.56%</a:t>
            </a:r>
          </a:p>
        </p:txBody>
      </p:sp>
      <p:sp>
        <p:nvSpPr>
          <p:cNvPr id="50" name="TextBox 49"/>
          <p:cNvSpPr txBox="1"/>
          <p:nvPr/>
        </p:nvSpPr>
        <p:spPr>
          <a:xfrm>
            <a:off x="9592056" y="5742432"/>
            <a:ext cx="704088" cy="365760"/>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10.0%</a:t>
            </a:r>
          </a:p>
        </p:txBody>
      </p:sp>
      <p:sp>
        <p:nvSpPr>
          <p:cNvPr id="51" name="TextBox 50"/>
          <p:cNvSpPr txBox="1"/>
          <p:nvPr/>
        </p:nvSpPr>
        <p:spPr>
          <a:xfrm>
            <a:off x="10552176" y="5742432"/>
            <a:ext cx="1069848" cy="365760"/>
          </a:xfrm>
          <a:prstGeom prst="rect">
            <a:avLst/>
          </a:prstGeom>
          <a:noFill/>
        </p:spPr>
        <p:txBody>
          <a:bodyPr wrap="square" lIns="0" rIns="0" tIns="0" bIns="0" anchor="ctr">
            <a:spAutoFit/>
          </a:bodyPr>
          <a:lstStyle/>
          <a:p>
            <a:pPr algn="l">
              <a:lnSpc>
                <a:spcPct val="115000"/>
              </a:lnSpc>
              <a:spcAft>
                <a:spcPts val="0"/>
              </a:spcAft>
            </a:pPr>
            <a:r>
              <a:rPr sz="819" b="0">
                <a:solidFill>
                  <a:srgbClr val="4B5563"/>
                </a:solidFill>
                <a:latin typeface="Inter"/>
              </a:rPr>
              <a:t>1 quarter</a:t>
            </a:r>
          </a:p>
        </p:txBody>
      </p:sp>
      <p:sp>
        <p:nvSpPr>
          <p:cNvPr id="52" name="Rectangle 51"/>
          <p:cNvSpPr/>
          <p:nvPr/>
        </p:nvSpPr>
        <p:spPr>
          <a:xfrm>
            <a:off x="6492240" y="610342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20255" y="6108192"/>
            <a:ext cx="1755648" cy="365760"/>
          </a:xfrm>
          <a:prstGeom prst="rect">
            <a:avLst/>
          </a:prstGeom>
          <a:noFill/>
        </p:spPr>
        <p:txBody>
          <a:bodyPr wrap="square" lIns="0" rIns="0" tIns="0" bIns="0" anchor="ctr">
            <a:spAutoFit/>
          </a:bodyPr>
          <a:lstStyle/>
          <a:p>
            <a:pPr algn="l">
              <a:lnSpc>
                <a:spcPct val="115000"/>
              </a:lnSpc>
              <a:spcAft>
                <a:spcPts val="0"/>
              </a:spcAft>
            </a:pPr>
            <a:r>
              <a:rPr sz="819" b="1">
                <a:solidFill>
                  <a:srgbClr val="1A1A1A"/>
                </a:solidFill>
                <a:latin typeface="Inter"/>
              </a:rPr>
              <a:t>Phone share of audits</a:t>
            </a:r>
          </a:p>
        </p:txBody>
      </p:sp>
      <p:sp>
        <p:nvSpPr>
          <p:cNvPr id="54" name="Rounded Rectangle 53"/>
          <p:cNvSpPr/>
          <p:nvPr/>
        </p:nvSpPr>
        <p:spPr>
          <a:xfrm>
            <a:off x="8567928" y="6166713"/>
            <a:ext cx="832104"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1936" y="6108192"/>
            <a:ext cx="704088" cy="365760"/>
          </a:xfrm>
          <a:prstGeom prst="rect">
            <a:avLst/>
          </a:prstGeom>
          <a:noFill/>
        </p:spPr>
        <p:txBody>
          <a:bodyPr wrap="square" lIns="0" rIns="0" tIns="0" bIns="0" anchor="ctr">
            <a:spAutoFit/>
          </a:bodyPr>
          <a:lstStyle/>
          <a:p>
            <a:pPr algn="r">
              <a:lnSpc>
                <a:spcPct val="115000"/>
              </a:lnSpc>
              <a:spcAft>
                <a:spcPts val="0"/>
              </a:spcAft>
            </a:pPr>
            <a:r>
              <a:rPr sz="819" b="1">
                <a:solidFill>
                  <a:srgbClr val="F59E0B"/>
                </a:solidFill>
                <a:latin typeface="Inter"/>
              </a:rPr>
              <a:t>14.4%</a:t>
            </a:r>
          </a:p>
        </p:txBody>
      </p:sp>
      <p:sp>
        <p:nvSpPr>
          <p:cNvPr id="56" name="TextBox 55"/>
          <p:cNvSpPr txBox="1"/>
          <p:nvPr/>
        </p:nvSpPr>
        <p:spPr>
          <a:xfrm>
            <a:off x="9592056" y="6108192"/>
            <a:ext cx="704088" cy="365760"/>
          </a:xfrm>
          <a:prstGeom prst="rect">
            <a:avLst/>
          </a:prstGeom>
          <a:noFill/>
        </p:spPr>
        <p:txBody>
          <a:bodyPr wrap="square" lIns="0" rIns="0" tIns="0" bIns="0" anchor="ctr">
            <a:spAutoFit/>
          </a:bodyPr>
          <a:lstStyle/>
          <a:p>
            <a:pPr algn="r">
              <a:lnSpc>
                <a:spcPct val="115000"/>
              </a:lnSpc>
              <a:spcAft>
                <a:spcPts val="0"/>
              </a:spcAft>
            </a:pPr>
            <a:r>
              <a:rPr sz="819" b="0">
                <a:solidFill>
                  <a:srgbClr val="4B5563"/>
                </a:solidFill>
                <a:latin typeface="Inter"/>
              </a:rPr>
              <a:t>30%</a:t>
            </a:r>
          </a:p>
        </p:txBody>
      </p:sp>
      <p:sp>
        <p:nvSpPr>
          <p:cNvPr id="57" name="TextBox 56"/>
          <p:cNvSpPr txBox="1"/>
          <p:nvPr/>
        </p:nvSpPr>
        <p:spPr>
          <a:xfrm>
            <a:off x="10552176" y="6108192"/>
            <a:ext cx="1069848" cy="365760"/>
          </a:xfrm>
          <a:prstGeom prst="rect">
            <a:avLst/>
          </a:prstGeom>
          <a:noFill/>
        </p:spPr>
        <p:txBody>
          <a:bodyPr wrap="square" lIns="0" rIns="0" tIns="0" bIns="0" anchor="ctr">
            <a:spAutoFit/>
          </a:bodyPr>
          <a:lstStyle/>
          <a:p>
            <a:pPr algn="l">
              <a:lnSpc>
                <a:spcPct val="115000"/>
              </a:lnSpc>
              <a:spcAft>
                <a:spcPts val="0"/>
              </a:spcAft>
            </a:pPr>
            <a:r>
              <a:rPr sz="819" b="0">
                <a:solidFill>
                  <a:srgbClr val="4B5563"/>
                </a:solidFill>
                <a:latin typeface="Inter"/>
              </a:rPr>
              <a:t>1 month</a:t>
            </a:r>
          </a:p>
        </p:txBody>
      </p:sp>
      <p:sp>
        <p:nvSpPr>
          <p:cNvPr id="58" name="Rectangle 57"/>
          <p:cNvSpPr/>
          <p:nvPr/>
        </p:nvSpPr>
        <p:spPr>
          <a:xfrm>
            <a:off x="6492240" y="646918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148840"/>
            <a:ext cx="2743200" cy="1005840"/>
          </a:xfrm>
          <a:prstGeom prst="rect">
            <a:avLst/>
          </a:prstGeom>
          <a:noFill/>
        </p:spPr>
        <p:txBody>
          <a:bodyPr wrap="square" lIns="0" rIns="0" tIns="0" bIns="0" anchor="t">
            <a:spAutoFit/>
          </a:bodyPr>
          <a:lstStyle/>
          <a:p>
            <a:pPr algn="l">
              <a:lnSpc>
                <a:spcPct val="115000"/>
              </a:lnSpc>
              <a:spcAft>
                <a:spcPts val="0"/>
              </a:spcAft>
            </a:pPr>
            <a:r>
              <a:rPr sz="6400" b="1">
                <a:solidFill>
                  <a:srgbClr val="FF6600"/>
                </a:solidFill>
                <a:latin typeface="Inter"/>
              </a:rPr>
              <a:t>06</a:t>
            </a:r>
          </a:p>
        </p:txBody>
      </p:sp>
      <p:sp>
        <p:nvSpPr>
          <p:cNvPr id="5" name="TextBox 4"/>
          <p:cNvSpPr txBox="1"/>
          <p:nvPr/>
        </p:nvSpPr>
        <p:spPr>
          <a:xfrm>
            <a:off x="1188720" y="3246120"/>
            <a:ext cx="8686800" cy="548640"/>
          </a:xfrm>
          <a:prstGeom prst="rect">
            <a:avLst/>
          </a:prstGeom>
          <a:noFill/>
        </p:spPr>
        <p:txBody>
          <a:bodyPr wrap="square" lIns="0" rIns="0" tIns="0" bIns="0" anchor="t">
            <a:spAutoFit/>
          </a:bodyPr>
          <a:lstStyle/>
          <a:p>
            <a:pPr algn="l">
              <a:lnSpc>
                <a:spcPct val="115000"/>
              </a:lnSpc>
              <a:spcAft>
                <a:spcPts val="0"/>
              </a:spcAft>
            </a:pPr>
            <a:r>
              <a:rPr sz="3000" b="1">
                <a:solidFill>
                  <a:srgbClr val="FFFFFF"/>
                </a:solidFill>
                <a:latin typeface="Inter"/>
              </a:rPr>
              <a:t>Action plans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87952"/>
            <a:ext cx="7863840" cy="822960"/>
          </a:xfrm>
          <a:prstGeom prst="rect">
            <a:avLst/>
          </a:prstGeom>
          <a:noFill/>
        </p:spPr>
        <p:txBody>
          <a:bodyPr wrap="square" lIns="0" rIns="0" tIns="0" bIns="0" anchor="t">
            <a:spAutoFit/>
          </a:bodyPr>
          <a:lstStyle/>
          <a:p>
            <a:pPr algn="l">
              <a:lnSpc>
                <a:spcPct val="140000"/>
              </a:lnSpc>
              <a:spcAft>
                <a:spcPts val="0"/>
              </a:spcAft>
            </a:pPr>
            <a:r>
              <a:rPr sz="1300" b="0">
                <a:solidFill>
                  <a:srgbClr val="C9CCD1"/>
                </a:solidFill>
                <a:latin typeface="Inter"/>
              </a:rPr>
              <a:t>What must change. Who owns it. When it lands.</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rIns="0" tIns="0" bIns="0" anchor="ctr">
            <a:spAutoFit/>
          </a:bodyPr>
          <a:lstStyle/>
          <a:p>
            <a:pPr algn="l">
              <a:lnSpc>
                <a:spcPct val="115000"/>
              </a:lnSpc>
              <a:spcAft>
                <a:spcPts val="0"/>
              </a:spcAft>
            </a:pPr>
            <a:r>
              <a:rPr sz="1500" b="1">
                <a:solidFill>
                  <a:srgbClr val="FFFFFF"/>
                </a:solidFill>
                <a:latin typeface="Inter"/>
              </a:rPr>
              <a:t>DiDi</a:t>
            </a:r>
          </a:p>
        </p:txBody>
      </p:sp>
      <p:sp>
        <p:nvSpPr>
          <p:cNvPr id="10" name="TextBox 9"/>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28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Action plan by Business Type</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Delivery is the only line of business in the data. Plans are cut by Business Type.</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29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455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207008"/>
            <a:ext cx="111556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Business Type</a:t>
            </a:r>
          </a:p>
        </p:txBody>
      </p:sp>
      <p:sp>
        <p:nvSpPr>
          <p:cNvPr id="13" name="TextBox 12"/>
          <p:cNvSpPr txBox="1"/>
          <p:nvPr/>
        </p:nvSpPr>
        <p:spPr>
          <a:xfrm>
            <a:off x="1956816" y="1207008"/>
            <a:ext cx="289864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Evidence</a:t>
            </a:r>
          </a:p>
        </p:txBody>
      </p:sp>
      <p:sp>
        <p:nvSpPr>
          <p:cNvPr id="14" name="TextBox 13"/>
          <p:cNvSpPr txBox="1"/>
          <p:nvPr/>
        </p:nvSpPr>
        <p:spPr>
          <a:xfrm>
            <a:off x="5111496" y="1207008"/>
            <a:ext cx="2761487"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What must change</a:t>
            </a:r>
          </a:p>
        </p:txBody>
      </p:sp>
      <p:sp>
        <p:nvSpPr>
          <p:cNvPr id="15" name="TextBox 14"/>
          <p:cNvSpPr txBox="1"/>
          <p:nvPr/>
        </p:nvSpPr>
        <p:spPr>
          <a:xfrm>
            <a:off x="8129016" y="1207008"/>
            <a:ext cx="120700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Who</a:t>
            </a:r>
          </a:p>
        </p:txBody>
      </p:sp>
      <p:sp>
        <p:nvSpPr>
          <p:cNvPr id="16" name="TextBox 15"/>
          <p:cNvSpPr txBox="1"/>
          <p:nvPr/>
        </p:nvSpPr>
        <p:spPr>
          <a:xfrm>
            <a:off x="9592056" y="1207008"/>
            <a:ext cx="594360"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When</a:t>
            </a:r>
          </a:p>
        </p:txBody>
      </p:sp>
      <p:sp>
        <p:nvSpPr>
          <p:cNvPr id="17" name="TextBox 16"/>
          <p:cNvSpPr txBox="1"/>
          <p:nvPr/>
        </p:nvSpPr>
        <p:spPr>
          <a:xfrm>
            <a:off x="10442448" y="1207008"/>
            <a:ext cx="1161288" cy="384048"/>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Problem severity</a:t>
            </a:r>
          </a:p>
        </p:txBody>
      </p:sp>
      <p:sp>
        <p:nvSpPr>
          <p:cNvPr id="18" name="TextBox 17"/>
          <p:cNvSpPr txBox="1"/>
          <p:nvPr/>
        </p:nvSpPr>
        <p:spPr>
          <a:xfrm>
            <a:off x="585216" y="1591056"/>
            <a:ext cx="1115568" cy="78638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Food</a:t>
            </a:r>
          </a:p>
        </p:txBody>
      </p:sp>
      <p:sp>
        <p:nvSpPr>
          <p:cNvPr id="19" name="TextBox 18"/>
          <p:cNvSpPr txBox="1"/>
          <p:nvPr/>
        </p:nvSpPr>
        <p:spPr>
          <a:xfrm>
            <a:off x="1956816" y="1591056"/>
            <a:ext cx="289864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CSAT 80.74% on 46,071 surveys; order status repeats at 19.34%</a:t>
            </a:r>
          </a:p>
        </p:txBody>
      </p:sp>
      <p:sp>
        <p:nvSpPr>
          <p:cNvPr id="20" name="TextBox 19"/>
          <p:cNvSpPr txBox="1"/>
          <p:nvPr/>
        </p:nvSpPr>
        <p:spPr>
          <a:xfrm>
            <a:off x="5111496" y="1591056"/>
            <a:ext cx="2761487"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Add a live courier ETA to the agent console so customers receive a verifiable status.</a:t>
            </a:r>
          </a:p>
        </p:txBody>
      </p:sp>
      <p:sp>
        <p:nvSpPr>
          <p:cNvPr id="21" name="TextBox 20"/>
          <p:cNvSpPr txBox="1"/>
          <p:nvPr/>
        </p:nvSpPr>
        <p:spPr>
          <a:xfrm>
            <a:off x="8129016" y="1591056"/>
            <a:ext cx="120700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CX Ops + Product</a:t>
            </a:r>
          </a:p>
        </p:txBody>
      </p:sp>
      <p:sp>
        <p:nvSpPr>
          <p:cNvPr id="22" name="TextBox 21"/>
          <p:cNvSpPr txBox="1"/>
          <p:nvPr/>
        </p:nvSpPr>
        <p:spPr>
          <a:xfrm>
            <a:off x="9592056" y="1591056"/>
            <a:ext cx="594360"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30 Jun</a:t>
            </a:r>
          </a:p>
        </p:txBody>
      </p:sp>
      <p:sp>
        <p:nvSpPr>
          <p:cNvPr id="23" name="Rounded Rectangle 22"/>
          <p:cNvSpPr/>
          <p:nvPr/>
        </p:nvSpPr>
        <p:spPr>
          <a:xfrm>
            <a:off x="10442448" y="184708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52176" y="193395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16768" y="184708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Critical</a:t>
            </a:r>
          </a:p>
        </p:txBody>
      </p:sp>
      <p:sp>
        <p:nvSpPr>
          <p:cNvPr id="26" name="Rectangle 25"/>
          <p:cNvSpPr/>
          <p:nvPr/>
        </p:nvSpPr>
        <p:spPr>
          <a:xfrm>
            <a:off x="457200" y="237267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2377440"/>
            <a:ext cx="11274552" cy="78638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5216" y="2377440"/>
            <a:ext cx="1115568" cy="78638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Full Service</a:t>
            </a:r>
          </a:p>
        </p:txBody>
      </p:sp>
      <p:sp>
        <p:nvSpPr>
          <p:cNvPr id="29" name="TextBox 28"/>
          <p:cNvSpPr txBox="1"/>
          <p:nvPr/>
        </p:nvSpPr>
        <p:spPr>
          <a:xfrm>
            <a:off x="1956816" y="2377440"/>
            <a:ext cx="289864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CSAT 79.67%, the lowest of the volume lines; undelivered orders audit at 68.2 on 49 audits</a:t>
            </a:r>
          </a:p>
        </p:txBody>
      </p:sp>
      <p:sp>
        <p:nvSpPr>
          <p:cNvPr id="30" name="TextBox 29"/>
          <p:cNvSpPr txBox="1"/>
          <p:nvPr/>
        </p:nvSpPr>
        <p:spPr>
          <a:xfrm>
            <a:off x="5111496" y="2377440"/>
            <a:ext cx="2761487"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Give Phone agents limited same-call refund authority for eligible undelivered orders</a:t>
            </a:r>
          </a:p>
        </p:txBody>
      </p:sp>
      <p:sp>
        <p:nvSpPr>
          <p:cNvPr id="31" name="TextBox 30"/>
          <p:cNvSpPr txBox="1"/>
          <p:nvPr/>
        </p:nvSpPr>
        <p:spPr>
          <a:xfrm>
            <a:off x="8129016" y="2377440"/>
            <a:ext cx="120700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CX Ops + Finance</a:t>
            </a:r>
          </a:p>
        </p:txBody>
      </p:sp>
      <p:sp>
        <p:nvSpPr>
          <p:cNvPr id="32" name="TextBox 31"/>
          <p:cNvSpPr txBox="1"/>
          <p:nvPr/>
        </p:nvSpPr>
        <p:spPr>
          <a:xfrm>
            <a:off x="9592056" y="2377440"/>
            <a:ext cx="594360"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15 Jul</a:t>
            </a:r>
          </a:p>
        </p:txBody>
      </p:sp>
      <p:sp>
        <p:nvSpPr>
          <p:cNvPr id="33" name="Rounded Rectangle 32"/>
          <p:cNvSpPr/>
          <p:nvPr/>
        </p:nvSpPr>
        <p:spPr>
          <a:xfrm>
            <a:off x="10442448" y="263347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52176" y="2720340"/>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16768" y="2633472"/>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Critical</a:t>
            </a:r>
          </a:p>
        </p:txBody>
      </p:sp>
      <p:sp>
        <p:nvSpPr>
          <p:cNvPr id="36" name="Rectangle 35"/>
          <p:cNvSpPr/>
          <p:nvPr/>
        </p:nvSpPr>
        <p:spPr>
          <a:xfrm>
            <a:off x="457200" y="315906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 y="3163824"/>
            <a:ext cx="1115568" cy="78638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Market Place</a:t>
            </a:r>
          </a:p>
        </p:txBody>
      </p:sp>
      <p:sp>
        <p:nvSpPr>
          <p:cNvPr id="38" name="TextBox 37"/>
          <p:cNvSpPr txBox="1"/>
          <p:nvPr/>
        </p:nvSpPr>
        <p:spPr>
          <a:xfrm>
            <a:off x="1956816" y="3163824"/>
            <a:ext cx="289864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CSAT 80.34% on 3,489 surveys; worst Phone QA reason (47.5) but on only 4 audits</a:t>
            </a:r>
          </a:p>
        </p:txBody>
      </p:sp>
      <p:sp>
        <p:nvSpPr>
          <p:cNvPr id="39" name="TextBox 38"/>
          <p:cNvSpPr txBox="1"/>
          <p:nvPr/>
        </p:nvSpPr>
        <p:spPr>
          <a:xfrm>
            <a:off x="5111496" y="3163824"/>
            <a:ext cx="2761487"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Define a clear merchant-escalation SLA and script for “completed but not received.” Low confidence: run 20+ audits on this reason before committing merchant-side resources</a:t>
            </a:r>
          </a:p>
        </p:txBody>
      </p:sp>
      <p:sp>
        <p:nvSpPr>
          <p:cNvPr id="40" name="TextBox 39"/>
          <p:cNvSpPr txBox="1"/>
          <p:nvPr/>
        </p:nvSpPr>
        <p:spPr>
          <a:xfrm>
            <a:off x="8129016" y="3163824"/>
            <a:ext cx="120700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Merchant Ops</a:t>
            </a:r>
          </a:p>
        </p:txBody>
      </p:sp>
      <p:sp>
        <p:nvSpPr>
          <p:cNvPr id="41" name="TextBox 40"/>
          <p:cNvSpPr txBox="1"/>
          <p:nvPr/>
        </p:nvSpPr>
        <p:spPr>
          <a:xfrm>
            <a:off x="9592056" y="3163824"/>
            <a:ext cx="594360"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15 Jul</a:t>
            </a:r>
          </a:p>
        </p:txBody>
      </p:sp>
      <p:sp>
        <p:nvSpPr>
          <p:cNvPr id="42" name="Rounded Rectangle 41"/>
          <p:cNvSpPr/>
          <p:nvPr/>
        </p:nvSpPr>
        <p:spPr>
          <a:xfrm>
            <a:off x="10442448" y="3419856"/>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552176" y="350672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716768" y="3419856"/>
            <a:ext cx="319125"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High</a:t>
            </a:r>
          </a:p>
        </p:txBody>
      </p:sp>
      <p:sp>
        <p:nvSpPr>
          <p:cNvPr id="45" name="Rectangle 44"/>
          <p:cNvSpPr/>
          <p:nvPr/>
        </p:nvSpPr>
        <p:spPr>
          <a:xfrm>
            <a:off x="457200" y="394544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3950208"/>
            <a:ext cx="11274552" cy="78638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5216" y="3950208"/>
            <a:ext cx="1115568" cy="78638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All Business Types</a:t>
            </a:r>
          </a:p>
        </p:txBody>
      </p:sp>
      <p:sp>
        <p:nvSpPr>
          <p:cNvPr id="48" name="TextBox 47"/>
          <p:cNvSpPr txBox="1"/>
          <p:nvPr/>
        </p:nvSpPr>
        <p:spPr>
          <a:xfrm>
            <a:off x="1956816" y="3950208"/>
            <a:ext cx="289864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Refund or compensation not received is 18.8% of negative verbatims</a:t>
            </a:r>
          </a:p>
        </p:txBody>
      </p:sp>
      <p:sp>
        <p:nvSpPr>
          <p:cNvPr id="49" name="TextBox 48"/>
          <p:cNvSpPr txBox="1"/>
          <p:nvPr/>
        </p:nvSpPr>
        <p:spPr>
          <a:xfrm>
            <a:off x="5111496" y="3950208"/>
            <a:ext cx="2761487"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Send an automatic notification whenever refund status changes</a:t>
            </a:r>
          </a:p>
        </p:txBody>
      </p:sp>
      <p:sp>
        <p:nvSpPr>
          <p:cNvPr id="50" name="TextBox 49"/>
          <p:cNvSpPr txBox="1"/>
          <p:nvPr/>
        </p:nvSpPr>
        <p:spPr>
          <a:xfrm>
            <a:off x="8129016" y="3950208"/>
            <a:ext cx="120700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Product + CX Ops</a:t>
            </a:r>
          </a:p>
        </p:txBody>
      </p:sp>
      <p:sp>
        <p:nvSpPr>
          <p:cNvPr id="51" name="TextBox 50"/>
          <p:cNvSpPr txBox="1"/>
          <p:nvPr/>
        </p:nvSpPr>
        <p:spPr>
          <a:xfrm>
            <a:off x="9592056" y="3950208"/>
            <a:ext cx="594360"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31 Jul</a:t>
            </a:r>
          </a:p>
        </p:txBody>
      </p:sp>
      <p:sp>
        <p:nvSpPr>
          <p:cNvPr id="52" name="Rounded Rectangle 51"/>
          <p:cNvSpPr/>
          <p:nvPr/>
        </p:nvSpPr>
        <p:spPr>
          <a:xfrm>
            <a:off x="10442448" y="4206240"/>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552176" y="4293108"/>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716768" y="4206240"/>
            <a:ext cx="319125"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High</a:t>
            </a:r>
          </a:p>
        </p:txBody>
      </p:sp>
      <p:sp>
        <p:nvSpPr>
          <p:cNvPr id="55" name="Rectangle 54"/>
          <p:cNvSpPr/>
          <p:nvPr/>
        </p:nvSpPr>
        <p:spPr>
          <a:xfrm>
            <a:off x="457200" y="473182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85216" y="4736592"/>
            <a:ext cx="1115568" cy="786384"/>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Data quality</a:t>
            </a:r>
          </a:p>
        </p:txBody>
      </p:sp>
      <p:sp>
        <p:nvSpPr>
          <p:cNvPr id="57" name="TextBox 56"/>
          <p:cNvSpPr txBox="1"/>
          <p:nvPr/>
        </p:nvSpPr>
        <p:spPr>
          <a:xfrm>
            <a:off x="1956816" y="4736592"/>
            <a:ext cx="289864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'Other' Business Type holds 558 surveys at 26.5% CSAT</a:t>
            </a:r>
          </a:p>
        </p:txBody>
      </p:sp>
      <p:sp>
        <p:nvSpPr>
          <p:cNvPr id="58" name="TextBox 57"/>
          <p:cNvSpPr txBox="1"/>
          <p:nvPr/>
        </p:nvSpPr>
        <p:spPr>
          <a:xfrm>
            <a:off x="5111496" y="4736592"/>
            <a:ext cx="2761487"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Fix the CR-to-Business-Type mapping so detractors are correctly classified</a:t>
            </a:r>
          </a:p>
        </p:txBody>
      </p:sp>
      <p:sp>
        <p:nvSpPr>
          <p:cNvPr id="59" name="TextBox 58"/>
          <p:cNvSpPr txBox="1"/>
          <p:nvPr/>
        </p:nvSpPr>
        <p:spPr>
          <a:xfrm>
            <a:off x="8129016" y="4736592"/>
            <a:ext cx="1207008"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CX Analytics</a:t>
            </a:r>
          </a:p>
        </p:txBody>
      </p:sp>
      <p:sp>
        <p:nvSpPr>
          <p:cNvPr id="60" name="TextBox 59"/>
          <p:cNvSpPr txBox="1"/>
          <p:nvPr/>
        </p:nvSpPr>
        <p:spPr>
          <a:xfrm>
            <a:off x="9592056" y="4736592"/>
            <a:ext cx="594360" cy="786384"/>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20 Jun</a:t>
            </a:r>
          </a:p>
        </p:txBody>
      </p:sp>
      <p:sp>
        <p:nvSpPr>
          <p:cNvPr id="61" name="Rounded Rectangle 60"/>
          <p:cNvSpPr/>
          <p:nvPr/>
        </p:nvSpPr>
        <p:spPr>
          <a:xfrm>
            <a:off x="10442448" y="4992624"/>
            <a:ext cx="857707"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552176" y="5079492"/>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716768" y="4992624"/>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16A34A"/>
                </a:solidFill>
                <a:latin typeface="Inter"/>
              </a:rPr>
              <a:t>Moderate</a:t>
            </a:r>
          </a:p>
        </p:txBody>
      </p:sp>
      <p:sp>
        <p:nvSpPr>
          <p:cNvPr id="64" name="Rectangle 63"/>
          <p:cNvSpPr/>
          <p:nvPr/>
        </p:nvSpPr>
        <p:spPr>
          <a:xfrm>
            <a:off x="457200" y="5518213"/>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5760720"/>
            <a:ext cx="11277295" cy="219456"/>
          </a:xfrm>
          <a:prstGeom prst="rect">
            <a:avLst/>
          </a:prstGeom>
          <a:noFill/>
        </p:spPr>
        <p:txBody>
          <a:bodyPr wrap="square" lIns="0" rIns="0" tIns="0" bIns="0" anchor="t">
            <a:spAutoFit/>
          </a:bodyPr>
          <a:lstStyle/>
          <a:p>
            <a:pPr algn="l">
              <a:lnSpc>
                <a:spcPct val="115000"/>
              </a:lnSpc>
              <a:spcAft>
                <a:spcPts val="0"/>
              </a:spcAft>
            </a:pPr>
            <a:r>
              <a:rPr sz="900" b="0">
                <a:solidFill>
                  <a:srgbClr val="6B7280"/>
                </a:solidFill>
                <a:latin typeface="Inter"/>
              </a:rPr>
              <a:t>Severity rates how large the gap is. None of these actions has started yet.</a:t>
            </a:r>
          </a:p>
        </p:txBody>
      </p:sp>
      <p:sp>
        <p:nvSpPr>
          <p:cNvPr id="66" name="TextBox 65"/>
          <p:cNvSpPr txBox="1"/>
          <p:nvPr/>
        </p:nvSpPr>
        <p:spPr>
          <a:xfrm>
            <a:off x="457200" y="6016752"/>
            <a:ext cx="11277295" cy="219456"/>
          </a:xfrm>
          <a:prstGeom prst="rect">
            <a:avLst/>
          </a:prstGeom>
          <a:noFill/>
        </p:spPr>
        <p:txBody>
          <a:bodyPr wrap="square" lIns="0" rIns="0" tIns="0" bIns="0" anchor="t">
            <a:spAutoFit/>
          </a:bodyPr>
          <a:lstStyle/>
          <a:p>
            <a:pPr algn="l">
              <a:lnSpc>
                <a:spcPct val="115000"/>
              </a:lnSpc>
              <a:spcAft>
                <a:spcPts val="0"/>
              </a:spcAft>
            </a:pPr>
            <a:r>
              <a:rPr sz="900" b="1">
                <a:solidFill>
                  <a:srgbClr val="1A1A1A"/>
                </a:solidFill>
                <a:latin typeface="Inter"/>
              </a:rPr>
              <a:t>Market Place. </a:t>
            </a:r>
            <a:r>
              <a:rPr sz="900" b="0">
                <a:solidFill>
                  <a:srgbClr val="4B5563"/>
                </a:solidFill>
                <a:latin typeface="Inter"/>
              </a:rPr>
              <a:t>That case rests on a contact reason with only 4 audits, the same low-volume reason flagged as unreliable in the Phone QA section. Validate with more audits before committing resources.</a:t>
            </a:r>
          </a:p>
        </p:txBody>
      </p:sp>
      <p:sp>
        <p:nvSpPr>
          <p:cNvPr id="67" name="TextBox 66"/>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Owners are role-level; names to be confirmed with CX Leadership at the weekly review.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Action plan by channel, people and governance</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Owner, deadline and the severity of the problem behind each action</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30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4552"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207008"/>
            <a:ext cx="932688" cy="36576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Scope</a:t>
            </a:r>
          </a:p>
        </p:txBody>
      </p:sp>
      <p:sp>
        <p:nvSpPr>
          <p:cNvPr id="13" name="TextBox 12"/>
          <p:cNvSpPr txBox="1"/>
          <p:nvPr/>
        </p:nvSpPr>
        <p:spPr>
          <a:xfrm>
            <a:off x="1773936" y="1207008"/>
            <a:ext cx="3310128" cy="36576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What must change</a:t>
            </a:r>
          </a:p>
        </p:txBody>
      </p:sp>
      <p:sp>
        <p:nvSpPr>
          <p:cNvPr id="14" name="TextBox 13"/>
          <p:cNvSpPr txBox="1"/>
          <p:nvPr/>
        </p:nvSpPr>
        <p:spPr>
          <a:xfrm>
            <a:off x="5340096" y="1207008"/>
            <a:ext cx="2670048" cy="36576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Why now</a:t>
            </a:r>
          </a:p>
        </p:txBody>
      </p:sp>
      <p:sp>
        <p:nvSpPr>
          <p:cNvPr id="15" name="TextBox 14"/>
          <p:cNvSpPr txBox="1"/>
          <p:nvPr/>
        </p:nvSpPr>
        <p:spPr>
          <a:xfrm>
            <a:off x="8266176" y="1207008"/>
            <a:ext cx="1115568" cy="36576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Who</a:t>
            </a:r>
          </a:p>
        </p:txBody>
      </p:sp>
      <p:sp>
        <p:nvSpPr>
          <p:cNvPr id="16" name="TextBox 15"/>
          <p:cNvSpPr txBox="1"/>
          <p:nvPr/>
        </p:nvSpPr>
        <p:spPr>
          <a:xfrm>
            <a:off x="9637776" y="1207008"/>
            <a:ext cx="548640" cy="36576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When</a:t>
            </a:r>
          </a:p>
        </p:txBody>
      </p:sp>
      <p:sp>
        <p:nvSpPr>
          <p:cNvPr id="17" name="TextBox 16"/>
          <p:cNvSpPr txBox="1"/>
          <p:nvPr/>
        </p:nvSpPr>
        <p:spPr>
          <a:xfrm>
            <a:off x="10442448" y="1207008"/>
            <a:ext cx="1161288" cy="365760"/>
          </a:xfrm>
          <a:prstGeom prst="rect">
            <a:avLst/>
          </a:prstGeom>
          <a:noFill/>
        </p:spPr>
        <p:txBody>
          <a:bodyPr wrap="square" lIns="0" rIns="0" tIns="0" bIns="0" anchor="ctr">
            <a:spAutoFit/>
          </a:bodyPr>
          <a:lstStyle/>
          <a:p>
            <a:pPr algn="l">
              <a:lnSpc>
                <a:spcPct val="115000"/>
              </a:lnSpc>
              <a:spcAft>
                <a:spcPts val="0"/>
              </a:spcAft>
            </a:pPr>
            <a:r>
              <a:rPr sz="850" b="1">
                <a:solidFill>
                  <a:srgbClr val="FFFFFF"/>
                </a:solidFill>
                <a:latin typeface="Inter"/>
              </a:rPr>
              <a:t>Problem severity</a:t>
            </a:r>
          </a:p>
        </p:txBody>
      </p:sp>
      <p:sp>
        <p:nvSpPr>
          <p:cNvPr id="18" name="TextBox 17"/>
          <p:cNvSpPr txBox="1"/>
          <p:nvPr/>
        </p:nvSpPr>
        <p:spPr>
          <a:xfrm>
            <a:off x="585216" y="1572768"/>
            <a:ext cx="93268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Phone</a:t>
            </a:r>
          </a:p>
        </p:txBody>
      </p:sp>
      <p:sp>
        <p:nvSpPr>
          <p:cNvPr id="19" name="TextBox 18"/>
          <p:cNvSpPr txBox="1"/>
          <p:nvPr/>
        </p:nvSpPr>
        <p:spPr>
          <a:xfrm>
            <a:off x="1773936" y="1572768"/>
            <a:ext cx="33101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Increase Phone QA coverage to at least 30%</a:t>
            </a:r>
          </a:p>
        </p:txBody>
      </p:sp>
      <p:sp>
        <p:nvSpPr>
          <p:cNvPr id="20" name="TextBox 19"/>
          <p:cNvSpPr txBox="1"/>
          <p:nvPr/>
        </p:nvSpPr>
        <p:spPr>
          <a:xfrm>
            <a:off x="5340096" y="1572768"/>
            <a:ext cx="267004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Phone is 14.4% of audits and the only channel below goal</a:t>
            </a:r>
          </a:p>
        </p:txBody>
      </p:sp>
      <p:sp>
        <p:nvSpPr>
          <p:cNvPr id="21" name="TextBox 20"/>
          <p:cNvSpPr txBox="1"/>
          <p:nvPr/>
        </p:nvSpPr>
        <p:spPr>
          <a:xfrm>
            <a:off x="8266176" y="1572768"/>
            <a:ext cx="111556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QA Lead</a:t>
            </a:r>
          </a:p>
        </p:txBody>
      </p:sp>
      <p:sp>
        <p:nvSpPr>
          <p:cNvPr id="22" name="TextBox 21"/>
          <p:cNvSpPr txBox="1"/>
          <p:nvPr/>
        </p:nvSpPr>
        <p:spPr>
          <a:xfrm>
            <a:off x="9637776" y="1572768"/>
            <a:ext cx="548640"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13 Jun</a:t>
            </a:r>
          </a:p>
        </p:txBody>
      </p:sp>
      <p:sp>
        <p:nvSpPr>
          <p:cNvPr id="23" name="Rounded Rectangle 22"/>
          <p:cNvSpPr/>
          <p:nvPr/>
        </p:nvSpPr>
        <p:spPr>
          <a:xfrm>
            <a:off x="10442448" y="16642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52176" y="17510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16768" y="166420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Critical</a:t>
            </a:r>
          </a:p>
        </p:txBody>
      </p:sp>
      <p:sp>
        <p:nvSpPr>
          <p:cNvPr id="26" name="Rectangle 25"/>
          <p:cNvSpPr/>
          <p:nvPr/>
        </p:nvSpPr>
        <p:spPr>
          <a:xfrm>
            <a:off x="457200" y="20252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20299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5216" y="2029968"/>
            <a:ext cx="93268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Phone</a:t>
            </a:r>
          </a:p>
        </p:txBody>
      </p:sp>
      <p:sp>
        <p:nvSpPr>
          <p:cNvPr id="29" name="TextBox 28"/>
          <p:cNvSpPr txBox="1"/>
          <p:nvPr/>
        </p:nvSpPr>
        <p:spPr>
          <a:xfrm>
            <a:off x="1773936" y="2029968"/>
            <a:ext cx="33101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Coach Time Management using a system-check script for money disputes</a:t>
            </a:r>
          </a:p>
        </p:txBody>
      </p:sp>
      <p:sp>
        <p:nvSpPr>
          <p:cNvPr id="30" name="TextBox 29"/>
          <p:cNvSpPr txBox="1"/>
          <p:nvPr/>
        </p:nvSpPr>
        <p:spPr>
          <a:xfrm>
            <a:off x="5340096" y="2029968"/>
            <a:ext cx="267004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64.3% of Phone defects, 133 fails</a:t>
            </a:r>
          </a:p>
        </p:txBody>
      </p:sp>
      <p:sp>
        <p:nvSpPr>
          <p:cNvPr id="31" name="TextBox 30"/>
          <p:cNvSpPr txBox="1"/>
          <p:nvPr/>
        </p:nvSpPr>
        <p:spPr>
          <a:xfrm>
            <a:off x="8266176" y="2029968"/>
            <a:ext cx="111556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Supervisors</a:t>
            </a:r>
          </a:p>
        </p:txBody>
      </p:sp>
      <p:sp>
        <p:nvSpPr>
          <p:cNvPr id="32" name="TextBox 31"/>
          <p:cNvSpPr txBox="1"/>
          <p:nvPr/>
        </p:nvSpPr>
        <p:spPr>
          <a:xfrm>
            <a:off x="9637776" y="2029968"/>
            <a:ext cx="548640"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27 Jun</a:t>
            </a:r>
          </a:p>
        </p:txBody>
      </p:sp>
      <p:sp>
        <p:nvSpPr>
          <p:cNvPr id="33" name="Rounded Rectangle 32"/>
          <p:cNvSpPr/>
          <p:nvPr/>
        </p:nvSpPr>
        <p:spPr>
          <a:xfrm>
            <a:off x="10442448" y="2121408"/>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52176" y="220827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16768" y="2121408"/>
            <a:ext cx="319125"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High</a:t>
            </a:r>
          </a:p>
        </p:txBody>
      </p:sp>
      <p:sp>
        <p:nvSpPr>
          <p:cNvPr id="36" name="Rectangle 35"/>
          <p:cNvSpPr/>
          <p:nvPr/>
        </p:nvSpPr>
        <p:spPr>
          <a:xfrm>
            <a:off x="457200" y="24824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 y="2487168"/>
            <a:ext cx="93268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People</a:t>
            </a:r>
          </a:p>
        </p:txBody>
      </p:sp>
      <p:sp>
        <p:nvSpPr>
          <p:cNvPr id="38" name="TextBox 37"/>
          <p:cNvSpPr txBox="1"/>
          <p:nvPr/>
        </p:nvSpPr>
        <p:spPr>
          <a:xfrm>
            <a:off x="1773936" y="2487168"/>
            <a:ext cx="33101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Run weekly coaching for the 42 QA-Q4 agents, starting with the five teams with the highest concentration</a:t>
            </a:r>
          </a:p>
        </p:txBody>
      </p:sp>
      <p:sp>
        <p:nvSpPr>
          <p:cNvPr id="39" name="TextBox 38"/>
          <p:cNvSpPr txBox="1"/>
          <p:nvPr/>
        </p:nvSpPr>
        <p:spPr>
          <a:xfrm>
            <a:off x="5340096" y="2487168"/>
            <a:ext cx="267004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26 agents below the QA goal; Supervisor 13 alone carries three</a:t>
            </a:r>
          </a:p>
        </p:txBody>
      </p:sp>
      <p:sp>
        <p:nvSpPr>
          <p:cNvPr id="40" name="TextBox 39"/>
          <p:cNvSpPr txBox="1"/>
          <p:nvPr/>
        </p:nvSpPr>
        <p:spPr>
          <a:xfrm>
            <a:off x="8266176" y="2487168"/>
            <a:ext cx="111556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Supervisors + QA Lead</a:t>
            </a:r>
          </a:p>
        </p:txBody>
      </p:sp>
      <p:sp>
        <p:nvSpPr>
          <p:cNvPr id="41" name="TextBox 40"/>
          <p:cNvSpPr txBox="1"/>
          <p:nvPr/>
        </p:nvSpPr>
        <p:spPr>
          <a:xfrm>
            <a:off x="9637776" y="2487168"/>
            <a:ext cx="548640"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20 Jun</a:t>
            </a:r>
          </a:p>
        </p:txBody>
      </p:sp>
      <p:sp>
        <p:nvSpPr>
          <p:cNvPr id="42" name="Rounded Rectangle 41"/>
          <p:cNvSpPr/>
          <p:nvPr/>
        </p:nvSpPr>
        <p:spPr>
          <a:xfrm>
            <a:off x="10442448" y="2578608"/>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552176" y="266547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716768" y="2578608"/>
            <a:ext cx="319125" cy="274320"/>
          </a:xfrm>
          <a:prstGeom prst="rect">
            <a:avLst/>
          </a:prstGeom>
          <a:noFill/>
        </p:spPr>
        <p:txBody>
          <a:bodyPr wrap="square" lIns="0" rIns="0" tIns="0" bIns="0" anchor="ctr">
            <a:spAutoFit/>
          </a:bodyPr>
          <a:lstStyle/>
          <a:p>
            <a:pPr algn="l">
              <a:lnSpc>
                <a:spcPct val="115000"/>
              </a:lnSpc>
              <a:spcAft>
                <a:spcPts val="0"/>
              </a:spcAft>
            </a:pPr>
            <a:r>
              <a:rPr sz="750" b="1">
                <a:solidFill>
                  <a:srgbClr val="F59E0B"/>
                </a:solidFill>
                <a:latin typeface="Inter"/>
              </a:rPr>
              <a:t>High</a:t>
            </a:r>
          </a:p>
        </p:txBody>
      </p:sp>
      <p:sp>
        <p:nvSpPr>
          <p:cNvPr id="45" name="Rectangle 44"/>
          <p:cNvSpPr/>
          <p:nvPr/>
        </p:nvSpPr>
        <p:spPr>
          <a:xfrm>
            <a:off x="457200" y="29396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29443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5216" y="2944368"/>
            <a:ext cx="93268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Live Chat</a:t>
            </a:r>
          </a:p>
        </p:txBody>
      </p:sp>
      <p:sp>
        <p:nvSpPr>
          <p:cNvPr id="48" name="TextBox 47"/>
          <p:cNvSpPr txBox="1"/>
          <p:nvPr/>
        </p:nvSpPr>
        <p:spPr>
          <a:xfrm>
            <a:off x="1773936" y="2944368"/>
            <a:ext cx="33101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Add a Chat critical attribute for correct information, aligned with Phone</a:t>
            </a:r>
          </a:p>
        </p:txBody>
      </p:sp>
      <p:sp>
        <p:nvSpPr>
          <p:cNvPr id="49" name="TextBox 48"/>
          <p:cNvSpPr txBox="1"/>
          <p:nvPr/>
        </p:nvSpPr>
        <p:spPr>
          <a:xfrm>
            <a:off x="5340096" y="2944368"/>
            <a:ext cx="267004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372 chats did not follow process; 297 still score 100. Current Chat QA: 96.01. Adjusted QA under proposed scoring: 80.14</a:t>
            </a:r>
          </a:p>
        </p:txBody>
      </p:sp>
      <p:sp>
        <p:nvSpPr>
          <p:cNvPr id="50" name="TextBox 49"/>
          <p:cNvSpPr txBox="1"/>
          <p:nvPr/>
        </p:nvSpPr>
        <p:spPr>
          <a:xfrm>
            <a:off x="8266176" y="2944368"/>
            <a:ext cx="111556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QA Lead</a:t>
            </a:r>
          </a:p>
        </p:txBody>
      </p:sp>
      <p:sp>
        <p:nvSpPr>
          <p:cNvPr id="51" name="TextBox 50"/>
          <p:cNvSpPr txBox="1"/>
          <p:nvPr/>
        </p:nvSpPr>
        <p:spPr>
          <a:xfrm>
            <a:off x="9637776" y="2944368"/>
            <a:ext cx="548640"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30 Jun</a:t>
            </a:r>
          </a:p>
        </p:txBody>
      </p:sp>
      <p:sp>
        <p:nvSpPr>
          <p:cNvPr id="52" name="Rounded Rectangle 51"/>
          <p:cNvSpPr/>
          <p:nvPr/>
        </p:nvSpPr>
        <p:spPr>
          <a:xfrm>
            <a:off x="10442448" y="30358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552176" y="31226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716768" y="303580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Critical</a:t>
            </a:r>
          </a:p>
        </p:txBody>
      </p:sp>
      <p:sp>
        <p:nvSpPr>
          <p:cNvPr id="55" name="Rectangle 54"/>
          <p:cNvSpPr/>
          <p:nvPr/>
        </p:nvSpPr>
        <p:spPr>
          <a:xfrm>
            <a:off x="457200" y="33968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85216" y="3401568"/>
            <a:ext cx="93268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Live Chat</a:t>
            </a:r>
          </a:p>
        </p:txBody>
      </p:sp>
      <p:sp>
        <p:nvSpPr>
          <p:cNvPr id="57" name="TextBox 56"/>
          <p:cNvSpPr txBox="1"/>
          <p:nvPr/>
        </p:nvSpPr>
        <p:spPr>
          <a:xfrm>
            <a:off x="1773936" y="3401568"/>
            <a:ext cx="33101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Do not add Chat headcount. The 15.99% sits on contact reasons that cannot close, mainly order status and refunds.</a:t>
            </a:r>
          </a:p>
        </p:txBody>
      </p:sp>
      <p:sp>
        <p:nvSpPr>
          <p:cNvPr id="58" name="TextBox 57"/>
          <p:cNvSpPr txBox="1"/>
          <p:nvPr/>
        </p:nvSpPr>
        <p:spPr>
          <a:xfrm>
            <a:off x="5340096" y="3401568"/>
            <a:ext cx="267004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Live Chat generates 67.2% of every repeat contact in the business</a:t>
            </a:r>
          </a:p>
        </p:txBody>
      </p:sp>
      <p:sp>
        <p:nvSpPr>
          <p:cNvPr id="59" name="TextBox 58"/>
          <p:cNvSpPr txBox="1"/>
          <p:nvPr/>
        </p:nvSpPr>
        <p:spPr>
          <a:xfrm>
            <a:off x="8266176" y="3401568"/>
            <a:ext cx="111556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CX Ops</a:t>
            </a:r>
          </a:p>
        </p:txBody>
      </p:sp>
      <p:sp>
        <p:nvSpPr>
          <p:cNvPr id="60" name="TextBox 59"/>
          <p:cNvSpPr txBox="1"/>
          <p:nvPr/>
        </p:nvSpPr>
        <p:spPr>
          <a:xfrm>
            <a:off x="9637776" y="3401568"/>
            <a:ext cx="548640"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15 Jul</a:t>
            </a:r>
          </a:p>
        </p:txBody>
      </p:sp>
      <p:sp>
        <p:nvSpPr>
          <p:cNvPr id="61" name="Rounded Rectangle 60"/>
          <p:cNvSpPr/>
          <p:nvPr/>
        </p:nvSpPr>
        <p:spPr>
          <a:xfrm>
            <a:off x="10442448" y="34930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552176" y="35798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716768" y="349300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Critical</a:t>
            </a:r>
          </a:p>
        </p:txBody>
      </p:sp>
      <p:sp>
        <p:nvSpPr>
          <p:cNvPr id="64" name="Rectangle 63"/>
          <p:cNvSpPr/>
          <p:nvPr/>
        </p:nvSpPr>
        <p:spPr>
          <a:xfrm>
            <a:off x="457200" y="38540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57200" y="38587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5216" y="3858768"/>
            <a:ext cx="93268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QA governance</a:t>
            </a:r>
          </a:p>
        </p:txBody>
      </p:sp>
      <p:sp>
        <p:nvSpPr>
          <p:cNvPr id="67" name="TextBox 66"/>
          <p:cNvSpPr txBox="1"/>
          <p:nvPr/>
        </p:nvSpPr>
        <p:spPr>
          <a:xfrm>
            <a:off x="1773936" y="3858768"/>
            <a:ext cx="33101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Report closure rate weekly and assign an owner to every unclosed case</a:t>
            </a:r>
          </a:p>
        </p:txBody>
      </p:sp>
      <p:sp>
        <p:nvSpPr>
          <p:cNvPr id="68" name="TextBox 67"/>
          <p:cNvSpPr txBox="1"/>
          <p:nvPr/>
        </p:nvSpPr>
        <p:spPr>
          <a:xfrm>
            <a:off x="5340096" y="3858768"/>
            <a:ext cx="267004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The field is already on the form. Followed process, did not solve, still averages 96.87 on QA</a:t>
            </a:r>
          </a:p>
        </p:txBody>
      </p:sp>
      <p:sp>
        <p:nvSpPr>
          <p:cNvPr id="69" name="TextBox 68"/>
          <p:cNvSpPr txBox="1"/>
          <p:nvPr/>
        </p:nvSpPr>
        <p:spPr>
          <a:xfrm>
            <a:off x="8266176" y="3858768"/>
            <a:ext cx="111556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QA Lead + CX Head</a:t>
            </a:r>
          </a:p>
        </p:txBody>
      </p:sp>
      <p:sp>
        <p:nvSpPr>
          <p:cNvPr id="70" name="TextBox 69"/>
          <p:cNvSpPr txBox="1"/>
          <p:nvPr/>
        </p:nvSpPr>
        <p:spPr>
          <a:xfrm>
            <a:off x="9637776" y="3858768"/>
            <a:ext cx="548640"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31 Jul</a:t>
            </a:r>
          </a:p>
        </p:txBody>
      </p:sp>
      <p:sp>
        <p:nvSpPr>
          <p:cNvPr id="71" name="Rounded Rectangle 70"/>
          <p:cNvSpPr/>
          <p:nvPr/>
        </p:nvSpPr>
        <p:spPr>
          <a:xfrm>
            <a:off x="10442448" y="39502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0552176" y="40370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716768" y="395020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E11D2E"/>
                </a:solidFill>
                <a:latin typeface="Inter"/>
              </a:rPr>
              <a:t>Critical</a:t>
            </a:r>
          </a:p>
        </p:txBody>
      </p:sp>
      <p:sp>
        <p:nvSpPr>
          <p:cNvPr id="74" name="Rectangle 73"/>
          <p:cNvSpPr/>
          <p:nvPr/>
        </p:nvSpPr>
        <p:spPr>
          <a:xfrm>
            <a:off x="457200" y="43112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85216" y="4315968"/>
            <a:ext cx="932688" cy="457200"/>
          </a:xfrm>
          <a:prstGeom prst="rect">
            <a:avLst/>
          </a:prstGeom>
          <a:noFill/>
        </p:spPr>
        <p:txBody>
          <a:bodyPr wrap="square" lIns="0" rIns="0" tIns="0" bIns="0" anchor="ctr">
            <a:spAutoFit/>
          </a:bodyPr>
          <a:lstStyle/>
          <a:p>
            <a:pPr algn="l">
              <a:lnSpc>
                <a:spcPct val="115000"/>
              </a:lnSpc>
              <a:spcAft>
                <a:spcPts val="0"/>
              </a:spcAft>
            </a:pPr>
            <a:r>
              <a:rPr sz="800" b="1">
                <a:solidFill>
                  <a:srgbClr val="1A1A1A"/>
                </a:solidFill>
                <a:latin typeface="Inter"/>
              </a:rPr>
              <a:t>QA governance</a:t>
            </a:r>
          </a:p>
        </p:txBody>
      </p:sp>
      <p:sp>
        <p:nvSpPr>
          <p:cNvPr id="76" name="TextBox 75"/>
          <p:cNvSpPr txBox="1"/>
          <p:nvPr/>
        </p:nvSpPr>
        <p:spPr>
          <a:xfrm>
            <a:off x="1773936" y="4315968"/>
            <a:ext cx="331012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Report QA and recontact weekly by channel, including Phone+Chat vs the official global rate</a:t>
            </a:r>
          </a:p>
        </p:txBody>
      </p:sp>
      <p:sp>
        <p:nvSpPr>
          <p:cNvPr id="77" name="TextBox 76"/>
          <p:cNvSpPr txBox="1"/>
          <p:nvPr/>
        </p:nvSpPr>
        <p:spPr>
          <a:xfrm>
            <a:off x="5340096" y="4315968"/>
            <a:ext cx="267004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Blended figures hid a 13-point channel gap and a 10-point recontact gap</a:t>
            </a:r>
          </a:p>
        </p:txBody>
      </p:sp>
      <p:sp>
        <p:nvSpPr>
          <p:cNvPr id="78" name="TextBox 77"/>
          <p:cNvSpPr txBox="1"/>
          <p:nvPr/>
        </p:nvSpPr>
        <p:spPr>
          <a:xfrm>
            <a:off x="8266176" y="4315968"/>
            <a:ext cx="1115568"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CX Analytics</a:t>
            </a:r>
          </a:p>
        </p:txBody>
      </p:sp>
      <p:sp>
        <p:nvSpPr>
          <p:cNvPr id="79" name="TextBox 78"/>
          <p:cNvSpPr txBox="1"/>
          <p:nvPr/>
        </p:nvSpPr>
        <p:spPr>
          <a:xfrm>
            <a:off x="9637776" y="4315968"/>
            <a:ext cx="548640" cy="457200"/>
          </a:xfrm>
          <a:prstGeom prst="rect">
            <a:avLst/>
          </a:prstGeom>
          <a:noFill/>
        </p:spPr>
        <p:txBody>
          <a:bodyPr wrap="square" lIns="0" rIns="0" tIns="0" bIns="0" anchor="ctr">
            <a:spAutoFit/>
          </a:bodyPr>
          <a:lstStyle/>
          <a:p>
            <a:pPr algn="l">
              <a:lnSpc>
                <a:spcPct val="115000"/>
              </a:lnSpc>
              <a:spcAft>
                <a:spcPts val="0"/>
              </a:spcAft>
            </a:pPr>
            <a:r>
              <a:rPr sz="800" b="0">
                <a:solidFill>
                  <a:srgbClr val="4B5563"/>
                </a:solidFill>
                <a:latin typeface="Inter"/>
              </a:rPr>
              <a:t>13 Jun</a:t>
            </a:r>
          </a:p>
        </p:txBody>
      </p:sp>
      <p:sp>
        <p:nvSpPr>
          <p:cNvPr id="80" name="Rounded Rectangle 79"/>
          <p:cNvSpPr/>
          <p:nvPr/>
        </p:nvSpPr>
        <p:spPr>
          <a:xfrm>
            <a:off x="10442448" y="4407408"/>
            <a:ext cx="857707"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552176" y="4494276"/>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716768" y="4407408"/>
            <a:ext cx="546811" cy="274320"/>
          </a:xfrm>
          <a:prstGeom prst="rect">
            <a:avLst/>
          </a:prstGeom>
          <a:noFill/>
        </p:spPr>
        <p:txBody>
          <a:bodyPr wrap="square" lIns="0" rIns="0" tIns="0" bIns="0" anchor="ctr">
            <a:spAutoFit/>
          </a:bodyPr>
          <a:lstStyle/>
          <a:p>
            <a:pPr algn="l">
              <a:lnSpc>
                <a:spcPct val="115000"/>
              </a:lnSpc>
              <a:spcAft>
                <a:spcPts val="0"/>
              </a:spcAft>
            </a:pPr>
            <a:r>
              <a:rPr sz="750" b="1">
                <a:solidFill>
                  <a:srgbClr val="16A34A"/>
                </a:solidFill>
                <a:latin typeface="Inter"/>
              </a:rPr>
              <a:t>Moderate</a:t>
            </a:r>
          </a:p>
        </p:txBody>
      </p:sp>
      <p:sp>
        <p:nvSpPr>
          <p:cNvPr id="83" name="Rectangle 82"/>
          <p:cNvSpPr/>
          <p:nvPr/>
        </p:nvSpPr>
        <p:spPr>
          <a:xfrm>
            <a:off x="457200" y="47684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457200" y="5047488"/>
            <a:ext cx="5074920" cy="1207008"/>
          </a:xfrm>
          <a:prstGeom prst="roundRect">
            <a:avLst>
              <a:gd name="adj" fmla="val 606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76656" y="5193792"/>
            <a:ext cx="4636008" cy="219456"/>
          </a:xfrm>
          <a:prstGeom prst="rect">
            <a:avLst/>
          </a:prstGeom>
          <a:noFill/>
        </p:spPr>
        <p:txBody>
          <a:bodyPr wrap="square" lIns="0" rIns="0" tIns="0" bIns="0" anchor="t">
            <a:spAutoFit/>
          </a:bodyPr>
          <a:lstStyle/>
          <a:p>
            <a:pPr algn="l">
              <a:lnSpc>
                <a:spcPct val="115000"/>
              </a:lnSpc>
              <a:spcAft>
                <a:spcPts val="0"/>
              </a:spcAft>
            </a:pPr>
            <a:r>
              <a:rPr sz="850" b="1">
                <a:solidFill>
                  <a:srgbClr val="1A1A1A"/>
                </a:solidFill>
                <a:latin typeface="Inter"/>
              </a:rPr>
              <a:t>Tagged actions — one action can serve two KPIs. Unique list is on the matrix.</a:t>
            </a:r>
          </a:p>
        </p:txBody>
      </p:sp>
      <p:sp>
        <p:nvSpPr>
          <p:cNvPr id="86" name="Rectangle 85"/>
          <p:cNvSpPr/>
          <p:nvPr/>
        </p:nvSpPr>
        <p:spPr>
          <a:xfrm>
            <a:off x="676656" y="5554980"/>
            <a:ext cx="68580" cy="14173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22960" y="5486400"/>
            <a:ext cx="1298448" cy="237744"/>
          </a:xfrm>
          <a:prstGeom prst="rect">
            <a:avLst/>
          </a:prstGeom>
          <a:noFill/>
        </p:spPr>
        <p:txBody>
          <a:bodyPr wrap="square" lIns="0" rIns="0" tIns="0" bIns="0" anchor="ctr">
            <a:spAutoFit/>
          </a:bodyPr>
          <a:lstStyle/>
          <a:p>
            <a:pPr algn="l">
              <a:lnSpc>
                <a:spcPct val="115000"/>
              </a:lnSpc>
              <a:spcAft>
                <a:spcPts val="0"/>
              </a:spcAft>
            </a:pPr>
            <a:r>
              <a:rPr sz="900" b="1">
                <a:solidFill>
                  <a:srgbClr val="1A1A1A"/>
                </a:solidFill>
                <a:latin typeface="Inter"/>
              </a:rPr>
              <a:t>QA</a:t>
            </a:r>
          </a:p>
        </p:txBody>
      </p:sp>
      <p:sp>
        <p:nvSpPr>
          <p:cNvPr id="88" name="TextBox 87"/>
          <p:cNvSpPr txBox="1"/>
          <p:nvPr/>
        </p:nvSpPr>
        <p:spPr>
          <a:xfrm>
            <a:off x="1975104" y="5486400"/>
            <a:ext cx="987552" cy="237744"/>
          </a:xfrm>
          <a:prstGeom prst="rect">
            <a:avLst/>
          </a:prstGeom>
          <a:noFill/>
        </p:spPr>
        <p:txBody>
          <a:bodyPr wrap="square" lIns="0" rIns="0" tIns="0" bIns="0" anchor="ctr">
            <a:spAutoFit/>
          </a:bodyPr>
          <a:lstStyle/>
          <a:p>
            <a:pPr algn="l">
              <a:lnSpc>
                <a:spcPct val="115000"/>
              </a:lnSpc>
              <a:spcAft>
                <a:spcPts val="0"/>
              </a:spcAft>
            </a:pPr>
            <a:r>
              <a:rPr sz="900" b="1">
                <a:solidFill>
                  <a:srgbClr val="16A34A"/>
                </a:solidFill>
                <a:latin typeface="Inter"/>
              </a:rPr>
              <a:t>94.14</a:t>
            </a:r>
          </a:p>
        </p:txBody>
      </p:sp>
      <p:sp>
        <p:nvSpPr>
          <p:cNvPr id="89" name="TextBox 88"/>
          <p:cNvSpPr txBox="1"/>
          <p:nvPr/>
        </p:nvSpPr>
        <p:spPr>
          <a:xfrm>
            <a:off x="2962656" y="5486400"/>
            <a:ext cx="932688" cy="237744"/>
          </a:xfrm>
          <a:prstGeom prst="rect">
            <a:avLst/>
          </a:prstGeom>
          <a:noFill/>
        </p:spPr>
        <p:txBody>
          <a:bodyPr wrap="square" lIns="0" rIns="0" tIns="0" bIns="0" anchor="ctr">
            <a:spAutoFit/>
          </a:bodyPr>
          <a:lstStyle/>
          <a:p>
            <a:pPr algn="l">
              <a:lnSpc>
                <a:spcPct val="115000"/>
              </a:lnSpc>
              <a:spcAft>
                <a:spcPts val="0"/>
              </a:spcAft>
            </a:pPr>
            <a:r>
              <a:rPr sz="900" b="0">
                <a:solidFill>
                  <a:srgbClr val="4B5563"/>
                </a:solidFill>
                <a:latin typeface="Inter"/>
              </a:rPr>
              <a:t>8 actions</a:t>
            </a:r>
          </a:p>
        </p:txBody>
      </p:sp>
      <p:sp>
        <p:nvSpPr>
          <p:cNvPr id="90" name="TextBox 89"/>
          <p:cNvSpPr txBox="1"/>
          <p:nvPr/>
        </p:nvSpPr>
        <p:spPr>
          <a:xfrm>
            <a:off x="3895344" y="5486400"/>
            <a:ext cx="1508760" cy="237744"/>
          </a:xfrm>
          <a:prstGeom prst="rect">
            <a:avLst/>
          </a:prstGeom>
          <a:noFill/>
        </p:spPr>
        <p:txBody>
          <a:bodyPr wrap="square" lIns="0" rIns="0" tIns="0" bIns="0" anchor="ctr">
            <a:spAutoFit/>
          </a:bodyPr>
          <a:lstStyle/>
          <a:p>
            <a:pPr algn="l">
              <a:lnSpc>
                <a:spcPct val="115000"/>
              </a:lnSpc>
              <a:spcAft>
                <a:spcPts val="0"/>
              </a:spcAft>
            </a:pPr>
            <a:r>
              <a:rPr sz="900" b="0">
                <a:solidFill>
                  <a:srgbClr val="4B5563"/>
                </a:solidFill>
                <a:latin typeface="Inter"/>
              </a:rPr>
              <a:t>QA Lead</a:t>
            </a:r>
          </a:p>
        </p:txBody>
      </p:sp>
      <p:sp>
        <p:nvSpPr>
          <p:cNvPr id="91" name="Rectangle 90"/>
          <p:cNvSpPr/>
          <p:nvPr/>
        </p:nvSpPr>
        <p:spPr>
          <a:xfrm>
            <a:off x="676656" y="5801868"/>
            <a:ext cx="68580" cy="141732"/>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22960" y="5733288"/>
            <a:ext cx="1298448" cy="237744"/>
          </a:xfrm>
          <a:prstGeom prst="rect">
            <a:avLst/>
          </a:prstGeom>
          <a:noFill/>
        </p:spPr>
        <p:txBody>
          <a:bodyPr wrap="square" lIns="0" rIns="0" tIns="0" bIns="0" anchor="ctr">
            <a:spAutoFit/>
          </a:bodyPr>
          <a:lstStyle/>
          <a:p>
            <a:pPr algn="l">
              <a:lnSpc>
                <a:spcPct val="115000"/>
              </a:lnSpc>
              <a:spcAft>
                <a:spcPts val="0"/>
              </a:spcAft>
            </a:pPr>
            <a:r>
              <a:rPr sz="900" b="1">
                <a:solidFill>
                  <a:srgbClr val="1A1A1A"/>
                </a:solidFill>
                <a:latin typeface="Inter"/>
              </a:rPr>
              <a:t>CSAT</a:t>
            </a:r>
          </a:p>
        </p:txBody>
      </p:sp>
      <p:sp>
        <p:nvSpPr>
          <p:cNvPr id="93" name="TextBox 92"/>
          <p:cNvSpPr txBox="1"/>
          <p:nvPr/>
        </p:nvSpPr>
        <p:spPr>
          <a:xfrm>
            <a:off x="1975104" y="5733288"/>
            <a:ext cx="987552" cy="237744"/>
          </a:xfrm>
          <a:prstGeom prst="rect">
            <a:avLst/>
          </a:prstGeom>
          <a:noFill/>
        </p:spPr>
        <p:txBody>
          <a:bodyPr wrap="square" lIns="0" rIns="0" tIns="0" bIns="0" anchor="ctr">
            <a:spAutoFit/>
          </a:bodyPr>
          <a:lstStyle/>
          <a:p>
            <a:pPr algn="l">
              <a:lnSpc>
                <a:spcPct val="115000"/>
              </a:lnSpc>
              <a:spcAft>
                <a:spcPts val="0"/>
              </a:spcAft>
            </a:pPr>
            <a:r>
              <a:rPr sz="900" b="1">
                <a:solidFill>
                  <a:srgbClr val="E11D2E"/>
                </a:solidFill>
                <a:latin typeface="Inter"/>
              </a:rPr>
              <a:t>79.95%</a:t>
            </a:r>
          </a:p>
        </p:txBody>
      </p:sp>
      <p:sp>
        <p:nvSpPr>
          <p:cNvPr id="94" name="TextBox 93"/>
          <p:cNvSpPr txBox="1"/>
          <p:nvPr/>
        </p:nvSpPr>
        <p:spPr>
          <a:xfrm>
            <a:off x="2962656" y="5733288"/>
            <a:ext cx="932688" cy="237744"/>
          </a:xfrm>
          <a:prstGeom prst="rect">
            <a:avLst/>
          </a:prstGeom>
          <a:noFill/>
        </p:spPr>
        <p:txBody>
          <a:bodyPr wrap="square" lIns="0" rIns="0" tIns="0" bIns="0" anchor="ctr">
            <a:spAutoFit/>
          </a:bodyPr>
          <a:lstStyle/>
          <a:p>
            <a:pPr algn="l">
              <a:lnSpc>
                <a:spcPct val="115000"/>
              </a:lnSpc>
              <a:spcAft>
                <a:spcPts val="0"/>
              </a:spcAft>
            </a:pPr>
            <a:r>
              <a:rPr sz="900" b="0">
                <a:solidFill>
                  <a:srgbClr val="4B5563"/>
                </a:solidFill>
                <a:latin typeface="Inter"/>
              </a:rPr>
              <a:t>6 actions</a:t>
            </a:r>
          </a:p>
        </p:txBody>
      </p:sp>
      <p:sp>
        <p:nvSpPr>
          <p:cNvPr id="95" name="TextBox 94"/>
          <p:cNvSpPr txBox="1"/>
          <p:nvPr/>
        </p:nvSpPr>
        <p:spPr>
          <a:xfrm>
            <a:off x="3895344" y="5733288"/>
            <a:ext cx="1508760" cy="237744"/>
          </a:xfrm>
          <a:prstGeom prst="rect">
            <a:avLst/>
          </a:prstGeom>
          <a:noFill/>
        </p:spPr>
        <p:txBody>
          <a:bodyPr wrap="square" lIns="0" rIns="0" tIns="0" bIns="0" anchor="ctr">
            <a:spAutoFit/>
          </a:bodyPr>
          <a:lstStyle/>
          <a:p>
            <a:pPr algn="l">
              <a:lnSpc>
                <a:spcPct val="115000"/>
              </a:lnSpc>
              <a:spcAft>
                <a:spcPts val="0"/>
              </a:spcAft>
            </a:pPr>
            <a:r>
              <a:rPr sz="900" b="0">
                <a:solidFill>
                  <a:srgbClr val="4B5563"/>
                </a:solidFill>
                <a:latin typeface="Inter"/>
              </a:rPr>
              <a:t>CX Ops</a:t>
            </a:r>
          </a:p>
        </p:txBody>
      </p:sp>
      <p:sp>
        <p:nvSpPr>
          <p:cNvPr id="96" name="Rectangle 95"/>
          <p:cNvSpPr/>
          <p:nvPr/>
        </p:nvSpPr>
        <p:spPr>
          <a:xfrm>
            <a:off x="676656" y="6048756"/>
            <a:ext cx="68580" cy="141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22960" y="5980176"/>
            <a:ext cx="1298448" cy="237744"/>
          </a:xfrm>
          <a:prstGeom prst="rect">
            <a:avLst/>
          </a:prstGeom>
          <a:noFill/>
        </p:spPr>
        <p:txBody>
          <a:bodyPr wrap="square" lIns="0" rIns="0" tIns="0" bIns="0" anchor="ctr">
            <a:spAutoFit/>
          </a:bodyPr>
          <a:lstStyle/>
          <a:p>
            <a:pPr algn="l">
              <a:lnSpc>
                <a:spcPct val="115000"/>
              </a:lnSpc>
              <a:spcAft>
                <a:spcPts val="0"/>
              </a:spcAft>
            </a:pPr>
            <a:r>
              <a:rPr sz="900" b="1">
                <a:solidFill>
                  <a:srgbClr val="1A1A1A"/>
                </a:solidFill>
                <a:latin typeface="Inter"/>
              </a:rPr>
              <a:t>Recontact</a:t>
            </a:r>
          </a:p>
        </p:txBody>
      </p:sp>
      <p:sp>
        <p:nvSpPr>
          <p:cNvPr id="98" name="TextBox 97"/>
          <p:cNvSpPr txBox="1"/>
          <p:nvPr/>
        </p:nvSpPr>
        <p:spPr>
          <a:xfrm>
            <a:off x="1975104" y="5980176"/>
            <a:ext cx="987552" cy="237744"/>
          </a:xfrm>
          <a:prstGeom prst="rect">
            <a:avLst/>
          </a:prstGeom>
          <a:noFill/>
        </p:spPr>
        <p:txBody>
          <a:bodyPr wrap="square" lIns="0" rIns="0" tIns="0" bIns="0" anchor="ctr">
            <a:spAutoFit/>
          </a:bodyPr>
          <a:lstStyle/>
          <a:p>
            <a:pPr algn="l">
              <a:lnSpc>
                <a:spcPct val="115000"/>
              </a:lnSpc>
              <a:spcAft>
                <a:spcPts val="0"/>
              </a:spcAft>
            </a:pPr>
            <a:r>
              <a:rPr sz="900" b="1">
                <a:solidFill>
                  <a:srgbClr val="F59E0B"/>
                </a:solidFill>
                <a:latin typeface="Inter"/>
              </a:rPr>
              <a:t>5.83%</a:t>
            </a:r>
          </a:p>
        </p:txBody>
      </p:sp>
      <p:sp>
        <p:nvSpPr>
          <p:cNvPr id="99" name="TextBox 98"/>
          <p:cNvSpPr txBox="1"/>
          <p:nvPr/>
        </p:nvSpPr>
        <p:spPr>
          <a:xfrm>
            <a:off x="2962656" y="5980176"/>
            <a:ext cx="932688" cy="237744"/>
          </a:xfrm>
          <a:prstGeom prst="rect">
            <a:avLst/>
          </a:prstGeom>
          <a:noFill/>
        </p:spPr>
        <p:txBody>
          <a:bodyPr wrap="square" lIns="0" rIns="0" tIns="0" bIns="0" anchor="ctr">
            <a:spAutoFit/>
          </a:bodyPr>
          <a:lstStyle/>
          <a:p>
            <a:pPr algn="l">
              <a:lnSpc>
                <a:spcPct val="115000"/>
              </a:lnSpc>
              <a:spcAft>
                <a:spcPts val="0"/>
              </a:spcAft>
            </a:pPr>
            <a:r>
              <a:rPr sz="900" b="0">
                <a:solidFill>
                  <a:srgbClr val="4B5563"/>
                </a:solidFill>
                <a:latin typeface="Inter"/>
              </a:rPr>
              <a:t>4 actions</a:t>
            </a:r>
          </a:p>
        </p:txBody>
      </p:sp>
      <p:sp>
        <p:nvSpPr>
          <p:cNvPr id="100" name="TextBox 99"/>
          <p:cNvSpPr txBox="1"/>
          <p:nvPr/>
        </p:nvSpPr>
        <p:spPr>
          <a:xfrm>
            <a:off x="3895344" y="5980176"/>
            <a:ext cx="1508760" cy="237744"/>
          </a:xfrm>
          <a:prstGeom prst="rect">
            <a:avLst/>
          </a:prstGeom>
          <a:noFill/>
        </p:spPr>
        <p:txBody>
          <a:bodyPr wrap="square" lIns="0" rIns="0" tIns="0" bIns="0" anchor="ctr">
            <a:spAutoFit/>
          </a:bodyPr>
          <a:lstStyle/>
          <a:p>
            <a:pPr algn="l">
              <a:lnSpc>
                <a:spcPct val="115000"/>
              </a:lnSpc>
              <a:spcAft>
                <a:spcPts val="0"/>
              </a:spcAft>
            </a:pPr>
            <a:r>
              <a:rPr sz="900" b="0">
                <a:solidFill>
                  <a:srgbClr val="4B5563"/>
                </a:solidFill>
                <a:latin typeface="Inter"/>
              </a:rPr>
              <a:t>CX Ops</a:t>
            </a:r>
          </a:p>
        </p:txBody>
      </p:sp>
      <p:sp>
        <p:nvSpPr>
          <p:cNvPr id="101" name="Rectangle 100"/>
          <p:cNvSpPr/>
          <p:nvPr/>
        </p:nvSpPr>
        <p:spPr>
          <a:xfrm>
            <a:off x="5788152" y="5047488"/>
            <a:ext cx="5946343" cy="120700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788152" y="5047488"/>
            <a:ext cx="38404" cy="120700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099048" y="5230368"/>
            <a:ext cx="5379415" cy="292608"/>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Fix what we measure vs what the customer gets</a:t>
            </a:r>
          </a:p>
        </p:txBody>
      </p:sp>
      <p:sp>
        <p:nvSpPr>
          <p:cNvPr id="104" name="TextBox 103"/>
          <p:cNvSpPr txBox="1"/>
          <p:nvPr/>
        </p:nvSpPr>
        <p:spPr>
          <a:xfrm>
            <a:off x="6099048" y="5614416"/>
            <a:ext cx="5379415" cy="493776"/>
          </a:xfrm>
          <a:prstGeom prst="rect">
            <a:avLst/>
          </a:prstGeom>
          <a:noFill/>
        </p:spPr>
        <p:txBody>
          <a:bodyPr wrap="square" lIns="0" rIns="0" tIns="0" bIns="0" anchor="t">
            <a:spAutoFit/>
          </a:bodyPr>
          <a:lstStyle/>
          <a:p>
            <a:pPr algn="l">
              <a:lnSpc>
                <a:spcPct val="132000"/>
              </a:lnSpc>
              <a:spcAft>
                <a:spcPts val="400"/>
              </a:spcAft>
            </a:pPr>
            <a:r>
              <a:rPr sz="900" b="0">
                <a:solidFill>
                  <a:srgbClr val="4B5563"/>
                </a:solidFill>
                <a:latin typeface="Inter"/>
              </a:rPr>
              <a:t>Closure reporting and the Chat critical change the scorecard. ETA, refund authority and refund notifications change the outcome. Do not mix those two. See the action matrix.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Action matrix by KPI</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Each action once. Outcome changes the customer result. Measure changes the scorecard.</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31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92840" cy="2926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207008"/>
            <a:ext cx="2944368" cy="292608"/>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What we will do</a:t>
            </a:r>
          </a:p>
        </p:txBody>
      </p:sp>
      <p:sp>
        <p:nvSpPr>
          <p:cNvPr id="13" name="TextBox 12"/>
          <p:cNvSpPr txBox="1"/>
          <p:nvPr/>
        </p:nvSpPr>
        <p:spPr>
          <a:xfrm>
            <a:off x="3785615" y="1207008"/>
            <a:ext cx="3950207" cy="292608"/>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Why</a:t>
            </a:r>
          </a:p>
        </p:txBody>
      </p:sp>
      <p:sp>
        <p:nvSpPr>
          <p:cNvPr id="14" name="TextBox 13"/>
          <p:cNvSpPr txBox="1"/>
          <p:nvPr/>
        </p:nvSpPr>
        <p:spPr>
          <a:xfrm>
            <a:off x="7991856" y="1207008"/>
            <a:ext cx="704088" cy="292608"/>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Type</a:t>
            </a:r>
          </a:p>
        </p:txBody>
      </p:sp>
      <p:sp>
        <p:nvSpPr>
          <p:cNvPr id="15" name="TextBox 14"/>
          <p:cNvSpPr txBox="1"/>
          <p:nvPr/>
        </p:nvSpPr>
        <p:spPr>
          <a:xfrm>
            <a:off x="8951976" y="1207008"/>
            <a:ext cx="246888" cy="292608"/>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QA</a:t>
            </a:r>
          </a:p>
        </p:txBody>
      </p:sp>
      <p:sp>
        <p:nvSpPr>
          <p:cNvPr id="16" name="TextBox 15"/>
          <p:cNvSpPr txBox="1"/>
          <p:nvPr/>
        </p:nvSpPr>
        <p:spPr>
          <a:xfrm>
            <a:off x="9454896" y="1207008"/>
            <a:ext cx="384047" cy="292608"/>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CSAT</a:t>
            </a:r>
          </a:p>
        </p:txBody>
      </p:sp>
      <p:sp>
        <p:nvSpPr>
          <p:cNvPr id="17" name="TextBox 16"/>
          <p:cNvSpPr txBox="1"/>
          <p:nvPr/>
        </p:nvSpPr>
        <p:spPr>
          <a:xfrm>
            <a:off x="10094976" y="1207008"/>
            <a:ext cx="246888" cy="292608"/>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RC</a:t>
            </a:r>
          </a:p>
        </p:txBody>
      </p:sp>
      <p:sp>
        <p:nvSpPr>
          <p:cNvPr id="18" name="TextBox 17"/>
          <p:cNvSpPr txBox="1"/>
          <p:nvPr/>
        </p:nvSpPr>
        <p:spPr>
          <a:xfrm>
            <a:off x="10597896" y="1207008"/>
            <a:ext cx="1024127" cy="292608"/>
          </a:xfrm>
          <a:prstGeom prst="rect">
            <a:avLst/>
          </a:prstGeom>
          <a:noFill/>
        </p:spPr>
        <p:txBody>
          <a:bodyPr wrap="square" lIns="0" rIns="0" tIns="0" bIns="0" anchor="ctr">
            <a:spAutoFit/>
          </a:bodyPr>
          <a:lstStyle/>
          <a:p>
            <a:pPr algn="l">
              <a:lnSpc>
                <a:spcPct val="115000"/>
              </a:lnSpc>
              <a:spcAft>
                <a:spcPts val="0"/>
              </a:spcAft>
            </a:pPr>
            <a:r>
              <a:rPr sz="800" b="1">
                <a:solidFill>
                  <a:srgbClr val="FFFFFF"/>
                </a:solidFill>
                <a:latin typeface="Inter"/>
              </a:rPr>
              <a:t>Who</a:t>
            </a:r>
          </a:p>
        </p:txBody>
      </p:sp>
      <p:sp>
        <p:nvSpPr>
          <p:cNvPr id="19" name="TextBox 18"/>
          <p:cNvSpPr txBox="1"/>
          <p:nvPr/>
        </p:nvSpPr>
        <p:spPr>
          <a:xfrm>
            <a:off x="585216" y="1499616"/>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Live courier ETA in the agent console</a:t>
            </a:r>
          </a:p>
        </p:txBody>
      </p:sp>
      <p:sp>
        <p:nvSpPr>
          <p:cNvPr id="20" name="TextBox 19"/>
          <p:cNvSpPr txBox="1"/>
          <p:nvPr/>
        </p:nvSpPr>
        <p:spPr>
          <a:xfrm>
            <a:off x="3785615" y="1499616"/>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Order status &amp; delays: QA 97.3, CSAT 64.7%, recontact 19.34%, 7,680 repeats.</a:t>
            </a:r>
          </a:p>
        </p:txBody>
      </p:sp>
      <p:sp>
        <p:nvSpPr>
          <p:cNvPr id="21" name="TextBox 20"/>
          <p:cNvSpPr txBox="1"/>
          <p:nvPr/>
        </p:nvSpPr>
        <p:spPr>
          <a:xfrm>
            <a:off x="7991856" y="1499616"/>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Outcome</a:t>
            </a:r>
          </a:p>
        </p:txBody>
      </p:sp>
      <p:sp>
        <p:nvSpPr>
          <p:cNvPr id="22" name="TextBox 21"/>
          <p:cNvSpPr txBox="1"/>
          <p:nvPr/>
        </p:nvSpPr>
        <p:spPr>
          <a:xfrm>
            <a:off x="8951976" y="1499616"/>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23" name="Rounded Rectangle 22"/>
          <p:cNvSpPr/>
          <p:nvPr/>
        </p:nvSpPr>
        <p:spPr>
          <a:xfrm>
            <a:off x="9390888" y="1555211"/>
            <a:ext cx="512063"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54896" y="1499616"/>
            <a:ext cx="384047"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25" name="Rounded Rectangle 24"/>
          <p:cNvSpPr/>
          <p:nvPr/>
        </p:nvSpPr>
        <p:spPr>
          <a:xfrm>
            <a:off x="10030968" y="1555211"/>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94976" y="1499616"/>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27" name="TextBox 26"/>
          <p:cNvSpPr txBox="1"/>
          <p:nvPr/>
        </p:nvSpPr>
        <p:spPr>
          <a:xfrm>
            <a:off x="10597896" y="1499616"/>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CX Ops + Product</a:t>
            </a:r>
          </a:p>
        </p:txBody>
      </p:sp>
      <p:sp>
        <p:nvSpPr>
          <p:cNvPr id="28" name="Rectangle 27"/>
          <p:cNvSpPr/>
          <p:nvPr/>
        </p:nvSpPr>
        <p:spPr>
          <a:xfrm>
            <a:off x="457200" y="1842325"/>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1847088"/>
            <a:ext cx="11292840" cy="347472"/>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5216" y="1847088"/>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Same-call refund authority for undelivered orders</a:t>
            </a:r>
          </a:p>
        </p:txBody>
      </p:sp>
      <p:sp>
        <p:nvSpPr>
          <p:cNvPr id="31" name="TextBox 30"/>
          <p:cNvSpPr txBox="1"/>
          <p:nvPr/>
        </p:nvSpPr>
        <p:spPr>
          <a:xfrm>
            <a:off x="3785615" y="1847088"/>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Phone undelivered full-service QA is 68.2 (n=49). Agents wait on a refund they cannot approve.</a:t>
            </a:r>
          </a:p>
        </p:txBody>
      </p:sp>
      <p:sp>
        <p:nvSpPr>
          <p:cNvPr id="32" name="TextBox 31"/>
          <p:cNvSpPr txBox="1"/>
          <p:nvPr/>
        </p:nvSpPr>
        <p:spPr>
          <a:xfrm>
            <a:off x="7991856" y="1847088"/>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Outcome</a:t>
            </a:r>
          </a:p>
        </p:txBody>
      </p:sp>
      <p:sp>
        <p:nvSpPr>
          <p:cNvPr id="33" name="Rounded Rectangle 32"/>
          <p:cNvSpPr/>
          <p:nvPr/>
        </p:nvSpPr>
        <p:spPr>
          <a:xfrm>
            <a:off x="8887968" y="1902683"/>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51976" y="1847088"/>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35" name="Rounded Rectangle 34"/>
          <p:cNvSpPr/>
          <p:nvPr/>
        </p:nvSpPr>
        <p:spPr>
          <a:xfrm>
            <a:off x="9390888" y="1902683"/>
            <a:ext cx="512063"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54896" y="1847088"/>
            <a:ext cx="384047"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37" name="TextBox 36"/>
          <p:cNvSpPr txBox="1"/>
          <p:nvPr/>
        </p:nvSpPr>
        <p:spPr>
          <a:xfrm>
            <a:off x="10094976" y="1847088"/>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38" name="TextBox 37"/>
          <p:cNvSpPr txBox="1"/>
          <p:nvPr/>
        </p:nvSpPr>
        <p:spPr>
          <a:xfrm>
            <a:off x="10597896" y="1847088"/>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CX Ops + Finance</a:t>
            </a:r>
          </a:p>
        </p:txBody>
      </p:sp>
      <p:sp>
        <p:nvSpPr>
          <p:cNvPr id="39" name="Rectangle 38"/>
          <p:cNvSpPr/>
          <p:nvPr/>
        </p:nvSpPr>
        <p:spPr>
          <a:xfrm>
            <a:off x="457200" y="2189797"/>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5216" y="2194560"/>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Merchant SLA for completed-not-received (validate n first)</a:t>
            </a:r>
          </a:p>
        </p:txBody>
      </p:sp>
      <p:sp>
        <p:nvSpPr>
          <p:cNvPr id="41" name="TextBox 40"/>
          <p:cNvSpPr txBox="1"/>
          <p:nvPr/>
        </p:nvSpPr>
        <p:spPr>
          <a:xfrm>
            <a:off x="3785615" y="2194560"/>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Phone QA 47.5 on n=4. Too few audits to treat as a proven process yet.</a:t>
            </a:r>
          </a:p>
        </p:txBody>
      </p:sp>
      <p:sp>
        <p:nvSpPr>
          <p:cNvPr id="42" name="TextBox 41"/>
          <p:cNvSpPr txBox="1"/>
          <p:nvPr/>
        </p:nvSpPr>
        <p:spPr>
          <a:xfrm>
            <a:off x="7991856" y="2194560"/>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Outcome</a:t>
            </a:r>
          </a:p>
        </p:txBody>
      </p:sp>
      <p:sp>
        <p:nvSpPr>
          <p:cNvPr id="43" name="Rounded Rectangle 42"/>
          <p:cNvSpPr/>
          <p:nvPr/>
        </p:nvSpPr>
        <p:spPr>
          <a:xfrm>
            <a:off x="8887968" y="2250155"/>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51976" y="2194560"/>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45" name="Rounded Rectangle 44"/>
          <p:cNvSpPr/>
          <p:nvPr/>
        </p:nvSpPr>
        <p:spPr>
          <a:xfrm>
            <a:off x="9390888" y="2250155"/>
            <a:ext cx="512063"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54896" y="2194560"/>
            <a:ext cx="384047"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47" name="TextBox 46"/>
          <p:cNvSpPr txBox="1"/>
          <p:nvPr/>
        </p:nvSpPr>
        <p:spPr>
          <a:xfrm>
            <a:off x="10094976" y="2194560"/>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48" name="TextBox 47"/>
          <p:cNvSpPr txBox="1"/>
          <p:nvPr/>
        </p:nvSpPr>
        <p:spPr>
          <a:xfrm>
            <a:off x="10597896" y="2194560"/>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Merchant Ops</a:t>
            </a:r>
          </a:p>
        </p:txBody>
      </p:sp>
      <p:sp>
        <p:nvSpPr>
          <p:cNvPr id="49" name="Rectangle 48"/>
          <p:cNvSpPr/>
          <p:nvPr/>
        </p:nvSpPr>
        <p:spPr>
          <a:xfrm>
            <a:off x="457200" y="2537269"/>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2542032"/>
            <a:ext cx="11292840" cy="347472"/>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5216" y="2542032"/>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Automatic refund-status notifications</a:t>
            </a:r>
          </a:p>
        </p:txBody>
      </p:sp>
      <p:sp>
        <p:nvSpPr>
          <p:cNvPr id="52" name="TextBox 51"/>
          <p:cNvSpPr txBox="1"/>
          <p:nvPr/>
        </p:nvSpPr>
        <p:spPr>
          <a:xfrm>
            <a:off x="3785615" y="2542032"/>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35.4% of negative comments are unresolved refunds or unsolved issues, not agent attitude (4.3%).</a:t>
            </a:r>
          </a:p>
        </p:txBody>
      </p:sp>
      <p:sp>
        <p:nvSpPr>
          <p:cNvPr id="53" name="TextBox 52"/>
          <p:cNvSpPr txBox="1"/>
          <p:nvPr/>
        </p:nvSpPr>
        <p:spPr>
          <a:xfrm>
            <a:off x="7991856" y="2542032"/>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Outcome</a:t>
            </a:r>
          </a:p>
        </p:txBody>
      </p:sp>
      <p:sp>
        <p:nvSpPr>
          <p:cNvPr id="54" name="TextBox 53"/>
          <p:cNvSpPr txBox="1"/>
          <p:nvPr/>
        </p:nvSpPr>
        <p:spPr>
          <a:xfrm>
            <a:off x="8951976" y="2542032"/>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55" name="Rounded Rectangle 54"/>
          <p:cNvSpPr/>
          <p:nvPr/>
        </p:nvSpPr>
        <p:spPr>
          <a:xfrm>
            <a:off x="9390888" y="2597627"/>
            <a:ext cx="512063"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54896" y="2542032"/>
            <a:ext cx="384047"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57" name="Rounded Rectangle 56"/>
          <p:cNvSpPr/>
          <p:nvPr/>
        </p:nvSpPr>
        <p:spPr>
          <a:xfrm>
            <a:off x="10030968" y="2597627"/>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094976" y="2542032"/>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59" name="TextBox 58"/>
          <p:cNvSpPr txBox="1"/>
          <p:nvPr/>
        </p:nvSpPr>
        <p:spPr>
          <a:xfrm>
            <a:off x="10597896" y="2542032"/>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Product + CX Ops</a:t>
            </a:r>
          </a:p>
        </p:txBody>
      </p:sp>
      <p:sp>
        <p:nvSpPr>
          <p:cNvPr id="60" name="Rectangle 59"/>
          <p:cNvSpPr/>
          <p:nvPr/>
        </p:nvSpPr>
        <p:spPr>
          <a:xfrm>
            <a:off x="457200" y="2884741"/>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85216" y="2889503"/>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Fix CR to Business Type mapping</a:t>
            </a:r>
          </a:p>
        </p:txBody>
      </p:sp>
      <p:sp>
        <p:nvSpPr>
          <p:cNvPr id="62" name="TextBox 61"/>
          <p:cNvSpPr txBox="1"/>
          <p:nvPr/>
        </p:nvSpPr>
        <p:spPr>
          <a:xfrm>
            <a:off x="3785615" y="2889503"/>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'Other' CSAT is 26.5% on 558 surveys. That mix hides real detractors.</a:t>
            </a:r>
          </a:p>
        </p:txBody>
      </p:sp>
      <p:sp>
        <p:nvSpPr>
          <p:cNvPr id="63" name="TextBox 62"/>
          <p:cNvSpPr txBox="1"/>
          <p:nvPr/>
        </p:nvSpPr>
        <p:spPr>
          <a:xfrm>
            <a:off x="7991856" y="2889503"/>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Data</a:t>
            </a:r>
          </a:p>
        </p:txBody>
      </p:sp>
      <p:sp>
        <p:nvSpPr>
          <p:cNvPr id="64" name="TextBox 63"/>
          <p:cNvSpPr txBox="1"/>
          <p:nvPr/>
        </p:nvSpPr>
        <p:spPr>
          <a:xfrm>
            <a:off x="8951976" y="2889503"/>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65" name="Rounded Rectangle 64"/>
          <p:cNvSpPr/>
          <p:nvPr/>
        </p:nvSpPr>
        <p:spPr>
          <a:xfrm>
            <a:off x="9390888" y="2945099"/>
            <a:ext cx="512063"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54896" y="2889503"/>
            <a:ext cx="384047"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67" name="TextBox 66"/>
          <p:cNvSpPr txBox="1"/>
          <p:nvPr/>
        </p:nvSpPr>
        <p:spPr>
          <a:xfrm>
            <a:off x="10094976" y="2889503"/>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68" name="TextBox 67"/>
          <p:cNvSpPr txBox="1"/>
          <p:nvPr/>
        </p:nvSpPr>
        <p:spPr>
          <a:xfrm>
            <a:off x="10597896" y="2889503"/>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CX Analytics</a:t>
            </a:r>
          </a:p>
        </p:txBody>
      </p:sp>
      <p:sp>
        <p:nvSpPr>
          <p:cNvPr id="69" name="Rectangle 68"/>
          <p:cNvSpPr/>
          <p:nvPr/>
        </p:nvSpPr>
        <p:spPr>
          <a:xfrm>
            <a:off x="457200" y="3232213"/>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57200" y="3236975"/>
            <a:ext cx="11292840" cy="347472"/>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85216" y="3236975"/>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Increase Phone QA coverage to 30%</a:t>
            </a:r>
          </a:p>
        </p:txBody>
      </p:sp>
      <p:sp>
        <p:nvSpPr>
          <p:cNvPr id="72" name="TextBox 71"/>
          <p:cNvSpPr txBox="1"/>
          <p:nvPr/>
        </p:nvSpPr>
        <p:spPr>
          <a:xfrm>
            <a:off x="3785615" y="3236975"/>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Phone QA 83.04 on only 14.4% of audits. The blend is Chat-weighted.</a:t>
            </a:r>
          </a:p>
        </p:txBody>
      </p:sp>
      <p:sp>
        <p:nvSpPr>
          <p:cNvPr id="73" name="TextBox 72"/>
          <p:cNvSpPr txBox="1"/>
          <p:nvPr/>
        </p:nvSpPr>
        <p:spPr>
          <a:xfrm>
            <a:off x="7991856" y="3236975"/>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Measure</a:t>
            </a:r>
          </a:p>
        </p:txBody>
      </p:sp>
      <p:sp>
        <p:nvSpPr>
          <p:cNvPr id="74" name="Rounded Rectangle 73"/>
          <p:cNvSpPr/>
          <p:nvPr/>
        </p:nvSpPr>
        <p:spPr>
          <a:xfrm>
            <a:off x="8887968" y="3292571"/>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951976" y="3236975"/>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76" name="TextBox 75"/>
          <p:cNvSpPr txBox="1"/>
          <p:nvPr/>
        </p:nvSpPr>
        <p:spPr>
          <a:xfrm>
            <a:off x="9454896" y="3236975"/>
            <a:ext cx="384047"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77" name="TextBox 76"/>
          <p:cNvSpPr txBox="1"/>
          <p:nvPr/>
        </p:nvSpPr>
        <p:spPr>
          <a:xfrm>
            <a:off x="10094976" y="3236975"/>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78" name="TextBox 77"/>
          <p:cNvSpPr txBox="1"/>
          <p:nvPr/>
        </p:nvSpPr>
        <p:spPr>
          <a:xfrm>
            <a:off x="10597896" y="3236975"/>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QA Lead</a:t>
            </a:r>
          </a:p>
        </p:txBody>
      </p:sp>
      <p:sp>
        <p:nvSpPr>
          <p:cNvPr id="79" name="Rectangle 78"/>
          <p:cNvSpPr/>
          <p:nvPr/>
        </p:nvSpPr>
        <p:spPr>
          <a:xfrm>
            <a:off x="457200" y="3579685"/>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85216" y="3584447"/>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Coach Phone Time Management</a:t>
            </a:r>
          </a:p>
        </p:txBody>
      </p:sp>
      <p:sp>
        <p:nvSpPr>
          <p:cNvPr id="81" name="TextBox 80"/>
          <p:cNvSpPr txBox="1"/>
          <p:nvPr/>
        </p:nvSpPr>
        <p:spPr>
          <a:xfrm>
            <a:off x="3785615" y="3584447"/>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Time management is 64.3% of Phone defects (133 fails).</a:t>
            </a:r>
          </a:p>
        </p:txBody>
      </p:sp>
      <p:sp>
        <p:nvSpPr>
          <p:cNvPr id="82" name="TextBox 81"/>
          <p:cNvSpPr txBox="1"/>
          <p:nvPr/>
        </p:nvSpPr>
        <p:spPr>
          <a:xfrm>
            <a:off x="7991856" y="3584447"/>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Coach</a:t>
            </a:r>
          </a:p>
        </p:txBody>
      </p:sp>
      <p:sp>
        <p:nvSpPr>
          <p:cNvPr id="83" name="Rounded Rectangle 82"/>
          <p:cNvSpPr/>
          <p:nvPr/>
        </p:nvSpPr>
        <p:spPr>
          <a:xfrm>
            <a:off x="8887968" y="3640043"/>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951976" y="3584447"/>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85" name="TextBox 84"/>
          <p:cNvSpPr txBox="1"/>
          <p:nvPr/>
        </p:nvSpPr>
        <p:spPr>
          <a:xfrm>
            <a:off x="9454896" y="3584447"/>
            <a:ext cx="384047"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86" name="TextBox 85"/>
          <p:cNvSpPr txBox="1"/>
          <p:nvPr/>
        </p:nvSpPr>
        <p:spPr>
          <a:xfrm>
            <a:off x="10094976" y="3584447"/>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87" name="TextBox 86"/>
          <p:cNvSpPr txBox="1"/>
          <p:nvPr/>
        </p:nvSpPr>
        <p:spPr>
          <a:xfrm>
            <a:off x="10597896" y="3584447"/>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Supervisors</a:t>
            </a:r>
          </a:p>
        </p:txBody>
      </p:sp>
      <p:sp>
        <p:nvSpPr>
          <p:cNvPr id="88" name="Rectangle 87"/>
          <p:cNvSpPr/>
          <p:nvPr/>
        </p:nvSpPr>
        <p:spPr>
          <a:xfrm>
            <a:off x="457200" y="3927157"/>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57200" y="3931920"/>
            <a:ext cx="11292840" cy="347472"/>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85216" y="3931920"/>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Weekly coaching for 42 QA-Q4 agents</a:t>
            </a:r>
          </a:p>
        </p:txBody>
      </p:sp>
      <p:sp>
        <p:nvSpPr>
          <p:cNvPr id="91" name="TextBox 90"/>
          <p:cNvSpPr txBox="1"/>
          <p:nvPr/>
        </p:nvSpPr>
        <p:spPr>
          <a:xfrm>
            <a:off x="3785615" y="3931920"/>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42 agents in QA Q4; 26 below goal. This lifts QA, not CSAT.</a:t>
            </a:r>
          </a:p>
        </p:txBody>
      </p:sp>
      <p:sp>
        <p:nvSpPr>
          <p:cNvPr id="92" name="TextBox 91"/>
          <p:cNvSpPr txBox="1"/>
          <p:nvPr/>
        </p:nvSpPr>
        <p:spPr>
          <a:xfrm>
            <a:off x="7991856" y="3931920"/>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Coach</a:t>
            </a:r>
          </a:p>
        </p:txBody>
      </p:sp>
      <p:sp>
        <p:nvSpPr>
          <p:cNvPr id="93" name="Rounded Rectangle 92"/>
          <p:cNvSpPr/>
          <p:nvPr/>
        </p:nvSpPr>
        <p:spPr>
          <a:xfrm>
            <a:off x="8887968" y="3987515"/>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951976" y="3931920"/>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95" name="TextBox 94"/>
          <p:cNvSpPr txBox="1"/>
          <p:nvPr/>
        </p:nvSpPr>
        <p:spPr>
          <a:xfrm>
            <a:off x="9454896" y="3931920"/>
            <a:ext cx="384047"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96" name="TextBox 95"/>
          <p:cNvSpPr txBox="1"/>
          <p:nvPr/>
        </p:nvSpPr>
        <p:spPr>
          <a:xfrm>
            <a:off x="10094976" y="3931920"/>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97" name="TextBox 96"/>
          <p:cNvSpPr txBox="1"/>
          <p:nvPr/>
        </p:nvSpPr>
        <p:spPr>
          <a:xfrm>
            <a:off x="10597896" y="3931920"/>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Supervisors + QA Lead</a:t>
            </a:r>
          </a:p>
        </p:txBody>
      </p:sp>
      <p:sp>
        <p:nvSpPr>
          <p:cNvPr id="98" name="Rectangle 97"/>
          <p:cNvSpPr/>
          <p:nvPr/>
        </p:nvSpPr>
        <p:spPr>
          <a:xfrm>
            <a:off x="457200" y="4274629"/>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85216" y="4279392"/>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Chat critical: correct information</a:t>
            </a:r>
          </a:p>
        </p:txBody>
      </p:sp>
      <p:sp>
        <p:nvSpPr>
          <p:cNvPr id="100" name="TextBox 99"/>
          <p:cNvSpPr txBox="1"/>
          <p:nvPr/>
        </p:nvSpPr>
        <p:spPr>
          <a:xfrm>
            <a:off x="3785615" y="4279392"/>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297 of 372 process-fail chats still score 100. Proposed Chat QA 80.14. Measurement only — does not lift CSAT.</a:t>
            </a:r>
          </a:p>
        </p:txBody>
      </p:sp>
      <p:sp>
        <p:nvSpPr>
          <p:cNvPr id="101" name="TextBox 100"/>
          <p:cNvSpPr txBox="1"/>
          <p:nvPr/>
        </p:nvSpPr>
        <p:spPr>
          <a:xfrm>
            <a:off x="7991856" y="4279392"/>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Measure</a:t>
            </a:r>
          </a:p>
        </p:txBody>
      </p:sp>
      <p:sp>
        <p:nvSpPr>
          <p:cNvPr id="102" name="Rounded Rectangle 101"/>
          <p:cNvSpPr/>
          <p:nvPr/>
        </p:nvSpPr>
        <p:spPr>
          <a:xfrm>
            <a:off x="8887968" y="4334987"/>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951976" y="4279392"/>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104" name="TextBox 103"/>
          <p:cNvSpPr txBox="1"/>
          <p:nvPr/>
        </p:nvSpPr>
        <p:spPr>
          <a:xfrm>
            <a:off x="9454896" y="4279392"/>
            <a:ext cx="384047"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105" name="TextBox 104"/>
          <p:cNvSpPr txBox="1"/>
          <p:nvPr/>
        </p:nvSpPr>
        <p:spPr>
          <a:xfrm>
            <a:off x="10094976" y="4279392"/>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106" name="TextBox 105"/>
          <p:cNvSpPr txBox="1"/>
          <p:nvPr/>
        </p:nvSpPr>
        <p:spPr>
          <a:xfrm>
            <a:off x="10597896" y="4279392"/>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QA Lead</a:t>
            </a:r>
          </a:p>
        </p:txBody>
      </p:sp>
      <p:sp>
        <p:nvSpPr>
          <p:cNvPr id="107" name="Rectangle 106"/>
          <p:cNvSpPr/>
          <p:nvPr/>
        </p:nvSpPr>
        <p:spPr>
          <a:xfrm>
            <a:off x="457200" y="4622101"/>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457200" y="4626864"/>
            <a:ext cx="11292840" cy="347472"/>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85216" y="4626864"/>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Do not add Chat headcount (15.99% is a process gap)</a:t>
            </a:r>
          </a:p>
        </p:txBody>
      </p:sp>
      <p:sp>
        <p:nvSpPr>
          <p:cNvPr id="110" name="TextBox 109"/>
          <p:cNvSpPr txBox="1"/>
          <p:nvPr/>
        </p:nvSpPr>
        <p:spPr>
          <a:xfrm>
            <a:off x="3785615" y="4626864"/>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This report already explains the 15.99% (Chat is 67.2% of repeats). Fix the path, do not staff the wait.</a:t>
            </a:r>
          </a:p>
        </p:txBody>
      </p:sp>
      <p:sp>
        <p:nvSpPr>
          <p:cNvPr id="111" name="TextBox 110"/>
          <p:cNvSpPr txBox="1"/>
          <p:nvPr/>
        </p:nvSpPr>
        <p:spPr>
          <a:xfrm>
            <a:off x="7991856" y="4626864"/>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Constraint</a:t>
            </a:r>
          </a:p>
        </p:txBody>
      </p:sp>
      <p:sp>
        <p:nvSpPr>
          <p:cNvPr id="112" name="TextBox 111"/>
          <p:cNvSpPr txBox="1"/>
          <p:nvPr/>
        </p:nvSpPr>
        <p:spPr>
          <a:xfrm>
            <a:off x="8951976" y="4626864"/>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113" name="TextBox 112"/>
          <p:cNvSpPr txBox="1"/>
          <p:nvPr/>
        </p:nvSpPr>
        <p:spPr>
          <a:xfrm>
            <a:off x="9454896" y="4626864"/>
            <a:ext cx="384047"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114" name="Rounded Rectangle 113"/>
          <p:cNvSpPr/>
          <p:nvPr/>
        </p:nvSpPr>
        <p:spPr>
          <a:xfrm>
            <a:off x="10030968" y="4682459"/>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94976" y="4626864"/>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116" name="TextBox 115"/>
          <p:cNvSpPr txBox="1"/>
          <p:nvPr/>
        </p:nvSpPr>
        <p:spPr>
          <a:xfrm>
            <a:off x="10597896" y="4626864"/>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CX Ops</a:t>
            </a:r>
          </a:p>
        </p:txBody>
      </p:sp>
      <p:sp>
        <p:nvSpPr>
          <p:cNvPr id="117" name="Rectangle 116"/>
          <p:cNvSpPr/>
          <p:nvPr/>
        </p:nvSpPr>
        <p:spPr>
          <a:xfrm>
            <a:off x="457200" y="4969573"/>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85216" y="4974336"/>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Weekly closure rate + owner on unclosed cases</a:t>
            </a:r>
          </a:p>
        </p:txBody>
      </p:sp>
      <p:sp>
        <p:nvSpPr>
          <p:cNvPr id="119" name="TextBox 118"/>
          <p:cNvSpPr txBox="1"/>
          <p:nvPr/>
        </p:nvSpPr>
        <p:spPr>
          <a:xfrm>
            <a:off x="3785615" y="4974336"/>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527 followed process and did not close (QA 96.87). Closure vs CSAT R² 0.64; QA vs CSAT R² 0.023.</a:t>
            </a:r>
          </a:p>
        </p:txBody>
      </p:sp>
      <p:sp>
        <p:nvSpPr>
          <p:cNvPr id="120" name="TextBox 119"/>
          <p:cNvSpPr txBox="1"/>
          <p:nvPr/>
        </p:nvSpPr>
        <p:spPr>
          <a:xfrm>
            <a:off x="7991856" y="4974336"/>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Measure</a:t>
            </a:r>
          </a:p>
        </p:txBody>
      </p:sp>
      <p:sp>
        <p:nvSpPr>
          <p:cNvPr id="121" name="Rounded Rectangle 120"/>
          <p:cNvSpPr/>
          <p:nvPr/>
        </p:nvSpPr>
        <p:spPr>
          <a:xfrm>
            <a:off x="8887968" y="5029931"/>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951976" y="4974336"/>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123" name="Rounded Rectangle 122"/>
          <p:cNvSpPr/>
          <p:nvPr/>
        </p:nvSpPr>
        <p:spPr>
          <a:xfrm>
            <a:off x="9390888" y="5029931"/>
            <a:ext cx="512063"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454896" y="4974336"/>
            <a:ext cx="384047"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125" name="TextBox 124"/>
          <p:cNvSpPr txBox="1"/>
          <p:nvPr/>
        </p:nvSpPr>
        <p:spPr>
          <a:xfrm>
            <a:off x="10094976" y="4974336"/>
            <a:ext cx="246888"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126" name="TextBox 125"/>
          <p:cNvSpPr txBox="1"/>
          <p:nvPr/>
        </p:nvSpPr>
        <p:spPr>
          <a:xfrm>
            <a:off x="10597896" y="4974336"/>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QA Lead + CX Head</a:t>
            </a:r>
          </a:p>
        </p:txBody>
      </p:sp>
      <p:sp>
        <p:nvSpPr>
          <p:cNvPr id="127" name="Rectangle 126"/>
          <p:cNvSpPr/>
          <p:nvPr/>
        </p:nvSpPr>
        <p:spPr>
          <a:xfrm>
            <a:off x="457200" y="5317045"/>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57200" y="5321807"/>
            <a:ext cx="11292840" cy="347472"/>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85216" y="5321807"/>
            <a:ext cx="294436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Weekly QA and recontact by channel (human vs global)</a:t>
            </a:r>
          </a:p>
        </p:txBody>
      </p:sp>
      <p:sp>
        <p:nvSpPr>
          <p:cNvPr id="130" name="TextBox 129"/>
          <p:cNvSpPr txBox="1"/>
          <p:nvPr/>
        </p:nvSpPr>
        <p:spPr>
          <a:xfrm>
            <a:off x="3785615" y="5321807"/>
            <a:ext cx="395020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Official recontact 5.83% vs human 15.56%. Phone QA 83.04 vs Chat 96.01. Do not mix them.</a:t>
            </a:r>
          </a:p>
        </p:txBody>
      </p:sp>
      <p:sp>
        <p:nvSpPr>
          <p:cNvPr id="131" name="TextBox 130"/>
          <p:cNvSpPr txBox="1"/>
          <p:nvPr/>
        </p:nvSpPr>
        <p:spPr>
          <a:xfrm>
            <a:off x="7991856" y="5321807"/>
            <a:ext cx="704088"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Measure</a:t>
            </a:r>
          </a:p>
        </p:txBody>
      </p:sp>
      <p:sp>
        <p:nvSpPr>
          <p:cNvPr id="132" name="Rounded Rectangle 131"/>
          <p:cNvSpPr/>
          <p:nvPr/>
        </p:nvSpPr>
        <p:spPr>
          <a:xfrm>
            <a:off x="8887968" y="5377403"/>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951976" y="5321807"/>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134" name="TextBox 133"/>
          <p:cNvSpPr txBox="1"/>
          <p:nvPr/>
        </p:nvSpPr>
        <p:spPr>
          <a:xfrm>
            <a:off x="9454896" y="5321807"/>
            <a:ext cx="384047" cy="347472"/>
          </a:xfrm>
          <a:prstGeom prst="rect">
            <a:avLst/>
          </a:prstGeom>
          <a:noFill/>
        </p:spPr>
        <p:txBody>
          <a:bodyPr wrap="square" lIns="0" rIns="0" tIns="0" bIns="0" anchor="ctr">
            <a:spAutoFit/>
          </a:bodyPr>
          <a:lstStyle/>
          <a:p>
            <a:pPr algn="r">
              <a:lnSpc>
                <a:spcPct val="115000"/>
              </a:lnSpc>
              <a:spcAft>
                <a:spcPts val="0"/>
              </a:spcAft>
            </a:pPr>
            <a:r>
              <a:rPr sz="720" b="0">
                <a:solidFill>
                  <a:srgbClr val="4B5563"/>
                </a:solidFill>
                <a:latin typeface="Inter"/>
              </a:rPr>
              <a:t>—</a:t>
            </a:r>
          </a:p>
        </p:txBody>
      </p:sp>
      <p:sp>
        <p:nvSpPr>
          <p:cNvPr id="135" name="Rounded Rectangle 134"/>
          <p:cNvSpPr/>
          <p:nvPr/>
        </p:nvSpPr>
        <p:spPr>
          <a:xfrm>
            <a:off x="10030968" y="5377403"/>
            <a:ext cx="374904" cy="236280"/>
          </a:xfrm>
          <a:prstGeom prst="roundRect">
            <a:avLst>
              <a:gd name="adj" fmla="val 19349"/>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0094976" y="5321807"/>
            <a:ext cx="246888" cy="347472"/>
          </a:xfrm>
          <a:prstGeom prst="rect">
            <a:avLst/>
          </a:prstGeom>
          <a:noFill/>
        </p:spPr>
        <p:txBody>
          <a:bodyPr wrap="square" lIns="0" rIns="0" tIns="0" bIns="0" anchor="ctr">
            <a:spAutoFit/>
          </a:bodyPr>
          <a:lstStyle/>
          <a:p>
            <a:pPr algn="r">
              <a:lnSpc>
                <a:spcPct val="115000"/>
              </a:lnSpc>
              <a:spcAft>
                <a:spcPts val="0"/>
              </a:spcAft>
            </a:pPr>
            <a:r>
              <a:rPr sz="720" b="1">
                <a:solidFill>
                  <a:srgbClr val="16A34A"/>
                </a:solidFill>
                <a:latin typeface="Inter"/>
              </a:rPr>
              <a:t>Yes</a:t>
            </a:r>
          </a:p>
        </p:txBody>
      </p:sp>
      <p:sp>
        <p:nvSpPr>
          <p:cNvPr id="137" name="TextBox 136"/>
          <p:cNvSpPr txBox="1"/>
          <p:nvPr/>
        </p:nvSpPr>
        <p:spPr>
          <a:xfrm>
            <a:off x="10597896" y="5321807"/>
            <a:ext cx="1024127" cy="347472"/>
          </a:xfrm>
          <a:prstGeom prst="rect">
            <a:avLst/>
          </a:prstGeom>
          <a:noFill/>
        </p:spPr>
        <p:txBody>
          <a:bodyPr wrap="square" lIns="0" rIns="0" tIns="0" bIns="0" anchor="ctr">
            <a:spAutoFit/>
          </a:bodyPr>
          <a:lstStyle/>
          <a:p>
            <a:pPr algn="l">
              <a:lnSpc>
                <a:spcPct val="115000"/>
              </a:lnSpc>
              <a:spcAft>
                <a:spcPts val="0"/>
              </a:spcAft>
            </a:pPr>
            <a:r>
              <a:rPr sz="720" b="0">
                <a:solidFill>
                  <a:srgbClr val="4B5563"/>
                </a:solidFill>
                <a:latin typeface="Inter"/>
              </a:rPr>
              <a:t>CX Analytics</a:t>
            </a:r>
          </a:p>
        </p:txBody>
      </p:sp>
      <p:sp>
        <p:nvSpPr>
          <p:cNvPr id="138" name="Rectangle 137"/>
          <p:cNvSpPr/>
          <p:nvPr/>
        </p:nvSpPr>
        <p:spPr>
          <a:xfrm>
            <a:off x="457200" y="5664517"/>
            <a:ext cx="11292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57200" y="5760720"/>
            <a:ext cx="11277295" cy="292608"/>
          </a:xfrm>
          <a:prstGeom prst="rect">
            <a:avLst/>
          </a:prstGeom>
          <a:noFill/>
        </p:spPr>
        <p:txBody>
          <a:bodyPr wrap="square" lIns="0" rIns="0" tIns="0" bIns="0" anchor="t">
            <a:spAutoFit/>
          </a:bodyPr>
          <a:lstStyle/>
          <a:p>
            <a:pPr algn="l">
              <a:lnSpc>
                <a:spcPct val="115000"/>
              </a:lnSpc>
              <a:spcAft>
                <a:spcPts val="0"/>
              </a:spcAft>
            </a:pPr>
            <a:r>
              <a:rPr sz="850" b="0">
                <a:solidFill>
                  <a:srgbClr val="6B7280"/>
                </a:solidFill>
                <a:latin typeface="Inter"/>
              </a:rPr>
              <a:t>12 unique actions. Tagged 8 to QA, 6 to CSAT, 4 to Recontact (a shared action counts in more than one column). Coach = agent skill. Outcome = customer result. Measure = how we score. Constraint = what we will not do.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rIns="0" t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
            <a:ext cx="9601200" cy="292608"/>
          </a:xfrm>
          <a:prstGeom prst="rect">
            <a:avLst/>
          </a:prstGeom>
          <a:noFill/>
        </p:spPr>
        <p:txBody>
          <a:bodyPr wrap="square" lIns="0" rIns="0" tIns="0" bIns="0" anchor="t">
            <a:spAutoFit/>
          </a:bodyPr>
          <a:lstStyle/>
          <a:p>
            <a:pPr algn="l">
              <a:lnSpc>
                <a:spcPct val="115000"/>
              </a:lnSpc>
              <a:spcAft>
                <a:spcPts val="0"/>
              </a:spcAft>
            </a:pPr>
            <a:r>
              <a:rPr sz="1800" b="1">
                <a:solidFill>
                  <a:srgbClr val="FFFFFF"/>
                </a:solidFill>
                <a:latin typeface="Inter"/>
              </a:rPr>
              <a:t>The recommendation</a:t>
            </a:r>
          </a:p>
        </p:txBody>
      </p:sp>
      <p:sp>
        <p:nvSpPr>
          <p:cNvPr id="8" name="TextBox 7"/>
          <p:cNvSpPr txBox="1"/>
          <p:nvPr/>
        </p:nvSpPr>
        <p:spPr>
          <a:xfrm>
            <a:off x="1645920" y="530352"/>
            <a:ext cx="9601200" cy="219456"/>
          </a:xfrm>
          <a:prstGeom prst="rect">
            <a:avLst/>
          </a:prstGeom>
          <a:noFill/>
        </p:spPr>
        <p:txBody>
          <a:bodyPr wrap="square" lIns="0" rIns="0" tIns="0" bIns="0" anchor="t">
            <a:spAutoFit/>
          </a:bodyPr>
          <a:lstStyle/>
          <a:p>
            <a:pPr algn="l">
              <a:lnSpc>
                <a:spcPct val="115000"/>
              </a:lnSpc>
              <a:spcAft>
                <a:spcPts val="0"/>
              </a:spcAft>
            </a:pPr>
            <a:r>
              <a:rPr sz="950" b="0">
                <a:solidFill>
                  <a:srgbClr val="9CA3AF"/>
                </a:solidFill>
                <a:latin typeface="Inter"/>
              </a:rPr>
              <a:t>Process compliance looks healthy. Customer outcome does not.</a:t>
            </a:r>
          </a:p>
        </p:txBody>
      </p:sp>
      <p:sp>
        <p:nvSpPr>
          <p:cNvPr id="9" name="TextBox 8"/>
          <p:cNvSpPr txBox="1"/>
          <p:nvPr/>
        </p:nvSpPr>
        <p:spPr>
          <a:xfrm>
            <a:off x="8991295" y="329184"/>
            <a:ext cx="2743200" cy="237744"/>
          </a:xfrm>
          <a:prstGeom prst="rect">
            <a:avLst/>
          </a:prstGeom>
          <a:noFill/>
        </p:spPr>
        <p:txBody>
          <a:bodyPr wrap="square" lIns="0" rIns="0" tIns="0" bIns="0" anchor="t">
            <a:spAutoFit/>
          </a:bodyPr>
          <a:lstStyle/>
          <a:p>
            <a:pPr algn="r">
              <a:lnSpc>
                <a:spcPct val="115000"/>
              </a:lnSpc>
              <a:spcAft>
                <a:spcPts val="0"/>
              </a:spcAft>
            </a:pPr>
            <a:r>
              <a:rPr sz="900" b="1">
                <a:solidFill>
                  <a:srgbClr val="FF6600"/>
                </a:solidFill>
                <a:latin typeface="Inter"/>
              </a:rPr>
              <a:t>32 / 32</a:t>
            </a:r>
          </a:p>
        </p:txBody>
      </p:sp>
      <p:sp>
        <p:nvSpPr>
          <p:cNvPr id="10" name="TextBox 9"/>
          <p:cNvSpPr txBox="1"/>
          <p:nvPr/>
        </p:nvSpPr>
        <p:spPr>
          <a:xfrm>
            <a:off x="457200" y="6473952"/>
            <a:ext cx="11277295" cy="219456"/>
          </a:xfrm>
          <a:prstGeom prst="rect">
            <a:avLst/>
          </a:prstGeom>
          <a:noFill/>
        </p:spPr>
        <p:txBody>
          <a:bodyPr wrap="square" lIns="0" rIns="0" t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7295" cy="2267712"/>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207008"/>
            <a:ext cx="38404" cy="226771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1389888"/>
            <a:ext cx="10710367" cy="292608"/>
          </a:xfrm>
          <a:prstGeom prst="rect">
            <a:avLst/>
          </a:prstGeom>
          <a:noFill/>
        </p:spPr>
        <p:txBody>
          <a:bodyPr wrap="square" lIns="0" rIns="0" tIns="0" bIns="0" anchor="t">
            <a:spAutoFit/>
          </a:bodyPr>
          <a:lstStyle/>
          <a:p>
            <a:pPr algn="l">
              <a:lnSpc>
                <a:spcPct val="115000"/>
              </a:lnSpc>
              <a:spcAft>
                <a:spcPts val="0"/>
              </a:spcAft>
            </a:pPr>
            <a:r>
              <a:rPr sz="1500" b="1">
                <a:solidFill>
                  <a:srgbClr val="1A1A1A"/>
                </a:solidFill>
                <a:latin typeface="Inter"/>
              </a:rPr>
              <a:t>What this month is telling us</a:t>
            </a:r>
          </a:p>
        </p:txBody>
      </p:sp>
      <p:sp>
        <p:nvSpPr>
          <p:cNvPr id="14" name="TextBox 13"/>
          <p:cNvSpPr txBox="1"/>
          <p:nvPr/>
        </p:nvSpPr>
        <p:spPr>
          <a:xfrm>
            <a:off x="768096" y="1773936"/>
            <a:ext cx="10710367" cy="1554480"/>
          </a:xfrm>
          <a:prstGeom prst="rect">
            <a:avLst/>
          </a:prstGeom>
          <a:noFill/>
        </p:spPr>
        <p:txBody>
          <a:bodyPr wrap="square" lIns="0" rIns="0" tIns="0" bIns="0" anchor="t">
            <a:spAutoFit/>
          </a:bodyPr>
          <a:lstStyle/>
          <a:p>
            <a:pPr algn="l">
              <a:lnSpc>
                <a:spcPct val="132000"/>
              </a:lnSpc>
              <a:spcAft>
                <a:spcPts val="400"/>
              </a:spcAft>
            </a:pPr>
            <a:r>
              <a:rPr sz="1300" b="0">
                <a:solidFill>
                  <a:srgbClr val="4B5563"/>
                </a:solidFill>
                <a:latin typeface="Inter"/>
              </a:rPr>
              <a:t>Our operation looks healthy when we measure agent process compliance (QA 94.14), but the customer outcome tells a different story. Blended CSAT is 79.95% against 85% (Phone 86.3%, Chat 77.6%), and human-channel recontact is 15.56%, nearly three times the 5.44% goal. The largest gaps sit in contact reasons where agents cannot close the case: policy, tooling, or no visibility. The priority is not simply more coaching. Measure resolution. Fix the QA scoring gaps. Give agents a way to close the highest-volume failure reasons.</a:t>
            </a:r>
          </a:p>
        </p:txBody>
      </p:sp>
      <p:sp>
        <p:nvSpPr>
          <p:cNvPr id="15" name="TextBox 14"/>
          <p:cNvSpPr txBox="1"/>
          <p:nvPr/>
        </p:nvSpPr>
        <p:spPr>
          <a:xfrm>
            <a:off x="457200" y="3657600"/>
            <a:ext cx="11277295" cy="219456"/>
          </a:xfrm>
          <a:prstGeom prst="rect">
            <a:avLst/>
          </a:prstGeom>
          <a:noFill/>
        </p:spPr>
        <p:txBody>
          <a:bodyPr wrap="square" lIns="0" rIns="0" tIns="0" bIns="0" anchor="t">
            <a:spAutoFit/>
          </a:bodyPr>
          <a:lstStyle/>
          <a:p>
            <a:pPr algn="l">
              <a:lnSpc>
                <a:spcPct val="115000"/>
              </a:lnSpc>
              <a:spcAft>
                <a:spcPts val="0"/>
              </a:spcAft>
            </a:pPr>
            <a:r>
              <a:rPr sz="1100" b="1">
                <a:solidFill>
                  <a:srgbClr val="1A1A1A"/>
                </a:solidFill>
                <a:latin typeface="Inter"/>
              </a:rPr>
              <a:t>Three things to do</a:t>
            </a:r>
          </a:p>
        </p:txBody>
      </p:sp>
      <p:sp>
        <p:nvSpPr>
          <p:cNvPr id="16" name="Rounded Rectangle 15"/>
          <p:cNvSpPr/>
          <p:nvPr/>
        </p:nvSpPr>
        <p:spPr>
          <a:xfrm>
            <a:off x="457200"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133087"/>
            <a:ext cx="3247034" cy="219456"/>
          </a:xfrm>
          <a:prstGeom prst="rect">
            <a:avLst/>
          </a:prstGeom>
          <a:noFill/>
        </p:spPr>
        <p:txBody>
          <a:bodyPr wrap="square" lIns="0" rIns="0" tIns="0" bIns="0" anchor="t">
            <a:spAutoFit/>
          </a:bodyPr>
          <a:lstStyle/>
          <a:p>
            <a:pPr algn="l">
              <a:lnSpc>
                <a:spcPct val="115000"/>
              </a:lnSpc>
              <a:spcAft>
                <a:spcPts val="0"/>
              </a:spcAft>
            </a:pPr>
            <a:r>
              <a:rPr sz="1000" b="1">
                <a:solidFill>
                  <a:srgbClr val="1A1A1A"/>
                </a:solidFill>
                <a:latin typeface="Inter"/>
              </a:rPr>
              <a:t>Measure resolution</a:t>
            </a:r>
          </a:p>
        </p:txBody>
      </p:sp>
      <p:sp>
        <p:nvSpPr>
          <p:cNvPr id="18" name="TextBox 17"/>
          <p:cNvSpPr txBox="1"/>
          <p:nvPr/>
        </p:nvSpPr>
        <p:spPr>
          <a:xfrm>
            <a:off x="658368" y="4407408"/>
            <a:ext cx="3247034" cy="1389888"/>
          </a:xfrm>
          <a:prstGeom prst="rect">
            <a:avLst/>
          </a:prstGeom>
          <a:noFill/>
        </p:spPr>
        <p:txBody>
          <a:bodyPr wrap="square" lIns="0" rIns="0" tIns="0" bIns="0" anchor="t">
            <a:spAutoFit/>
          </a:bodyPr>
          <a:lstStyle/>
          <a:p>
            <a:pPr algn="l">
              <a:lnSpc>
                <a:spcPct val="128000"/>
              </a:lnSpc>
              <a:spcAft>
                <a:spcPts val="0"/>
              </a:spcAft>
            </a:pPr>
            <a:r>
              <a:rPr sz="1100" b="0">
                <a:solidFill>
                  <a:srgbClr val="4B5563"/>
                </a:solidFill>
                <a:latin typeface="Inter"/>
              </a:rPr>
              <a:t>Put % closed next to QA, by contact reason. Closure is strongly associated with CSAT and is a more meaningful indicator of customer outcome than current QA. Close-rate vs CSAT: R² 0.64.</a:t>
            </a:r>
          </a:p>
        </p:txBody>
      </p:sp>
      <p:sp>
        <p:nvSpPr>
          <p:cNvPr id="19" name="Rounded Rectangle 18"/>
          <p:cNvSpPr/>
          <p:nvPr/>
        </p:nvSpPr>
        <p:spPr>
          <a:xfrm>
            <a:off x="4271162"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4133087"/>
            <a:ext cx="3247034" cy="219456"/>
          </a:xfrm>
          <a:prstGeom prst="rect">
            <a:avLst/>
          </a:prstGeom>
          <a:noFill/>
        </p:spPr>
        <p:txBody>
          <a:bodyPr wrap="square" lIns="0" rIns="0" tIns="0" bIns="0" anchor="t">
            <a:spAutoFit/>
          </a:bodyPr>
          <a:lstStyle/>
          <a:p>
            <a:pPr algn="l">
              <a:lnSpc>
                <a:spcPct val="115000"/>
              </a:lnSpc>
              <a:spcAft>
                <a:spcPts val="0"/>
              </a:spcAft>
            </a:pPr>
            <a:r>
              <a:rPr sz="1000" b="1">
                <a:solidFill>
                  <a:srgbClr val="1A1A1A"/>
                </a:solidFill>
                <a:latin typeface="Inter"/>
              </a:rPr>
              <a:t>Fix the QA scoring gaps</a:t>
            </a:r>
          </a:p>
        </p:txBody>
      </p:sp>
      <p:sp>
        <p:nvSpPr>
          <p:cNvPr id="21" name="TextBox 20"/>
          <p:cNvSpPr txBox="1"/>
          <p:nvPr/>
        </p:nvSpPr>
        <p:spPr>
          <a:xfrm>
            <a:off x="4472330" y="4407408"/>
            <a:ext cx="3247034" cy="1389888"/>
          </a:xfrm>
          <a:prstGeom prst="rect">
            <a:avLst/>
          </a:prstGeom>
          <a:noFill/>
        </p:spPr>
        <p:txBody>
          <a:bodyPr wrap="square" lIns="0" rIns="0" tIns="0" bIns="0" anchor="t">
            <a:spAutoFit/>
          </a:bodyPr>
          <a:lstStyle/>
          <a:p>
            <a:pPr algn="l">
              <a:lnSpc>
                <a:spcPct val="128000"/>
              </a:lnSpc>
              <a:spcAft>
                <a:spcPts val="0"/>
              </a:spcAft>
            </a:pPr>
            <a:r>
              <a:rPr sz="1100" b="0">
                <a:solidFill>
                  <a:srgbClr val="4B5563"/>
                </a:solidFill>
                <a:latin typeface="Inter"/>
              </a:rPr>
              <a:t>Current Chat QA: 96.01. Adjusted QA under proposed scoring: 80.14. The second is a scenario if process-fails scored 0, not today's score.</a:t>
            </a:r>
          </a:p>
        </p:txBody>
      </p:sp>
      <p:sp>
        <p:nvSpPr>
          <p:cNvPr id="22" name="Rounded Rectangle 21"/>
          <p:cNvSpPr/>
          <p:nvPr/>
        </p:nvSpPr>
        <p:spPr>
          <a:xfrm>
            <a:off x="8085124"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6292" y="4133087"/>
            <a:ext cx="3247034" cy="219456"/>
          </a:xfrm>
          <a:prstGeom prst="rect">
            <a:avLst/>
          </a:prstGeom>
          <a:noFill/>
        </p:spPr>
        <p:txBody>
          <a:bodyPr wrap="square" lIns="0" rIns="0" tIns="0" bIns="0" anchor="t">
            <a:spAutoFit/>
          </a:bodyPr>
          <a:lstStyle/>
          <a:p>
            <a:pPr algn="l">
              <a:lnSpc>
                <a:spcPct val="115000"/>
              </a:lnSpc>
              <a:spcAft>
                <a:spcPts val="0"/>
              </a:spcAft>
            </a:pPr>
            <a:r>
              <a:rPr sz="1000" b="1">
                <a:solidFill>
                  <a:srgbClr val="1A1A1A"/>
                </a:solidFill>
                <a:latin typeface="Inter"/>
              </a:rPr>
              <a:t>Let agents close the case</a:t>
            </a:r>
          </a:p>
        </p:txBody>
      </p:sp>
      <p:sp>
        <p:nvSpPr>
          <p:cNvPr id="24" name="TextBox 23"/>
          <p:cNvSpPr txBox="1"/>
          <p:nvPr/>
        </p:nvSpPr>
        <p:spPr>
          <a:xfrm>
            <a:off x="8286292" y="4407408"/>
            <a:ext cx="3247034" cy="1389888"/>
          </a:xfrm>
          <a:prstGeom prst="rect">
            <a:avLst/>
          </a:prstGeom>
          <a:noFill/>
        </p:spPr>
        <p:txBody>
          <a:bodyPr wrap="square" lIns="0" rIns="0" tIns="0" bIns="0" anchor="t">
            <a:spAutoFit/>
          </a:bodyPr>
          <a:lstStyle/>
          <a:p>
            <a:pPr algn="l">
              <a:lnSpc>
                <a:spcPct val="128000"/>
              </a:lnSpc>
              <a:spcAft>
                <a:spcPts val="0"/>
              </a:spcAft>
            </a:pPr>
            <a:r>
              <a:rPr sz="1100" b="0">
                <a:solidFill>
                  <a:srgbClr val="4B5563"/>
                </a:solidFill>
                <a:latin typeface="Inter"/>
              </a:rPr>
              <a:t>Policy, tools, and visibility on the highest-volume failure reasons. The priority is the process constraint, not only agent coaching.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