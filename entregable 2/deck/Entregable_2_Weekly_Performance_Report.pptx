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88" r:id="rId5"/>
    <p:sldId id="287" r:id="rId6"/>
    <p:sldId id="260" r:id="rId7"/>
    <p:sldId id="261" r:id="rId8"/>
    <p:sldId id="262" r:id="rId9"/>
    <p:sldId id="263" r:id="rId10"/>
    <p:sldId id="264" r:id="rId11"/>
    <p:sldId id="265" r:id="rId12"/>
    <p:sldId id="290" r:id="rId39"/>
    <p:sldId id="266" r:id="rId13"/>
    <p:sldId id="291" r:id="rId40"/>
    <p:sldId id="267" r:id="rId14"/>
    <p:sldId id="289" r:id="rId15"/>
    <p:sldId id="268" r:id="rId16"/>
    <p:sldId id="292" r:id="rId41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6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4660"/>
  </p:normalViewPr>
  <p:slideViewPr>
    <p:cSldViewPr snapToGrid="0" snapToObjects="1">
      <p:cViewPr varScale="1">
        <p:scale>
          <a:sx n="76" d="100"/>
          <a:sy n="76" d="100"/>
        </p:scale>
        <p:origin x="67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3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9.xml"/><Relationship Id="rId18" Type="http://schemas.openxmlformats.org/officeDocument/2006/relationships/slide" Target="slides/slide20.xml"/><Relationship Id="rId19" Type="http://schemas.openxmlformats.org/officeDocument/2006/relationships/slide" Target="slides/slide21.xml"/><Relationship Id="rId20" Type="http://schemas.openxmlformats.org/officeDocument/2006/relationships/slide" Target="slides/slide22.xml"/><Relationship Id="rId21" Type="http://schemas.openxmlformats.org/officeDocument/2006/relationships/slide" Target="slides/slide23.xml"/><Relationship Id="rId22" Type="http://schemas.openxmlformats.org/officeDocument/2006/relationships/slide" Target="slides/slide24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8.xml"/><Relationship Id="rId27" Type="http://schemas.openxmlformats.org/officeDocument/2006/relationships/slide" Target="slides/slide29.xml"/><Relationship Id="rId28" Type="http://schemas.openxmlformats.org/officeDocument/2006/relationships/slide" Target="slides/slide30.xml"/><Relationship Id="rId29" Type="http://schemas.openxmlformats.org/officeDocument/2006/relationships/slide" Target="slides/slide31.xml"/><Relationship Id="rId30" Type="http://schemas.openxmlformats.org/officeDocument/2006/relationships/slide" Target="slides/slide32.xml"/><Relationship Id="rId31" Type="http://schemas.openxmlformats.org/officeDocument/2006/relationships/slide" Target="slides/slide33.xml"/><Relationship Id="rId32" Type="http://schemas.openxmlformats.org/officeDocument/2006/relationships/slide" Target="slides/slide34.xml"/><Relationship Id="rId33" Type="http://schemas.openxmlformats.org/officeDocument/2006/relationships/slide" Target="slides/slide35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Relationship Id="rId39" Type="http://schemas.openxmlformats.org/officeDocument/2006/relationships/slide" Target="slides/slide12.xml"/><Relationship Id="rId40" Type="http://schemas.openxmlformats.org/officeDocument/2006/relationships/slide" Target="slides/slide14.xml"/><Relationship Id="rId41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D53C56-7DDE-4BA8-B842-F415930613B1}" type="datetimeFigureOut">
              <a:rPr lang="es-CO" smtClean="0"/>
              <a:t>23/08/2026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2515C4-BB41-4546-96AD-5D78A827828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728951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2515C4-BB41-4546-96AD-5D78A8278280}" type="slidenum">
              <a:rPr lang="es-CO" smtClean="0"/>
              <a:t>11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17137957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4871" y="1481328"/>
            <a:ext cx="566928" cy="5669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8103" y="1481328"/>
            <a:ext cx="1188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11277295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Inter"/>
              </a:rPr>
              <a:t>Weekly Performance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18688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C9CCD1"/>
                </a:solidFill>
                <a:latin typeface="Inter"/>
              </a:rPr>
              <a:t>CX Service Operations  ·  Delivery LOB  ·  Phone and Live Chat</a:t>
            </a:r>
          </a:p>
        </p:txBody>
      </p:sp>
      <p:sp>
        <p:nvSpPr>
          <p:cNvPr id="7" name="Rectangle 6"/>
          <p:cNvSpPr/>
          <p:nvPr/>
        </p:nvSpPr>
        <p:spPr>
          <a:xfrm>
            <a:off x="5638647" y="3803904"/>
            <a:ext cx="914400" cy="32004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4041648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A8ACB3"/>
                </a:solidFill>
                <a:latin typeface="Inter"/>
              </a:rPr>
              <a:t>Deliverable 2: CX Quality Analyst business case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95447" y="5065776"/>
            <a:ext cx="457200" cy="393192"/>
          </a:xfrm>
          <a:prstGeom prst="roundRect">
            <a:avLst>
              <a:gd name="adj" fmla="val 16279"/>
            </a:avLst>
          </a:prstGeom>
          <a:noFill/>
          <a:ln w="15875">
            <a:solidFill>
              <a:srgbClr val="FF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913735" y="5084064"/>
            <a:ext cx="420624" cy="6858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003346" y="4983480"/>
            <a:ext cx="40233" cy="8229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04514" y="4983480"/>
            <a:ext cx="40233" cy="8229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017062" y="5239512"/>
            <a:ext cx="41148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103930" y="5239512"/>
            <a:ext cx="41148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190798" y="5239512"/>
            <a:ext cx="41148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017062" y="5367528"/>
            <a:ext cx="41148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103930" y="5367528"/>
            <a:ext cx="41148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190798" y="5367528"/>
            <a:ext cx="41148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569567" y="5660136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dirty="0">
                <a:solidFill>
                  <a:srgbClr val="A8ACB3"/>
                </a:solidFill>
                <a:latin typeface="Inter"/>
              </a:rPr>
              <a:t>1–31 May 2026  ·  W19–W22</a:t>
            </a:r>
          </a:p>
        </p:txBody>
      </p:sp>
      <p:sp>
        <p:nvSpPr>
          <p:cNvPr id="20" name="Oval 19"/>
          <p:cNvSpPr/>
          <p:nvPr/>
        </p:nvSpPr>
        <p:spPr>
          <a:xfrm>
            <a:off x="5867247" y="5001768"/>
            <a:ext cx="457200" cy="457200"/>
          </a:xfrm>
          <a:prstGeom prst="ellipse">
            <a:avLst/>
          </a:prstGeom>
          <a:noFill/>
          <a:ln w="15875">
            <a:solidFill>
              <a:srgbClr val="FF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999835" y="5001768"/>
            <a:ext cx="192024" cy="457200"/>
          </a:xfrm>
          <a:prstGeom prst="ellipse">
            <a:avLst/>
          </a:prstGeom>
          <a:noFill/>
          <a:ln w="12700">
            <a:solidFill>
              <a:srgbClr val="FF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867247" y="5224018"/>
            <a:ext cx="457200" cy="1270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890107" y="5123433"/>
            <a:ext cx="411479" cy="1270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41367" y="5660136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A8ACB3"/>
                </a:solidFill>
                <a:latin typeface="Inter"/>
              </a:rPr>
              <a:t>MX  ·  CO  ·  CR  ·  PE</a:t>
            </a:r>
          </a:p>
        </p:txBody>
      </p:sp>
      <p:sp>
        <p:nvSpPr>
          <p:cNvPr id="25" name="Oval 24"/>
          <p:cNvSpPr/>
          <p:nvPr/>
        </p:nvSpPr>
        <p:spPr>
          <a:xfrm>
            <a:off x="8989923" y="5020055"/>
            <a:ext cx="155448" cy="155448"/>
          </a:xfrm>
          <a:prstGeom prst="ellipse">
            <a:avLst/>
          </a:prstGeom>
          <a:noFill/>
          <a:ln w="15875">
            <a:solidFill>
              <a:srgbClr val="FF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8930487" y="5221224"/>
            <a:ext cx="274320" cy="164592"/>
          </a:xfrm>
          <a:prstGeom prst="roundRect">
            <a:avLst>
              <a:gd name="adj" fmla="val 47222"/>
            </a:avLst>
          </a:prstGeom>
          <a:noFill/>
          <a:ln w="15875">
            <a:solidFill>
              <a:srgbClr val="FF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8843619" y="5065776"/>
            <a:ext cx="118872" cy="118872"/>
          </a:xfrm>
          <a:prstGeom prst="ellipse">
            <a:avLst/>
          </a:prstGeom>
          <a:noFill/>
          <a:ln w="12700">
            <a:solidFill>
              <a:srgbClr val="FF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8802471" y="5248655"/>
            <a:ext cx="146304" cy="128016"/>
          </a:xfrm>
          <a:prstGeom prst="roundRect">
            <a:avLst>
              <a:gd name="adj" fmla="val 46428"/>
            </a:avLst>
          </a:prstGeom>
          <a:noFill/>
          <a:ln w="12700">
            <a:solidFill>
              <a:srgbClr val="FF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172803" y="5065776"/>
            <a:ext cx="118872" cy="118872"/>
          </a:xfrm>
          <a:prstGeom prst="ellipse">
            <a:avLst/>
          </a:prstGeom>
          <a:noFill/>
          <a:ln w="12700">
            <a:solidFill>
              <a:srgbClr val="FF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9186519" y="5248655"/>
            <a:ext cx="146304" cy="128016"/>
          </a:xfrm>
          <a:prstGeom prst="roundRect">
            <a:avLst>
              <a:gd name="adj" fmla="val 46428"/>
            </a:avLst>
          </a:prstGeom>
          <a:noFill/>
          <a:ln w="12700">
            <a:solidFill>
              <a:srgbClr val="FF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513167" y="5660136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A8ACB3"/>
                </a:solidFill>
                <a:latin typeface="Inter"/>
              </a:rPr>
              <a:t>Prepared for CX Leadership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01 / 35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Scope, data and assumptions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588388"/>
            <a:ext cx="9601200" cy="158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950" b="0" dirty="0">
                <a:solidFill>
                  <a:srgbClr val="9CA3AF"/>
                </a:solidFill>
                <a:latin typeface="Inter"/>
              </a:rPr>
              <a:t>Data governance, processing methodology, and structural scope boundary conditions.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02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grpSp>
        <p:nvGrpSpPr>
          <p:cNvPr id="65" name="Grupo 64">
            <a:extLst>
              <a:ext uri="{FF2B5EF4-FFF2-40B4-BE49-F238E27FC236}">
                <a16:creationId xmlns:a16="http://schemas.microsoft.com/office/drawing/2014/main" id="{ED0314BB-D62C-2727-52A1-ECEEC8D0CC41}"/>
              </a:ext>
            </a:extLst>
          </p:cNvPr>
          <p:cNvGrpSpPr/>
          <p:nvPr/>
        </p:nvGrpSpPr>
        <p:grpSpPr>
          <a:xfrm>
            <a:off x="457200" y="1280160"/>
            <a:ext cx="11274552" cy="2290762"/>
            <a:chOff x="457200" y="1280160"/>
            <a:chExt cx="11274552" cy="2290762"/>
          </a:xfrm>
        </p:grpSpPr>
        <p:sp>
          <p:nvSpPr>
            <p:cNvPr id="11" name="Rectangle 10"/>
            <p:cNvSpPr/>
            <p:nvPr/>
          </p:nvSpPr>
          <p:spPr>
            <a:xfrm>
              <a:off x="457200" y="1280160"/>
              <a:ext cx="11274552" cy="384048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3200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85216" y="1380558"/>
              <a:ext cx="1618487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1">
                  <a:solidFill>
                    <a:srgbClr val="FFFFFF"/>
                  </a:solidFill>
                  <a:latin typeface="Inter"/>
                </a:rPr>
                <a:t>Source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459736" y="1380558"/>
              <a:ext cx="271576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1">
                  <a:solidFill>
                    <a:srgbClr val="FFFFFF"/>
                  </a:solidFill>
                  <a:latin typeface="Inter"/>
                </a:rPr>
                <a:t>Grain: one row is…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431536" y="1380558"/>
              <a:ext cx="97840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1">
                  <a:solidFill>
                    <a:srgbClr val="FFFFFF"/>
                  </a:solidFill>
                  <a:latin typeface="Inter"/>
                </a:rPr>
                <a:t>Volume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665976" y="1380558"/>
              <a:ext cx="116128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1">
                  <a:solidFill>
                    <a:srgbClr val="FFFFFF"/>
                  </a:solidFill>
                  <a:latin typeface="Inter"/>
                </a:rPr>
                <a:t>Period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083296" y="1380558"/>
              <a:ext cx="3520439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1">
                  <a:solidFill>
                    <a:srgbClr val="FFFFFF"/>
                  </a:solidFill>
                  <a:latin typeface="Inter"/>
                </a:rPr>
                <a:t>What it answers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85216" y="1810326"/>
              <a:ext cx="1618487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1">
                  <a:solidFill>
                    <a:srgbClr val="4B5563"/>
                  </a:solidFill>
                  <a:latin typeface="Inter"/>
                </a:rPr>
                <a:t>QA audits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459736" y="1810326"/>
              <a:ext cx="271576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One audited interaction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431536" y="1810326"/>
              <a:ext cx="97840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2,460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665976" y="1810326"/>
              <a:ext cx="116128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4–29 May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8083296" y="1810326"/>
              <a:ext cx="3520439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QA score, attribute defects, channel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457200" y="2134933"/>
              <a:ext cx="1127455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3200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57200" y="2139696"/>
              <a:ext cx="11274552" cy="475488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3200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85216" y="2285814"/>
              <a:ext cx="1618487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1" dirty="0">
                  <a:solidFill>
                    <a:srgbClr val="4B5563"/>
                  </a:solidFill>
                  <a:latin typeface="Inter"/>
                </a:rPr>
                <a:t>QA attribute fails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2459736" y="2285814"/>
              <a:ext cx="271576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One failed attribute in an audit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5431536" y="2285814"/>
              <a:ext cx="97840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518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6665976" y="2285814"/>
              <a:ext cx="116128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4–29 May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8083296" y="2285814"/>
              <a:ext cx="3520439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Pareto of defects, critical vs non-critical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457200" y="2610421"/>
              <a:ext cx="1127455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3200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585216" y="2761302"/>
              <a:ext cx="1618487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1">
                  <a:solidFill>
                    <a:srgbClr val="4B5563"/>
                  </a:solidFill>
                  <a:latin typeface="Inter"/>
                </a:rPr>
                <a:t>CSAT surveys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2459736" y="2761302"/>
              <a:ext cx="271576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 dirty="0">
                  <a:solidFill>
                    <a:srgbClr val="4B5563"/>
                  </a:solidFill>
                  <a:latin typeface="Inter"/>
                </a:rPr>
                <a:t>One survey answer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5431536" y="2761302"/>
              <a:ext cx="97840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77,266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6665976" y="2761302"/>
              <a:ext cx="116128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1–31 May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083296" y="2761302"/>
              <a:ext cx="3520439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 dirty="0">
                  <a:solidFill>
                    <a:srgbClr val="4B5563"/>
                  </a:solidFill>
                  <a:latin typeface="Inter"/>
                </a:rPr>
                <a:t>CSAT %, star</a:t>
              </a:r>
              <a:r>
                <a:rPr lang="es-MX" sz="1100" b="0" dirty="0">
                  <a:solidFill>
                    <a:srgbClr val="4B5563"/>
                  </a:solidFill>
                  <a:latin typeface="Inter"/>
                </a:rPr>
                <a:t> rating</a:t>
              </a:r>
              <a:r>
                <a:rPr sz="1100" b="0" dirty="0">
                  <a:solidFill>
                    <a:srgbClr val="4B5563"/>
                  </a:solidFill>
                  <a:latin typeface="Inter"/>
                </a:rPr>
                <a:t> mix, verbatim comments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457200" y="3085909"/>
              <a:ext cx="1127455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3200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457200" y="3090672"/>
              <a:ext cx="11274552" cy="475488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320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585216" y="3236790"/>
              <a:ext cx="1618487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1">
                  <a:solidFill>
                    <a:srgbClr val="4B5563"/>
                  </a:solidFill>
                  <a:latin typeface="Inter"/>
                </a:rPr>
                <a:t>Recontact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2459736" y="3236790"/>
              <a:ext cx="271576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One contact-reason / channel / day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5431536" y="3236790"/>
              <a:ext cx="97840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994,591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6665976" y="3236790"/>
              <a:ext cx="116128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1–31 May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8083296" y="3236790"/>
              <a:ext cx="3520439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Recontact rate, repeat volume by reason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457200" y="3561397"/>
              <a:ext cx="1127455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3200"/>
            </a:p>
          </p:txBody>
        </p:sp>
      </p:grpSp>
      <p:sp>
        <p:nvSpPr>
          <p:cNvPr id="43" name="TextBox 42"/>
          <p:cNvSpPr txBox="1"/>
          <p:nvPr/>
        </p:nvSpPr>
        <p:spPr>
          <a:xfrm>
            <a:off x="457200" y="3840480"/>
            <a:ext cx="5394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dirty="0">
                <a:solidFill>
                  <a:srgbClr val="1A1A1A"/>
                </a:solidFill>
                <a:latin typeface="Inter"/>
              </a:rPr>
              <a:t>How we treated the data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1960" y="4231915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94944" y="4160520"/>
            <a:ext cx="515721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N/A Logic Exclusions:</a:t>
            </a:r>
            <a:r>
              <a:rPr lang="en-US" sz="1000" dirty="0"/>
              <a:t> Non-applicable attributes (Value 2) are dropped from both numerator and denominator calculations.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443484" y="4704588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81228" y="4608576"/>
            <a:ext cx="5157216" cy="181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Critical Zeroing Penalty:</a:t>
            </a:r>
            <a:r>
              <a:rPr lang="en-US" sz="1000" dirty="0"/>
              <a:t> A single Critical Attribute failure instantly drops the total audit score to 0%.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43484" y="4997196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81228" y="4901184"/>
            <a:ext cx="515721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Rubric Independence:</a:t>
            </a:r>
            <a:r>
              <a:rPr lang="en-US" sz="1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Phone (12 attributes) and Live Chat (8 attributes) are evaluated using isolated frameworks; official QA ignores resolution dropdown tags.</a:t>
            </a:r>
            <a:endParaRPr lang="en-US"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451104" y="5508494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81228" y="5339367"/>
            <a:ext cx="515721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True Weighted Aggregation:</a:t>
            </a:r>
            <a:r>
              <a:rPr lang="en-US" sz="1000" dirty="0"/>
              <a:t> CSAT and Recontact rates are computed as weighted monthly ratios rather than unweighted averages of daily metrics.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443484" y="5913615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44652" y="5827779"/>
            <a:ext cx="515721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Statistical Cutoff:</a:t>
            </a:r>
            <a:r>
              <a:rPr lang="en-US" sz="1000" dirty="0"/>
              <a:t> Agents with under 5 monthly audits are filtered out of individual agent rankings to eliminate low-sample variance.</a:t>
            </a:r>
            <a:endParaRPr lang="en-US"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6275527" y="3817620"/>
            <a:ext cx="5431536" cy="1832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1100" b="1" dirty="0" err="1"/>
              <a:t>Scope</a:t>
            </a:r>
            <a:r>
              <a:rPr lang="es-CO" sz="1100" b="1" dirty="0"/>
              <a:t> &amp; </a:t>
            </a:r>
            <a:r>
              <a:rPr lang="es-CO" sz="1100" b="1" dirty="0" err="1"/>
              <a:t>Limitations</a:t>
            </a:r>
            <a:endParaRPr sz="110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6292596" y="4164247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530340" y="4068235"/>
            <a:ext cx="5193792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LOB Restriction:</a:t>
            </a:r>
            <a:r>
              <a:rPr lang="en-US" sz="1000" dirty="0"/>
              <a:t> Scope is strictly limited to the </a:t>
            </a:r>
            <a:r>
              <a:rPr lang="en-US" sz="1000" b="1" dirty="0"/>
              <a:t>Delivery</a:t>
            </a:r>
            <a:r>
              <a:rPr lang="en-US" sz="1000" dirty="0"/>
              <a:t> line of business (LOB cuts collapse into Business Type).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6300216" y="4664116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537960" y="4568104"/>
            <a:ext cx="5193792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Sampling Asymmetry:</a:t>
            </a:r>
            <a:r>
              <a:rPr lang="en-US" sz="1000" dirty="0"/>
              <a:t> Audit distribution is heavily skewed toward Live Chat (85.6%) versus Phone (14.4%), under-sampling voice channels.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6300216" y="5186691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537960" y="5090679"/>
            <a:ext cx="5193792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Channel Audit Coverage:</a:t>
            </a:r>
            <a:r>
              <a:rPr lang="en-US" sz="1000" dirty="0"/>
              <a:t> Recontact spans 12 operational channels, whereas QA auditing only covers Live Chat and Phone.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6300216" y="5731720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537960" y="5635708"/>
            <a:ext cx="5193792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/>
            <a:r>
              <a:rPr lang="en-US" sz="1000" b="1" dirty="0">
                <a:effectLst/>
                <a:ea typeface="Times New Roman" panose="02020603050405020304" pitchFamily="18" charset="0"/>
              </a:rPr>
              <a:t>Metric Cross-Analysis:</a:t>
            </a:r>
            <a:r>
              <a:rPr lang="en-US" sz="1000" dirty="0">
                <a:effectLst/>
                <a:ea typeface="Times New Roman" panose="02020603050405020304" pitchFamily="18" charset="0"/>
              </a:rPr>
              <a:t> QA and CSAT correlations are calculated exclusively across the </a:t>
            </a:r>
            <a:r>
              <a:rPr lang="en-US" sz="1000" b="1" dirty="0">
                <a:effectLst/>
                <a:ea typeface="Times New Roman" panose="02020603050405020304" pitchFamily="18" charset="0"/>
              </a:rPr>
              <a:t>45 shared contact reasons</a:t>
            </a:r>
            <a:r>
              <a:rPr lang="en-US" sz="1000" dirty="0">
                <a:effectLst/>
                <a:ea typeface="Times New Roman" panose="02020603050405020304" pitchFamily="18" charset="0"/>
              </a:rPr>
              <a:t> present in both datasets.</a:t>
            </a:r>
            <a:endParaRPr lang="es-CO" sz="1000" dirty="0">
              <a:effectLst/>
              <a:ea typeface="Times New Roman" panose="02020603050405020304" pitchFamily="18" charset="0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6300216" y="6176610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6537960" y="6021810"/>
            <a:ext cx="5193792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Timeframe Alignment:</a:t>
            </a:r>
            <a:r>
              <a:rPr lang="en-US" sz="1000" dirty="0"/>
              <a:t> CSAT and Recontact cover the full calendar month (May 1–31), while QA audits span May 4–29 (starting W19).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Executive summary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158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950" b="0" dirty="0">
                <a:solidFill>
                  <a:srgbClr val="9CA3AF"/>
                </a:solidFill>
                <a:latin typeface="Inter"/>
              </a:rPr>
              <a:t>Monthly operational KPI scorecard and diagnostic summary.</a:t>
            </a:r>
            <a:endParaRPr lang="es-CO" sz="950" b="0" dirty="0">
              <a:solidFill>
                <a:srgbClr val="9CA3AF"/>
              </a:solidFill>
              <a:latin typeface="Inte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03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207008"/>
            <a:ext cx="2471928" cy="1572768"/>
          </a:xfrm>
          <a:prstGeom prst="roundRect">
            <a:avLst>
              <a:gd name="adj" fmla="val 5813"/>
            </a:avLst>
          </a:prstGeom>
          <a:solidFill>
            <a:srgbClr val="FFFFFF"/>
          </a:solidFill>
          <a:ln w="15875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" y="1371600"/>
            <a:ext cx="1648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Inter"/>
              </a:rPr>
              <a:t>QA SCORE</a:t>
            </a:r>
          </a:p>
        </p:txBody>
      </p:sp>
      <p:sp>
        <p:nvSpPr>
          <p:cNvPr id="13" name="Oval 12"/>
          <p:cNvSpPr/>
          <p:nvPr/>
        </p:nvSpPr>
        <p:spPr>
          <a:xfrm>
            <a:off x="2417064" y="1325880"/>
            <a:ext cx="292608" cy="292608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 rot="18900000">
            <a:off x="2525328" y="1438259"/>
            <a:ext cx="134599" cy="502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 rot="2700000">
            <a:off x="2493142" y="1473372"/>
            <a:ext cx="76078" cy="502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1609344"/>
            <a:ext cx="210616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Inter"/>
              </a:rPr>
              <a:t>94.14</a:t>
            </a:r>
          </a:p>
        </p:txBody>
      </p:sp>
      <p:sp>
        <p:nvSpPr>
          <p:cNvPr id="17" name="Isosceles Triangle 16"/>
          <p:cNvSpPr/>
          <p:nvPr/>
        </p:nvSpPr>
        <p:spPr>
          <a:xfrm>
            <a:off x="653796" y="2080260"/>
            <a:ext cx="100584" cy="100584"/>
          </a:xfrm>
          <a:prstGeom prst="triangl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2029968"/>
            <a:ext cx="192328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Inter"/>
              </a:rPr>
              <a:t>+9.14 pp vs 85 goal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2441448"/>
            <a:ext cx="853912" cy="274320"/>
          </a:xfrm>
          <a:prstGeom prst="roundRect">
            <a:avLst>
              <a:gd name="adj" fmla="val 50000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749808" y="2528315"/>
            <a:ext cx="100584" cy="10058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2441448"/>
            <a:ext cx="54301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16A34A"/>
                </a:solidFill>
                <a:latin typeface="Inter"/>
              </a:rPr>
              <a:t>On goal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30296" y="1207008"/>
            <a:ext cx="2471928" cy="1572768"/>
          </a:xfrm>
          <a:prstGeom prst="roundRect">
            <a:avLst>
              <a:gd name="adj" fmla="val 5813"/>
            </a:avLst>
          </a:prstGeom>
          <a:solidFill>
            <a:srgbClr val="FFFFFF"/>
          </a:solidFill>
          <a:ln w="15875">
            <a:solidFill>
              <a:srgbClr val="E11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331464" y="1371600"/>
            <a:ext cx="1648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Inter"/>
              </a:rPr>
              <a:t>CSAT (BLENDED)</a:t>
            </a:r>
          </a:p>
        </p:txBody>
      </p:sp>
      <p:sp>
        <p:nvSpPr>
          <p:cNvPr id="24" name="Oval 23"/>
          <p:cNvSpPr/>
          <p:nvPr/>
        </p:nvSpPr>
        <p:spPr>
          <a:xfrm>
            <a:off x="5090160" y="1325880"/>
            <a:ext cx="292608" cy="292608"/>
          </a:xfrm>
          <a:prstGeom prst="ellipse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wn Arrow 24"/>
          <p:cNvSpPr/>
          <p:nvPr/>
        </p:nvSpPr>
        <p:spPr>
          <a:xfrm>
            <a:off x="5177942" y="1393179"/>
            <a:ext cx="117043" cy="158008"/>
          </a:xfrm>
          <a:prstGeom prst="downArrow">
            <a:avLst>
              <a:gd name="adj1" fmla="val 42000"/>
              <a:gd name="adj2" fmla="val 4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313176" y="1609344"/>
            <a:ext cx="210616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Inter"/>
              </a:rPr>
              <a:t>79.95%</a:t>
            </a:r>
          </a:p>
        </p:txBody>
      </p:sp>
      <p:sp>
        <p:nvSpPr>
          <p:cNvPr id="27" name="Isosceles Triangle 26"/>
          <p:cNvSpPr/>
          <p:nvPr/>
        </p:nvSpPr>
        <p:spPr>
          <a:xfrm rot="10800000">
            <a:off x="3326892" y="2080260"/>
            <a:ext cx="100584" cy="100584"/>
          </a:xfrm>
          <a:prstGeom prst="triangle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496056" y="2029968"/>
            <a:ext cx="192328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Inter"/>
              </a:rPr>
              <a:t>-5.05 pp vs 85% goal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13176" y="2441448"/>
            <a:ext cx="1821576" cy="274320"/>
          </a:xfrm>
          <a:prstGeom prst="roundRect">
            <a:avLst>
              <a:gd name="adj" fmla="val 50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422904" y="2528315"/>
            <a:ext cx="100584" cy="100584"/>
          </a:xfrm>
          <a:prstGeom prst="ellipse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587496" y="2441448"/>
            <a:ext cx="15106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E11D2E"/>
                </a:solidFill>
                <a:latin typeface="Inter"/>
              </a:rPr>
              <a:t>More than 5 points off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803392" y="1207008"/>
            <a:ext cx="2471928" cy="1572768"/>
          </a:xfrm>
          <a:prstGeom prst="roundRect">
            <a:avLst>
              <a:gd name="adj" fmla="val 5813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004560" y="1371600"/>
            <a:ext cx="1648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Inter"/>
              </a:rPr>
              <a:t>RECONTACT (GLOBAL)</a:t>
            </a:r>
          </a:p>
        </p:txBody>
      </p:sp>
      <p:sp>
        <p:nvSpPr>
          <p:cNvPr id="34" name="Oval 33"/>
          <p:cNvSpPr/>
          <p:nvPr/>
        </p:nvSpPr>
        <p:spPr>
          <a:xfrm>
            <a:off x="7763256" y="1325880"/>
            <a:ext cx="292608" cy="2926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7839334" y="1447038"/>
            <a:ext cx="140451" cy="502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986272" y="1609344"/>
            <a:ext cx="210616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Inter"/>
              </a:rPr>
              <a:t>5.83%</a:t>
            </a:r>
          </a:p>
        </p:txBody>
      </p:sp>
      <p:sp>
        <p:nvSpPr>
          <p:cNvPr id="37" name="Isosceles Triangle 36"/>
          <p:cNvSpPr/>
          <p:nvPr/>
        </p:nvSpPr>
        <p:spPr>
          <a:xfrm rot="10800000">
            <a:off x="5999988" y="2080260"/>
            <a:ext cx="100584" cy="100584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169152" y="2029968"/>
            <a:ext cx="192328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Inter"/>
              </a:rPr>
              <a:t>+0.39 pp vs 5.44% goal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86272" y="2441448"/>
            <a:ext cx="1369999" cy="274320"/>
          </a:xfrm>
          <a:prstGeom prst="roundRect">
            <a:avLst>
              <a:gd name="adj" fmla="val 50000"/>
            </a:avLst>
          </a:prstGeom>
          <a:solidFill>
            <a:srgbClr val="F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6096000" y="2528315"/>
            <a:ext cx="100584" cy="10058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260592" y="2441448"/>
            <a:ext cx="1059103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59E0B"/>
                </a:solidFill>
                <a:latin typeface="Inter"/>
              </a:rPr>
              <a:t>Within 5 points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77833" y="1170432"/>
            <a:ext cx="2087880" cy="1572768"/>
          </a:xfrm>
          <a:prstGeom prst="roundRect">
            <a:avLst>
              <a:gd name="adj" fmla="val 4651"/>
            </a:avLst>
          </a:prstGeom>
          <a:ln w="9525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379000" y="1335024"/>
            <a:ext cx="2855671" cy="1665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pl-PL" sz="1000" b="1" dirty="0">
                <a:solidFill>
                  <a:srgbClr val="1A1A1A"/>
                </a:solidFill>
                <a:latin typeface="Inter"/>
              </a:rPr>
              <a:t>May </a:t>
            </a:r>
            <a:r>
              <a:rPr lang="es-MX" sz="1000" b="1" dirty="0">
                <a:solidFill>
                  <a:srgbClr val="1A1A1A"/>
                </a:solidFill>
                <a:latin typeface="Inter"/>
              </a:rPr>
              <a:t>in </a:t>
            </a:r>
            <a:r>
              <a:rPr lang="en-US" sz="1000" b="1" dirty="0">
                <a:solidFill>
                  <a:srgbClr val="1A1A1A"/>
                </a:solidFill>
                <a:latin typeface="Inter"/>
              </a:rPr>
              <a:t>volume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97288" y="1673352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dirty="0">
                <a:solidFill>
                  <a:srgbClr val="1A1A1A"/>
                </a:solidFill>
                <a:latin typeface="Inter"/>
              </a:rPr>
              <a:t>994,591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95233" y="1700784"/>
            <a:ext cx="173736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MX" sz="1050" dirty="0">
                <a:solidFill>
                  <a:srgbClr val="6B7280"/>
                </a:solidFill>
                <a:latin typeface="Inter"/>
              </a:rPr>
              <a:t>C</a:t>
            </a:r>
            <a:r>
              <a:rPr sz="1050" b="0" dirty="0">
                <a:solidFill>
                  <a:srgbClr val="6B7280"/>
                </a:solidFill>
                <a:latin typeface="Inter"/>
              </a:rPr>
              <a:t>ustomer contacts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97288" y="2020824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Inter"/>
              </a:rPr>
              <a:t>77,266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95233" y="2042070"/>
            <a:ext cx="173736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Inter"/>
              </a:rPr>
              <a:t>CSAT surveys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97288" y="2368296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Inter"/>
              </a:rPr>
              <a:t>2,460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95538" y="2355205"/>
            <a:ext cx="173736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Inter"/>
              </a:rPr>
              <a:t>QA audits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3898142"/>
            <a:ext cx="6903720" cy="23864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1450" indent="-171450" algn="l">
              <a:lnSpc>
                <a:spcPct val="13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050" b="1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Scorecard Divergence (2 of 3 Missed): High QA compliance (94.14) fails to translate to customer satisfaction (79.95% CSAT vs 85.0% goal). Recontact finished over tolerance at 5.83% (vs. 5.44% limit) despite a week 4 improvement to 5.26%.
QA-CSAT Metric Decoupling (R² = 0.023): Across 45 shared contact reasons, internal QA compliance shows virtually zero correlation with CSAT. Live Chat scores 96.01 QA / 77.6% CSAT, while Phone scores 83.04 QA / 86.3% CSAT. Auditor close rate (not FCR): Phone 9 of 10 assessed (87.9%), Chat 6 of 10 (63.0%). 499 of 658 unresolved chats followed process.
Structural Audit Blind Spots:
Resolution Masking: 527 audits followed SOPs without resolving the case, yet averaged 96.87 QA.
Rubric Distortion: Chat lacks critical penalties for inaccurate information, allowing 80% of process-failing chats (297/372) to score 100. Correcting this rubric drops true Chat QA to 80.14.</a:t>
            </a:r>
            <a:r>
              <a:rPr lang="en-US" sz="105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/>
            </a:r>
          </a:p>
          <a:p>
            <a:pPr marL="171450" indent="-171450" algn="l">
              <a:lnSpc>
                <a:spcPct val="13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s-CO" sz="1050" b="1" dirty="0"/>
              <a:t/>
            </a:r>
            <a:r>
              <a:rPr lang="es-CO" sz="1050" b="1" dirty="0" err="1"/>
              <a:t/>
            </a:r>
            <a:r>
              <a:rPr lang="es-CO" sz="1050" b="1" dirty="0"/>
              <a:t/>
            </a:r>
            <a:r>
              <a:rPr lang="es-CO" sz="1050" b="1" dirty="0" err="1"/>
              <a:t/>
            </a:r>
            <a:r>
              <a:rPr lang="es-CO" sz="1050" b="1" dirty="0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lang="en-US" sz="1050" b="1" dirty="0">
                <a:latin typeface="Inter"/>
              </a:rPr>
              <a:t/>
            </a:r>
            <a:r>
              <a:rPr lang="es-CO" sz="1050" b="1" dirty="0">
                <a:latin typeface="Inter"/>
              </a:rPr>
              <a:t/>
            </a:r>
            <a:r>
              <a:rPr lang="en-US" sz="1050" b="1" dirty="0">
                <a:latin typeface="Inter"/>
              </a:rPr>
              <a:t/>
            </a:r>
            <a:r>
              <a:rPr lang="es-CO" sz="1050" b="1" dirty="0">
                <a:latin typeface="Inter"/>
              </a:rPr>
              <a:t/>
            </a:r>
          </a:p>
          <a:p>
            <a:pPr marL="171450" indent="-171450" algn="l">
              <a:lnSpc>
                <a:spcPct val="13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050" b="1" dirty="0"/>
              <a:t/>
            </a:r>
            <a:r>
              <a:rPr lang="en-US" sz="1050" dirty="0"/>
              <a:t/>
            </a:r>
          </a:p>
          <a:p>
            <a:pPr marL="171450" indent="-171450" algn="l">
              <a:lnSpc>
                <a:spcPct val="13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050" b="1" dirty="0"/>
              <a:t/>
            </a:r>
            <a:r>
              <a:rPr lang="en-US" sz="1050" dirty="0"/>
              <a:t/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endParaRPr sz="10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7927848" y="3272028"/>
            <a:ext cx="4007815" cy="2305812"/>
          </a:xfrm>
          <a:prstGeom prst="roundRect">
            <a:avLst>
              <a:gd name="adj" fmla="val 2253"/>
            </a:avLst>
          </a:prstGeom>
          <a:ln w="9525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129017" y="3436620"/>
            <a:ext cx="3605479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dirty="0">
                <a:solidFill>
                  <a:srgbClr val="1A1A1A"/>
                </a:solidFill>
                <a:latin typeface="Inter"/>
              </a:rPr>
              <a:t>Status legend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129017" y="3907536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366761" y="3811524"/>
            <a:ext cx="360273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>
                <a:solidFill>
                  <a:srgbClr val="1A1A1A"/>
                </a:solidFill>
                <a:latin typeface="Inter"/>
              </a:rPr>
              <a:t>Green </a:t>
            </a:r>
            <a:r>
              <a:rPr sz="950" b="0">
                <a:solidFill>
                  <a:srgbClr val="4B5563"/>
                </a:solidFill>
                <a:latin typeface="Inter"/>
              </a:rPr>
              <a:t>: at or above goal.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9017" y="4181856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375446" y="4085844"/>
            <a:ext cx="360273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dirty="0">
                <a:solidFill>
                  <a:srgbClr val="1A1A1A"/>
                </a:solidFill>
                <a:latin typeface="Inter"/>
              </a:rPr>
              <a:t>Amber </a:t>
            </a:r>
            <a:r>
              <a:rPr sz="950" b="0" dirty="0">
                <a:solidFill>
                  <a:srgbClr val="4B5563"/>
                </a:solidFill>
                <a:latin typeface="Inter"/>
              </a:rPr>
              <a:t>: within 5 points of goal.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129017" y="4456176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8384131" y="4360164"/>
            <a:ext cx="360273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dirty="0">
                <a:solidFill>
                  <a:srgbClr val="1A1A1A"/>
                </a:solidFill>
                <a:latin typeface="Inter"/>
              </a:rPr>
              <a:t>Red </a:t>
            </a:r>
            <a:r>
              <a:rPr sz="950" b="0" dirty="0">
                <a:solidFill>
                  <a:srgbClr val="4B5563"/>
                </a:solidFill>
                <a:latin typeface="Inter"/>
              </a:rPr>
              <a:t>: more than 5 points off goal.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95183" y="4753356"/>
            <a:ext cx="384048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950" b="0" dirty="0">
                <a:solidFill>
                  <a:srgbClr val="6B7280"/>
                </a:solidFill>
                <a:latin typeface="Inter"/>
              </a:rPr>
              <a:t>QA is measured against 85. CSAT against 85%. Recontact against 5.44%, and lower is better. That 5.44% goal is on the global rate (all channels). Built on 2,460 audits, 77,266 surveys and 994,591 contacts.</a:t>
            </a:r>
          </a:p>
        </p:txBody>
      </p:sp>
      <p:pic>
        <p:nvPicPr>
          <p:cNvPr id="66" name="Imagen 65">
            <a:extLst>
              <a:ext uri="{FF2B5EF4-FFF2-40B4-BE49-F238E27FC236}">
                <a16:creationId xmlns:a16="http://schemas.microsoft.com/office/drawing/2014/main" id="{E5F015F5-3D57-23FC-60EE-44DC0849F45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150" t="1409" r="949" b="1818"/>
          <a:stretch/>
        </p:blipFill>
        <p:spPr>
          <a:xfrm>
            <a:off x="202387" y="1170432"/>
            <a:ext cx="2802636" cy="16367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8" name="Imagen 67">
            <a:extLst>
              <a:ext uri="{FF2B5EF4-FFF2-40B4-BE49-F238E27FC236}">
                <a16:creationId xmlns:a16="http://schemas.microsoft.com/office/drawing/2014/main" id="{3AF6C5AD-ED64-7FFF-5D2E-1BE55A1C24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4167" y="1175004"/>
            <a:ext cx="2720645" cy="163220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  <a:softEdge rad="12700"/>
          </a:effectLst>
        </p:spPr>
      </p:pic>
      <p:pic>
        <p:nvPicPr>
          <p:cNvPr id="71" name="Imagen 70">
            <a:extLst>
              <a:ext uri="{FF2B5EF4-FFF2-40B4-BE49-F238E27FC236}">
                <a16:creationId xmlns:a16="http://schemas.microsoft.com/office/drawing/2014/main" id="{C097B7E6-A130-1136-CD15-3845BA01C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43956" y="1165860"/>
            <a:ext cx="2648360" cy="16487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  <a:softEdge rad="12700"/>
          </a:effectLst>
        </p:spPr>
      </p:pic>
      <p:sp>
        <p:nvSpPr>
          <p:cNvPr id="78" name="TextBox 38">
            <a:extLst>
              <a:ext uri="{FF2B5EF4-FFF2-40B4-BE49-F238E27FC236}">
                <a16:creationId xmlns:a16="http://schemas.microsoft.com/office/drawing/2014/main" id="{EC6BC232-C4B8-2602-15AB-2193FE58FF66}"/>
              </a:ext>
            </a:extLst>
          </p:cNvPr>
          <p:cNvSpPr txBox="1"/>
          <p:nvPr/>
        </p:nvSpPr>
        <p:spPr>
          <a:xfrm>
            <a:off x="410717" y="3505601"/>
            <a:ext cx="4233082" cy="1832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100" b="1" dirty="0"/>
              <a:t>Key Performance Takeaways &amp; Structural Findings</a:t>
            </a:r>
            <a:endParaRPr sz="110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79" name="Rectángulo 78">
            <a:extLst>
              <a:ext uri="{FF2B5EF4-FFF2-40B4-BE49-F238E27FC236}">
                <a16:creationId xmlns:a16="http://schemas.microsoft.com/office/drawing/2014/main" id="{A2F87424-FF0A-A7C0-D21F-A8FDC8528958}"/>
              </a:ext>
            </a:extLst>
          </p:cNvPr>
          <p:cNvSpPr/>
          <p:nvPr/>
        </p:nvSpPr>
        <p:spPr>
          <a:xfrm>
            <a:off x="202387" y="1188720"/>
            <a:ext cx="8189929" cy="1625860"/>
          </a:xfrm>
          <a:prstGeom prst="rect">
            <a:avLst/>
          </a:prstGeom>
          <a:noFill/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Two paths after the same QA step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QA scores step 2. CSAT scores step 4. Recontact is step 5. Close vs CSAT R² 0.64  ·  QA vs CSAT R² 0.023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04 / 35</a:t>
            </a:r>
          </a:p>
        </p:txBody>
      </p:sp>
      <p:grpSp>
        <p:nvGrpSpPr>
          <p:cNvPr id="36" name="Grupo 35">
            <a:extLst>
              <a:ext uri="{FF2B5EF4-FFF2-40B4-BE49-F238E27FC236}">
                <a16:creationId xmlns:a16="http://schemas.microsoft.com/office/drawing/2014/main" id="{708892A9-B225-EA7C-AF06-0F0347AE5EB9}"/>
              </a:ext>
            </a:extLst>
          </p:cNvPr>
          <p:cNvGrpSpPr/>
          <p:nvPr/>
        </p:nvGrpSpPr>
        <p:grpSpPr>
          <a:xfrm>
            <a:off x="780131" y="5030107"/>
            <a:ext cx="10414810" cy="1794902"/>
            <a:chOff x="457200" y="4059936"/>
            <a:chExt cx="11277295" cy="2089594"/>
          </a:xfrm>
        </p:grpSpPr>
        <p:sp>
          <p:nvSpPr>
            <p:cNvPr id="12" name="TextBox 11"/>
            <p:cNvSpPr txBox="1"/>
            <p:nvPr/>
          </p:nvSpPr>
          <p:spPr>
            <a:xfrm>
              <a:off x="457200" y="4059936"/>
              <a:ext cx="11277295" cy="23275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endParaRPr sz="1200" b="1" dirty="0">
                <a:solidFill>
                  <a:srgbClr val="1A1A1A"/>
                </a:solidFill>
                <a:latin typeface="Inter"/>
              </a:endParaRP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57200" y="4297680"/>
              <a:ext cx="11274552" cy="310896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85215" y="4356161"/>
              <a:ext cx="1042415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 dirty="0">
                  <a:solidFill>
                    <a:srgbClr val="FFFFFF"/>
                  </a:solidFill>
                  <a:latin typeface="Inter"/>
                </a:rPr>
                <a:t> 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883664" y="4356161"/>
              <a:ext cx="4727448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If policy / tools allow it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867144" y="4356161"/>
              <a:ext cx="4736591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If they do not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85215" y="4703634"/>
              <a:ext cx="1042415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Step 2 · QA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883664" y="4703634"/>
              <a:ext cx="4727448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 dirty="0">
                  <a:solidFill>
                    <a:srgbClr val="4B5563"/>
                  </a:solidFill>
                  <a:latin typeface="Inter"/>
                </a:rPr>
                <a:t>1,169 audits resolved + followed process · QA 95.86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867144" y="4703634"/>
              <a:ext cx="4736591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527 audits not resolved + followed process · QA 96.87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57200" y="4987861"/>
              <a:ext cx="1127455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57200" y="4992624"/>
              <a:ext cx="11274552" cy="384048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85215" y="5087681"/>
              <a:ext cx="1042415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Step 3 · Close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883664" y="5087681"/>
              <a:ext cx="4727448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 dirty="0">
                  <a:solidFill>
                    <a:srgbClr val="4B5563"/>
                  </a:solidFill>
                  <a:latin typeface="Inter"/>
                </a:rPr>
                <a:t>Closed 1,415 of 2,114 assessed (66.9%)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867144" y="5087681"/>
              <a:ext cx="4736591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75.4% of not-resolved still followed process · 215 policy + 116 tools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457200" y="5371909"/>
              <a:ext cx="1127455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585215" y="5471730"/>
              <a:ext cx="1042415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Step 4 · CSAT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883664" y="5471730"/>
              <a:ext cx="4727448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Wrong / damaged / inedible / incomplete order: 89–92% CSAT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6867144" y="5471730"/>
              <a:ext cx="4736591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Order status &amp; delays: 64.7% CSAT despite QA 97.3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457200" y="5755957"/>
              <a:ext cx="1127455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57200" y="5760720"/>
              <a:ext cx="11274552" cy="384048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585215" y="5855777"/>
              <a:ext cx="1042415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Step 5 · Recontact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883664" y="5855779"/>
              <a:ext cx="4727448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Those reasons: 2.9–5.2% recontact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6867144" y="5855779"/>
              <a:ext cx="4736591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 dirty="0">
                  <a:solidFill>
                    <a:srgbClr val="4B5563"/>
                  </a:solidFill>
                  <a:latin typeface="Inter"/>
                </a:rPr>
                <a:t>Order status &amp; delays: 19.34% (7,680 repeats) · </a:t>
              </a:r>
              <a:r>
                <a:rPr lang="es-MX" sz="1000" b="0" dirty="0">
                  <a:solidFill>
                    <a:srgbClr val="4B5563"/>
                  </a:solidFill>
                  <a:latin typeface="Inter"/>
                </a:rPr>
                <a:t>H</a:t>
              </a:r>
              <a:r>
                <a:rPr sz="1000" b="0" dirty="0" err="1">
                  <a:solidFill>
                    <a:srgbClr val="4B5563"/>
                  </a:solidFill>
                  <a:latin typeface="Inter"/>
                </a:rPr>
                <a:t>uman</a:t>
              </a:r>
              <a:r>
                <a:rPr sz="1000" b="0" dirty="0">
                  <a:solidFill>
                    <a:srgbClr val="4B5563"/>
                  </a:solidFill>
                  <a:latin typeface="Inter"/>
                </a:rPr>
                <a:t> </a:t>
              </a:r>
              <a:r>
                <a:rPr lang="en-US" sz="1000" b="0" dirty="0">
                  <a:solidFill>
                    <a:srgbClr val="4B5563"/>
                  </a:solidFill>
                  <a:latin typeface="Inter"/>
                </a:rPr>
                <a:t>channels</a:t>
              </a:r>
              <a:r>
                <a:rPr lang="es-MX" sz="1000" b="0" dirty="0">
                  <a:solidFill>
                    <a:srgbClr val="4B5563"/>
                  </a:solidFill>
                  <a:latin typeface="Inter"/>
                </a:rPr>
                <a:t> </a:t>
              </a:r>
              <a:r>
                <a:rPr sz="1000" b="0" dirty="0">
                  <a:solidFill>
                    <a:srgbClr val="4B5563"/>
                  </a:solidFill>
                  <a:latin typeface="Inter"/>
                </a:rPr>
                <a:t>15.56%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457200" y="6140005"/>
              <a:ext cx="1127455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</p:grpSp>
      <p:pic>
        <p:nvPicPr>
          <p:cNvPr id="40" name="Imagen 39" descr="Escala de tiempo&#10;&#10;Descripción generada automáticamente">
            <a:extLst>
              <a:ext uri="{FF2B5EF4-FFF2-40B4-BE49-F238E27FC236}">
                <a16:creationId xmlns:a16="http://schemas.microsoft.com/office/drawing/2014/main" id="{1ED8A4B4-76D9-A970-64FD-D01C5A4DD2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905" y="929299"/>
            <a:ext cx="10412277" cy="4285103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98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800" b="1" dirty="0">
                <a:solidFill>
                  <a:srgbClr val="FFFFFF"/>
                </a:solidFill>
                <a:latin typeface="Inter"/>
              </a:rPr>
              <a:t>Structural QA Flaws: Process Compliance vs. Case Resolution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158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950" b="0" dirty="0" err="1">
                <a:solidFill>
                  <a:srgbClr val="9CA3AF"/>
                </a:solidFill>
                <a:latin typeface="Inter"/>
              </a:rPr>
              <a:t>Internal</a:t>
            </a:r>
            <a:r>
              <a:rPr lang="es-CO" sz="950" b="0" dirty="0">
                <a:solidFill>
                  <a:srgbClr val="9CA3AF"/>
                </a:solidFill>
                <a:latin typeface="Inter"/>
              </a:rPr>
              <a:t> QA </a:t>
            </a:r>
            <a:r>
              <a:rPr lang="es-CO" sz="950" b="0" dirty="0" err="1">
                <a:solidFill>
                  <a:srgbClr val="9CA3AF"/>
                </a:solidFill>
                <a:latin typeface="Inter"/>
              </a:rPr>
              <a:t>audits</a:t>
            </a:r>
            <a:r>
              <a:rPr lang="es-CO" sz="950" b="0" dirty="0">
                <a:solidFill>
                  <a:srgbClr val="9CA3AF"/>
                </a:solidFill>
                <a:latin typeface="Inter"/>
              </a:rPr>
              <a:t> </a:t>
            </a:r>
            <a:r>
              <a:rPr lang="es-CO" sz="950" b="0" dirty="0" err="1">
                <a:solidFill>
                  <a:srgbClr val="9CA3AF"/>
                </a:solidFill>
                <a:latin typeface="Inter"/>
              </a:rPr>
              <a:t>conversational</a:t>
            </a:r>
            <a:r>
              <a:rPr lang="es-CO" sz="950" b="0" dirty="0">
                <a:solidFill>
                  <a:srgbClr val="9CA3AF"/>
                </a:solidFill>
                <a:latin typeface="Inter"/>
              </a:rPr>
              <a:t> </a:t>
            </a:r>
            <a:r>
              <a:rPr lang="es-CO" sz="950" b="0" dirty="0" err="1">
                <a:solidFill>
                  <a:srgbClr val="9CA3AF"/>
                </a:solidFill>
                <a:latin typeface="Inter"/>
              </a:rPr>
              <a:t>compliance</a:t>
            </a:r>
            <a:r>
              <a:rPr lang="es-CO" sz="950" b="0" dirty="0">
                <a:solidFill>
                  <a:srgbClr val="9CA3AF"/>
                </a:solidFill>
                <a:latin typeface="Inter"/>
              </a:rPr>
              <a:t>; </a:t>
            </a:r>
            <a:r>
              <a:rPr lang="es-CO" sz="950" b="0" dirty="0" err="1">
                <a:solidFill>
                  <a:srgbClr val="9CA3AF"/>
                </a:solidFill>
                <a:latin typeface="Inter"/>
              </a:rPr>
              <a:t>customers</a:t>
            </a:r>
            <a:r>
              <a:rPr lang="es-CO" sz="950" b="0" dirty="0">
                <a:solidFill>
                  <a:srgbClr val="9CA3AF"/>
                </a:solidFill>
                <a:latin typeface="Inter"/>
              </a:rPr>
              <a:t> </a:t>
            </a:r>
            <a:r>
              <a:rPr lang="es-CO" sz="950" b="0" dirty="0" err="1">
                <a:solidFill>
                  <a:srgbClr val="9CA3AF"/>
                </a:solidFill>
                <a:latin typeface="Inter"/>
              </a:rPr>
              <a:t>rate</a:t>
            </a:r>
            <a:r>
              <a:rPr lang="es-CO" sz="950" b="0" dirty="0">
                <a:solidFill>
                  <a:srgbClr val="9CA3AF"/>
                </a:solidFill>
                <a:latin typeface="Inter"/>
              </a:rPr>
              <a:t> </a:t>
            </a:r>
            <a:r>
              <a:rPr lang="es-CO" sz="950" b="0" dirty="0" err="1">
                <a:solidFill>
                  <a:srgbClr val="9CA3AF"/>
                </a:solidFill>
                <a:latin typeface="Inter"/>
              </a:rPr>
              <a:t>outcome</a:t>
            </a:r>
            <a:r>
              <a:rPr lang="es-CO" sz="950" b="0" dirty="0">
                <a:solidFill>
                  <a:srgbClr val="9CA3AF"/>
                </a:solidFill>
                <a:latin typeface="Inter"/>
              </a:rPr>
              <a:t> </a:t>
            </a:r>
            <a:r>
              <a:rPr lang="es-CO" sz="950" b="0" dirty="0" err="1">
                <a:solidFill>
                  <a:srgbClr val="9CA3AF"/>
                </a:solidFill>
                <a:latin typeface="Inter"/>
              </a:rPr>
              <a:t>resolution</a:t>
            </a:r>
            <a:r>
              <a:rPr lang="es-CO" sz="950" b="0" dirty="0">
                <a:solidFill>
                  <a:srgbClr val="9CA3AF"/>
                </a:solidFill>
                <a:latin typeface="Inter"/>
              </a:rPr>
              <a:t>.</a:t>
            </a:r>
            <a:endParaRPr sz="950" b="0" dirty="0">
              <a:solidFill>
                <a:srgbClr val="9CA3AF"/>
              </a:solidFill>
              <a:latin typeface="Inte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 dirty="0">
                <a:solidFill>
                  <a:srgbClr val="FF6600"/>
                </a:solidFill>
                <a:latin typeface="Inter"/>
              </a:rPr>
              <a:t>05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406" y="6686560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 dirty="0" err="1">
                <a:solidFill>
                  <a:srgbClr val="9CA3AF"/>
                </a:solidFill>
                <a:latin typeface="Inter"/>
              </a:rPr>
              <a:t>DiDi</a:t>
            </a:r>
            <a:r>
              <a:rPr sz="750" b="0" dirty="0">
                <a:solidFill>
                  <a:srgbClr val="9CA3AF"/>
                </a:solidFill>
                <a:latin typeface="Inter"/>
              </a:rPr>
              <a:t> Global, CX Service Operations   |   Confidential. Internal use only</a:t>
            </a:r>
          </a:p>
        </p:txBody>
      </p:sp>
      <p:pic>
        <p:nvPicPr>
          <p:cNvPr id="37" name="Picture 36" descr="bar_auditor_outc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337" y="1351690"/>
            <a:ext cx="5434934" cy="295437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38" name="Picture 37" descr="scatter_qa_csa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7145" y="1287851"/>
            <a:ext cx="4762942" cy="315462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9" name="TextBox 38"/>
          <p:cNvSpPr txBox="1"/>
          <p:nvPr/>
        </p:nvSpPr>
        <p:spPr>
          <a:xfrm>
            <a:off x="754380" y="4585986"/>
            <a:ext cx="398907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1050" b="1" dirty="0"/>
              <a:t>Audit </a:t>
            </a:r>
            <a:r>
              <a:rPr lang="es-CO" sz="1050" b="1" dirty="0" err="1"/>
              <a:t>Breakdown</a:t>
            </a:r>
            <a:r>
              <a:rPr lang="es-CO" sz="1050" b="1" dirty="0"/>
              <a:t> &amp; </a:t>
            </a:r>
            <a:r>
              <a:rPr lang="es-CO" sz="1050" b="1" dirty="0" err="1"/>
              <a:t>Rubric</a:t>
            </a:r>
            <a:r>
              <a:rPr lang="es-CO" sz="1050" b="1" dirty="0"/>
              <a:t> </a:t>
            </a:r>
            <a:r>
              <a:rPr lang="es-CO" sz="1050" b="1" dirty="0" err="1"/>
              <a:t>Flaws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694944" y="4977161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32688" y="4840001"/>
            <a:ext cx="4815765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Resolution Masking:</a:t>
            </a:r>
            <a:r>
              <a:rPr lang="en-US" sz="1000" dirty="0"/>
              <a:t> 527 audits followed SOPs without resolving the issue, yet averaged a </a:t>
            </a:r>
            <a:r>
              <a:rPr lang="en-US" sz="1000" b="1" dirty="0"/>
              <a:t>96.87 QA score</a:t>
            </a:r>
            <a:r>
              <a:rPr lang="en-US" sz="1000" dirty="0"/>
              <a:t> (higher than resolved cases at 95.86).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694944" y="5452846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32688" y="5323138"/>
            <a:ext cx="4410837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Unpenalized Process Fails:</a:t>
            </a:r>
            <a:r>
              <a:rPr lang="en-US" sz="1000" dirty="0"/>
              <a:t> Due to lenient rubrics, </a:t>
            </a:r>
            <a:r>
              <a:rPr lang="en-US" sz="1000" b="1" dirty="0"/>
              <a:t>80% of chats with process failures</a:t>
            </a:r>
            <a:r>
              <a:rPr lang="en-US" sz="1000" dirty="0"/>
              <a:t> (297 of 372) received a perfect score of 100.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694944" y="5962485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32688" y="5832266"/>
            <a:ext cx="4687062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Score Recalibration Impact:</a:t>
            </a:r>
            <a:r>
              <a:rPr lang="en-US" sz="1000" dirty="0"/>
              <a:t> Aligning Chat evaluation criteria with Phone standards lowers true Chat QA from </a:t>
            </a:r>
            <a:r>
              <a:rPr lang="en-US" sz="1000" b="1" dirty="0"/>
              <a:t>96.01 to 80.14</a:t>
            </a:r>
            <a:r>
              <a:rPr lang="en-US" sz="1000" dirty="0"/>
              <a:t> (below the 85.0 target).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6405101" y="4605134"/>
            <a:ext cx="5577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dirty="0">
                <a:solidFill>
                  <a:srgbClr val="1A1A1A"/>
                </a:solidFill>
                <a:latin typeface="Inter"/>
              </a:rPr>
              <a:t>Does higher QA mean better customer outcomes?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05805" y="5017497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443549" y="4896555"/>
            <a:ext cx="5340096" cy="3220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000"/>
              <a:tabLst>
                <a:tab pos="457200" algn="l"/>
              </a:tabLst>
            </a:pPr>
            <a:r>
              <a:rPr lang="en-US" sz="1000" b="1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Inverse Correlation ($r = -0.151$):</a:t>
            </a:r>
            <a:r>
              <a:rPr lang="en-US" sz="1000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Across 45 shared contact reasons, QA scores show a slight negative relationship with customer satisfaction.</a:t>
            </a:r>
            <a:endParaRPr lang="es-CO" sz="9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6232010" y="5472936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52724" y="5359571"/>
            <a:ext cx="5340096" cy="3209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000"/>
              <a:tabLst>
                <a:tab pos="457200" algn="l"/>
              </a:tabLst>
            </a:pPr>
            <a:r>
              <a:rPr lang="en-US" sz="1000" b="1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Negligible Predictive Value (R2 = 0.023):</a:t>
            </a:r>
            <a:r>
              <a:rPr lang="en-US" sz="1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QA compliance accounts for only </a:t>
            </a:r>
            <a:r>
              <a:rPr lang="en-US" sz="1000" b="1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2.3% of CSAT variance</a:t>
            </a:r>
            <a:r>
              <a:rPr lang="en-US" sz="1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, proving internal QA has virtually no bearing on customer sentiment. </a:t>
            </a:r>
            <a:endParaRPr lang="es-CO" sz="900" kern="1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6236788" y="5996124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05101" y="5817817"/>
            <a:ext cx="534009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Resolution vs. Compliance: CSAT tracks closure, not process. Phone closes 9 of 10 assessed (87.9%); Chat 6 of 10 (63.0%). 499 of 658 unresolved chats followed process. The rubric fix makes QA honest; CSAT moves when policy and tools let agents close.</a:t>
            </a:r>
            <a:r>
              <a:rPr lang="en-US" sz="1000" dirty="0"/>
              <a:t/>
            </a:r>
            <a:endParaRPr lang="en-US"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C67C2137-5A22-4020-441F-5A012A021C70}"/>
              </a:ext>
            </a:extLst>
          </p:cNvPr>
          <p:cNvSpPr/>
          <p:nvPr/>
        </p:nvSpPr>
        <p:spPr>
          <a:xfrm>
            <a:off x="6115569" y="1164328"/>
            <a:ext cx="5706094" cy="5301003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1F9BA51C-A4BC-7EAD-6D66-C65CA880960B}"/>
              </a:ext>
            </a:extLst>
          </p:cNvPr>
          <p:cNvSpPr/>
          <p:nvPr/>
        </p:nvSpPr>
        <p:spPr>
          <a:xfrm>
            <a:off x="264709" y="1175004"/>
            <a:ext cx="5706094" cy="5290328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6794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98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800" b="1" dirty="0">
                <a:solidFill>
                  <a:srgbClr val="FFFFFF"/>
                </a:solidFill>
                <a:latin typeface="Inter"/>
              </a:rPr>
              <a:t>Monthly Trend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158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950" b="0" dirty="0">
                <a:solidFill>
                  <a:srgbClr val="9CA3AF"/>
                </a:solidFill>
                <a:latin typeface="Inter"/>
              </a:rPr>
              <a:t>Daily Control Chart Analysis: Monthly stability vs. target performance.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06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221" y="6433017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 dirty="0" err="1">
                <a:solidFill>
                  <a:srgbClr val="9CA3AF"/>
                </a:solidFill>
                <a:latin typeface="Inter"/>
              </a:rPr>
              <a:t>DiDi</a:t>
            </a:r>
            <a:r>
              <a:rPr sz="750" b="0" dirty="0">
                <a:solidFill>
                  <a:srgbClr val="9CA3AF"/>
                </a:solidFill>
                <a:latin typeface="Inter"/>
              </a:rPr>
              <a:t> Global, CX Service Operations   |   Confidential. Internal use only</a:t>
            </a:r>
          </a:p>
        </p:txBody>
      </p:sp>
      <p:pic>
        <p:nvPicPr>
          <p:cNvPr id="11" name="Picture 10" descr="run_q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44" y="1044763"/>
            <a:ext cx="3980907" cy="257217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TextBox 11"/>
          <p:cNvSpPr txBox="1"/>
          <p:nvPr/>
        </p:nvSpPr>
        <p:spPr>
          <a:xfrm>
            <a:off x="371041" y="3796140"/>
            <a:ext cx="364937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1" dirty="0">
                <a:solidFill>
                  <a:srgbClr val="1A1A1A"/>
                </a:solidFill>
                <a:latin typeface="Inter"/>
              </a:rPr>
              <a:t>QA: one dip on 6 May. Otherwise steady</a:t>
            </a:r>
          </a:p>
        </p:txBody>
      </p:sp>
      <p:pic>
        <p:nvPicPr>
          <p:cNvPr id="13" name="Picture 12" descr="run_csa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4732" y="1002859"/>
            <a:ext cx="4053619" cy="261480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4" name="TextBox 13"/>
          <p:cNvSpPr txBox="1"/>
          <p:nvPr/>
        </p:nvSpPr>
        <p:spPr>
          <a:xfrm>
            <a:off x="4094428" y="3780607"/>
            <a:ext cx="364937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1" dirty="0">
                <a:solidFill>
                  <a:srgbClr val="1A1A1A"/>
                </a:solidFill>
                <a:latin typeface="Inter"/>
              </a:rPr>
              <a:t>CSAT blended: steady. Every day below goal</a:t>
            </a:r>
          </a:p>
        </p:txBody>
      </p:sp>
      <p:pic>
        <p:nvPicPr>
          <p:cNvPr id="15" name="Picture 14" descr="run_reconta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7533" y="938995"/>
            <a:ext cx="4024162" cy="267794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8214851" y="3732783"/>
            <a:ext cx="364937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1" dirty="0">
                <a:solidFill>
                  <a:srgbClr val="1A1A1A"/>
                </a:solidFill>
                <a:latin typeface="Inter"/>
              </a:rPr>
              <a:t>Recontact global: last week under goal. Month still amber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2758" y="4159045"/>
            <a:ext cx="11602518" cy="2023577"/>
          </a:xfrm>
          <a:prstGeom prst="rect">
            <a:avLst/>
          </a:prstGeom>
          <a:solidFill>
            <a:srgbClr val="F4F5F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29031" y="4161220"/>
            <a:ext cx="158381" cy="2021401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15762" y="4234988"/>
            <a:ext cx="10710367" cy="216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dirty="0">
                <a:solidFill>
                  <a:srgbClr val="1A1A1A"/>
                </a:solidFill>
                <a:latin typeface="Inter"/>
              </a:rPr>
              <a:t>Blended CSAT remained below </a:t>
            </a:r>
            <a:r>
              <a:rPr lang="es-MX" sz="1300" b="1" dirty="0">
                <a:solidFill>
                  <a:srgbClr val="1A1A1A"/>
                </a:solidFill>
                <a:latin typeface="Inter"/>
              </a:rPr>
              <a:t>target</a:t>
            </a:r>
            <a:r>
              <a:rPr sz="1300" b="1" dirty="0">
                <a:solidFill>
                  <a:srgbClr val="1A1A1A"/>
                </a:solidFill>
                <a:latin typeface="Inter"/>
              </a:rPr>
              <a:t> throughout the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966" y="4544553"/>
            <a:ext cx="10710367" cy="15450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lang="en-US" sz="1200" b="1" dirty="0">
                <a:solidFill>
                  <a:srgbClr val="4B5563"/>
                </a:solidFill>
                <a:latin typeface="Inter"/>
              </a:rPr>
              <a:t>Structural Process Deficit: </a:t>
            </a:r>
            <a:r>
              <a:rPr lang="en-US" sz="1200" b="0" dirty="0">
                <a:solidFill>
                  <a:srgbClr val="4B5563"/>
                </a:solidFill>
                <a:latin typeface="Inter"/>
              </a:rPr>
              <a:t>All 31 days operated strictly within normal statistical control limits (LCL 76.60% – UCL 83.24%), yet 100% of daily data points failed to meet the 85.0% CSAT target. This confirms common-cause process limitation rather than isolated operational noise.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lang="en-US" sz="1200" b="1" dirty="0">
                <a:solidFill>
                  <a:srgbClr val="4B5563"/>
                </a:solidFill>
                <a:latin typeface="Inter"/>
              </a:rPr>
              <a:t>Metric Trajectory: </a:t>
            </a:r>
            <a:r>
              <a:rPr lang="en-US" sz="1200" b="0" dirty="0">
                <a:solidFill>
                  <a:srgbClr val="4B5563"/>
                </a:solidFill>
                <a:latin typeface="Inter"/>
              </a:rPr>
              <a:t>QA maintained steady performance near 94.49% (aside from May 6 at 86.44%). Recontact trended favorably in week 4 (5.26%), but finished the month above threshold at 5.83%.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lang="en-US" sz="1200" b="1" dirty="0">
                <a:solidFill>
                  <a:srgbClr val="4B5563"/>
                </a:solidFill>
                <a:latin typeface="Inter"/>
              </a:rPr>
              <a:t>Actionability over Coaching: </a:t>
            </a:r>
            <a:r>
              <a:rPr lang="en-US" sz="1200" b="0" dirty="0">
                <a:solidFill>
                  <a:srgbClr val="4B5563"/>
                </a:solidFill>
                <a:latin typeface="Inter"/>
              </a:rPr>
              <a:t>Because underperformance is embedded in system/policy design, agent coaching alone will not shift results. Sustainable CSAT recovery requires empowering agents with direct resolution tools (e.g., instant refund authority, real-time ETA tracking, clear escalation paths).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2148840"/>
            <a:ext cx="27432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400" b="1">
                <a:solidFill>
                  <a:srgbClr val="FF6600"/>
                </a:solidFill>
                <a:latin typeface="Int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46120"/>
            <a:ext cx="8686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nter"/>
              </a:rPr>
              <a:t>QA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3931920"/>
            <a:ext cx="914400" cy="32004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4187952"/>
            <a:ext cx="7863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C9CCD1"/>
                </a:solidFill>
                <a:latin typeface="Inter"/>
              </a:rPr>
              <a:t>Score against goal by channel and by contact reason. Then the defects behind each gap.</a:t>
            </a:r>
          </a:p>
        </p:txBody>
      </p:sp>
      <p:pic>
        <p:nvPicPr>
          <p:cNvPr id="8" name="Picture 7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5806440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14455" y="5806440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07 / 35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Inter"/>
              </a:rPr>
              <a:t>QA analysis by channel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158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950" b="0" dirty="0">
                <a:solidFill>
                  <a:srgbClr val="9CA3AF"/>
                </a:solidFill>
                <a:latin typeface="Inter"/>
              </a:rPr>
              <a:t>Channel-specific performance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08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004" y="6618557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 dirty="0" err="1">
                <a:solidFill>
                  <a:srgbClr val="9CA3AF"/>
                </a:solidFill>
                <a:latin typeface="Inter"/>
              </a:rPr>
              <a:t>DiDi</a:t>
            </a:r>
            <a:r>
              <a:rPr sz="750" b="0" dirty="0">
                <a:solidFill>
                  <a:srgbClr val="9CA3AF"/>
                </a:solidFill>
                <a:latin typeface="Inter"/>
              </a:rPr>
              <a:t> Global, CX Service Operations   |   Confidential. Internal use only</a:t>
            </a:r>
          </a:p>
        </p:txBody>
      </p:sp>
      <p:pic>
        <p:nvPicPr>
          <p:cNvPr id="11" name="Picture 10" descr="channel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656" y="1239012"/>
            <a:ext cx="6835461" cy="258316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grpSp>
        <p:nvGrpSpPr>
          <p:cNvPr id="49" name="Grupo 48">
            <a:extLst>
              <a:ext uri="{FF2B5EF4-FFF2-40B4-BE49-F238E27FC236}">
                <a16:creationId xmlns:a16="http://schemas.microsoft.com/office/drawing/2014/main" id="{B50134DC-831A-40F2-0ABB-05898F78DEB7}"/>
              </a:ext>
            </a:extLst>
          </p:cNvPr>
          <p:cNvGrpSpPr/>
          <p:nvPr/>
        </p:nvGrpSpPr>
        <p:grpSpPr>
          <a:xfrm>
            <a:off x="7314616" y="1239012"/>
            <a:ext cx="4672584" cy="1645920"/>
            <a:chOff x="7223760" y="1298448"/>
            <a:chExt cx="4343400" cy="1321498"/>
          </a:xfrm>
          <a:effectLst/>
        </p:grpSpPr>
        <p:sp>
          <p:nvSpPr>
            <p:cNvPr id="12" name="Rectangle 11"/>
            <p:cNvSpPr/>
            <p:nvPr/>
          </p:nvSpPr>
          <p:spPr>
            <a:xfrm>
              <a:off x="7223760" y="1298448"/>
              <a:ext cx="4343400" cy="365760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0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351776" y="1414455"/>
              <a:ext cx="932688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 dirty="0">
                  <a:solidFill>
                    <a:srgbClr val="FFFFFF"/>
                  </a:solidFill>
                  <a:latin typeface="Inter"/>
                </a:rPr>
                <a:t>Channel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8540496" y="1414455"/>
              <a:ext cx="384047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QA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180576" y="1414455"/>
              <a:ext cx="429768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vs 85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866376" y="1414455"/>
              <a:ext cx="521207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Audits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0643616" y="1414455"/>
              <a:ext cx="795527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Status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351776" y="1835076"/>
              <a:ext cx="932688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Phone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8476488" y="1728216"/>
              <a:ext cx="512063" cy="347472"/>
            </a:xfrm>
            <a:prstGeom prst="roundRect">
              <a:avLst>
                <a:gd name="adj" fmla="val 13157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0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8540496" y="1835076"/>
              <a:ext cx="384047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59E0B"/>
                  </a:solidFill>
                  <a:latin typeface="Inter"/>
                </a:rPr>
                <a:t>83.04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9180576" y="1835076"/>
              <a:ext cx="429768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-1.96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9866376" y="1835076"/>
              <a:ext cx="521207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355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10643616" y="1764792"/>
              <a:ext cx="914628" cy="274320"/>
            </a:xfrm>
            <a:prstGeom prst="roundRect">
              <a:avLst>
                <a:gd name="adj" fmla="val 50000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00"/>
            </a:p>
          </p:txBody>
        </p:sp>
        <p:sp>
          <p:nvSpPr>
            <p:cNvPr id="24" name="Oval 23"/>
            <p:cNvSpPr/>
            <p:nvPr/>
          </p:nvSpPr>
          <p:spPr>
            <a:xfrm>
              <a:off x="10753344" y="1851660"/>
              <a:ext cx="100584" cy="100584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00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917936" y="1835076"/>
              <a:ext cx="603732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59E0B"/>
                  </a:solidFill>
                  <a:latin typeface="Inter"/>
                </a:rPr>
                <a:t>Near goal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7223760" y="2134933"/>
              <a:ext cx="434340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00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7223760" y="2139696"/>
              <a:ext cx="4343400" cy="475488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00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7351776" y="2310566"/>
              <a:ext cx="932688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 dirty="0">
                  <a:solidFill>
                    <a:srgbClr val="1A1A1A"/>
                  </a:solidFill>
                  <a:latin typeface="Inter"/>
                </a:rPr>
                <a:t>Live Chat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8476488" y="2203704"/>
              <a:ext cx="512063" cy="347472"/>
            </a:xfrm>
            <a:prstGeom prst="roundRect">
              <a:avLst>
                <a:gd name="adj" fmla="val 13157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00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8540496" y="2310566"/>
              <a:ext cx="384047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6A34A"/>
                  </a:solidFill>
                  <a:latin typeface="Inter"/>
                </a:rPr>
                <a:t>96.01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9180576" y="2310566"/>
              <a:ext cx="429768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+11.01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9866376" y="2310566"/>
              <a:ext cx="521207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2,105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10643616" y="2240280"/>
              <a:ext cx="800785" cy="274320"/>
            </a:xfrm>
            <a:prstGeom prst="roundRect">
              <a:avLst>
                <a:gd name="adj" fmla="val 50000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00"/>
            </a:p>
          </p:txBody>
        </p:sp>
        <p:sp>
          <p:nvSpPr>
            <p:cNvPr id="34" name="Oval 33"/>
            <p:cNvSpPr/>
            <p:nvPr/>
          </p:nvSpPr>
          <p:spPr>
            <a:xfrm>
              <a:off x="10753344" y="2327148"/>
              <a:ext cx="100584" cy="100584"/>
            </a:xfrm>
            <a:prstGeom prst="ellipse">
              <a:avLst/>
            </a:prstGeom>
            <a:solidFill>
              <a:srgbClr val="16A34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00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0917936" y="2310566"/>
              <a:ext cx="489889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6A34A"/>
                  </a:solidFill>
                  <a:latin typeface="Inter"/>
                </a:rPr>
                <a:t>On goal</a:t>
              </a: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7223760" y="2610421"/>
              <a:ext cx="434340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00"/>
            </a:p>
          </p:txBody>
        </p:sp>
      </p:grpSp>
      <p:sp>
        <p:nvSpPr>
          <p:cNvPr id="37" name="TextBox 36"/>
          <p:cNvSpPr txBox="1"/>
          <p:nvPr/>
        </p:nvSpPr>
        <p:spPr>
          <a:xfrm>
            <a:off x="7415200" y="2997924"/>
            <a:ext cx="457200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1050" b="1" dirty="0"/>
              <a:t>Key </a:t>
            </a:r>
            <a:r>
              <a:rPr lang="es-CO" sz="1050" b="1" dirty="0" err="1"/>
              <a:t>Phone</a:t>
            </a:r>
            <a:r>
              <a:rPr lang="es-CO" sz="1050" b="1" dirty="0"/>
              <a:t> Performance </a:t>
            </a:r>
            <a:r>
              <a:rPr lang="es-CO" sz="1050" b="1" dirty="0" err="1"/>
              <a:t>Factors</a:t>
            </a:r>
            <a:endParaRPr lang="en-US" sz="10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7324344" y="3377400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562088" y="3260011"/>
            <a:ext cx="433425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Higher Case Complexity:</a:t>
            </a:r>
            <a:r>
              <a:rPr lang="en-US" sz="1000" dirty="0"/>
              <a:t> Phone tends to absorbs high-friction scenarios, including refund requests, billing disputes, and undelivered orders.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7313823" y="3749421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562088" y="3699817"/>
            <a:ext cx="433425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Higher Critical Defect Rate:</a:t>
            </a:r>
            <a:r>
              <a:rPr lang="en-US" sz="1000" dirty="0"/>
              <a:t> Phone exhibits a </a:t>
            </a:r>
            <a:r>
              <a:rPr lang="en-US" sz="1000" b="1" dirty="0"/>
              <a:t>13.52% critical failure rate</a:t>
            </a:r>
            <a:r>
              <a:rPr lang="en-US" sz="1000" dirty="0"/>
              <a:t>—more than 4.5x higher than Live Chat (2.95%).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7313823" y="4318311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562088" y="4202383"/>
            <a:ext cx="433425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Sample Weighting Bias:</a:t>
            </a:r>
            <a:r>
              <a:rPr lang="en-US" sz="1000" dirty="0"/>
              <a:t> Phone accounts for only </a:t>
            </a:r>
            <a:r>
              <a:rPr lang="en-US" sz="1000" b="1" dirty="0"/>
              <a:t>14.4% of total audits</a:t>
            </a:r>
            <a:r>
              <a:rPr lang="en-US" sz="1000" dirty="0"/>
              <a:t> (355 evaluations), muting its impact on the blended operational QA score.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462135" y="4807169"/>
            <a:ext cx="11277295" cy="1762946"/>
          </a:xfrm>
          <a:prstGeom prst="rect">
            <a:avLst/>
          </a:prstGeom>
          <a:solidFill>
            <a:srgbClr val="F4F5F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457200" y="4807168"/>
            <a:ext cx="153544" cy="1762945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94530" y="4827407"/>
            <a:ext cx="10710367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400" b="1" dirty="0"/>
              <a:t>QA-CSAT Relation: High Chat Volume &amp; Lenient Rubrics Mask Operational Risks</a:t>
            </a:r>
            <a:endParaRPr sz="130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794530" y="5210482"/>
            <a:ext cx="10710367" cy="11651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1450" indent="-171450" algn="l">
              <a:lnSpc>
                <a:spcPct val="132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400" kern="0" dirty="0">
                <a:effectLst/>
                <a:latin typeface="+mj-lt"/>
                <a:ea typeface="Times New Roman" panose="02020603050405020304" pitchFamily="18" charset="0"/>
              </a:rPr>
              <a:t>Phone QA sits below target at 83.04 (-1.96 pts), while Chat reaches 96.01. Chat is 85.6% of audits, so it inflates blended QA to 94.14. Chat's score reflects a lenient form (no critical for information accuracy). Recalibrating Chat to Phone rules drops it to 80.14. Among assessed contacts (not FCR), Phone still closes 9 of 10 (87.9%) and Chat 6 of 10 (63.0%). Phone CSAT 86.3% vs Chat 77.6%. The greener QA score is the weaker closer.</a:t>
            </a:r>
            <a:r>
              <a:rPr lang="en-US" sz="1400" b="1" kern="0" dirty="0">
                <a:effectLst/>
                <a:latin typeface="+mj-lt"/>
                <a:ea typeface="Times New Roman" panose="02020603050405020304" pitchFamily="18" charset="0"/>
              </a:rPr>
              <a:t/>
            </a:r>
            <a:r>
              <a:rPr lang="en-US" sz="1400" kern="0" dirty="0">
                <a:effectLst/>
                <a:latin typeface="+mj-lt"/>
                <a:ea typeface="Times New Roman" panose="02020603050405020304" pitchFamily="18" charset="0"/>
              </a:rPr>
              <a:t/>
            </a:r>
            <a:r>
              <a:rPr lang="en-US" sz="1050" b="1" kern="0" dirty="0">
                <a:effectLst/>
                <a:latin typeface="+mj-lt"/>
                <a:ea typeface="Times New Roman" panose="02020603050405020304" pitchFamily="18" charset="0"/>
              </a:rPr>
              <a:t/>
            </a:r>
            <a:r>
              <a:rPr lang="en-US" sz="1400" kern="0" dirty="0">
                <a:effectLst/>
                <a:latin typeface="+mj-lt"/>
                <a:ea typeface="Times New Roman" panose="02020603050405020304" pitchFamily="18" charset="0"/>
              </a:rPr>
              <a:t/>
            </a:r>
            <a:r>
              <a:rPr lang="en-US" sz="1400" b="1" kern="0" dirty="0">
                <a:effectLst/>
                <a:latin typeface="+mj-lt"/>
                <a:ea typeface="Times New Roman" panose="02020603050405020304" pitchFamily="18" charset="0"/>
              </a:rPr>
              <a:t/>
            </a:r>
            <a:r>
              <a:rPr lang="en-US" sz="1400" kern="0" dirty="0">
                <a:effectLst/>
                <a:latin typeface="+mj-lt"/>
                <a:ea typeface="Times New Roman" panose="02020603050405020304" pitchFamily="18" charset="0"/>
              </a:rPr>
              <a:t/>
            </a:r>
          </a:p>
          <a:p>
            <a:pPr marL="171450" indent="-171450" algn="l">
              <a:lnSpc>
                <a:spcPct val="132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400" kern="0" dirty="0">
                <a:effectLst/>
                <a:latin typeface="+mj-lt"/>
                <a:ea typeface="Times New Roman" panose="02020603050405020304" pitchFamily="18" charset="0"/>
              </a:rPr>
              <a:t/>
            </a:r>
            <a:r>
              <a:rPr lang="en-US" sz="1400" b="1" kern="0" dirty="0">
                <a:effectLst/>
                <a:latin typeface="+mj-lt"/>
                <a:ea typeface="Times New Roman" panose="02020603050405020304" pitchFamily="18" charset="0"/>
              </a:rPr>
              <a:t/>
            </a:r>
            <a:r>
              <a:rPr lang="en-US" sz="1400" kern="0" dirty="0">
                <a:effectLst/>
                <a:latin typeface="+mj-lt"/>
                <a:ea typeface="Times New Roman" panose="02020603050405020304" pitchFamily="18" charset="0"/>
              </a:rPr>
              <a:t/>
            </a:r>
            <a:r>
              <a:rPr lang="en-US" sz="1400" b="1" kern="0" dirty="0">
                <a:effectLst/>
                <a:latin typeface="+mj-lt"/>
                <a:ea typeface="Times New Roman" panose="02020603050405020304" pitchFamily="18" charset="0"/>
              </a:rPr>
              <a:t/>
            </a:r>
            <a:r>
              <a:rPr lang="en-US" sz="1400" kern="0" dirty="0">
                <a:effectLst/>
                <a:latin typeface="+mj-lt"/>
                <a:ea typeface="Times New Roman" panose="02020603050405020304" pitchFamily="18" charset="0"/>
              </a:rPr>
              <a:t/>
            </a:r>
            <a:endParaRPr sz="1050" b="0" dirty="0">
              <a:solidFill>
                <a:srgbClr val="4B5563"/>
              </a:solidFill>
              <a:latin typeface="+mj-lt"/>
            </a:endParaRPr>
          </a:p>
        </p:txBody>
      </p:sp>
      <p:sp>
        <p:nvSpPr>
          <p:cNvPr id="48" name="Rectángulo 47">
            <a:extLst>
              <a:ext uri="{FF2B5EF4-FFF2-40B4-BE49-F238E27FC236}">
                <a16:creationId xmlns:a16="http://schemas.microsoft.com/office/drawing/2014/main" id="{DEACA2D2-A5D8-B881-A1D8-6C7C27C95566}"/>
              </a:ext>
            </a:extLst>
          </p:cNvPr>
          <p:cNvSpPr/>
          <p:nvPr/>
        </p:nvSpPr>
        <p:spPr>
          <a:xfrm>
            <a:off x="7269477" y="1183398"/>
            <a:ext cx="4785363" cy="3490677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QA analysis: Phone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355 audits  ·  12 attributes  ·  score 83.04 vs 85 goal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09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pic>
        <p:nvPicPr>
          <p:cNvPr id="11" name="Picture 10" descr="pareto_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844" y="923544"/>
            <a:ext cx="5559192" cy="358250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TextBox 11"/>
          <p:cNvSpPr txBox="1"/>
          <p:nvPr/>
        </p:nvSpPr>
        <p:spPr>
          <a:xfrm>
            <a:off x="6931152" y="1110653"/>
            <a:ext cx="46177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dirty="0">
                <a:solidFill>
                  <a:srgbClr val="1A1A1A"/>
                </a:solidFill>
                <a:latin typeface="Inter"/>
              </a:rPr>
              <a:t>Contact reasons with the lowest QA</a:t>
            </a:r>
          </a:p>
        </p:txBody>
      </p:sp>
      <p:grpSp>
        <p:nvGrpSpPr>
          <p:cNvPr id="76" name="Grupo 75">
            <a:extLst>
              <a:ext uri="{FF2B5EF4-FFF2-40B4-BE49-F238E27FC236}">
                <a16:creationId xmlns:a16="http://schemas.microsoft.com/office/drawing/2014/main" id="{C360921C-5F1C-CA7B-5F21-DEBC1C020B16}"/>
              </a:ext>
            </a:extLst>
          </p:cNvPr>
          <p:cNvGrpSpPr/>
          <p:nvPr/>
        </p:nvGrpSpPr>
        <p:grpSpPr>
          <a:xfrm>
            <a:off x="6931152" y="1448181"/>
            <a:ext cx="4745736" cy="2525077"/>
            <a:chOff x="7132320" y="1536192"/>
            <a:chExt cx="4544568" cy="2437066"/>
          </a:xfrm>
        </p:grpSpPr>
        <p:sp>
          <p:nvSpPr>
            <p:cNvPr id="13" name="Rectangle 12"/>
            <p:cNvSpPr/>
            <p:nvPr/>
          </p:nvSpPr>
          <p:spPr>
            <a:xfrm>
              <a:off x="7132320" y="1536192"/>
              <a:ext cx="4544568" cy="329184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260336" y="1620396"/>
              <a:ext cx="239572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 dirty="0">
                  <a:solidFill>
                    <a:srgbClr val="FFFFFF"/>
                  </a:solidFill>
                  <a:latin typeface="Inter"/>
                </a:rPr>
                <a:t>Contact reason (CR Lv4)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912096" y="1620396"/>
              <a:ext cx="24688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QA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0415016" y="1620396"/>
              <a:ext cx="128015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n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0799064" y="1620396"/>
              <a:ext cx="74980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Status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260336" y="1995299"/>
              <a:ext cx="239572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 dirty="0">
                  <a:solidFill>
                    <a:srgbClr val="4B5563"/>
                  </a:solidFill>
                  <a:latin typeface="Inter"/>
                </a:rPr>
                <a:t>Completed but not received — market p</a:t>
              </a:r>
              <a:r>
                <a:rPr lang="es-MX" sz="1000" b="0" dirty="0">
                  <a:solidFill>
                    <a:srgbClr val="4B5563"/>
                  </a:solidFill>
                  <a:latin typeface="Inter"/>
                </a:rPr>
                <a:t>lace</a:t>
              </a:r>
              <a:endParaRPr sz="1000" b="0" dirty="0">
                <a:solidFill>
                  <a:srgbClr val="4B5563"/>
                </a:solidFill>
                <a:latin typeface="Inter"/>
              </a:endParaRP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9848088" y="1929384"/>
              <a:ext cx="37490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912096" y="1995299"/>
              <a:ext cx="24688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47.5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0415016" y="1995299"/>
              <a:ext cx="128015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4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10799064" y="1938528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3" name="Oval 22"/>
            <p:cNvSpPr/>
            <p:nvPr/>
          </p:nvSpPr>
          <p:spPr>
            <a:xfrm>
              <a:off x="10908792" y="2025395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1073384" y="2003345"/>
              <a:ext cx="546811" cy="14468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7132320" y="2281237"/>
              <a:ext cx="4544568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7132320" y="2286000"/>
              <a:ext cx="4544568" cy="42062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7260336" y="2415924"/>
              <a:ext cx="239572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Active order, already received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9848088" y="2350008"/>
              <a:ext cx="37490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9912096" y="2415924"/>
              <a:ext cx="24688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65.8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0415016" y="2415924"/>
              <a:ext cx="128015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12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10799064" y="2359152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2" name="Oval 31"/>
            <p:cNvSpPr/>
            <p:nvPr/>
          </p:nvSpPr>
          <p:spPr>
            <a:xfrm>
              <a:off x="10908792" y="2446020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1073384" y="2423969"/>
              <a:ext cx="546811" cy="14468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7132320" y="2701861"/>
              <a:ext cx="4544568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7260336" y="2836548"/>
              <a:ext cx="239572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Paying the courier</a:t>
              </a:r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9848088" y="2770632"/>
              <a:ext cx="37490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9912096" y="2836548"/>
              <a:ext cx="24688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66.7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10415016" y="2836548"/>
              <a:ext cx="128015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3</a:t>
              </a:r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10799064" y="2779776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0" name="Oval 39"/>
            <p:cNvSpPr/>
            <p:nvPr/>
          </p:nvSpPr>
          <p:spPr>
            <a:xfrm>
              <a:off x="10908792" y="2866644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11073384" y="2844593"/>
              <a:ext cx="546811" cy="14468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7132320" y="3122485"/>
              <a:ext cx="4544568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7132320" y="3127248"/>
              <a:ext cx="4544568" cy="42062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7260336" y="3257172"/>
              <a:ext cx="239572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 dirty="0">
                  <a:solidFill>
                    <a:srgbClr val="4B5563"/>
                  </a:solidFill>
                  <a:latin typeface="Inter"/>
                </a:rPr>
                <a:t>Completed but not received — full serv</a:t>
              </a:r>
              <a:r>
                <a:rPr lang="es-MX" sz="1000" b="0" dirty="0">
                  <a:solidFill>
                    <a:srgbClr val="4B5563"/>
                  </a:solidFill>
                  <a:latin typeface="Inter"/>
                </a:rPr>
                <a:t>ice</a:t>
              </a:r>
              <a:endParaRPr sz="1000" b="0" dirty="0">
                <a:solidFill>
                  <a:srgbClr val="4B5563"/>
                </a:solidFill>
                <a:latin typeface="Inter"/>
              </a:endParaRPr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9848088" y="3191256"/>
              <a:ext cx="37490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9912096" y="3257172"/>
              <a:ext cx="24688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68.2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10415016" y="3257172"/>
              <a:ext cx="128015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49</a:t>
              </a:r>
            </a:p>
          </p:txBody>
        </p:sp>
        <p:sp>
          <p:nvSpPr>
            <p:cNvPr id="48" name="Rounded Rectangle 47"/>
            <p:cNvSpPr/>
            <p:nvPr/>
          </p:nvSpPr>
          <p:spPr>
            <a:xfrm>
              <a:off x="10799064" y="3200400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9" name="Oval 48"/>
            <p:cNvSpPr/>
            <p:nvPr/>
          </p:nvSpPr>
          <p:spPr>
            <a:xfrm>
              <a:off x="10908792" y="3287268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11073384" y="3265217"/>
              <a:ext cx="546811" cy="14468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7132320" y="3543109"/>
              <a:ext cx="4544568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7260336" y="3677796"/>
              <a:ext cx="239572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Courier overcharged me</a:t>
              </a:r>
            </a:p>
          </p:txBody>
        </p:sp>
        <p:sp>
          <p:nvSpPr>
            <p:cNvPr id="53" name="Rounded Rectangle 52"/>
            <p:cNvSpPr/>
            <p:nvPr/>
          </p:nvSpPr>
          <p:spPr>
            <a:xfrm>
              <a:off x="9848088" y="3611879"/>
              <a:ext cx="37490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9912096" y="3677796"/>
              <a:ext cx="24688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68.6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10415016" y="3677796"/>
              <a:ext cx="128015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7</a:t>
              </a:r>
            </a:p>
          </p:txBody>
        </p:sp>
        <p:sp>
          <p:nvSpPr>
            <p:cNvPr id="56" name="Rounded Rectangle 55"/>
            <p:cNvSpPr/>
            <p:nvPr/>
          </p:nvSpPr>
          <p:spPr>
            <a:xfrm>
              <a:off x="10799064" y="3621024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7" name="Oval 56"/>
            <p:cNvSpPr/>
            <p:nvPr/>
          </p:nvSpPr>
          <p:spPr>
            <a:xfrm>
              <a:off x="10908792" y="3707892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11073384" y="3685842"/>
              <a:ext cx="546811" cy="14468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59" name="Rectangle 58"/>
            <p:cNvSpPr/>
            <p:nvPr/>
          </p:nvSpPr>
          <p:spPr>
            <a:xfrm>
              <a:off x="7132320" y="3963733"/>
              <a:ext cx="4544568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</p:grpSp>
      <p:sp>
        <p:nvSpPr>
          <p:cNvPr id="60" name="TextBox 59"/>
          <p:cNvSpPr txBox="1"/>
          <p:nvPr/>
        </p:nvSpPr>
        <p:spPr>
          <a:xfrm>
            <a:off x="7132320" y="4206240"/>
            <a:ext cx="461772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050" b="1" dirty="0"/>
              <a:t>Root Causes Behind Low QA Drivers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7132320" y="4585716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7370064" y="4489703"/>
            <a:ext cx="4379976" cy="5755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High-Friction Use Cases:</a:t>
            </a:r>
            <a:r>
              <a:rPr lang="en-US" sz="1000" dirty="0"/>
              <a:t> Low-scoring contacts concentrate in complex financial and delivery disputes (e.g., undelivered orders, courier fees) that require external tool verification.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138879" y="5234994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7376623" y="5138981"/>
            <a:ext cx="437997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System-Induced Delays:</a:t>
            </a:r>
            <a:r>
              <a:rPr lang="en-US" sz="1000" dirty="0"/>
              <a:t> Dependency on backend tools prolongs call duration, directly inflating </a:t>
            </a:r>
            <a:r>
              <a:rPr lang="en-US" sz="1000" i="1" dirty="0"/>
              <a:t>Time Management</a:t>
            </a:r>
            <a:r>
              <a:rPr lang="en-US" sz="1000" dirty="0"/>
              <a:t> defect rates.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7148949" y="5691184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7376623" y="5591256"/>
            <a:ext cx="437997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Critical Failure Severity:</a:t>
            </a:r>
            <a:r>
              <a:rPr lang="en-US" sz="1000" dirty="0"/>
              <a:t> Inaccurate guidance or incomplete policy execution during complex disputes triggers automatic zero-score audits.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7132185" y="6183119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7376623" y="6053671"/>
            <a:ext cx="437997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Resolution Bottleneck: Phone still closes 9 of 10 assessed contacts (87.9%; abandon 4.8%). The 1 that does not close is mostly undelivered or refund; 28 of 41 unresolved followed process.</a:t>
            </a:r>
            <a:r>
              <a:rPr lang="en-US" sz="1000" dirty="0"/>
              <a:t/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372528" y="4737727"/>
            <a:ext cx="644652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s-CO" sz="1050" b="1" dirty="0" err="1"/>
              <a:t>Defect</a:t>
            </a:r>
            <a:r>
              <a:rPr lang="es-CO" sz="1050" b="1" dirty="0"/>
              <a:t> </a:t>
            </a:r>
            <a:r>
              <a:rPr lang="es-CO" sz="1050" b="1" dirty="0" err="1"/>
              <a:t>Breakdown</a:t>
            </a:r>
            <a:endParaRPr lang="es-CO" sz="1050" b="1" dirty="0"/>
          </a:p>
        </p:txBody>
      </p:sp>
      <p:sp>
        <p:nvSpPr>
          <p:cNvPr id="70" name="Rectangle 69"/>
          <p:cNvSpPr/>
          <p:nvPr/>
        </p:nvSpPr>
        <p:spPr>
          <a:xfrm>
            <a:off x="372528" y="5117203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546264" y="5002554"/>
            <a:ext cx="5753772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Primary Volume Driver: Time Management is 64.3% of Phone fails (133). This month: system-check script at the start of money and undelivered calls; escalate if no data in 2 minutes.</a:t>
            </a:r>
            <a:r>
              <a:rPr lang="en-US" sz="1000" dirty="0"/>
              <a:t/>
            </a:r>
            <a:r>
              <a:rPr lang="en-US" sz="1000" i="1" dirty="0"/>
              <a:t/>
            </a: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  <a:endParaRPr lang="en-US"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72" name="Rectangle 71"/>
          <p:cNvSpPr/>
          <p:nvPr/>
        </p:nvSpPr>
        <p:spPr>
          <a:xfrm>
            <a:off x="340524" y="5633044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546264" y="5495991"/>
            <a:ext cx="5753772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Disproportionate Score Drag: Complete &amp; Correct Information is 28 fails and -6.55 pp (critical). This month: 1-page job aid for undelivered/refund CRs; coach the agents on those 28 audits.</a:t>
            </a:r>
            <a:r>
              <a:rPr lang="en-US" sz="1000" dirty="0"/>
              <a:t/>
            </a:r>
            <a:r>
              <a:rPr lang="en-US" sz="1000" i="1" dirty="0"/>
              <a:t/>
            </a: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  <a:endParaRPr lang="en-US"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74" name="Rectangle 73"/>
          <p:cNvSpPr/>
          <p:nvPr/>
        </p:nvSpPr>
        <p:spPr>
          <a:xfrm>
            <a:off x="367956" y="6114361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546264" y="6024482"/>
            <a:ext cx="6208776" cy="181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Concentrated Root Causes: Together 77.8% of Phone defects. Month 1 Phone work is these two attributes only.</a:t>
            </a: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77" name="Rectángulo 76">
            <a:extLst>
              <a:ext uri="{FF2B5EF4-FFF2-40B4-BE49-F238E27FC236}">
                <a16:creationId xmlns:a16="http://schemas.microsoft.com/office/drawing/2014/main" id="{771037E7-AC0C-BEBB-E572-D91C644423EE}"/>
              </a:ext>
            </a:extLst>
          </p:cNvPr>
          <p:cNvSpPr/>
          <p:nvPr/>
        </p:nvSpPr>
        <p:spPr>
          <a:xfrm>
            <a:off x="6632502" y="1017484"/>
            <a:ext cx="5362854" cy="5639348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QA analysis: Live Chat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2,105 audits  ·  8 attributes  ·  official score 96.01 vs 85 goal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10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pic>
        <p:nvPicPr>
          <p:cNvPr id="11" name="Picture 10" descr="pareto_ch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144" y="940992"/>
            <a:ext cx="6232905" cy="374487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TextBox 11"/>
          <p:cNvSpPr txBox="1"/>
          <p:nvPr/>
        </p:nvSpPr>
        <p:spPr>
          <a:xfrm>
            <a:off x="6888480" y="1225296"/>
            <a:ext cx="46177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dirty="0">
                <a:solidFill>
                  <a:srgbClr val="1A1A1A"/>
                </a:solidFill>
                <a:latin typeface="Inter"/>
              </a:rPr>
              <a:t>Contact reasons with the lowest QA</a:t>
            </a:r>
          </a:p>
        </p:txBody>
      </p:sp>
      <p:grpSp>
        <p:nvGrpSpPr>
          <p:cNvPr id="74" name="Grupo 73">
            <a:extLst>
              <a:ext uri="{FF2B5EF4-FFF2-40B4-BE49-F238E27FC236}">
                <a16:creationId xmlns:a16="http://schemas.microsoft.com/office/drawing/2014/main" id="{A83B2C7B-4D9E-E531-C533-170350A2247E}"/>
              </a:ext>
            </a:extLst>
          </p:cNvPr>
          <p:cNvGrpSpPr/>
          <p:nvPr/>
        </p:nvGrpSpPr>
        <p:grpSpPr>
          <a:xfrm>
            <a:off x="6888479" y="1549262"/>
            <a:ext cx="4768291" cy="2675128"/>
            <a:chOff x="7132320" y="1536192"/>
            <a:chExt cx="4581372" cy="2437066"/>
          </a:xfrm>
        </p:grpSpPr>
        <p:sp>
          <p:nvSpPr>
            <p:cNvPr id="13" name="Rectangle 12"/>
            <p:cNvSpPr/>
            <p:nvPr/>
          </p:nvSpPr>
          <p:spPr>
            <a:xfrm>
              <a:off x="7132320" y="1536192"/>
              <a:ext cx="4544568" cy="329184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260336" y="1624905"/>
              <a:ext cx="239572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Contact reason (CR Lv4)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912096" y="1624905"/>
              <a:ext cx="24688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QA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0415016" y="1624905"/>
              <a:ext cx="128015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n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0799064" y="1624905"/>
              <a:ext cx="74980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Status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260336" y="1999808"/>
              <a:ext cx="239572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 dirty="0">
                  <a:solidFill>
                    <a:srgbClr val="4B5563"/>
                  </a:solidFill>
                  <a:latin typeface="Inter"/>
                </a:rPr>
                <a:t>verbal aggression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9848088" y="1929384"/>
              <a:ext cx="37490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912096" y="1999808"/>
              <a:ext cx="24688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76.0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0415016" y="1999808"/>
              <a:ext cx="128015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5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10799064" y="1938528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3" name="Oval 22"/>
            <p:cNvSpPr/>
            <p:nvPr/>
          </p:nvSpPr>
          <p:spPr>
            <a:xfrm>
              <a:off x="10908792" y="2025395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1073384" y="2007401"/>
              <a:ext cx="546811" cy="13657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7132320" y="2281237"/>
              <a:ext cx="4544568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7132320" y="2286000"/>
              <a:ext cx="4544568" cy="42062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7260336" y="2420432"/>
              <a:ext cx="239572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referral coupon information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9848088" y="2350008"/>
              <a:ext cx="374904" cy="292608"/>
            </a:xfrm>
            <a:prstGeom prst="roundRect">
              <a:avLst>
                <a:gd name="adj" fmla="val 15625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9912096" y="2420432"/>
              <a:ext cx="24688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59E0B"/>
                  </a:solidFill>
                  <a:latin typeface="Inter"/>
                </a:rPr>
                <a:t>80.0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0415016" y="2420432"/>
              <a:ext cx="128015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5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10799064" y="2359152"/>
              <a:ext cx="914628" cy="274320"/>
            </a:xfrm>
            <a:prstGeom prst="roundRect">
              <a:avLst>
                <a:gd name="adj" fmla="val 50000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2" name="Oval 31"/>
            <p:cNvSpPr/>
            <p:nvPr/>
          </p:nvSpPr>
          <p:spPr>
            <a:xfrm>
              <a:off x="10908792" y="2446020"/>
              <a:ext cx="100584" cy="100584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1073384" y="2428026"/>
              <a:ext cx="603732" cy="13657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F59E0B"/>
                  </a:solidFill>
                  <a:latin typeface="Inter"/>
                </a:rPr>
                <a:t>Near goal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7132320" y="2701861"/>
              <a:ext cx="4544568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7260336" y="2841056"/>
              <a:ext cx="239572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store registration</a:t>
              </a:r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9848088" y="2770632"/>
              <a:ext cx="374904" cy="292608"/>
            </a:xfrm>
            <a:prstGeom prst="roundRect">
              <a:avLst>
                <a:gd name="adj" fmla="val 15625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9912096" y="2841056"/>
              <a:ext cx="24688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59E0B"/>
                  </a:solidFill>
                  <a:latin typeface="Inter"/>
                </a:rPr>
                <a:t>80.0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10415016" y="2841056"/>
              <a:ext cx="128015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5</a:t>
              </a:r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10799064" y="2779776"/>
              <a:ext cx="914628" cy="274320"/>
            </a:xfrm>
            <a:prstGeom prst="roundRect">
              <a:avLst>
                <a:gd name="adj" fmla="val 50000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0" name="Oval 39"/>
            <p:cNvSpPr/>
            <p:nvPr/>
          </p:nvSpPr>
          <p:spPr>
            <a:xfrm>
              <a:off x="10908792" y="2866644"/>
              <a:ext cx="100584" cy="100584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11073384" y="2848650"/>
              <a:ext cx="603732" cy="13657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F59E0B"/>
                  </a:solidFill>
                  <a:latin typeface="Inter"/>
                </a:rPr>
                <a:t>Near goal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7132320" y="3122485"/>
              <a:ext cx="4544568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7132320" y="3127248"/>
              <a:ext cx="4544568" cy="42062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7260336" y="3261680"/>
              <a:ext cx="239572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cancel the order</a:t>
              </a:r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9848088" y="3191256"/>
              <a:ext cx="374904" cy="292608"/>
            </a:xfrm>
            <a:prstGeom prst="roundRect">
              <a:avLst>
                <a:gd name="adj" fmla="val 15625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9912096" y="3261680"/>
              <a:ext cx="24688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6A34A"/>
                  </a:solidFill>
                  <a:latin typeface="Inter"/>
                </a:rPr>
                <a:t>86.7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10415016" y="3261680"/>
              <a:ext cx="128015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9</a:t>
              </a:r>
            </a:p>
          </p:txBody>
        </p:sp>
        <p:sp>
          <p:nvSpPr>
            <p:cNvPr id="48" name="Rounded Rectangle 47"/>
            <p:cNvSpPr/>
            <p:nvPr/>
          </p:nvSpPr>
          <p:spPr>
            <a:xfrm>
              <a:off x="10799064" y="3200400"/>
              <a:ext cx="800785" cy="274320"/>
            </a:xfrm>
            <a:prstGeom prst="roundRect">
              <a:avLst>
                <a:gd name="adj" fmla="val 50000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9" name="Oval 48"/>
            <p:cNvSpPr/>
            <p:nvPr/>
          </p:nvSpPr>
          <p:spPr>
            <a:xfrm>
              <a:off x="10908792" y="3287268"/>
              <a:ext cx="100584" cy="100584"/>
            </a:xfrm>
            <a:prstGeom prst="ellipse">
              <a:avLst/>
            </a:prstGeom>
            <a:solidFill>
              <a:srgbClr val="16A34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11073384" y="3269274"/>
              <a:ext cx="489889" cy="13657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16A34A"/>
                  </a:solidFill>
                  <a:latin typeface="Inter"/>
                </a:rPr>
                <a:t>On goal</a:t>
              </a: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7132320" y="3543109"/>
              <a:ext cx="4544568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7260336" y="3682304"/>
              <a:ext cx="239572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modify payment method</a:t>
              </a:r>
            </a:p>
          </p:txBody>
        </p:sp>
        <p:sp>
          <p:nvSpPr>
            <p:cNvPr id="53" name="Rounded Rectangle 52"/>
            <p:cNvSpPr/>
            <p:nvPr/>
          </p:nvSpPr>
          <p:spPr>
            <a:xfrm>
              <a:off x="9848088" y="3611879"/>
              <a:ext cx="374904" cy="292608"/>
            </a:xfrm>
            <a:prstGeom prst="roundRect">
              <a:avLst>
                <a:gd name="adj" fmla="val 15625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9912096" y="3682304"/>
              <a:ext cx="24688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6A34A"/>
                  </a:solidFill>
                  <a:latin typeface="Inter"/>
                </a:rPr>
                <a:t>86.7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10415016" y="3682304"/>
              <a:ext cx="128015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9</a:t>
              </a:r>
            </a:p>
          </p:txBody>
        </p:sp>
        <p:sp>
          <p:nvSpPr>
            <p:cNvPr id="56" name="Rounded Rectangle 55"/>
            <p:cNvSpPr/>
            <p:nvPr/>
          </p:nvSpPr>
          <p:spPr>
            <a:xfrm>
              <a:off x="10799064" y="3621024"/>
              <a:ext cx="800785" cy="274320"/>
            </a:xfrm>
            <a:prstGeom prst="roundRect">
              <a:avLst>
                <a:gd name="adj" fmla="val 50000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7" name="Oval 56"/>
            <p:cNvSpPr/>
            <p:nvPr/>
          </p:nvSpPr>
          <p:spPr>
            <a:xfrm>
              <a:off x="10908792" y="3707892"/>
              <a:ext cx="100584" cy="100584"/>
            </a:xfrm>
            <a:prstGeom prst="ellipse">
              <a:avLst/>
            </a:prstGeom>
            <a:solidFill>
              <a:srgbClr val="16A34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11073384" y="3689898"/>
              <a:ext cx="489889" cy="13657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16A34A"/>
                  </a:solidFill>
                  <a:latin typeface="Inter"/>
                </a:rPr>
                <a:t>On goal</a:t>
              </a:r>
            </a:p>
          </p:txBody>
        </p:sp>
        <p:sp>
          <p:nvSpPr>
            <p:cNvPr id="59" name="Rectangle 58"/>
            <p:cNvSpPr/>
            <p:nvPr/>
          </p:nvSpPr>
          <p:spPr>
            <a:xfrm>
              <a:off x="7132320" y="3963733"/>
              <a:ext cx="4544568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</p:grpSp>
      <p:sp>
        <p:nvSpPr>
          <p:cNvPr id="60" name="TextBox 59"/>
          <p:cNvSpPr txBox="1"/>
          <p:nvPr/>
        </p:nvSpPr>
        <p:spPr>
          <a:xfrm>
            <a:off x="7039051" y="4409641"/>
            <a:ext cx="461772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1050" b="1" dirty="0" err="1"/>
              <a:t>Root</a:t>
            </a:r>
            <a:r>
              <a:rPr lang="es-CO" sz="1050" b="1" dirty="0"/>
              <a:t> Cause &amp; Score </a:t>
            </a:r>
            <a:r>
              <a:rPr lang="es-CO" sz="1050" b="1" dirty="0" err="1"/>
              <a:t>Distortion</a:t>
            </a:r>
            <a:r>
              <a:rPr lang="es-CO" sz="1050" dirty="0"/>
              <a:t> o </a:t>
            </a:r>
            <a:r>
              <a:rPr lang="es-CO" sz="1050" b="1" dirty="0" err="1"/>
              <a:t>Structural</a:t>
            </a:r>
            <a:r>
              <a:rPr lang="es-CO" sz="1050" b="1" dirty="0"/>
              <a:t> </a:t>
            </a:r>
            <a:r>
              <a:rPr lang="es-CO" sz="1050" b="1" dirty="0" err="1"/>
              <a:t>Rubric</a:t>
            </a:r>
            <a:r>
              <a:rPr lang="es-CO" sz="1050" b="1" dirty="0"/>
              <a:t> Gap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7162800" y="4864921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7414260" y="4711822"/>
            <a:ext cx="437997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Channel Disparity:</a:t>
            </a:r>
            <a:r>
              <a:rPr lang="en-US" sz="1000" dirty="0"/>
              <a:t> Unlike Phone evaluations, Live Chat does not categorize </a:t>
            </a:r>
            <a:r>
              <a:rPr lang="en-US" sz="1000" i="1" dirty="0"/>
              <a:t>Information Accuracy &amp; Completeness</a:t>
            </a:r>
            <a:r>
              <a:rPr lang="en-US" sz="1000" dirty="0"/>
              <a:t> as a critical failure.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162800" y="5442588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7414260" y="5295933"/>
            <a:ext cx="437997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Artificial Score Inflation:</a:t>
            </a:r>
            <a:r>
              <a:rPr lang="en-US" sz="1000" dirty="0"/>
              <a:t> </a:t>
            </a:r>
            <a:r>
              <a:rPr lang="en-US" sz="1000" b="1" dirty="0"/>
              <a:t>80% of chats with process failures</a:t>
            </a:r>
            <a:r>
              <a:rPr lang="en-US" sz="1000" dirty="0"/>
              <a:t> (297 out of 372) currently receive a perfect score of 100.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7179564" y="6048566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7414260" y="5897880"/>
            <a:ext cx="437997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Recalibrated Score Impact: Chat closes 6 of 10 assessed (63.0%; abandon 15.6%). 499 of 658 unresolved chats followed process. Recalibrating the form drops QA to 80.14; it does not close those cases.</a:t>
            </a: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441960" y="4810385"/>
            <a:ext cx="644652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1050" b="1" dirty="0" err="1"/>
              <a:t>Defect</a:t>
            </a:r>
            <a:r>
              <a:rPr lang="es-CO" sz="1050" b="1" dirty="0"/>
              <a:t> </a:t>
            </a:r>
            <a:r>
              <a:rPr lang="es-CO" sz="1050" b="1" dirty="0" err="1"/>
              <a:t>Breakdown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68" name="Rectangle 67"/>
          <p:cNvSpPr/>
          <p:nvPr/>
        </p:nvSpPr>
        <p:spPr>
          <a:xfrm>
            <a:off x="441960" y="5237035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71634" y="5096622"/>
            <a:ext cx="620877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Soft Skill Bias: Greeting (30.9%) and Service Attitude (22.2%) are 53.1% of Chat defects. This month: mandatory open-chat greeting/ID macro, and next-step macros on stuck CRs.</a:t>
            </a:r>
            <a:r>
              <a:rPr lang="en-US" sz="1000" dirty="0"/>
              <a:t/>
            </a:r>
            <a:r>
              <a:rPr lang="en-US" sz="1000" i="1" dirty="0"/>
              <a:t/>
            </a:r>
            <a:r>
              <a:rPr lang="en-US" sz="1000" dirty="0"/>
              <a:t/>
            </a:r>
            <a:r>
              <a:rPr lang="en-US" sz="1000" i="1" dirty="0"/>
              <a:t/>
            </a: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438012" y="5751489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71634" y="5582911"/>
            <a:ext cx="5887358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Highest Score Drag: Service Availability is 46 fails and -2.10 pp (critical). This month: WFM/Chat Ops on queue, wrap-up, and not leaving the chat hanging.</a:t>
            </a:r>
            <a:r>
              <a:rPr lang="en-US" sz="1000" dirty="0"/>
              <a:t/>
            </a:r>
            <a:r>
              <a:rPr lang="en-US" sz="1000" i="1" dirty="0"/>
              <a:t/>
            </a: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72" name="Rectangle 71"/>
          <p:cNvSpPr/>
          <p:nvPr/>
        </p:nvSpPr>
        <p:spPr>
          <a:xfrm>
            <a:off x="457200" y="6194414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79703" y="6036210"/>
            <a:ext cx="620877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Rubric Blind Spot: The form still does not score information accuracy. That is a measurement change, separate from this month's defect correction.</a:t>
            </a:r>
            <a:r>
              <a:rPr lang="en-US" sz="1000" dirty="0"/>
              <a:t/>
            </a:r>
            <a:endParaRPr lang="en-US"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75" name="Rectángulo 74">
            <a:extLst>
              <a:ext uri="{FF2B5EF4-FFF2-40B4-BE49-F238E27FC236}">
                <a16:creationId xmlns:a16="http://schemas.microsoft.com/office/drawing/2014/main" id="{2F033A5D-977B-9C2D-5FC0-62D9FBCB389A}"/>
              </a:ext>
            </a:extLst>
          </p:cNvPr>
          <p:cNvSpPr/>
          <p:nvPr/>
        </p:nvSpPr>
        <p:spPr>
          <a:xfrm>
            <a:off x="6685934" y="1143238"/>
            <a:ext cx="5361825" cy="5301003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Inter"/>
              </a:rPr>
              <a:t>QA analysis: where the defects 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158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950" b="0" dirty="0">
                <a:solidFill>
                  <a:srgbClr val="9CA3AF"/>
                </a:solidFill>
                <a:latin typeface="Inter"/>
              </a:rPr>
              <a:t>"Consolidated cross-channel view evaluating 20 QA attributes (12 Phone, 8 Chat)."</a:t>
            </a:r>
            <a:endParaRPr sz="950" b="0" dirty="0">
              <a:solidFill>
                <a:srgbClr val="9CA3AF"/>
              </a:solidFill>
              <a:latin typeface="Inte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11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pic>
        <p:nvPicPr>
          <p:cNvPr id="11" name="Picture 10" descr="pareto_defec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641" y="1004514"/>
            <a:ext cx="5361825" cy="357332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 descr="hist_q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3618" y="1219978"/>
            <a:ext cx="4720133" cy="2920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3" name="TextBox 12"/>
          <p:cNvSpPr txBox="1"/>
          <p:nvPr/>
        </p:nvSpPr>
        <p:spPr>
          <a:xfrm>
            <a:off x="7031751" y="4496894"/>
            <a:ext cx="457200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1050" b="1" dirty="0"/>
              <a:t>Score </a:t>
            </a:r>
            <a:r>
              <a:rPr lang="es-CO" sz="1050" b="1" dirty="0" err="1"/>
              <a:t>Distribution</a:t>
            </a:r>
            <a:r>
              <a:rPr lang="es-CO" sz="1050" b="1" dirty="0"/>
              <a:t> &amp; </a:t>
            </a:r>
            <a:r>
              <a:rPr lang="es-CO" sz="1050" b="1" dirty="0" err="1"/>
              <a:t>Scale</a:t>
            </a:r>
            <a:r>
              <a:rPr lang="es-CO" sz="1050" b="1" dirty="0"/>
              <a:t> </a:t>
            </a:r>
            <a:r>
              <a:rPr lang="es-CO" sz="1050" b="1" dirty="0" err="1"/>
              <a:t>Behavior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031751" y="4876370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269494" y="4780358"/>
            <a:ext cx="433425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Polarized Results:</a:t>
            </a:r>
            <a:r>
              <a:rPr lang="en-US" sz="1000" dirty="0"/>
              <a:t> </a:t>
            </a:r>
            <a:r>
              <a:rPr lang="en-US" sz="1000" b="1" dirty="0"/>
              <a:t>82.7%</a:t>
            </a:r>
            <a:r>
              <a:rPr lang="en-US" sz="1000" dirty="0"/>
              <a:t> of evaluated contacts achieve a perfect score (100), while </a:t>
            </a:r>
            <a:r>
              <a:rPr lang="en-US" sz="1000" b="1" dirty="0"/>
              <a:t>4.5%</a:t>
            </a:r>
            <a:r>
              <a:rPr lang="en-US" sz="1000" dirty="0"/>
              <a:t> score a complete zero due to critical failures.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014987" y="5540461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69495" y="5278293"/>
            <a:ext cx="4334256" cy="5755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Binary Scale Behavior:</a:t>
            </a:r>
            <a:r>
              <a:rPr lang="en-US" sz="1000" dirty="0"/>
              <a:t> Only </a:t>
            </a:r>
            <a:r>
              <a:rPr lang="en-US" sz="1000" b="1" dirty="0"/>
              <a:t>12.8%</a:t>
            </a:r>
            <a:r>
              <a:rPr lang="en-US" sz="1000" dirty="0"/>
              <a:t> of audits fall in the mid-range (70–90 pts), causing the QA evaluation to behave more as a </a:t>
            </a:r>
            <a:r>
              <a:rPr lang="en-US" sz="1000" b="1" dirty="0"/>
              <a:t>binary pass/fail indicator</a:t>
            </a:r>
            <a:r>
              <a:rPr lang="en-US" sz="1000" dirty="0"/>
              <a:t> than a continuous diagnostic metric.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57200" y="4677228"/>
            <a:ext cx="649224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1050" b="1" dirty="0" err="1"/>
              <a:t>Defect</a:t>
            </a:r>
            <a:r>
              <a:rPr lang="es-CO" sz="1050" b="1" dirty="0"/>
              <a:t> </a:t>
            </a:r>
            <a:r>
              <a:rPr lang="es-CO" sz="1050" b="1" dirty="0" err="1"/>
              <a:t>Concentration</a:t>
            </a:r>
            <a:r>
              <a:rPr lang="es-CO" sz="1050" b="1" dirty="0"/>
              <a:t> </a:t>
            </a:r>
            <a:r>
              <a:rPr lang="es-CO" sz="1050" b="1" dirty="0" err="1"/>
              <a:t>Analysis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37788" y="5054967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88249" y="4934813"/>
            <a:ext cx="6103499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Defect Concentration (80/20):</a:t>
            </a:r>
            <a:r>
              <a:rPr lang="en-US" sz="1000" dirty="0"/>
              <a:t> Just 7 attributes account for </a:t>
            </a:r>
            <a:r>
              <a:rPr lang="en-US" sz="1000" b="1" dirty="0"/>
              <a:t>82.8%</a:t>
            </a:r>
            <a:r>
              <a:rPr lang="en-US" sz="1000" dirty="0"/>
              <a:t> of total audit failures (518 fails across both channels).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29886" y="5496018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88249" y="5354522"/>
            <a:ext cx="5652531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Critical Failures (★):</a:t>
            </a:r>
            <a:r>
              <a:rPr lang="en-US" sz="1000" dirty="0"/>
              <a:t> Critical attributes carry maximum risk as single failure triggers an automatic zero score for the entire audit.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26838" y="5954437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8249" y="5851715"/>
            <a:ext cx="5596417" cy="5755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Volume vs. Severity Trade-off: Time Management is the highest Phone volume fail; Complete &amp; Correct Information is the highest Phone score drag. Month 1: those two plus Chat greeting, attitude, and availability.</a:t>
            </a:r>
            <a:r>
              <a:rPr lang="en-US" sz="1000" dirty="0"/>
              <a:t/>
            </a:r>
            <a:r>
              <a:rPr lang="en-US" sz="1000" i="1" dirty="0"/>
              <a:t/>
            </a:r>
            <a:r>
              <a:rPr lang="en-US" sz="1000" dirty="0"/>
              <a:t/>
            </a:r>
            <a:r>
              <a:rPr lang="en-US" sz="1000" i="1" dirty="0"/>
              <a:t/>
            </a:r>
            <a:r>
              <a:rPr lang="en-US" sz="1000" dirty="0"/>
              <a:t/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D73E2C36-75CB-BF30-AE16-A05225B2A102}"/>
              </a:ext>
            </a:extLst>
          </p:cNvPr>
          <p:cNvSpPr/>
          <p:nvPr/>
        </p:nvSpPr>
        <p:spPr>
          <a:xfrm>
            <a:off x="6539645" y="1036128"/>
            <a:ext cx="5361825" cy="5301003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QA analysis: where we concentrate this month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Correct the defects we already score. Chat information accuracy is a scoring change, separate from this list.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12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188720"/>
            <a:ext cx="10817351" cy="3657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" y="1188720"/>
            <a:ext cx="207568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Defect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16936" y="1188720"/>
            <a:ext cx="7955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Channel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8495" y="1188720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How we correct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0536" y="1188720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Who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52176" y="1188720"/>
            <a:ext cx="594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When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" y="1554480"/>
            <a:ext cx="207568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Time management (133 fails, 64.3%)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6936" y="1554480"/>
            <a:ext cx="79552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Phone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68495" y="1554480"/>
            <a:ext cx="463600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System-check script at the start of money and undelivered calls. Escalate if no data in 2 minutes.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0536" y="1554480"/>
            <a:ext cx="14356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Supervisors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52176" y="1554480"/>
            <a:ext cx="5943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27 Jun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189797"/>
            <a:ext cx="10817351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2194560"/>
            <a:ext cx="10817351" cy="64008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16" y="2194560"/>
            <a:ext cx="207568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Complete and correct information (28 fails, -6.55 pp)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16936" y="2194560"/>
            <a:ext cx="79552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Phone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68495" y="2194560"/>
            <a:ext cx="463600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1-page job aid for undelivered and refund CRs. Coach the agents on those 28 audits.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0536" y="2194560"/>
            <a:ext cx="14356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QA Lead + Supervisors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52176" y="2194560"/>
            <a:ext cx="5943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27 Jun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2829877"/>
            <a:ext cx="10817351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5216" y="2834640"/>
            <a:ext cx="207568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Greeting and identification (96 fails, 30.9%)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16936" y="2834640"/>
            <a:ext cx="79552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Live Chat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68495" y="2834640"/>
            <a:ext cx="463600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Mandatory open-chat greeting and identification macro.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0536" y="2834640"/>
            <a:ext cx="14356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Chat Ops + QA Lead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52176" y="2834640"/>
            <a:ext cx="5943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13 Jun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3469957"/>
            <a:ext cx="10817351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3474720"/>
            <a:ext cx="10817351" cy="64008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5216" y="3474720"/>
            <a:ext cx="207568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Service attitude (69 fails, 22.2%)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16936" y="3474720"/>
            <a:ext cx="79552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Live Chat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68495" y="3474720"/>
            <a:ext cx="463600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Next-step macros on stuck CRs. Recalibrate attitude when the case cannot close.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60536" y="3474720"/>
            <a:ext cx="14356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Chat Ops + QA Lead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52176" y="3474720"/>
            <a:ext cx="5943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27 Jun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10037"/>
            <a:ext cx="10817351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85216" y="4114800"/>
            <a:ext cx="207568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Service availability (46 fails, -2.10 pp)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16936" y="4114800"/>
            <a:ext cx="79552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Live Chat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68495" y="4114800"/>
            <a:ext cx="463600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WFM and Chat Ops on queue, wrap-up, and chats left hanging. This is the Chat critical we already score.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60536" y="4114800"/>
            <a:ext cx="14356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WFM + Chat Ops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52176" y="4114800"/>
            <a:ext cx="5943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13 Jun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750117"/>
            <a:ext cx="10817351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57200" y="4901184"/>
            <a:ext cx="11277295" cy="1170432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57200" y="4901184"/>
            <a:ext cx="38404" cy="1170432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8096" y="5084064"/>
            <a:ext cx="1071036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Inter"/>
              </a:rPr>
              <a:t>This is defect correction, not a scoring change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8096" y="5468112"/>
            <a:ext cx="1071036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0">
                <a:solidFill>
                  <a:srgbClr val="4B5563"/>
                </a:solidFill>
                <a:latin typeface="Inter"/>
              </a:rPr>
              <a:t>These five attributes are already on the form. Adding Chat correct-information as a critical is a separate scorecard change (Chat QA would read 80.14). It does not lift CSAT. Cases that followed process and still did not close belong to process, not to the agent.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98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800" b="1" dirty="0">
                <a:solidFill>
                  <a:srgbClr val="FFFFFF"/>
                </a:solidFill>
                <a:latin typeface="Inter"/>
              </a:rPr>
              <a:t>Contact Reason QA Breakdown (CR Lv4)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Blended ranking (Phone + Chat together). Official QA never mixes the two lists. At least 3 audits.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13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pic>
        <p:nvPicPr>
          <p:cNvPr id="11" name="Picture 10" descr="bar_qa_by_c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732" y="1458288"/>
            <a:ext cx="5721032" cy="289736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TextBox 11"/>
          <p:cNvSpPr txBox="1"/>
          <p:nvPr/>
        </p:nvSpPr>
        <p:spPr>
          <a:xfrm>
            <a:off x="6757416" y="1382030"/>
            <a:ext cx="512064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1" dirty="0">
                <a:solidFill>
                  <a:srgbClr val="1A1A1A"/>
                </a:solidFill>
                <a:latin typeface="Inter"/>
              </a:rPr>
              <a:t>Lowest QA reasons (blended)</a:t>
            </a:r>
          </a:p>
        </p:txBody>
      </p:sp>
      <p:grpSp>
        <p:nvGrpSpPr>
          <p:cNvPr id="73" name="Grupo 72">
            <a:extLst>
              <a:ext uri="{FF2B5EF4-FFF2-40B4-BE49-F238E27FC236}">
                <a16:creationId xmlns:a16="http://schemas.microsoft.com/office/drawing/2014/main" id="{D41F816D-DC7A-E09C-7A6D-5449F4BA4661}"/>
              </a:ext>
            </a:extLst>
          </p:cNvPr>
          <p:cNvGrpSpPr/>
          <p:nvPr/>
        </p:nvGrpSpPr>
        <p:grpSpPr>
          <a:xfrm>
            <a:off x="6757416" y="1692926"/>
            <a:ext cx="5120640" cy="2619946"/>
            <a:chOff x="6629400" y="1517904"/>
            <a:chExt cx="5120640" cy="2619946"/>
          </a:xfrm>
        </p:grpSpPr>
        <p:sp>
          <p:nvSpPr>
            <p:cNvPr id="13" name="Rectangle 12"/>
            <p:cNvSpPr/>
            <p:nvPr/>
          </p:nvSpPr>
          <p:spPr>
            <a:xfrm>
              <a:off x="6629400" y="1517904"/>
              <a:ext cx="5120640" cy="329184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757416" y="1599205"/>
              <a:ext cx="225856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 dirty="0">
                  <a:solidFill>
                    <a:srgbClr val="FFFFFF"/>
                  </a:solidFill>
                  <a:latin typeface="Inter"/>
                </a:rPr>
                <a:t>Contact reason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272016" y="1599205"/>
              <a:ext cx="274319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QA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802368" y="1599205"/>
              <a:ext cx="1554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n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0213848" y="1599205"/>
              <a:ext cx="1408176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Status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757416" y="2000732"/>
              <a:ext cx="22585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 dirty="0">
                  <a:solidFill>
                    <a:srgbClr val="4B5563"/>
                  </a:solidFill>
                  <a:latin typeface="Inter"/>
                </a:rPr>
                <a:t>Completed but not received — market p…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9208008" y="1911095"/>
              <a:ext cx="402335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272016" y="2000732"/>
              <a:ext cx="274319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58.0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9802368" y="2000732"/>
              <a:ext cx="15544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5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10213848" y="1938528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3" name="Oval 22"/>
            <p:cNvSpPr/>
            <p:nvPr/>
          </p:nvSpPr>
          <p:spPr>
            <a:xfrm>
              <a:off x="10323576" y="2025395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488168" y="2000732"/>
              <a:ext cx="546811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629400" y="2299525"/>
              <a:ext cx="51206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629400" y="2304288"/>
              <a:ext cx="5120640" cy="457200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6757416" y="2457932"/>
              <a:ext cx="22585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Referral coupon information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9208008" y="2368296"/>
              <a:ext cx="402335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9272016" y="2457932"/>
              <a:ext cx="274319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66.7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9802368" y="2457932"/>
              <a:ext cx="15544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6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10213848" y="2395728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2" name="Oval 31"/>
            <p:cNvSpPr/>
            <p:nvPr/>
          </p:nvSpPr>
          <p:spPr>
            <a:xfrm>
              <a:off x="10323576" y="2482596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0488168" y="2457932"/>
              <a:ext cx="546811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6629400" y="2756725"/>
              <a:ext cx="51206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6757416" y="2915132"/>
              <a:ext cx="22585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store registration</a:t>
              </a:r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9208008" y="2825496"/>
              <a:ext cx="402335" cy="329184"/>
            </a:xfrm>
            <a:prstGeom prst="roundRect">
              <a:avLst>
                <a:gd name="adj" fmla="val 13888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9272016" y="2915132"/>
              <a:ext cx="274319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F59E0B"/>
                  </a:solidFill>
                  <a:latin typeface="Inter"/>
                </a:rPr>
                <a:t>80.0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9802368" y="2915132"/>
              <a:ext cx="15544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5</a:t>
              </a:r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10213848" y="2852928"/>
              <a:ext cx="914628" cy="274320"/>
            </a:xfrm>
            <a:prstGeom prst="roundRect">
              <a:avLst>
                <a:gd name="adj" fmla="val 50000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0" name="Oval 39"/>
            <p:cNvSpPr/>
            <p:nvPr/>
          </p:nvSpPr>
          <p:spPr>
            <a:xfrm>
              <a:off x="10323576" y="2939796"/>
              <a:ext cx="100584" cy="100584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10488168" y="2915132"/>
              <a:ext cx="603732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F59E0B"/>
                  </a:solidFill>
                  <a:latin typeface="Inter"/>
                </a:rPr>
                <a:t>Near goal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6629400" y="3213925"/>
              <a:ext cx="51206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6629400" y="3218688"/>
              <a:ext cx="5120640" cy="457200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6757416" y="3372332"/>
              <a:ext cx="22585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verbal aggression</a:t>
              </a:r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9208008" y="3282696"/>
              <a:ext cx="402335" cy="329184"/>
            </a:xfrm>
            <a:prstGeom prst="roundRect">
              <a:avLst>
                <a:gd name="adj" fmla="val 13888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9272016" y="3372332"/>
              <a:ext cx="274319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 dirty="0">
                  <a:solidFill>
                    <a:srgbClr val="F59E0B"/>
                  </a:solidFill>
                  <a:latin typeface="Inter"/>
                </a:rPr>
                <a:t>82.5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9802368" y="3372332"/>
              <a:ext cx="15544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8</a:t>
              </a:r>
            </a:p>
          </p:txBody>
        </p:sp>
        <p:sp>
          <p:nvSpPr>
            <p:cNvPr id="48" name="Rounded Rectangle 47"/>
            <p:cNvSpPr/>
            <p:nvPr/>
          </p:nvSpPr>
          <p:spPr>
            <a:xfrm>
              <a:off x="10213848" y="3310128"/>
              <a:ext cx="914628" cy="274320"/>
            </a:xfrm>
            <a:prstGeom prst="roundRect">
              <a:avLst>
                <a:gd name="adj" fmla="val 50000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9" name="Oval 48"/>
            <p:cNvSpPr/>
            <p:nvPr/>
          </p:nvSpPr>
          <p:spPr>
            <a:xfrm>
              <a:off x="10323576" y="3396996"/>
              <a:ext cx="100584" cy="100584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10488168" y="3372332"/>
              <a:ext cx="603732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F59E0B"/>
                  </a:solidFill>
                  <a:latin typeface="Inter"/>
                </a:rPr>
                <a:t>Near goal</a:t>
              </a: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6629400" y="3671125"/>
              <a:ext cx="51206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6757416" y="3829531"/>
              <a:ext cx="22585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Completed but not received — full ser…</a:t>
              </a:r>
            </a:p>
          </p:txBody>
        </p:sp>
        <p:sp>
          <p:nvSpPr>
            <p:cNvPr id="53" name="Rounded Rectangle 52"/>
            <p:cNvSpPr/>
            <p:nvPr/>
          </p:nvSpPr>
          <p:spPr>
            <a:xfrm>
              <a:off x="9208008" y="3739896"/>
              <a:ext cx="402335" cy="329184"/>
            </a:xfrm>
            <a:prstGeom prst="roundRect">
              <a:avLst>
                <a:gd name="adj" fmla="val 13888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9272016" y="3829531"/>
              <a:ext cx="274319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16A34A"/>
                  </a:solidFill>
                  <a:latin typeface="Inter"/>
                </a:rPr>
                <a:t>86.5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9802368" y="3829531"/>
              <a:ext cx="225552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138</a:t>
              </a:r>
            </a:p>
          </p:txBody>
        </p:sp>
        <p:sp>
          <p:nvSpPr>
            <p:cNvPr id="56" name="Rounded Rectangle 55"/>
            <p:cNvSpPr/>
            <p:nvPr/>
          </p:nvSpPr>
          <p:spPr>
            <a:xfrm>
              <a:off x="10213848" y="3767327"/>
              <a:ext cx="800785" cy="274320"/>
            </a:xfrm>
            <a:prstGeom prst="roundRect">
              <a:avLst>
                <a:gd name="adj" fmla="val 50000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7" name="Oval 56"/>
            <p:cNvSpPr/>
            <p:nvPr/>
          </p:nvSpPr>
          <p:spPr>
            <a:xfrm>
              <a:off x="10323576" y="3854196"/>
              <a:ext cx="100584" cy="100584"/>
            </a:xfrm>
            <a:prstGeom prst="ellipse">
              <a:avLst/>
            </a:prstGeom>
            <a:solidFill>
              <a:srgbClr val="16A34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10488168" y="3829531"/>
              <a:ext cx="489889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16A34A"/>
                  </a:solidFill>
                  <a:latin typeface="Inter"/>
                </a:rPr>
                <a:t>On goal</a:t>
              </a:r>
            </a:p>
          </p:txBody>
        </p:sp>
        <p:sp>
          <p:nvSpPr>
            <p:cNvPr id="59" name="Rectangle 58"/>
            <p:cNvSpPr/>
            <p:nvPr/>
          </p:nvSpPr>
          <p:spPr>
            <a:xfrm>
              <a:off x="6629400" y="4128325"/>
              <a:ext cx="51206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</p:grpSp>
      <p:sp>
        <p:nvSpPr>
          <p:cNvPr id="60" name="TextBox 59"/>
          <p:cNvSpPr txBox="1"/>
          <p:nvPr/>
        </p:nvSpPr>
        <p:spPr>
          <a:xfrm>
            <a:off x="6775704" y="4387030"/>
            <a:ext cx="512064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050" b="1" dirty="0"/>
              <a:t>Drivers of Channel Metric Divergence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6794086" y="4872747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958584" y="4704762"/>
            <a:ext cx="488289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Blended vs. Isolated Governance:</a:t>
            </a:r>
            <a:r>
              <a:rPr lang="en-US" sz="1000" dirty="0"/>
              <a:t> Blended views create false positives; operational decisions require channel-isolated audits.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6794086" y="5359421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6958584" y="5198416"/>
            <a:ext cx="4882896" cy="3220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Channel Performance Variance:</a:t>
            </a:r>
            <a:r>
              <a:rPr lang="en-US" sz="1000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r>
              <a:rPr lang="en-US" sz="1000" i="1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"Verbal aggression"</a:t>
            </a:r>
            <a:r>
              <a:rPr lang="en-US" sz="1000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averages </a:t>
            </a:r>
            <a:r>
              <a:rPr lang="en-US" sz="1000" b="1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82.5</a:t>
            </a:r>
            <a:r>
              <a:rPr lang="en-US" sz="1000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, but isolating channels reveals a critical deficit in </a:t>
            </a:r>
            <a:r>
              <a:rPr lang="en-US" sz="1000" b="1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Chat (76.0, N=5)</a:t>
            </a:r>
            <a:r>
              <a:rPr lang="en-US" sz="1000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versus </a:t>
            </a:r>
            <a:r>
              <a:rPr lang="en-US" sz="1000" b="1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Phone (93.3, N=3)</a:t>
            </a:r>
            <a:r>
              <a:rPr lang="en-US" sz="1000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.</a:t>
            </a:r>
            <a:endParaRPr lang="es-CO" sz="9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6794086" y="5724936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958584" y="5592753"/>
            <a:ext cx="4882896" cy="3220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Volume-Driven Masking: "Undelivered full-service" appears compliant at 86.5 (N=138), hiding a failing 68.2 Phone baseline (N=49). That CR is also the fail-volume leader (37 attribute fails). Lowest blended score is marketplace on 4 audits. Next slide splits rate vs volume.</a:t>
            </a:r>
            <a:r>
              <a:rPr lang="en-US" sz="1000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/>
            </a:r>
            <a:r>
              <a:rPr lang="en-US" sz="1000" i="1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/>
            </a:r>
            <a:r>
              <a:rPr lang="en-US" sz="1000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/>
            </a:r>
            <a:r>
              <a:rPr lang="en-US" sz="1000" b="1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/>
            </a:r>
            <a:r>
              <a:rPr lang="en-US" sz="1000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/>
            </a:r>
            <a:r>
              <a:rPr lang="en-US" sz="1000" b="1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/>
            </a:r>
            <a:r>
              <a:rPr lang="en-US" sz="1000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/>
            </a:r>
            <a:endParaRPr lang="es-CO" sz="9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6775704" y="6203027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958584" y="6026547"/>
            <a:ext cx="488289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Operational Risk:</a:t>
            </a:r>
            <a:r>
              <a:rPr lang="en-US" sz="1000" dirty="0"/>
              <a:t> Relying solely on blended averages allows critically failing voice queues ("red") to masquerade as compliant ("green").</a:t>
            </a:r>
            <a:endParaRPr lang="en-US"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360272" y="4811029"/>
            <a:ext cx="5989320" cy="1621775"/>
          </a:xfrm>
          <a:prstGeom prst="rect">
            <a:avLst/>
          </a:prstGeom>
          <a:solidFill>
            <a:srgbClr val="F4F5F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362712" y="4811029"/>
            <a:ext cx="154020" cy="1580627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27984" y="4894738"/>
            <a:ext cx="5422392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200" b="1" dirty="0"/>
              <a:t>Aggregation Risk: High Chat Volume Masks Critical Voice Failures</a:t>
            </a:r>
            <a:endParaRPr sz="120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673608" y="5396246"/>
            <a:ext cx="5422392" cy="683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000"/>
              <a:tabLst>
                <a:tab pos="457200" algn="l"/>
              </a:tabLst>
            </a:pPr>
            <a:r>
              <a:rPr lang="en-US" sz="1050" b="1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Channel Masking Effect:</a:t>
            </a:r>
            <a:r>
              <a:rPr lang="en-US" sz="105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Blending channels conceals critical voice underperformance. For example, </a:t>
            </a:r>
            <a:r>
              <a:rPr lang="en-US" sz="1050" i="1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"Completed but not received — full service"</a:t>
            </a:r>
            <a:r>
              <a:rPr lang="en-US" sz="105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scores a failing </a:t>
            </a:r>
            <a:r>
              <a:rPr lang="en-US" sz="1050" b="1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68.2 QA on Phone (N=49)</a:t>
            </a:r>
            <a:r>
              <a:rPr lang="en-US" sz="105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. When blended with high-volume Chat, the score artificially rises to </a:t>
            </a:r>
            <a:r>
              <a:rPr lang="en-US" sz="1050" b="1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86.5 QA (N=138)</a:t>
            </a:r>
            <a:r>
              <a:rPr lang="en-US" sz="1050" b="1" kern="0" dirty="0"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05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diluting severity without fixing the root cause in Phone.</a:t>
            </a:r>
            <a:endParaRPr lang="es-CO" sz="1000" kern="1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4" name="Rectángulo 73">
            <a:extLst>
              <a:ext uri="{FF2B5EF4-FFF2-40B4-BE49-F238E27FC236}">
                <a16:creationId xmlns:a16="http://schemas.microsoft.com/office/drawing/2014/main" id="{AD9F89A3-0C0C-6C5B-81E4-D43DE9B85227}"/>
              </a:ext>
            </a:extLst>
          </p:cNvPr>
          <p:cNvSpPr/>
          <p:nvPr/>
        </p:nvSpPr>
        <p:spPr>
          <a:xfrm>
            <a:off x="6624524" y="1280160"/>
            <a:ext cx="5363774" cy="5376672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QA analysis: lowest score vs fail volume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A red score on 4 audits is not the same as 37 fails on one contact reason.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14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57200" y="4114800"/>
            <a:ext cx="11277295" cy="1417320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57200" y="4114800"/>
            <a:ext cx="38404" cy="141732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68096" y="4297680"/>
            <a:ext cx="1071036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A1A1A"/>
                </a:solidFill>
                <a:latin typeface="Inter"/>
              </a:rPr>
              <a:t>Phone QA volume focus is one contact reason. Chat QA fails are spread.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8096" y="4681728"/>
            <a:ext cx="10710367" cy="704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Inter"/>
              </a:rPr>
              <a:t>Completed-not-received full service is 26% of Phone audits below 85 (14 of 53) and the single largest attribute-fail pile (37 of 518). Marketplace at 47.5 QA is 4 audits. Do not start coaching there. Chat below-goal audits (80) have no CR above 8% of that pile. Chat QA work stays on attributes (greeting, attitude, availability), not on one CR.</a:t>
            </a:r>
          </a:p>
        </p:txBody>
      </p:sp>
      <p:pic>
        <p:nvPicPr>
          <p:cNvPr id="81" name="Picture 80" descr="bar_qa_fail_volu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013" y="1188720"/>
            <a:ext cx="6454612" cy="2907792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7086600" y="1188720"/>
            <a:ext cx="4663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Inter"/>
              </a:rPr>
              <a:t>Lowest QA (rate, n &gt;= 3)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086600" y="1481328"/>
            <a:ext cx="4636008" cy="32918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214616" y="1481328"/>
            <a:ext cx="193852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Contact reason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409176" y="1481328"/>
            <a:ext cx="2468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QA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912096" y="1481328"/>
            <a:ext cx="128015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96144" y="1481328"/>
            <a:ext cx="12984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Start here?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214616" y="1810512"/>
            <a:ext cx="19385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80" b="1">
                <a:solidFill>
                  <a:srgbClr val="1A1A1A"/>
                </a:solidFill>
                <a:latin typeface="Inter"/>
              </a:rPr>
              <a:t>Completed not received (market place)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345168" y="1874519"/>
            <a:ext cx="374904" cy="329184"/>
          </a:xfrm>
          <a:prstGeom prst="roundRect">
            <a:avLst>
              <a:gd name="adj" fmla="val 13888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409176" y="1810512"/>
            <a:ext cx="2468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80" b="1">
                <a:solidFill>
                  <a:srgbClr val="E11D2E"/>
                </a:solidFill>
                <a:latin typeface="Inter"/>
              </a:rPr>
              <a:t>47.5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9848088" y="1874519"/>
            <a:ext cx="256031" cy="329184"/>
          </a:xfrm>
          <a:prstGeom prst="roundRect">
            <a:avLst>
              <a:gd name="adj" fmla="val 17857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912096" y="1810512"/>
            <a:ext cx="1280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80" b="1">
                <a:solidFill>
                  <a:srgbClr val="E11D2E"/>
                </a:solidFill>
                <a:latin typeface="Inter"/>
              </a:rPr>
              <a:t>4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10296144" y="1901952"/>
            <a:ext cx="800785" cy="274320"/>
          </a:xfrm>
          <a:prstGeom prst="roundRect">
            <a:avLst>
              <a:gd name="adj" fmla="val 50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10405872" y="1988819"/>
            <a:ext cx="100584" cy="100584"/>
          </a:xfrm>
          <a:prstGeom prst="ellipse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70464" y="1901952"/>
            <a:ext cx="4898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E11D2E"/>
                </a:solidFill>
                <a:latin typeface="Inter"/>
              </a:rPr>
              <a:t>Too few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86600" y="2262949"/>
            <a:ext cx="4636008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086600" y="2267712"/>
            <a:ext cx="4636008" cy="45720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214616" y="2267712"/>
            <a:ext cx="19385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80" b="1">
                <a:solidFill>
                  <a:srgbClr val="1A1A1A"/>
                </a:solidFill>
                <a:latin typeface="Inter"/>
              </a:rPr>
              <a:t>Active order, already received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9345168" y="2331720"/>
            <a:ext cx="374904" cy="329184"/>
          </a:xfrm>
          <a:prstGeom prst="roundRect">
            <a:avLst>
              <a:gd name="adj" fmla="val 13888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409176" y="2267712"/>
            <a:ext cx="2468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80" b="1">
                <a:solidFill>
                  <a:srgbClr val="E11D2E"/>
                </a:solidFill>
                <a:latin typeface="Inter"/>
              </a:rPr>
              <a:t>65.8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9848088" y="2331720"/>
            <a:ext cx="256031" cy="329184"/>
          </a:xfrm>
          <a:prstGeom prst="roundRect">
            <a:avLst>
              <a:gd name="adj" fmla="val 17857"/>
            </a:avLst>
          </a:prstGeom>
          <a:solidFill>
            <a:srgbClr val="F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912096" y="2267712"/>
            <a:ext cx="1280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80" b="1">
                <a:solidFill>
                  <a:srgbClr val="F59E0B"/>
                </a:solidFill>
                <a:latin typeface="Inter"/>
              </a:rPr>
              <a:t>12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10296144" y="2359152"/>
            <a:ext cx="686943" cy="274320"/>
          </a:xfrm>
          <a:prstGeom prst="roundRect">
            <a:avLst>
              <a:gd name="adj" fmla="val 50000"/>
            </a:avLst>
          </a:prstGeom>
          <a:solidFill>
            <a:srgbClr val="F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0405872" y="2446020"/>
            <a:ext cx="100584" cy="10058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570464" y="2359152"/>
            <a:ext cx="37604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F59E0B"/>
                </a:solidFill>
                <a:latin typeface="Inter"/>
              </a:rPr>
              <a:t>Watch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086600" y="2720149"/>
            <a:ext cx="4636008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214616" y="2724912"/>
            <a:ext cx="19385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80" b="1">
                <a:solidFill>
                  <a:srgbClr val="1A1A1A"/>
                </a:solidFill>
                <a:latin typeface="Inter"/>
              </a:rPr>
              <a:t>Completed not received (full service)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9345168" y="2788920"/>
            <a:ext cx="374904" cy="329184"/>
          </a:xfrm>
          <a:prstGeom prst="roundRect">
            <a:avLst>
              <a:gd name="adj" fmla="val 13888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409176" y="2724912"/>
            <a:ext cx="2468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80" b="1">
                <a:solidFill>
                  <a:srgbClr val="E11D2E"/>
                </a:solidFill>
                <a:latin typeface="Inter"/>
              </a:rPr>
              <a:t>68.2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9848088" y="2788920"/>
            <a:ext cx="256031" cy="329184"/>
          </a:xfrm>
          <a:prstGeom prst="roundRect">
            <a:avLst>
              <a:gd name="adj" fmla="val 17857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912096" y="2724912"/>
            <a:ext cx="1280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80" b="1">
                <a:solidFill>
                  <a:srgbClr val="16A34A"/>
                </a:solidFill>
                <a:latin typeface="Inter"/>
              </a:rPr>
              <a:t>49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10296144" y="2816352"/>
            <a:ext cx="686943" cy="274320"/>
          </a:xfrm>
          <a:prstGeom prst="roundRect">
            <a:avLst>
              <a:gd name="adj" fmla="val 50000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0405872" y="2903220"/>
            <a:ext cx="100584" cy="10058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0570464" y="2816352"/>
            <a:ext cx="37604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16A34A"/>
                </a:solidFill>
                <a:latin typeface="Inter"/>
              </a:rPr>
              <a:t>Start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086600" y="3177349"/>
            <a:ext cx="4636008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7086600" y="3182112"/>
            <a:ext cx="4636008" cy="45720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214616" y="3182112"/>
            <a:ext cx="19385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80" b="1">
                <a:solidFill>
                  <a:srgbClr val="1A1A1A"/>
                </a:solidFill>
                <a:latin typeface="Inter"/>
              </a:rPr>
              <a:t>Verbal aggression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9345168" y="3246120"/>
            <a:ext cx="374904" cy="329184"/>
          </a:xfrm>
          <a:prstGeom prst="roundRect">
            <a:avLst>
              <a:gd name="adj" fmla="val 13888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9409176" y="3182112"/>
            <a:ext cx="2468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80" b="1">
                <a:solidFill>
                  <a:srgbClr val="E11D2E"/>
                </a:solidFill>
                <a:latin typeface="Inter"/>
              </a:rPr>
              <a:t>76.0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9848088" y="3246120"/>
            <a:ext cx="256031" cy="329184"/>
          </a:xfrm>
          <a:prstGeom prst="roundRect">
            <a:avLst>
              <a:gd name="adj" fmla="val 17857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9912096" y="3182112"/>
            <a:ext cx="1280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80" b="1">
                <a:solidFill>
                  <a:srgbClr val="E11D2E"/>
                </a:solidFill>
                <a:latin typeface="Inter"/>
              </a:rPr>
              <a:t>5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10296144" y="3273552"/>
            <a:ext cx="800785" cy="274320"/>
          </a:xfrm>
          <a:prstGeom prst="roundRect">
            <a:avLst>
              <a:gd name="adj" fmla="val 50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0405872" y="3360420"/>
            <a:ext cx="100584" cy="100584"/>
          </a:xfrm>
          <a:prstGeom prst="ellipse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570464" y="3273552"/>
            <a:ext cx="4898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E11D2E"/>
                </a:solidFill>
                <a:latin typeface="Inter"/>
              </a:rPr>
              <a:t>Too few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7086600" y="3634549"/>
            <a:ext cx="4636008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7214616" y="3639312"/>
            <a:ext cx="19385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80" b="1">
                <a:solidFill>
                  <a:srgbClr val="1A1A1A"/>
                </a:solidFill>
                <a:latin typeface="Inter"/>
              </a:rPr>
              <a:t>Refund status and conditions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9345168" y="3703320"/>
            <a:ext cx="374904" cy="329184"/>
          </a:xfrm>
          <a:prstGeom prst="roundRect">
            <a:avLst>
              <a:gd name="adj" fmla="val 13888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409176" y="3639312"/>
            <a:ext cx="2468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80" b="1">
                <a:solidFill>
                  <a:srgbClr val="E11D2E"/>
                </a:solidFill>
                <a:latin typeface="Inter"/>
              </a:rPr>
              <a:t>76.4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9848088" y="3703320"/>
            <a:ext cx="256031" cy="329184"/>
          </a:xfrm>
          <a:prstGeom prst="roundRect">
            <a:avLst>
              <a:gd name="adj" fmla="val 17857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912096" y="3639312"/>
            <a:ext cx="1280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80" b="1">
                <a:solidFill>
                  <a:srgbClr val="16A34A"/>
                </a:solidFill>
                <a:latin typeface="Inter"/>
              </a:rPr>
              <a:t>25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10296144" y="3730752"/>
            <a:ext cx="686943" cy="274320"/>
          </a:xfrm>
          <a:prstGeom prst="roundRect">
            <a:avLst>
              <a:gd name="adj" fmla="val 50000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0405872" y="3817620"/>
            <a:ext cx="100584" cy="10058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0570464" y="3730752"/>
            <a:ext cx="37604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16A34A"/>
                </a:solidFill>
                <a:latin typeface="Inter"/>
              </a:rPr>
              <a:t>Start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086600" y="4091749"/>
            <a:ext cx="4636008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2148840"/>
            <a:ext cx="27432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400" b="1">
                <a:solidFill>
                  <a:srgbClr val="FF6600"/>
                </a:solidFill>
                <a:latin typeface="Inter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46120"/>
            <a:ext cx="8686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nter"/>
              </a:rPr>
              <a:t>CSAT and voice of the customer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3931920"/>
            <a:ext cx="914400" cy="32004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4187952"/>
            <a:ext cx="7863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C9CCD1"/>
                </a:solidFill>
                <a:latin typeface="Inter"/>
              </a:rPr>
              <a:t>Blended CSAT against goal. Then Phone vs Chat. Who is dragging it. What detractors say.</a:t>
            </a:r>
          </a:p>
        </p:txBody>
      </p:sp>
      <p:pic>
        <p:nvPicPr>
          <p:cNvPr id="8" name="Picture 7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5806440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14455" y="5806440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15 / 35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9" name="Grupo 118">
            <a:extLst>
              <a:ext uri="{FF2B5EF4-FFF2-40B4-BE49-F238E27FC236}">
                <a16:creationId xmlns:a16="http://schemas.microsoft.com/office/drawing/2014/main" id="{FD67B8DE-862A-F4F8-7920-1E8937B48FC4}"/>
              </a:ext>
            </a:extLst>
          </p:cNvPr>
          <p:cNvGrpSpPr/>
          <p:nvPr/>
        </p:nvGrpSpPr>
        <p:grpSpPr>
          <a:xfrm>
            <a:off x="6331325" y="1635991"/>
            <a:ext cx="4947873" cy="933235"/>
            <a:chOff x="457199" y="4334255"/>
            <a:chExt cx="5957467" cy="2228755"/>
          </a:xfrm>
        </p:grpSpPr>
        <p:sp>
          <p:nvSpPr>
            <p:cNvPr id="120" name="Rectangle 36">
              <a:extLst>
                <a:ext uri="{FF2B5EF4-FFF2-40B4-BE49-F238E27FC236}">
                  <a16:creationId xmlns:a16="http://schemas.microsoft.com/office/drawing/2014/main" id="{2F302C4A-B11B-F485-C0C2-B4F57881AAC5}"/>
                </a:ext>
              </a:extLst>
            </p:cNvPr>
            <p:cNvSpPr/>
            <p:nvPr/>
          </p:nvSpPr>
          <p:spPr>
            <a:xfrm>
              <a:off x="457200" y="4334255"/>
              <a:ext cx="5957466" cy="2228755"/>
            </a:xfrm>
            <a:prstGeom prst="rect">
              <a:avLst/>
            </a:prstGeom>
            <a:solidFill>
              <a:srgbClr val="F4F5F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1" name="Rectangle 37">
              <a:extLst>
                <a:ext uri="{FF2B5EF4-FFF2-40B4-BE49-F238E27FC236}">
                  <a16:creationId xmlns:a16="http://schemas.microsoft.com/office/drawing/2014/main" id="{BF0B6AE2-4958-DDFB-0F8E-449B073079C7}"/>
                </a:ext>
              </a:extLst>
            </p:cNvPr>
            <p:cNvSpPr/>
            <p:nvPr/>
          </p:nvSpPr>
          <p:spPr>
            <a:xfrm>
              <a:off x="457199" y="4334256"/>
              <a:ext cx="54863" cy="2228754"/>
            </a:xfrm>
            <a:prstGeom prst="rect">
              <a:avLst/>
            </a:prstGeom>
            <a:solidFill>
              <a:srgbClr val="FF66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114" name="Grupo 113">
            <a:extLst>
              <a:ext uri="{FF2B5EF4-FFF2-40B4-BE49-F238E27FC236}">
                <a16:creationId xmlns:a16="http://schemas.microsoft.com/office/drawing/2014/main" id="{A81758B9-31DA-CA60-44BD-9F8DA216DA14}"/>
              </a:ext>
            </a:extLst>
          </p:cNvPr>
          <p:cNvGrpSpPr/>
          <p:nvPr/>
        </p:nvGrpSpPr>
        <p:grpSpPr>
          <a:xfrm>
            <a:off x="6331325" y="4059193"/>
            <a:ext cx="5302347" cy="1745989"/>
            <a:chOff x="457199" y="4334255"/>
            <a:chExt cx="5957467" cy="2228755"/>
          </a:xfrm>
        </p:grpSpPr>
        <p:sp>
          <p:nvSpPr>
            <p:cNvPr id="115" name="Rectangle 36">
              <a:extLst>
                <a:ext uri="{FF2B5EF4-FFF2-40B4-BE49-F238E27FC236}">
                  <a16:creationId xmlns:a16="http://schemas.microsoft.com/office/drawing/2014/main" id="{394D85FB-FF49-1483-7B64-10B8DF108D5F}"/>
                </a:ext>
              </a:extLst>
            </p:cNvPr>
            <p:cNvSpPr/>
            <p:nvPr/>
          </p:nvSpPr>
          <p:spPr>
            <a:xfrm>
              <a:off x="457200" y="4334255"/>
              <a:ext cx="5957466" cy="2228755"/>
            </a:xfrm>
            <a:prstGeom prst="rect">
              <a:avLst/>
            </a:prstGeom>
            <a:solidFill>
              <a:srgbClr val="F4F5F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6" name="Rectangle 37">
              <a:extLst>
                <a:ext uri="{FF2B5EF4-FFF2-40B4-BE49-F238E27FC236}">
                  <a16:creationId xmlns:a16="http://schemas.microsoft.com/office/drawing/2014/main" id="{5EE2EFE2-EA79-5CDC-5936-BCD4DA06D0F9}"/>
                </a:ext>
              </a:extLst>
            </p:cNvPr>
            <p:cNvSpPr/>
            <p:nvPr/>
          </p:nvSpPr>
          <p:spPr>
            <a:xfrm>
              <a:off x="457199" y="4334256"/>
              <a:ext cx="54863" cy="2228754"/>
            </a:xfrm>
            <a:prstGeom prst="rect">
              <a:avLst/>
            </a:prstGeom>
            <a:solidFill>
              <a:srgbClr val="FF66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CSAT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Blended 79.95% vs 85%  ·  Phone 86.26%  ·  Chat 77.55%  ·  77,266 surveys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16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52901" y="1434823"/>
            <a:ext cx="5257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dirty="0">
                <a:solidFill>
                  <a:srgbClr val="1A1A1A"/>
                </a:solidFill>
                <a:latin typeface="Inter"/>
              </a:rPr>
              <a:t>Phone vs Chat vs blended</a:t>
            </a:r>
          </a:p>
        </p:txBody>
      </p:sp>
      <p:grpSp>
        <p:nvGrpSpPr>
          <p:cNvPr id="106" name="Grupo 105">
            <a:extLst>
              <a:ext uri="{FF2B5EF4-FFF2-40B4-BE49-F238E27FC236}">
                <a16:creationId xmlns:a16="http://schemas.microsoft.com/office/drawing/2014/main" id="{1916E17C-CC60-8BC0-CD95-754FFC52FFD0}"/>
              </a:ext>
            </a:extLst>
          </p:cNvPr>
          <p:cNvGrpSpPr/>
          <p:nvPr/>
        </p:nvGrpSpPr>
        <p:grpSpPr>
          <a:xfrm>
            <a:off x="661474" y="1322609"/>
            <a:ext cx="5534626" cy="1686061"/>
            <a:chOff x="6492240" y="1463040"/>
            <a:chExt cx="5239512" cy="1412938"/>
          </a:xfrm>
        </p:grpSpPr>
        <p:sp>
          <p:nvSpPr>
            <p:cNvPr id="14" name="Rectangle 13"/>
            <p:cNvSpPr/>
            <p:nvPr/>
          </p:nvSpPr>
          <p:spPr>
            <a:xfrm>
              <a:off x="6492240" y="1463040"/>
              <a:ext cx="5239512" cy="310896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620255" y="1535197"/>
              <a:ext cx="12984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Channel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174736" y="1535197"/>
              <a:ext cx="4572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CSAT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887967" y="1535197"/>
              <a:ext cx="768096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Surveys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912096" y="1535197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vs 85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0689336" y="1535197"/>
              <a:ext cx="9144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Status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620255" y="1873525"/>
              <a:ext cx="12984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Phone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8110727" y="1832457"/>
              <a:ext cx="585216" cy="248716"/>
            </a:xfrm>
            <a:prstGeom prst="roundRect">
              <a:avLst>
                <a:gd name="adj" fmla="val 18382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8174736" y="1873525"/>
              <a:ext cx="4572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6A34A"/>
                  </a:solidFill>
                  <a:latin typeface="Inter"/>
                </a:rPr>
                <a:t>86.3%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887967" y="1873525"/>
              <a:ext cx="768096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21,304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9912096" y="1873525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+1.26 pp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10689336" y="1819656"/>
              <a:ext cx="800785" cy="274320"/>
            </a:xfrm>
            <a:prstGeom prst="roundRect">
              <a:avLst>
                <a:gd name="adj" fmla="val 50000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6" name="Oval 25"/>
            <p:cNvSpPr/>
            <p:nvPr/>
          </p:nvSpPr>
          <p:spPr>
            <a:xfrm>
              <a:off x="10799064" y="1906524"/>
              <a:ext cx="100584" cy="100584"/>
            </a:xfrm>
            <a:prstGeom prst="ellipse">
              <a:avLst/>
            </a:prstGeom>
            <a:solidFill>
              <a:srgbClr val="16A34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0963656" y="1881860"/>
              <a:ext cx="489889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 dirty="0">
                  <a:solidFill>
                    <a:srgbClr val="16A34A"/>
                  </a:solidFill>
                  <a:latin typeface="Inter"/>
                </a:rPr>
                <a:t>On goal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6492240" y="2134933"/>
              <a:ext cx="523951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6492240" y="2139696"/>
              <a:ext cx="5239512" cy="365760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620255" y="2239285"/>
              <a:ext cx="12984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Live Chat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8110727" y="2198217"/>
              <a:ext cx="585216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8174736" y="2239285"/>
              <a:ext cx="4572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77.6%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8887967" y="2239285"/>
              <a:ext cx="768096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55,962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9912096" y="2239285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-7.45 pp</a:t>
              </a:r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10689336" y="2185416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6" name="Oval 35"/>
            <p:cNvSpPr/>
            <p:nvPr/>
          </p:nvSpPr>
          <p:spPr>
            <a:xfrm>
              <a:off x="10799064" y="2272284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0963656" y="2247620"/>
              <a:ext cx="546811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6492240" y="2500693"/>
              <a:ext cx="523951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6620255" y="2605045"/>
              <a:ext cx="12984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Blended (official)</a:t>
              </a:r>
            </a:p>
          </p:txBody>
        </p:sp>
        <p:sp>
          <p:nvSpPr>
            <p:cNvPr id="40" name="Rounded Rectangle 39"/>
            <p:cNvSpPr/>
            <p:nvPr/>
          </p:nvSpPr>
          <p:spPr>
            <a:xfrm>
              <a:off x="8110727" y="2563977"/>
              <a:ext cx="585216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8174736" y="2605045"/>
              <a:ext cx="4572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lang="es-MX" sz="1000" b="1" dirty="0">
                  <a:solidFill>
                    <a:srgbClr val="E11D2E"/>
                  </a:solidFill>
                  <a:latin typeface="Inter"/>
                </a:rPr>
                <a:t>79</a:t>
              </a:r>
              <a:r>
                <a:rPr sz="1000" b="1" dirty="0">
                  <a:solidFill>
                    <a:srgbClr val="E11D2E"/>
                  </a:solidFill>
                  <a:latin typeface="Inter"/>
                </a:rPr>
                <a:t>.</a:t>
              </a:r>
              <a:r>
                <a:rPr lang="es-MX" sz="1000" b="1" dirty="0">
                  <a:solidFill>
                    <a:srgbClr val="E11D2E"/>
                  </a:solidFill>
                  <a:latin typeface="Inter"/>
                </a:rPr>
                <a:t>95</a:t>
              </a:r>
              <a:r>
                <a:rPr sz="1000" b="1" dirty="0">
                  <a:solidFill>
                    <a:srgbClr val="E11D2E"/>
                  </a:solidFill>
                  <a:latin typeface="Inter"/>
                </a:rPr>
                <a:t>%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8887967" y="2605045"/>
              <a:ext cx="768096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77,266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9912096" y="2605045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-5.05 pp</a:t>
              </a:r>
            </a:p>
          </p:txBody>
        </p:sp>
        <p:sp>
          <p:nvSpPr>
            <p:cNvPr id="44" name="Rounded Rectangle 43"/>
            <p:cNvSpPr/>
            <p:nvPr/>
          </p:nvSpPr>
          <p:spPr>
            <a:xfrm>
              <a:off x="10689336" y="2551176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5" name="Oval 44"/>
            <p:cNvSpPr/>
            <p:nvPr/>
          </p:nvSpPr>
          <p:spPr>
            <a:xfrm>
              <a:off x="10799064" y="2638044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10963656" y="2613380"/>
              <a:ext cx="546811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6492240" y="2866453"/>
              <a:ext cx="523951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</p:grpSp>
      <p:sp>
        <p:nvSpPr>
          <p:cNvPr id="48" name="TextBox 47"/>
          <p:cNvSpPr txBox="1"/>
          <p:nvPr/>
        </p:nvSpPr>
        <p:spPr>
          <a:xfrm>
            <a:off x="7575151" y="3751326"/>
            <a:ext cx="525780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dirty="0">
                <a:solidFill>
                  <a:srgbClr val="1A1A1A"/>
                </a:solidFill>
                <a:latin typeface="Inter"/>
              </a:rPr>
              <a:t>Contact reasons dragging CSAT down (blended)</a:t>
            </a:r>
          </a:p>
        </p:txBody>
      </p:sp>
      <p:grpSp>
        <p:nvGrpSpPr>
          <p:cNvPr id="107" name="Grupo 106">
            <a:extLst>
              <a:ext uri="{FF2B5EF4-FFF2-40B4-BE49-F238E27FC236}">
                <a16:creationId xmlns:a16="http://schemas.microsoft.com/office/drawing/2014/main" id="{9817D8B3-03E2-D431-C876-2391EB11138F}"/>
              </a:ext>
            </a:extLst>
          </p:cNvPr>
          <p:cNvGrpSpPr/>
          <p:nvPr/>
        </p:nvGrpSpPr>
        <p:grpSpPr>
          <a:xfrm>
            <a:off x="661474" y="3583551"/>
            <a:ext cx="5534626" cy="2484853"/>
            <a:chOff x="6492240" y="3273552"/>
            <a:chExt cx="5239511" cy="2144458"/>
          </a:xfrm>
        </p:grpSpPr>
        <p:sp>
          <p:nvSpPr>
            <p:cNvPr id="49" name="Rectangle 48"/>
            <p:cNvSpPr/>
            <p:nvPr/>
          </p:nvSpPr>
          <p:spPr>
            <a:xfrm>
              <a:off x="6492240" y="3273552"/>
              <a:ext cx="5239511" cy="310896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6620255" y="3341541"/>
              <a:ext cx="2075687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Contact reason (CR Lv4)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8951975" y="3341541"/>
              <a:ext cx="502919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 dirty="0">
                  <a:solidFill>
                    <a:srgbClr val="FFFFFF"/>
                  </a:solidFill>
                  <a:latin typeface="Inter"/>
                </a:rPr>
                <a:t>Blended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9646919" y="3341541"/>
              <a:ext cx="40233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Phone</a:t>
              </a: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10305288" y="3341541"/>
              <a:ext cx="40233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Chat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10963656" y="3341541"/>
              <a:ext cx="64008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Surveys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6620255" y="3684037"/>
              <a:ext cx="207568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 dirty="0">
                  <a:solidFill>
                    <a:srgbClr val="4B5563"/>
                  </a:solidFill>
                  <a:latin typeface="Inter"/>
                </a:rPr>
                <a:t>Order status / delay inform…</a:t>
              </a:r>
            </a:p>
          </p:txBody>
        </p:sp>
        <p:sp>
          <p:nvSpPr>
            <p:cNvPr id="56" name="Rounded Rectangle 55"/>
            <p:cNvSpPr/>
            <p:nvPr/>
          </p:nvSpPr>
          <p:spPr>
            <a:xfrm>
              <a:off x="8887967" y="3642969"/>
              <a:ext cx="566928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8951976" y="3684037"/>
              <a:ext cx="438912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67.8%</a:t>
              </a:r>
            </a:p>
          </p:txBody>
        </p:sp>
        <p:sp>
          <p:nvSpPr>
            <p:cNvPr id="58" name="Rounded Rectangle 57"/>
            <p:cNvSpPr/>
            <p:nvPr/>
          </p:nvSpPr>
          <p:spPr>
            <a:xfrm>
              <a:off x="9582911" y="3642969"/>
              <a:ext cx="530352" cy="248716"/>
            </a:xfrm>
            <a:prstGeom prst="roundRect">
              <a:avLst>
                <a:gd name="adj" fmla="val 18382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9646919" y="3684037"/>
              <a:ext cx="402335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59E0B"/>
                  </a:solidFill>
                  <a:latin typeface="Inter"/>
                </a:rPr>
                <a:t>80.3%</a:t>
              </a:r>
            </a:p>
          </p:txBody>
        </p:sp>
        <p:sp>
          <p:nvSpPr>
            <p:cNvPr id="60" name="Rounded Rectangle 59"/>
            <p:cNvSpPr/>
            <p:nvPr/>
          </p:nvSpPr>
          <p:spPr>
            <a:xfrm>
              <a:off x="10241280" y="3642969"/>
              <a:ext cx="530352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10305288" y="3684037"/>
              <a:ext cx="402335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62.8%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10963656" y="3684037"/>
              <a:ext cx="64008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9,918</a:t>
              </a:r>
            </a:p>
          </p:txBody>
        </p:sp>
        <p:sp>
          <p:nvSpPr>
            <p:cNvPr id="63" name="Rectangle 62"/>
            <p:cNvSpPr/>
            <p:nvPr/>
          </p:nvSpPr>
          <p:spPr>
            <a:xfrm>
              <a:off x="6492240" y="3945445"/>
              <a:ext cx="5239511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6492240" y="3950208"/>
              <a:ext cx="5239511" cy="365760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6620255" y="4049797"/>
              <a:ext cx="207568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Disagrees with cancellation…</a:t>
              </a:r>
            </a:p>
          </p:txBody>
        </p:sp>
        <p:sp>
          <p:nvSpPr>
            <p:cNvPr id="66" name="Rounded Rectangle 65"/>
            <p:cNvSpPr/>
            <p:nvPr/>
          </p:nvSpPr>
          <p:spPr>
            <a:xfrm>
              <a:off x="8887967" y="4008729"/>
              <a:ext cx="566928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8951976" y="4049797"/>
              <a:ext cx="438912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67.4%</a:t>
              </a:r>
            </a:p>
          </p:txBody>
        </p:sp>
        <p:sp>
          <p:nvSpPr>
            <p:cNvPr id="68" name="Rounded Rectangle 67"/>
            <p:cNvSpPr/>
            <p:nvPr/>
          </p:nvSpPr>
          <p:spPr>
            <a:xfrm>
              <a:off x="9582911" y="4008729"/>
              <a:ext cx="530352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9646919" y="4049797"/>
              <a:ext cx="402335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77.6%</a:t>
              </a:r>
            </a:p>
          </p:txBody>
        </p:sp>
        <p:sp>
          <p:nvSpPr>
            <p:cNvPr id="70" name="Rounded Rectangle 69"/>
            <p:cNvSpPr/>
            <p:nvPr/>
          </p:nvSpPr>
          <p:spPr>
            <a:xfrm>
              <a:off x="10241280" y="4008729"/>
              <a:ext cx="530352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10305288" y="4049797"/>
              <a:ext cx="402335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63.6%</a:t>
              </a:r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10963656" y="4049797"/>
              <a:ext cx="64008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5,992</a:t>
              </a:r>
            </a:p>
          </p:txBody>
        </p:sp>
        <p:sp>
          <p:nvSpPr>
            <p:cNvPr id="73" name="Rectangle 72"/>
            <p:cNvSpPr/>
            <p:nvPr/>
          </p:nvSpPr>
          <p:spPr>
            <a:xfrm>
              <a:off x="6492240" y="4311205"/>
              <a:ext cx="5239511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6620255" y="4415557"/>
              <a:ext cx="207568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 dirty="0">
                  <a:solidFill>
                    <a:srgbClr val="4B5563"/>
                  </a:solidFill>
                  <a:latin typeface="Inter"/>
                </a:rPr>
                <a:t>order status &amp; delays</a:t>
              </a:r>
            </a:p>
          </p:txBody>
        </p:sp>
        <p:sp>
          <p:nvSpPr>
            <p:cNvPr id="75" name="Rounded Rectangle 74"/>
            <p:cNvSpPr/>
            <p:nvPr/>
          </p:nvSpPr>
          <p:spPr>
            <a:xfrm>
              <a:off x="8887967" y="4374489"/>
              <a:ext cx="566928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8951976" y="4415557"/>
              <a:ext cx="438912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64.7%</a:t>
              </a:r>
            </a:p>
          </p:txBody>
        </p:sp>
        <p:sp>
          <p:nvSpPr>
            <p:cNvPr id="77" name="Rounded Rectangle 76"/>
            <p:cNvSpPr/>
            <p:nvPr/>
          </p:nvSpPr>
          <p:spPr>
            <a:xfrm>
              <a:off x="9582911" y="4374489"/>
              <a:ext cx="530352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9646919" y="4415557"/>
              <a:ext cx="402335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79.8%</a:t>
              </a:r>
            </a:p>
          </p:txBody>
        </p:sp>
        <p:sp>
          <p:nvSpPr>
            <p:cNvPr id="79" name="Rounded Rectangle 78"/>
            <p:cNvSpPr/>
            <p:nvPr/>
          </p:nvSpPr>
          <p:spPr>
            <a:xfrm>
              <a:off x="10241280" y="4374489"/>
              <a:ext cx="530352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80" name="TextBox 79"/>
            <p:cNvSpPr txBox="1"/>
            <p:nvPr/>
          </p:nvSpPr>
          <p:spPr>
            <a:xfrm>
              <a:off x="10305288" y="4415557"/>
              <a:ext cx="402335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60.3%</a:t>
              </a:r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10963656" y="4415557"/>
              <a:ext cx="64008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5,096</a:t>
              </a:r>
            </a:p>
          </p:txBody>
        </p:sp>
        <p:sp>
          <p:nvSpPr>
            <p:cNvPr id="82" name="Rectangle 81"/>
            <p:cNvSpPr/>
            <p:nvPr/>
          </p:nvSpPr>
          <p:spPr>
            <a:xfrm>
              <a:off x="6492240" y="4676965"/>
              <a:ext cx="5239511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83" name="Rectangle 82"/>
            <p:cNvSpPr/>
            <p:nvPr/>
          </p:nvSpPr>
          <p:spPr>
            <a:xfrm>
              <a:off x="6492240" y="4681728"/>
              <a:ext cx="5239511" cy="365760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6620255" y="4781317"/>
              <a:ext cx="207568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No longer wants the order</a:t>
              </a:r>
            </a:p>
          </p:txBody>
        </p:sp>
        <p:sp>
          <p:nvSpPr>
            <p:cNvPr id="85" name="Rounded Rectangle 84"/>
            <p:cNvSpPr/>
            <p:nvPr/>
          </p:nvSpPr>
          <p:spPr>
            <a:xfrm>
              <a:off x="8887967" y="4740249"/>
              <a:ext cx="566928" cy="248716"/>
            </a:xfrm>
            <a:prstGeom prst="roundRect">
              <a:avLst>
                <a:gd name="adj" fmla="val 18382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86" name="TextBox 85"/>
            <p:cNvSpPr txBox="1"/>
            <p:nvPr/>
          </p:nvSpPr>
          <p:spPr>
            <a:xfrm>
              <a:off x="8951976" y="4781317"/>
              <a:ext cx="438912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6A34A"/>
                  </a:solidFill>
                  <a:latin typeface="Inter"/>
                </a:rPr>
                <a:t>88.3%</a:t>
              </a:r>
            </a:p>
          </p:txBody>
        </p:sp>
        <p:sp>
          <p:nvSpPr>
            <p:cNvPr id="87" name="Rounded Rectangle 86"/>
            <p:cNvSpPr/>
            <p:nvPr/>
          </p:nvSpPr>
          <p:spPr>
            <a:xfrm>
              <a:off x="9582911" y="4740249"/>
              <a:ext cx="530352" cy="248716"/>
            </a:xfrm>
            <a:prstGeom prst="roundRect">
              <a:avLst>
                <a:gd name="adj" fmla="val 18382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9646919" y="4781317"/>
              <a:ext cx="402335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6A34A"/>
                  </a:solidFill>
                  <a:latin typeface="Inter"/>
                </a:rPr>
                <a:t>94.2%</a:t>
              </a:r>
            </a:p>
          </p:txBody>
        </p:sp>
        <p:sp>
          <p:nvSpPr>
            <p:cNvPr id="89" name="Rounded Rectangle 88"/>
            <p:cNvSpPr/>
            <p:nvPr/>
          </p:nvSpPr>
          <p:spPr>
            <a:xfrm>
              <a:off x="10241280" y="4740249"/>
              <a:ext cx="530352" cy="248716"/>
            </a:xfrm>
            <a:prstGeom prst="roundRect">
              <a:avLst>
                <a:gd name="adj" fmla="val 18382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10305288" y="4781317"/>
              <a:ext cx="402335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59E0B"/>
                  </a:solidFill>
                  <a:latin typeface="Inter"/>
                </a:rPr>
                <a:t>81.9%</a:t>
              </a:r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10963656" y="4781317"/>
              <a:ext cx="64008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10,518</a:t>
              </a:r>
            </a:p>
          </p:txBody>
        </p:sp>
        <p:sp>
          <p:nvSpPr>
            <p:cNvPr id="92" name="Rectangle 91"/>
            <p:cNvSpPr/>
            <p:nvPr/>
          </p:nvSpPr>
          <p:spPr>
            <a:xfrm>
              <a:off x="6492240" y="5042725"/>
              <a:ext cx="5239511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93" name="TextBox 92"/>
            <p:cNvSpPr txBox="1"/>
            <p:nvPr/>
          </p:nvSpPr>
          <p:spPr>
            <a:xfrm>
              <a:off x="6620255" y="5147077"/>
              <a:ext cx="207568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refund status and conditions</a:t>
              </a:r>
            </a:p>
          </p:txBody>
        </p:sp>
        <p:sp>
          <p:nvSpPr>
            <p:cNvPr id="94" name="Rounded Rectangle 93"/>
            <p:cNvSpPr/>
            <p:nvPr/>
          </p:nvSpPr>
          <p:spPr>
            <a:xfrm>
              <a:off x="8887967" y="5106009"/>
              <a:ext cx="566928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8951976" y="5147077"/>
              <a:ext cx="438912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67.0%</a:t>
              </a:r>
            </a:p>
          </p:txBody>
        </p:sp>
        <p:sp>
          <p:nvSpPr>
            <p:cNvPr id="96" name="Rounded Rectangle 95"/>
            <p:cNvSpPr/>
            <p:nvPr/>
          </p:nvSpPr>
          <p:spPr>
            <a:xfrm>
              <a:off x="9582911" y="5106009"/>
              <a:ext cx="530352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97" name="TextBox 96"/>
            <p:cNvSpPr txBox="1"/>
            <p:nvPr/>
          </p:nvSpPr>
          <p:spPr>
            <a:xfrm>
              <a:off x="9646919" y="5147077"/>
              <a:ext cx="402335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78.7%</a:t>
              </a:r>
            </a:p>
          </p:txBody>
        </p:sp>
        <p:sp>
          <p:nvSpPr>
            <p:cNvPr id="98" name="Rounded Rectangle 97"/>
            <p:cNvSpPr/>
            <p:nvPr/>
          </p:nvSpPr>
          <p:spPr>
            <a:xfrm>
              <a:off x="10241280" y="5106009"/>
              <a:ext cx="530352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99" name="TextBox 98"/>
            <p:cNvSpPr txBox="1"/>
            <p:nvPr/>
          </p:nvSpPr>
          <p:spPr>
            <a:xfrm>
              <a:off x="10305288" y="5147077"/>
              <a:ext cx="402335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57.0%</a:t>
              </a:r>
            </a:p>
          </p:txBody>
        </p:sp>
        <p:sp>
          <p:nvSpPr>
            <p:cNvPr id="100" name="TextBox 99"/>
            <p:cNvSpPr txBox="1"/>
            <p:nvPr/>
          </p:nvSpPr>
          <p:spPr>
            <a:xfrm>
              <a:off x="10963656" y="5147077"/>
              <a:ext cx="64008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3,582</a:t>
              </a:r>
            </a:p>
          </p:txBody>
        </p:sp>
        <p:sp>
          <p:nvSpPr>
            <p:cNvPr id="101" name="Rectangle 100"/>
            <p:cNvSpPr/>
            <p:nvPr/>
          </p:nvSpPr>
          <p:spPr>
            <a:xfrm>
              <a:off x="6492240" y="5408485"/>
              <a:ext cx="5239511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</p:grpSp>
      <p:sp>
        <p:nvSpPr>
          <p:cNvPr id="109" name="CuadroTexto 108">
            <a:extLst>
              <a:ext uri="{FF2B5EF4-FFF2-40B4-BE49-F238E27FC236}">
                <a16:creationId xmlns:a16="http://schemas.microsoft.com/office/drawing/2014/main" id="{0DFBFFC5-E51C-4ED5-C163-959565FFBBE1}"/>
              </a:ext>
            </a:extLst>
          </p:cNvPr>
          <p:cNvSpPr txBox="1"/>
          <p:nvPr/>
        </p:nvSpPr>
        <p:spPr>
          <a:xfrm>
            <a:off x="6351880" y="1725521"/>
            <a:ext cx="5239511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dirty="0"/>
              <a:t>Channel Volume Drag:</a:t>
            </a:r>
            <a:r>
              <a:rPr lang="en-US" sz="1050" dirty="0"/>
              <a:t> Live Chat dominates customer sentiment with </a:t>
            </a:r>
            <a:r>
              <a:rPr lang="en-US" sz="1050" b="1" dirty="0"/>
              <a:t>72.4% of total surveys (55,962)</a:t>
            </a:r>
            <a:r>
              <a:rPr lang="en-US" sz="1050" dirty="0"/>
              <a:t>. Its failing score of </a:t>
            </a:r>
            <a:r>
              <a:rPr lang="en-US" sz="1050" b="1" dirty="0"/>
              <a:t>77.6% (-7.45 pp vs. goal)</a:t>
            </a:r>
            <a:r>
              <a:rPr lang="en-US" sz="1050" dirty="0"/>
              <a:t> completely drags down Phone's passing performance of </a:t>
            </a:r>
            <a:r>
              <a:rPr lang="en-US" sz="1050" b="1" dirty="0"/>
              <a:t>86.3% (+1.26 pp vs. goal)</a:t>
            </a:r>
            <a:r>
              <a:rPr lang="en-US" sz="1050" dirty="0"/>
              <a:t> to a blended </a:t>
            </a:r>
            <a:r>
              <a:rPr lang="en-US" sz="1050" b="1" dirty="0"/>
              <a:t>80.0%</a:t>
            </a:r>
            <a:r>
              <a:rPr lang="en-US" sz="1050" dirty="0"/>
              <a:t>.</a:t>
            </a:r>
          </a:p>
        </p:txBody>
      </p:sp>
      <p:sp>
        <p:nvSpPr>
          <p:cNvPr id="110" name="CuadroTexto 109">
            <a:extLst>
              <a:ext uri="{FF2B5EF4-FFF2-40B4-BE49-F238E27FC236}">
                <a16:creationId xmlns:a16="http://schemas.microsoft.com/office/drawing/2014/main" id="{557857DF-013B-C45F-4D12-C681F2E326DB}"/>
              </a:ext>
            </a:extLst>
          </p:cNvPr>
          <p:cNvSpPr txBox="1"/>
          <p:nvPr/>
        </p:nvSpPr>
        <p:spPr>
          <a:xfrm>
            <a:off x="6394162" y="4097022"/>
            <a:ext cx="5239511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050" b="1" dirty="0" err="1"/>
              <a:t>Systemic Chat Vulnerability in High-Friction Cases: Across all bottom-performing contact reasons, Phone outperforms Live Chat by 12.3 to 21.7 percentage points:
Refund Status &amp; Conditions: Chat collapses to 57.0% CSAT vs. Phone's 78.7% (a 21.7 pp gap).
Order Status &amp; Delays: Chat drops to 60.3% CSAT vs. Phone's 79.8% (a 19.5 pp gap). Those CRs are also the detractor pile: order-status family plus cancellation charge is 44.8% of unsatisfied surveys. The volume split is two slides later (rate vs the 15,488-unsatisfied pile).
Order Status / Delay Info: Chat records 62.8% CSAT vs. Phone's 80.3% (a 17.5 pp gap across 9,918 surveys).</a:t>
            </a:r>
            <a:r>
              <a:rPr lang="es-CO" sz="1050" b="1" dirty="0"/>
              <a:t/>
            </a:r>
            <a:r>
              <a:rPr lang="es-CO" sz="1050" b="1" dirty="0" err="1"/>
              <a:t/>
            </a:r>
            <a:r>
              <a:rPr lang="es-CO" sz="1050" b="1" dirty="0"/>
              <a:t/>
            </a:r>
            <a:r>
              <a:rPr lang="es-CO" sz="1050" b="1" dirty="0" err="1"/>
              <a:t/>
            </a:r>
            <a:r>
              <a:rPr lang="es-CO" sz="1050" b="1" dirty="0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b="1" dirty="0"/>
              <a:t/>
            </a:r>
            <a:r>
              <a:rPr lang="es-CO" sz="1050" b="1" dirty="0" err="1"/>
              <a:t/>
            </a:r>
            <a:r>
              <a:rPr lang="es-CO" sz="1050" b="1" dirty="0"/>
              <a:t/>
            </a:r>
            <a:r>
              <a:rPr lang="es-CO" sz="1050" b="1" dirty="0" err="1"/>
              <a:t/>
            </a:r>
            <a:r>
              <a:rPr lang="es-CO" sz="1050" b="1" dirty="0"/>
              <a:t/>
            </a:r>
            <a:r>
              <a:rPr lang="es-CO" sz="1050" b="1" dirty="0" err="1"/>
              <a:t/>
            </a:r>
            <a:r>
              <a:rPr lang="es-CO" sz="1050" dirty="0"/>
              <a:t/>
            </a:r>
          </a:p>
          <a:p>
            <a:endParaRPr lang="es-CO" sz="1050" dirty="0"/>
          </a:p>
          <a:p>
            <a:pPr>
              <a:buFont typeface="Arial" panose="020B0604020202020204" pitchFamily="34" charset="0"/>
              <a:buChar char="•"/>
            </a:pPr>
            <a:r>
              <a:rPr lang="es-CO" sz="1050" b="1" dirty="0" err="1"/>
              <a:t/>
            </a:r>
            <a:r>
              <a:rPr lang="es-CO" sz="1050" b="1" dirty="0"/>
              <a:t/>
            </a:r>
            <a:r>
              <a:rPr lang="es-CO" sz="1050" b="1" dirty="0" err="1"/>
              <a:t/>
            </a:r>
            <a:r>
              <a:rPr lang="es-CO" sz="1050" b="1" dirty="0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b="1" dirty="0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b="1" dirty="0"/>
              <a:t/>
            </a:r>
            <a:r>
              <a:rPr lang="es-CO" sz="1050" dirty="0"/>
              <a:t/>
            </a:r>
            <a:r>
              <a:rPr lang="es-CO" sz="1050" b="1" dirty="0"/>
              <a:t/>
            </a:r>
            <a:r>
              <a:rPr lang="es-CO" sz="1050" b="1" dirty="0" err="1"/>
              <a:t/>
            </a:r>
            <a:r>
              <a:rPr lang="es-CO" sz="1050" b="1" dirty="0"/>
              <a:t/>
            </a:r>
            <a:r>
              <a:rPr lang="es-CO" sz="1050" dirty="0"/>
              <a:t/>
            </a:r>
          </a:p>
          <a:p>
            <a:endParaRPr lang="es-CO" sz="1050" dirty="0"/>
          </a:p>
          <a:p>
            <a:pPr>
              <a:buFont typeface="Arial" panose="020B0604020202020204" pitchFamily="34" charset="0"/>
              <a:buChar char="•"/>
            </a:pPr>
            <a:r>
              <a:rPr lang="es-CO" sz="1050" b="1" dirty="0" err="1"/>
              <a:t/>
            </a:r>
            <a:r>
              <a:rPr lang="es-CO" sz="1050" b="1" dirty="0"/>
              <a:t/>
            </a:r>
            <a:r>
              <a:rPr lang="es-CO" sz="1050" b="1" dirty="0" err="1"/>
              <a:t/>
            </a:r>
            <a:r>
              <a:rPr lang="es-CO" sz="1050" b="1" dirty="0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b="1" dirty="0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b="1" dirty="0"/>
              <a:t/>
            </a:r>
            <a:r>
              <a:rPr lang="es-CO" sz="1050" dirty="0"/>
              <a:t/>
            </a:r>
            <a:r>
              <a:rPr lang="es-CO" sz="1050" b="1" dirty="0"/>
              <a:t/>
            </a:r>
            <a:r>
              <a:rPr lang="es-CO" sz="1050" b="1" dirty="0" err="1"/>
              <a:t/>
            </a:r>
            <a:r>
              <a:rPr lang="es-CO" sz="1050" b="1" dirty="0"/>
              <a:t/>
            </a:r>
            <a:r>
              <a:rPr lang="es-CO" sz="1050" dirty="0"/>
              <a:t/>
            </a:r>
          </a:p>
          <a:p>
            <a:endParaRPr lang="es-CO" sz="1050" dirty="0"/>
          </a:p>
          <a:p>
            <a:pPr>
              <a:buFont typeface="Arial" panose="020B0604020202020204" pitchFamily="34" charset="0"/>
              <a:buChar char="•"/>
            </a:pPr>
            <a:r>
              <a:rPr lang="es-CO" sz="1050" b="1" dirty="0" err="1"/>
              <a:t/>
            </a:r>
            <a:r>
              <a:rPr lang="es-CO" sz="1050" b="1" dirty="0"/>
              <a:t/>
            </a:r>
            <a:r>
              <a:rPr lang="es-CO" sz="1050" b="1" dirty="0" err="1"/>
              <a:t/>
            </a:r>
            <a:r>
              <a:rPr lang="es-CO" sz="1050" b="1" dirty="0"/>
              <a:t/>
            </a:r>
            <a:r>
              <a:rPr lang="es-CO" sz="1050" b="1" dirty="0" err="1"/>
              <a:t/>
            </a:r>
            <a:r>
              <a:rPr lang="es-CO" sz="1050" b="1" dirty="0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b="1" dirty="0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b="1" dirty="0"/>
              <a:t/>
            </a:r>
            <a:r>
              <a:rPr lang="es-CO" sz="1050" dirty="0"/>
              <a:t/>
            </a:r>
            <a:r>
              <a:rPr lang="es-CO" sz="1050" b="1" dirty="0"/>
              <a:t/>
            </a:r>
            <a:r>
              <a:rPr lang="es-CO" sz="1050" b="1" dirty="0" err="1"/>
              <a:t/>
            </a:r>
            <a:r>
              <a:rPr lang="es-CO" sz="1050" b="1" dirty="0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</a:p>
        </p:txBody>
      </p:sp>
      <p:sp>
        <p:nvSpPr>
          <p:cNvPr id="111" name="Rectángulo 110">
            <a:extLst>
              <a:ext uri="{FF2B5EF4-FFF2-40B4-BE49-F238E27FC236}">
                <a16:creationId xmlns:a16="http://schemas.microsoft.com/office/drawing/2014/main" id="{E60D50B8-2324-4367-C48F-4A07102D074C}"/>
              </a:ext>
            </a:extLst>
          </p:cNvPr>
          <p:cNvSpPr/>
          <p:nvPr/>
        </p:nvSpPr>
        <p:spPr>
          <a:xfrm>
            <a:off x="558328" y="3513582"/>
            <a:ext cx="11176168" cy="2667383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ángulo 112">
            <a:extLst>
              <a:ext uri="{FF2B5EF4-FFF2-40B4-BE49-F238E27FC236}">
                <a16:creationId xmlns:a16="http://schemas.microsoft.com/office/drawing/2014/main" id="{FA86D7AC-C736-4C85-41AE-4F1BECF97808}"/>
              </a:ext>
            </a:extLst>
          </p:cNvPr>
          <p:cNvSpPr/>
          <p:nvPr/>
        </p:nvSpPr>
        <p:spPr>
          <a:xfrm>
            <a:off x="558327" y="1279847"/>
            <a:ext cx="10856925" cy="1817684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4197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Rectangle 36">
            <a:extLst>
              <a:ext uri="{FF2B5EF4-FFF2-40B4-BE49-F238E27FC236}">
                <a16:creationId xmlns:a16="http://schemas.microsoft.com/office/drawing/2014/main" id="{F6AF082E-67A7-013C-6D63-8E4C57CC1175}"/>
              </a:ext>
            </a:extLst>
          </p:cNvPr>
          <p:cNvSpPr/>
          <p:nvPr/>
        </p:nvSpPr>
        <p:spPr>
          <a:xfrm>
            <a:off x="969461" y="4988100"/>
            <a:ext cx="4479380" cy="822765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36">
            <a:extLst>
              <a:ext uri="{FF2B5EF4-FFF2-40B4-BE49-F238E27FC236}">
                <a16:creationId xmlns:a16="http://schemas.microsoft.com/office/drawing/2014/main" id="{72D56878-5578-64BE-F48F-9EB4C02EF8B5}"/>
              </a:ext>
            </a:extLst>
          </p:cNvPr>
          <p:cNvSpPr/>
          <p:nvPr/>
        </p:nvSpPr>
        <p:spPr>
          <a:xfrm>
            <a:off x="6371539" y="4975545"/>
            <a:ext cx="5092874" cy="601359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CSAT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Blended 79.95% vs 85%  ·  Phone 86.26%  ·  Chat 77.55%  ·  77,266 surveys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17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65683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pic>
        <p:nvPicPr>
          <p:cNvPr id="11" name="Picture 10" descr="bar_st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181" y="1626186"/>
            <a:ext cx="4392660" cy="264447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 descr="bar_business_typ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6935" y="1659985"/>
            <a:ext cx="5749296" cy="265352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08" name="CuadroTexto 107">
            <a:extLst>
              <a:ext uri="{FF2B5EF4-FFF2-40B4-BE49-F238E27FC236}">
                <a16:creationId xmlns:a16="http://schemas.microsoft.com/office/drawing/2014/main" id="{8F2FE7A3-AABF-F9B9-A2B5-B05A4B379976}"/>
              </a:ext>
            </a:extLst>
          </p:cNvPr>
          <p:cNvSpPr txBox="1"/>
          <p:nvPr/>
        </p:nvSpPr>
        <p:spPr>
          <a:xfrm>
            <a:off x="969461" y="4988100"/>
            <a:ext cx="447938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50" b="1" dirty="0"/>
              <a:t>Bimodal Rating Polarization:</a:t>
            </a:r>
            <a:r>
              <a:rPr lang="en-US" sz="1050" dirty="0"/>
              <a:t> Customer perception follows an "all-or-nothing" distribution: </a:t>
            </a:r>
            <a:r>
              <a:rPr lang="en-US" sz="1050" b="1" dirty="0"/>
              <a:t>92.2% of ratings are binary extremes</a:t>
            </a:r>
            <a:r>
              <a:rPr lang="en-US" sz="1050" dirty="0"/>
              <a:t> (75.7% 5-star vs. 16.5% 1-star). Neutral/mid-tier ratings (2–4 stars) represent only 7.8%, proving customers evaluate contacts as total success or complete failure.</a:t>
            </a:r>
            <a:endParaRPr lang="es-CO" sz="1050" dirty="0"/>
          </a:p>
        </p:txBody>
      </p:sp>
      <p:sp>
        <p:nvSpPr>
          <p:cNvPr id="111" name="CuadroTexto 110">
            <a:extLst>
              <a:ext uri="{FF2B5EF4-FFF2-40B4-BE49-F238E27FC236}">
                <a16:creationId xmlns:a16="http://schemas.microsoft.com/office/drawing/2014/main" id="{A051C754-E3A4-C1E5-AEB1-C2AEDF4F762B}"/>
              </a:ext>
            </a:extLst>
          </p:cNvPr>
          <p:cNvSpPr txBox="1"/>
          <p:nvPr/>
        </p:nvSpPr>
        <p:spPr>
          <a:xfrm>
            <a:off x="6371539" y="5031610"/>
            <a:ext cx="523951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Font typeface="Arial" panose="020B0604020202020204" pitchFamily="34" charset="0"/>
              <a:buChar char="•"/>
            </a:pPr>
            <a:r>
              <a:rPr lang="en-US" sz="1050" b="1" dirty="0"/>
              <a:t>Uniform LOB Deficit:</a:t>
            </a:r>
            <a:r>
              <a:rPr lang="en-US" sz="1050" dirty="0"/>
              <a:t> Underperformance is consistent across all business lines (79.7%–80.7%), with </a:t>
            </a:r>
            <a:r>
              <a:rPr lang="en-US" sz="1050" b="1" dirty="0"/>
              <a:t>Food generating 59.6% of total survey volume (46,071)</a:t>
            </a:r>
            <a:r>
              <a:rPr lang="en-US" sz="1050" dirty="0"/>
              <a:t> at 80.7% CSAT.</a:t>
            </a:r>
          </a:p>
        </p:txBody>
      </p:sp>
      <p:sp>
        <p:nvSpPr>
          <p:cNvPr id="117" name="CuadroTexto 116">
            <a:extLst>
              <a:ext uri="{FF2B5EF4-FFF2-40B4-BE49-F238E27FC236}">
                <a16:creationId xmlns:a16="http://schemas.microsoft.com/office/drawing/2014/main" id="{6AC18B19-93AA-24F4-E5D1-01D5C158ABB8}"/>
              </a:ext>
            </a:extLst>
          </p:cNvPr>
          <p:cNvSpPr txBox="1"/>
          <p:nvPr/>
        </p:nvSpPr>
        <p:spPr>
          <a:xfrm>
            <a:off x="2327905" y="4506027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Customer Sentiment </a:t>
            </a:r>
          </a:p>
        </p:txBody>
      </p:sp>
      <p:sp>
        <p:nvSpPr>
          <p:cNvPr id="119" name="CuadroTexto 118">
            <a:extLst>
              <a:ext uri="{FF2B5EF4-FFF2-40B4-BE49-F238E27FC236}">
                <a16:creationId xmlns:a16="http://schemas.microsoft.com/office/drawing/2014/main" id="{FAB1B97F-E63F-4907-9533-AE0C8DD8B8D8}"/>
              </a:ext>
            </a:extLst>
          </p:cNvPr>
          <p:cNvSpPr txBox="1"/>
          <p:nvPr/>
        </p:nvSpPr>
        <p:spPr>
          <a:xfrm>
            <a:off x="8120462" y="456209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Line of Business </a:t>
            </a:r>
            <a:endParaRPr lang="en-US" sz="1200" dirty="0"/>
          </a:p>
        </p:txBody>
      </p:sp>
      <p:sp>
        <p:nvSpPr>
          <p:cNvPr id="120" name="Rectángulo 119">
            <a:extLst>
              <a:ext uri="{FF2B5EF4-FFF2-40B4-BE49-F238E27FC236}">
                <a16:creationId xmlns:a16="http://schemas.microsoft.com/office/drawing/2014/main" id="{4CCB090F-4CC5-14F4-C36D-73B9EC450091}"/>
              </a:ext>
            </a:extLst>
          </p:cNvPr>
          <p:cNvSpPr/>
          <p:nvPr/>
        </p:nvSpPr>
        <p:spPr>
          <a:xfrm>
            <a:off x="859536" y="1484234"/>
            <a:ext cx="4744851" cy="4434785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Rectángulo 120">
            <a:extLst>
              <a:ext uri="{FF2B5EF4-FFF2-40B4-BE49-F238E27FC236}">
                <a16:creationId xmlns:a16="http://schemas.microsoft.com/office/drawing/2014/main" id="{9FAD12D8-2A3B-83AF-58B6-792AF3F4C663}"/>
              </a:ext>
            </a:extLst>
          </p:cNvPr>
          <p:cNvSpPr/>
          <p:nvPr/>
        </p:nvSpPr>
        <p:spPr>
          <a:xfrm>
            <a:off x="5811390" y="1471890"/>
            <a:ext cx="6096000" cy="4434785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Rectangle 37">
            <a:extLst>
              <a:ext uri="{FF2B5EF4-FFF2-40B4-BE49-F238E27FC236}">
                <a16:creationId xmlns:a16="http://schemas.microsoft.com/office/drawing/2014/main" id="{5D721074-60A0-9D99-D3BB-B64FF2B34AFC}"/>
              </a:ext>
            </a:extLst>
          </p:cNvPr>
          <p:cNvSpPr/>
          <p:nvPr/>
        </p:nvSpPr>
        <p:spPr>
          <a:xfrm>
            <a:off x="969461" y="4975544"/>
            <a:ext cx="45719" cy="83942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ectangle 37">
            <a:extLst>
              <a:ext uri="{FF2B5EF4-FFF2-40B4-BE49-F238E27FC236}">
                <a16:creationId xmlns:a16="http://schemas.microsoft.com/office/drawing/2014/main" id="{8C73C4A7-ED8C-18C4-E3DD-5123C9CCD9A2}"/>
              </a:ext>
            </a:extLst>
          </p:cNvPr>
          <p:cNvSpPr/>
          <p:nvPr/>
        </p:nvSpPr>
        <p:spPr>
          <a:xfrm>
            <a:off x="6371539" y="4975544"/>
            <a:ext cx="45719" cy="60350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CSAT analysis: lowest score vs detractor volume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15,488 unsatisfied surveys. Priority is share of that pile, not the ugliest percentage.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18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57200" y="4114800"/>
            <a:ext cx="11277295" cy="1417320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57200" y="4114800"/>
            <a:ext cx="38404" cy="141732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68096" y="4297680"/>
            <a:ext cx="1071036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A1A1A"/>
                </a:solidFill>
                <a:latin typeface="Inter"/>
              </a:rPr>
              <a:t>CSAT focus is order status, cancellation charge and refunds. Not fraud.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8096" y="4681728"/>
            <a:ext cx="10710367" cy="704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Inter"/>
              </a:rPr>
              <a:t>The two order-status reasons plus cancellation charge are 44.8% of every unsatisfied survey. Add refunds and the top five are 60.3%. After-sales fraud is 6.1% CSAT and only 2.9% of the pile. No longer wants the order is 88.3% (above goal) and still 7.9% of detractors: volume without a rate problem. Do not staff that CR. ETA and refund path are the volume unlock.</a:t>
            </a:r>
          </a:p>
        </p:txBody>
      </p:sp>
      <p:pic>
        <p:nvPicPr>
          <p:cNvPr id="81" name="Picture 80" descr="bar_csat_fail_volu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602" y="1188720"/>
            <a:ext cx="6407435" cy="2907792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7086600" y="1188720"/>
            <a:ext cx="4663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Inter"/>
              </a:rPr>
              <a:t>Worst CSAT (rate, min 100 surveys)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086600" y="1481328"/>
            <a:ext cx="4636008" cy="32918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214616" y="1481328"/>
            <a:ext cx="189280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Contact reason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363456" y="1481328"/>
            <a:ext cx="3840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CSAT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03536" y="1481328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Surveys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716767" y="1481328"/>
            <a:ext cx="87782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Share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214616" y="1810512"/>
            <a:ext cx="189280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80" b="1">
                <a:solidFill>
                  <a:srgbClr val="1A1A1A"/>
                </a:solidFill>
                <a:latin typeface="Inter"/>
              </a:rPr>
              <a:t>After-sales fraud review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299448" y="1874519"/>
            <a:ext cx="512063" cy="329184"/>
          </a:xfrm>
          <a:prstGeom prst="roundRect">
            <a:avLst>
              <a:gd name="adj" fmla="val 13888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363456" y="1810512"/>
            <a:ext cx="38404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80" b="1">
                <a:solidFill>
                  <a:srgbClr val="E11D2E"/>
                </a:solidFill>
                <a:latin typeface="Inter"/>
              </a:rPr>
              <a:t>6.1%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003536" y="181051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80" b="0">
                <a:solidFill>
                  <a:srgbClr val="4B5563"/>
                </a:solidFill>
                <a:latin typeface="Inter"/>
              </a:rPr>
              <a:t>475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0652759" y="1874519"/>
            <a:ext cx="1005840" cy="329184"/>
          </a:xfrm>
          <a:prstGeom prst="roundRect">
            <a:avLst>
              <a:gd name="adj" fmla="val 13888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716767" y="1810512"/>
            <a:ext cx="87782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80" b="1">
                <a:solidFill>
                  <a:srgbClr val="16A34A"/>
                </a:solidFill>
                <a:latin typeface="Inter"/>
              </a:rPr>
              <a:t>2.9%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086600" y="2262949"/>
            <a:ext cx="4636008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086600" y="2267712"/>
            <a:ext cx="4636008" cy="45720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214616" y="2267712"/>
            <a:ext cx="189280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80" b="1">
                <a:solidFill>
                  <a:srgbClr val="1A1A1A"/>
                </a:solidFill>
                <a:latin typeface="Inter"/>
              </a:rPr>
              <a:t>Other (unmapped Business Type)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9299448" y="2331720"/>
            <a:ext cx="512063" cy="329184"/>
          </a:xfrm>
          <a:prstGeom prst="roundRect">
            <a:avLst>
              <a:gd name="adj" fmla="val 13888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363456" y="2267712"/>
            <a:ext cx="38404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80" b="1">
                <a:solidFill>
                  <a:srgbClr val="E11D2E"/>
                </a:solidFill>
                <a:latin typeface="Inter"/>
              </a:rPr>
              <a:t>26.5%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003536" y="226771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80" b="0">
                <a:solidFill>
                  <a:srgbClr val="4B5563"/>
                </a:solidFill>
                <a:latin typeface="Inter"/>
              </a:rPr>
              <a:t>558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0652759" y="2331720"/>
            <a:ext cx="1005840" cy="329184"/>
          </a:xfrm>
          <a:prstGeom prst="roundRect">
            <a:avLst>
              <a:gd name="adj" fmla="val 13888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716767" y="2267712"/>
            <a:ext cx="87782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80" b="1">
                <a:solidFill>
                  <a:srgbClr val="16A34A"/>
                </a:solidFill>
                <a:latin typeface="Inter"/>
              </a:rPr>
              <a:t>2.6%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86600" y="2720149"/>
            <a:ext cx="4636008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214616" y="2724912"/>
            <a:ext cx="189280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80" b="1">
                <a:solidFill>
                  <a:srgbClr val="1A1A1A"/>
                </a:solidFill>
                <a:latin typeface="Inter"/>
              </a:rPr>
              <a:t>Membership program renewal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9299448" y="2788920"/>
            <a:ext cx="512063" cy="329184"/>
          </a:xfrm>
          <a:prstGeom prst="roundRect">
            <a:avLst>
              <a:gd name="adj" fmla="val 13888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363456" y="2724912"/>
            <a:ext cx="38404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80" b="1">
                <a:solidFill>
                  <a:srgbClr val="E11D2E"/>
                </a:solidFill>
                <a:latin typeface="Inter"/>
              </a:rPr>
              <a:t>28.6%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003536" y="272491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80" b="0">
                <a:solidFill>
                  <a:srgbClr val="4B5563"/>
                </a:solidFill>
                <a:latin typeface="Inter"/>
              </a:rPr>
              <a:t>248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10652759" y="2788920"/>
            <a:ext cx="1005840" cy="329184"/>
          </a:xfrm>
          <a:prstGeom prst="roundRect">
            <a:avLst>
              <a:gd name="adj" fmla="val 13888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716767" y="2724912"/>
            <a:ext cx="87782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80" b="1">
                <a:solidFill>
                  <a:srgbClr val="16A34A"/>
                </a:solidFill>
                <a:latin typeface="Inter"/>
              </a:rPr>
              <a:t>1.1%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086600" y="3177349"/>
            <a:ext cx="4636008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7086600" y="3182112"/>
            <a:ext cx="4636008" cy="45720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214616" y="3182112"/>
            <a:ext cx="189280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80" b="1">
                <a:solidFill>
                  <a:srgbClr val="1A1A1A"/>
                </a:solidFill>
                <a:latin typeface="Inter"/>
              </a:rPr>
              <a:t>Membership program benefits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9299448" y="3246120"/>
            <a:ext cx="512063" cy="329184"/>
          </a:xfrm>
          <a:prstGeom prst="roundRect">
            <a:avLst>
              <a:gd name="adj" fmla="val 13888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363456" y="3182112"/>
            <a:ext cx="38404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80" b="1">
                <a:solidFill>
                  <a:srgbClr val="E11D2E"/>
                </a:solidFill>
                <a:latin typeface="Inter"/>
              </a:rPr>
              <a:t>43.1%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003536" y="318211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80" b="0">
                <a:solidFill>
                  <a:srgbClr val="4B5563"/>
                </a:solidFill>
                <a:latin typeface="Inter"/>
              </a:rPr>
              <a:t>109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10652759" y="3246120"/>
            <a:ext cx="1005840" cy="329184"/>
          </a:xfrm>
          <a:prstGeom prst="roundRect">
            <a:avLst>
              <a:gd name="adj" fmla="val 13888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0716767" y="3182112"/>
            <a:ext cx="87782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80" b="1">
                <a:solidFill>
                  <a:srgbClr val="16A34A"/>
                </a:solidFill>
                <a:latin typeface="Inter"/>
              </a:rPr>
              <a:t>0.4%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086600" y="3634549"/>
            <a:ext cx="4636008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214616" y="3639312"/>
            <a:ext cx="189280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80" b="1">
                <a:solidFill>
                  <a:srgbClr val="1A1A1A"/>
                </a:solidFill>
                <a:latin typeface="Inter"/>
              </a:rPr>
              <a:t>Placing an order information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9299448" y="3703320"/>
            <a:ext cx="512063" cy="329184"/>
          </a:xfrm>
          <a:prstGeom prst="roundRect">
            <a:avLst>
              <a:gd name="adj" fmla="val 13888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9363456" y="3639312"/>
            <a:ext cx="38404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80" b="1">
                <a:solidFill>
                  <a:srgbClr val="E11D2E"/>
                </a:solidFill>
                <a:latin typeface="Inter"/>
              </a:rPr>
              <a:t>50.7%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003536" y="363931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80" b="0">
                <a:solidFill>
                  <a:srgbClr val="4B5563"/>
                </a:solidFill>
                <a:latin typeface="Inter"/>
              </a:rPr>
              <a:t>142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10652759" y="3703320"/>
            <a:ext cx="1005840" cy="329184"/>
          </a:xfrm>
          <a:prstGeom prst="roundRect">
            <a:avLst>
              <a:gd name="adj" fmla="val 13888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716767" y="3639312"/>
            <a:ext cx="87782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80" b="1">
                <a:solidFill>
                  <a:srgbClr val="16A34A"/>
                </a:solidFill>
                <a:latin typeface="Inter"/>
              </a:rPr>
              <a:t>0.5%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7086600" y="4091749"/>
            <a:ext cx="4636008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Voice of the customer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2,749 classified comments from 1–3★ surveys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19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1180" y="6638544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 dirty="0" err="1">
                <a:solidFill>
                  <a:srgbClr val="9CA3AF"/>
                </a:solidFill>
                <a:latin typeface="Inter"/>
              </a:rPr>
              <a:t>DiDi</a:t>
            </a:r>
            <a:r>
              <a:rPr sz="750" b="0" dirty="0">
                <a:solidFill>
                  <a:srgbClr val="9CA3AF"/>
                </a:solidFill>
                <a:latin typeface="Inter"/>
              </a:rPr>
              <a:t> Global, CX Service Operations   |   Confidential. Internal use only</a:t>
            </a:r>
          </a:p>
        </p:txBody>
      </p:sp>
      <p:pic>
        <p:nvPicPr>
          <p:cNvPr id="11" name="Picture 10" descr="bar_v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604" y="1211580"/>
            <a:ext cx="5806440" cy="291597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TextBox 11"/>
          <p:cNvSpPr txBox="1"/>
          <p:nvPr/>
        </p:nvSpPr>
        <p:spPr>
          <a:xfrm>
            <a:off x="7265058" y="1537988"/>
            <a:ext cx="525780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050" b="1" dirty="0"/>
              <a:t>Detractor Driver Disconnect: Resolution vs. Soft Skills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656350" y="2033445"/>
            <a:ext cx="5870447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sz="1000" b="1" dirty="0"/>
              <a:t>Resolution Deficit Dominates (35.4%):</a:t>
            </a:r>
            <a:r>
              <a:rPr lang="en-US" sz="1000" dirty="0"/>
              <a:t> Missing refunds (18.8%) and lack of solution (16.6%) drive over a third of all negative verbatim feedback.</a:t>
            </a:r>
          </a:p>
          <a:p>
            <a:pPr lvl="2"/>
            <a:endParaRPr lang="en-US" sz="1000" dirty="0"/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sz="1000" b="1" dirty="0"/>
              <a:t>Soft Skills Over-Weighting (4.3%):</a:t>
            </a:r>
            <a:r>
              <a:rPr lang="en-US" sz="1000" dirty="0"/>
              <a:t> "Agent attitude" accounts for only 4.3% of detractor complaints (171 comments), despite being heavily weighted in traditional QA rubrics.</a:t>
            </a:r>
          </a:p>
          <a:p>
            <a:pPr lvl="2"/>
            <a:endParaRPr lang="en-US" sz="1000" dirty="0"/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sz="1000" b="1" dirty="0"/>
              <a:t>Operational Takeaway:</a:t>
            </a:r>
            <a:r>
              <a:rPr lang="en-US" sz="1000" dirty="0"/>
              <a:t> Customers evaluate experience based on functional problem-solving, not conversational politeness.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1876" y="3510915"/>
            <a:ext cx="525780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1050" b="1" dirty="0" err="1">
                <a:solidFill>
                  <a:srgbClr val="1A1A1A"/>
                </a:solidFill>
                <a:latin typeface="Inter"/>
              </a:rPr>
              <a:t>Dissatisfaction</a:t>
            </a:r>
            <a:r>
              <a:rPr lang="es-CO" sz="1050" b="1" dirty="0">
                <a:solidFill>
                  <a:srgbClr val="1A1A1A"/>
                </a:solidFill>
                <a:latin typeface="Inter"/>
              </a:rPr>
              <a:t> </a:t>
            </a:r>
            <a:r>
              <a:rPr lang="es-CO" sz="1050" b="1" dirty="0" err="1">
                <a:solidFill>
                  <a:srgbClr val="1A1A1A"/>
                </a:solidFill>
                <a:latin typeface="Inter"/>
              </a:rPr>
              <a:t>Ownership</a:t>
            </a:r>
            <a:r>
              <a:rPr lang="es-CO" sz="1050" b="1" dirty="0">
                <a:solidFill>
                  <a:srgbClr val="1A1A1A"/>
                </a:solidFill>
                <a:latin typeface="Inter"/>
              </a:rPr>
              <a:t> </a:t>
            </a:r>
            <a:r>
              <a:rPr lang="es-CO" sz="1050" b="1" dirty="0" err="1">
                <a:solidFill>
                  <a:srgbClr val="1A1A1A"/>
                </a:solidFill>
                <a:latin typeface="Inter"/>
              </a:rPr>
              <a:t>Breakdown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grpSp>
        <p:nvGrpSpPr>
          <p:cNvPr id="41" name="Grupo 40">
            <a:extLst>
              <a:ext uri="{FF2B5EF4-FFF2-40B4-BE49-F238E27FC236}">
                <a16:creationId xmlns:a16="http://schemas.microsoft.com/office/drawing/2014/main" id="{B4FE966D-A401-994E-FBFF-7D044B7178C1}"/>
              </a:ext>
            </a:extLst>
          </p:cNvPr>
          <p:cNvGrpSpPr/>
          <p:nvPr/>
        </p:nvGrpSpPr>
        <p:grpSpPr>
          <a:xfrm>
            <a:off x="6670699" y="3838099"/>
            <a:ext cx="4389120" cy="1943290"/>
            <a:chOff x="6492240" y="3529584"/>
            <a:chExt cx="4389120" cy="1943290"/>
          </a:xfrm>
        </p:grpSpPr>
        <p:sp>
          <p:nvSpPr>
            <p:cNvPr id="15" name="Rectangle 14"/>
            <p:cNvSpPr/>
            <p:nvPr/>
          </p:nvSpPr>
          <p:spPr>
            <a:xfrm>
              <a:off x="6492240" y="3529584"/>
              <a:ext cx="4389120" cy="329184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620255" y="3610885"/>
              <a:ext cx="257860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Owner the auditor tagged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454896" y="3610885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Cases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0232136" y="3610885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Share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620255" y="3976645"/>
              <a:ext cx="257860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CX Process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454896" y="3976645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54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0232136" y="3976645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49.5%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6492240" y="4256341"/>
              <a:ext cx="438911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6492240" y="4261104"/>
              <a:ext cx="4389120" cy="402336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620255" y="4378981"/>
              <a:ext cx="257860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People (CSR)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9454896" y="4378981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24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0232136" y="4378981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22.0%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6492240" y="4658677"/>
              <a:ext cx="438911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6620255" y="4781317"/>
              <a:ext cx="257860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End User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9454896" y="4781317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11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0232136" y="4781317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10.1%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6492240" y="5061013"/>
              <a:ext cx="438911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6492240" y="5065776"/>
              <a:ext cx="4389120" cy="402336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6620255" y="5183653"/>
              <a:ext cx="257860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External Factors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9454896" y="5183653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10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0232136" y="5183653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9.2%</a:t>
              </a: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6492240" y="5463349"/>
              <a:ext cx="438911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 dirty="0"/>
            </a:p>
          </p:txBody>
        </p:sp>
      </p:grpSp>
      <p:grpSp>
        <p:nvGrpSpPr>
          <p:cNvPr id="44" name="Grupo 43">
            <a:extLst>
              <a:ext uri="{FF2B5EF4-FFF2-40B4-BE49-F238E27FC236}">
                <a16:creationId xmlns:a16="http://schemas.microsoft.com/office/drawing/2014/main" id="{CCACE839-D7B0-2B96-E068-AD2D94F96537}"/>
              </a:ext>
            </a:extLst>
          </p:cNvPr>
          <p:cNvGrpSpPr/>
          <p:nvPr/>
        </p:nvGrpSpPr>
        <p:grpSpPr>
          <a:xfrm>
            <a:off x="457199" y="4334255"/>
            <a:ext cx="5957467" cy="2228755"/>
            <a:chOff x="457199" y="4334255"/>
            <a:chExt cx="5957467" cy="2228755"/>
          </a:xfrm>
        </p:grpSpPr>
        <p:sp>
          <p:nvSpPr>
            <p:cNvPr id="37" name="Rectangle 36"/>
            <p:cNvSpPr/>
            <p:nvPr/>
          </p:nvSpPr>
          <p:spPr>
            <a:xfrm>
              <a:off x="457200" y="4334255"/>
              <a:ext cx="5957466" cy="2228755"/>
            </a:xfrm>
            <a:prstGeom prst="rect">
              <a:avLst/>
            </a:prstGeom>
            <a:solidFill>
              <a:srgbClr val="F4F5F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457199" y="4334256"/>
              <a:ext cx="54863" cy="2228754"/>
            </a:xfrm>
            <a:prstGeom prst="rect">
              <a:avLst/>
            </a:prstGeom>
            <a:solidFill>
              <a:srgbClr val="FF66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39" name="TextBox 38"/>
          <p:cNvSpPr txBox="1"/>
          <p:nvPr/>
        </p:nvSpPr>
        <p:spPr>
          <a:xfrm>
            <a:off x="768096" y="4517136"/>
            <a:ext cx="5239512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200" b="1" dirty="0">
                <a:solidFill>
                  <a:srgbClr val="1A1A1A"/>
                </a:solidFill>
                <a:latin typeface="Inter"/>
              </a:rPr>
              <a:t>Does higher QA mean better customer outcomes?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-253727" y="4753833"/>
            <a:ext cx="6399717" cy="16219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endParaRPr lang="es-CO" sz="1400" dirty="0">
              <a:effectLst/>
            </a:endParaRPr>
          </a:p>
          <a:p>
            <a:pPr marL="1143000" marR="0" lvl="2" indent="-2286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Wingdings" panose="05000000000000000000" pitchFamily="2" charset="2"/>
              <a:buChar char=""/>
              <a:tabLst>
                <a:tab pos="1371600" algn="l"/>
              </a:tabLst>
            </a:pPr>
            <a:r>
              <a:rPr lang="en-US" sz="1050" b="1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CSAT Correlation (r = -0.151, R2 = 0.023):</a:t>
            </a:r>
            <a:r>
              <a:rPr lang="en-US" sz="1050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QA scores explain only 2.3% of CSAT variance across 45 contact reasons.</a:t>
            </a:r>
            <a:endParaRPr lang="es-CO" sz="10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143000" marR="0" lvl="2" indent="-2286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Wingdings" panose="05000000000000000000" pitchFamily="2" charset="2"/>
              <a:buChar char=""/>
              <a:tabLst>
                <a:tab pos="1371600" algn="l"/>
              </a:tabLst>
            </a:pPr>
            <a:r>
              <a:rPr lang="en-US" sz="1050" b="1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Recontact Correlation (r = -0.078):</a:t>
            </a:r>
            <a:r>
              <a:rPr lang="en-US" sz="1050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QA compliance shows a slightly negative correlation with recontact reduction.</a:t>
            </a:r>
            <a:endParaRPr lang="es-CO" sz="10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143000" marR="0" lvl="2" indent="-2286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Wingdings" panose="05000000000000000000" pitchFamily="2" charset="2"/>
              <a:buChar char=""/>
              <a:tabLst>
                <a:tab pos="1371600" algn="l"/>
              </a:tabLst>
            </a:pPr>
            <a:r>
              <a:rPr lang="en-US" sz="1050" b="1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Strategic Conclusion:</a:t>
            </a:r>
            <a:r>
              <a:rPr lang="en-US" sz="1050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Optimizing for current QA metrics will not shift CSAT or lower repeat contacts, as standard audits measure compliance rather than the process resolution required by customers.</a:t>
            </a:r>
            <a:endParaRPr lang="es-CO" sz="10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3" name="Rectángulo 42">
            <a:extLst>
              <a:ext uri="{FF2B5EF4-FFF2-40B4-BE49-F238E27FC236}">
                <a16:creationId xmlns:a16="http://schemas.microsoft.com/office/drawing/2014/main" id="{FC4C372A-12EF-A163-1F62-240833B5FB2C}"/>
              </a:ext>
            </a:extLst>
          </p:cNvPr>
          <p:cNvSpPr/>
          <p:nvPr/>
        </p:nvSpPr>
        <p:spPr>
          <a:xfrm>
            <a:off x="6469529" y="1252729"/>
            <a:ext cx="5190296" cy="4736591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2148840"/>
            <a:ext cx="27432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400" b="1">
                <a:solidFill>
                  <a:srgbClr val="FF6600"/>
                </a:solidFill>
                <a:latin typeface="Inter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46120"/>
            <a:ext cx="8686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nter"/>
              </a:rPr>
              <a:t>Recontact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3931920"/>
            <a:ext cx="914400" cy="32004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4187952"/>
            <a:ext cx="7863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C9CCD1"/>
                </a:solidFill>
                <a:latin typeface="Inter"/>
              </a:rPr>
              <a:t>Rate against goal. Which channels and contact reasons drive repeat contacts.</a:t>
            </a:r>
          </a:p>
        </p:txBody>
      </p:sp>
      <p:pic>
        <p:nvPicPr>
          <p:cNvPr id="8" name="Picture 7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5806440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14455" y="5806440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20 / 35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Recontact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5.83% is global (all 12 channels) vs 5.44% goal  ·  Human channels (Phone + Chat): 15.56%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21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pic>
        <p:nvPicPr>
          <p:cNvPr id="11" name="Picture 10" descr="bar_rc_sc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017842"/>
            <a:ext cx="5127956" cy="256397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TextBox 11"/>
          <p:cNvSpPr txBox="1"/>
          <p:nvPr/>
        </p:nvSpPr>
        <p:spPr>
          <a:xfrm>
            <a:off x="7644384" y="1235116"/>
            <a:ext cx="53949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dirty="0">
                <a:solidFill>
                  <a:srgbClr val="1A1A1A"/>
                </a:solidFill>
                <a:latin typeface="Inter"/>
              </a:rPr>
              <a:t>Rate by channel: where customers contact us again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1517904"/>
            <a:ext cx="5394960" cy="34747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355080" y="2281237"/>
            <a:ext cx="539496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355080" y="2286000"/>
            <a:ext cx="5394960" cy="420624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355080" y="2701861"/>
            <a:ext cx="539496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55080" y="3122485"/>
            <a:ext cx="539496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355080" y="3127248"/>
            <a:ext cx="5394960" cy="420624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6355080" y="3543109"/>
            <a:ext cx="539496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70" name="Grupo 69">
            <a:extLst>
              <a:ext uri="{FF2B5EF4-FFF2-40B4-BE49-F238E27FC236}">
                <a16:creationId xmlns:a16="http://schemas.microsoft.com/office/drawing/2014/main" id="{84AC9143-0851-75BE-D900-A89D578DC19F}"/>
              </a:ext>
            </a:extLst>
          </p:cNvPr>
          <p:cNvGrpSpPr/>
          <p:nvPr/>
        </p:nvGrpSpPr>
        <p:grpSpPr>
          <a:xfrm>
            <a:off x="6483096" y="1616684"/>
            <a:ext cx="5138927" cy="2287803"/>
            <a:chOff x="6483096" y="1616684"/>
            <a:chExt cx="5138927" cy="2287803"/>
          </a:xfrm>
        </p:grpSpPr>
        <p:sp>
          <p:nvSpPr>
            <p:cNvPr id="14" name="TextBox 13"/>
            <p:cNvSpPr txBox="1"/>
            <p:nvPr/>
          </p:nvSpPr>
          <p:spPr>
            <a:xfrm>
              <a:off x="6483096" y="1616684"/>
              <a:ext cx="13441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FFFFFF"/>
                  </a:solidFill>
                  <a:latin typeface="Inter"/>
                </a:rPr>
                <a:t>Channel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8083296" y="1616684"/>
              <a:ext cx="70408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FFFFFF"/>
                  </a:solidFill>
                  <a:latin typeface="Inter"/>
                </a:rPr>
                <a:t>Contacts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043416" y="1616684"/>
              <a:ext cx="612647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FFFFFF"/>
                  </a:solidFill>
                  <a:latin typeface="Inter"/>
                </a:rPr>
                <a:t>Repeats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912096" y="1616684"/>
              <a:ext cx="4297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FFFFFF"/>
                  </a:solidFill>
                  <a:latin typeface="Inter"/>
                </a:rPr>
                <a:t>Rate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0597896" y="1616684"/>
              <a:ext cx="1024127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FFFFFF"/>
                  </a:solidFill>
                  <a:latin typeface="Inter"/>
                </a:rPr>
                <a:t>Share of repeats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483096" y="2000732"/>
              <a:ext cx="13441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1A1A1A"/>
                  </a:solidFill>
                  <a:latin typeface="Inter"/>
                </a:rPr>
                <a:t>Live Chat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8083296" y="2000732"/>
              <a:ext cx="70408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243,626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9043416" y="2000732"/>
              <a:ext cx="612647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38,961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9848088" y="1929384"/>
              <a:ext cx="55778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9912096" y="2000732"/>
              <a:ext cx="4297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15.99%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597896" y="2000732"/>
              <a:ext cx="1024127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67.2%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6483096" y="2421356"/>
              <a:ext cx="13441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1A1A1A"/>
                  </a:solidFill>
                  <a:latin typeface="Inter"/>
                </a:rPr>
                <a:t>Self Help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8083296" y="2421356"/>
              <a:ext cx="70408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666,650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9043416" y="2421356"/>
              <a:ext cx="612647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8,154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9848088" y="2350008"/>
              <a:ext cx="557784" cy="292608"/>
            </a:xfrm>
            <a:prstGeom prst="roundRect">
              <a:avLst>
                <a:gd name="adj" fmla="val 15625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9912096" y="2421356"/>
              <a:ext cx="4297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16A34A"/>
                  </a:solidFill>
                  <a:latin typeface="Inter"/>
                </a:rPr>
                <a:t>1.22%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0597896" y="2421356"/>
              <a:ext cx="1024127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14.1%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6483096" y="2841980"/>
              <a:ext cx="13441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1A1A1A"/>
                  </a:solidFill>
                  <a:latin typeface="Inter"/>
                </a:rPr>
                <a:t>Phone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8083296" y="2841980"/>
              <a:ext cx="70408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49,674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9043416" y="2841980"/>
              <a:ext cx="612647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6,690</a:t>
              </a:r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9848088" y="2770632"/>
              <a:ext cx="55778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9912096" y="2841980"/>
              <a:ext cx="4297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13.47%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10597896" y="2841980"/>
              <a:ext cx="1024127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11.5%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6483096" y="3262604"/>
              <a:ext cx="13441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1A1A1A"/>
                  </a:solidFill>
                  <a:latin typeface="Inter"/>
                </a:rPr>
                <a:t>GPTBot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8083296" y="3262604"/>
              <a:ext cx="70408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19,508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9043416" y="3262604"/>
              <a:ext cx="612647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2,679</a:t>
              </a:r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9848088" y="3191256"/>
              <a:ext cx="55778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9912096" y="3262604"/>
              <a:ext cx="4297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13.73%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10597896" y="3262604"/>
              <a:ext cx="1024127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4.6%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6483096" y="3683228"/>
              <a:ext cx="13441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1A1A1A"/>
                  </a:solidFill>
                  <a:latin typeface="Inter"/>
                </a:rPr>
                <a:t>Help Center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8083296" y="3683228"/>
              <a:ext cx="70408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12,224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9043416" y="3683228"/>
              <a:ext cx="612647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941</a:t>
              </a:r>
            </a:p>
          </p:txBody>
        </p:sp>
        <p:sp>
          <p:nvSpPr>
            <p:cNvPr id="52" name="Rounded Rectangle 51"/>
            <p:cNvSpPr/>
            <p:nvPr/>
          </p:nvSpPr>
          <p:spPr>
            <a:xfrm>
              <a:off x="9848088" y="3611879"/>
              <a:ext cx="557784" cy="292608"/>
            </a:xfrm>
            <a:prstGeom prst="roundRect">
              <a:avLst>
                <a:gd name="adj" fmla="val 15625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9912096" y="3683228"/>
              <a:ext cx="4297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F59E0B"/>
                  </a:solidFill>
                  <a:latin typeface="Inter"/>
                </a:rPr>
                <a:t>7.70%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10597896" y="3683228"/>
              <a:ext cx="1024127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1.6%</a:t>
              </a:r>
            </a:p>
          </p:txBody>
        </p:sp>
      </p:grpSp>
      <p:sp>
        <p:nvSpPr>
          <p:cNvPr id="55" name="Rectangle 54"/>
          <p:cNvSpPr/>
          <p:nvPr/>
        </p:nvSpPr>
        <p:spPr>
          <a:xfrm>
            <a:off x="6355080" y="3963733"/>
            <a:ext cx="539496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355080" y="4206240"/>
            <a:ext cx="539496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1050" b="1" dirty="0"/>
              <a:t>Dual-</a:t>
            </a:r>
            <a:r>
              <a:rPr lang="es-CO" sz="1050" b="1" dirty="0" err="1"/>
              <a:t>Metric</a:t>
            </a:r>
            <a:r>
              <a:rPr lang="es-CO" sz="1050" b="1" dirty="0"/>
              <a:t> </a:t>
            </a:r>
            <a:r>
              <a:rPr lang="es-CO" sz="1050" b="1" dirty="0" err="1"/>
              <a:t>Governance</a:t>
            </a:r>
            <a:r>
              <a:rPr lang="es-CO" sz="1050" b="1" dirty="0"/>
              <a:t>: </a:t>
            </a:r>
            <a:r>
              <a:rPr lang="es-CO" sz="1050" b="1" dirty="0" err="1"/>
              <a:t>Reporting</a:t>
            </a:r>
            <a:r>
              <a:rPr lang="es-CO" sz="1050" b="1" dirty="0"/>
              <a:t> vs. </a:t>
            </a:r>
            <a:r>
              <a:rPr lang="es-CO" sz="1050" b="1" dirty="0" err="1"/>
              <a:t>Operational</a:t>
            </a:r>
            <a:r>
              <a:rPr lang="es-CO" sz="1050" b="1" dirty="0"/>
              <a:t> Performance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6355080" y="4585716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592824" y="4489703"/>
            <a:ext cx="515721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Volume Skewing:</a:t>
            </a:r>
            <a:r>
              <a:rPr lang="en-US" sz="1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Self-Service absorbs 67.0% of total volume with a 1.22% recontact rate, masking operational friction in human channels.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6364224" y="5051870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577279" y="4965890"/>
            <a:ext cx="5157216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/>
            <a:r>
              <a:rPr lang="en-US" sz="1000" b="1" dirty="0">
                <a:effectLst/>
                <a:ea typeface="Times New Roman" panose="02020603050405020304" pitchFamily="18" charset="0"/>
              </a:rPr>
              <a:t>1-in-6 Recontact Ratio:</a:t>
            </a:r>
            <a:r>
              <a:rPr lang="en-US" sz="1000" dirty="0">
                <a:effectLst/>
                <a:ea typeface="Times New Roman" panose="02020603050405020304" pitchFamily="18" charset="0"/>
              </a:rPr>
              <a:t> Human-assisted channels operate at </a:t>
            </a:r>
            <a:r>
              <a:rPr lang="en-US" sz="1000" b="1" dirty="0">
                <a:effectLst/>
                <a:ea typeface="Times New Roman" panose="02020603050405020304" pitchFamily="18" charset="0"/>
              </a:rPr>
              <a:t>15.56% recontact</a:t>
            </a:r>
            <a:r>
              <a:rPr lang="en-US" sz="1000" dirty="0">
                <a:effectLst/>
                <a:ea typeface="Times New Roman" panose="02020603050405020304" pitchFamily="18" charset="0"/>
              </a:rPr>
              <a:t>, meaning 1 out of every 6 customers contacting an agent requires a repeat interaction.</a:t>
            </a:r>
            <a:endParaRPr lang="es-CO" sz="1000" dirty="0">
              <a:effectLst/>
              <a:ea typeface="Times New Roman" panose="02020603050405020304" pitchFamily="18" charset="0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6364224" y="5499964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577279" y="5363867"/>
            <a:ext cx="5157216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/>
            <a:r>
              <a:rPr lang="en-US" sz="1000" b="1" dirty="0">
                <a:effectLst/>
                <a:ea typeface="Times New Roman" panose="02020603050405020304" pitchFamily="18" charset="0"/>
              </a:rPr>
              <a:t>Digital</a:t>
            </a:r>
            <a:r>
              <a:rPr lang="en-US" sz="1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Channel Friction:</a:t>
            </a:r>
            <a:r>
              <a:rPr lang="en-US" sz="1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Live Chat (</a:t>
            </a:r>
            <a:r>
              <a:rPr lang="en-US" sz="1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15.99%</a:t>
            </a:r>
            <a:r>
              <a:rPr lang="en-US" sz="1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 and </a:t>
            </a:r>
            <a:r>
              <a:rPr lang="en-US" sz="10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GPTBot</a:t>
            </a:r>
            <a:r>
              <a:rPr lang="en-US" sz="1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(</a:t>
            </a:r>
            <a:r>
              <a:rPr lang="en-US" sz="1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13.73%</a:t>
            </a:r>
            <a:r>
              <a:rPr lang="en-US" sz="1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 exhibit higher recontact rates than Phone (</a:t>
            </a:r>
            <a:r>
              <a:rPr lang="en-US" sz="1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13.47%</a:t>
            </a:r>
            <a:r>
              <a:rPr lang="en-US" sz="1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), proving digital channels are the main source of repeat contact.</a:t>
            </a:r>
            <a:endParaRPr lang="es-CO" sz="1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457200" y="3749039"/>
            <a:ext cx="5669280" cy="1920240"/>
          </a:xfrm>
          <a:prstGeom prst="rect">
            <a:avLst/>
          </a:prstGeom>
          <a:solidFill>
            <a:srgbClr val="F4F5F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457200" y="3749039"/>
            <a:ext cx="38404" cy="192024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938174" y="3831146"/>
            <a:ext cx="5102352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200" b="1" dirty="0"/>
              <a:t>Automation Masking Effect: Self-Help Disguises Human Channel Deficit</a:t>
            </a:r>
            <a:endParaRPr sz="120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67" name="Rectangle 1">
            <a:extLst>
              <a:ext uri="{FF2B5EF4-FFF2-40B4-BE49-F238E27FC236}">
                <a16:creationId xmlns:a16="http://schemas.microsoft.com/office/drawing/2014/main" id="{AE1ACA4C-77D2-2431-E928-486B5CE1D1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5954" y="4165366"/>
            <a:ext cx="5600396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Metric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Masking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Massive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Self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-Help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volume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666.6k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contacts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/ 67.0% share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maintains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low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1.22%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recontact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rate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artificially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keeping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global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business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reporting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at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5.83%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near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5.44% target).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Assisted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Channel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Deficit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Removing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Self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-Help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exposes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assisted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recontact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rate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of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15.19%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peaking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at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15.56%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for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human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channels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Phone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+ Live Chat)—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nearly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3x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maximum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operational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tolerance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(5.44%)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Volume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Driver: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Live Chat single-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handedly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generates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67.2%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of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all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repeat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contacts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in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business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(38,961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repeat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cases).</a:t>
            </a:r>
          </a:p>
        </p:txBody>
      </p:sp>
      <p:sp>
        <p:nvSpPr>
          <p:cNvPr id="71" name="Rectángulo 70">
            <a:extLst>
              <a:ext uri="{FF2B5EF4-FFF2-40B4-BE49-F238E27FC236}">
                <a16:creationId xmlns:a16="http://schemas.microsoft.com/office/drawing/2014/main" id="{D8429666-46BD-2437-6872-29C3233945EC}"/>
              </a:ext>
            </a:extLst>
          </p:cNvPr>
          <p:cNvSpPr/>
          <p:nvPr/>
        </p:nvSpPr>
        <p:spPr>
          <a:xfrm>
            <a:off x="6239256" y="1068639"/>
            <a:ext cx="5669280" cy="4920682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Recontact by contact reason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158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950" b="0" dirty="0">
                <a:solidFill>
                  <a:srgbClr val="9CA3AF"/>
                </a:solidFill>
                <a:latin typeface="Inter"/>
              </a:rPr>
              <a:t>Granular recontact driver analysis: Pareto concentration, friction rate isolation, and QA/CSAT metric decoupling.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22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4729" y="675492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 dirty="0" err="1">
                <a:solidFill>
                  <a:srgbClr val="9CA3AF"/>
                </a:solidFill>
                <a:latin typeface="Inter"/>
              </a:rPr>
              <a:t>DiDi</a:t>
            </a:r>
            <a:r>
              <a:rPr sz="750" b="0" dirty="0">
                <a:solidFill>
                  <a:srgbClr val="9CA3AF"/>
                </a:solidFill>
                <a:latin typeface="Inter"/>
              </a:rPr>
              <a:t> Global, CX Service Operations   |   Confidential. Internal use only</a:t>
            </a:r>
          </a:p>
        </p:txBody>
      </p:sp>
      <p:pic>
        <p:nvPicPr>
          <p:cNvPr id="11" name="Picture 10" descr="pareto_reconta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451" y="1176226"/>
            <a:ext cx="5920681" cy="354695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08722" y="1326356"/>
            <a:ext cx="4434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dirty="0">
                <a:solidFill>
                  <a:srgbClr val="1A1A1A"/>
                </a:solidFill>
                <a:latin typeface="Inter"/>
              </a:rPr>
              <a:t>Highest recontact rates</a:t>
            </a:r>
          </a:p>
        </p:txBody>
      </p:sp>
      <p:grpSp>
        <p:nvGrpSpPr>
          <p:cNvPr id="85" name="Grupo 84">
            <a:extLst>
              <a:ext uri="{FF2B5EF4-FFF2-40B4-BE49-F238E27FC236}">
                <a16:creationId xmlns:a16="http://schemas.microsoft.com/office/drawing/2014/main" id="{DD40738B-9706-E291-5246-CC07A565C70B}"/>
              </a:ext>
            </a:extLst>
          </p:cNvPr>
          <p:cNvGrpSpPr/>
          <p:nvPr/>
        </p:nvGrpSpPr>
        <p:grpSpPr>
          <a:xfrm>
            <a:off x="6865620" y="1588312"/>
            <a:ext cx="4910023" cy="2601631"/>
            <a:chOff x="7315200" y="1517904"/>
            <a:chExt cx="4460443" cy="2672040"/>
          </a:xfrm>
        </p:grpSpPr>
        <p:sp>
          <p:nvSpPr>
            <p:cNvPr id="13" name="Rectangle 12"/>
            <p:cNvSpPr/>
            <p:nvPr/>
          </p:nvSpPr>
          <p:spPr>
            <a:xfrm>
              <a:off x="7315200" y="1517904"/>
              <a:ext cx="4434840" cy="329184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443216" y="1599205"/>
              <a:ext cx="128016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Contact reason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8979408" y="1599205"/>
              <a:ext cx="4572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Contacts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692640" y="1599205"/>
              <a:ext cx="4572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 dirty="0">
                  <a:solidFill>
                    <a:srgbClr val="FFFFFF"/>
                  </a:solidFill>
                  <a:latin typeface="Inter"/>
                </a:rPr>
                <a:t>Repeats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0351008" y="1599205"/>
              <a:ext cx="310896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Rate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0917936" y="1599205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Status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443216" y="1982444"/>
              <a:ext cx="1280160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After-sales fraud review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8979408" y="1982444"/>
              <a:ext cx="457200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3,146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9692640" y="1982444"/>
              <a:ext cx="402335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895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10287000" y="1911095"/>
              <a:ext cx="438912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0351009" y="1952867"/>
              <a:ext cx="374904" cy="15397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 dirty="0">
                  <a:solidFill>
                    <a:srgbClr val="E11D2E"/>
                  </a:solidFill>
                  <a:latin typeface="Inter"/>
                </a:rPr>
                <a:t>28.45%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10917936" y="1920240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5" name="Oval 24"/>
            <p:cNvSpPr/>
            <p:nvPr/>
          </p:nvSpPr>
          <p:spPr>
            <a:xfrm>
              <a:off x="11027664" y="2007107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1192256" y="1982444"/>
              <a:ext cx="546811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7315200" y="2262949"/>
              <a:ext cx="44348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7315200" y="2267712"/>
              <a:ext cx="4434840" cy="42062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7443216" y="2403068"/>
              <a:ext cx="1280160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Cash order blocked (ant…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8979408" y="2403068"/>
              <a:ext cx="457200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7,278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9692640" y="2403068"/>
              <a:ext cx="402335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1,776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10287000" y="2331720"/>
              <a:ext cx="438912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0351008" y="2323431"/>
              <a:ext cx="310896" cy="309187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 dirty="0">
                  <a:solidFill>
                    <a:srgbClr val="E11D2E"/>
                  </a:solidFill>
                  <a:latin typeface="Inter"/>
                </a:rPr>
                <a:t>24.40%</a:t>
              </a:r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10917936" y="2340864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5" name="Oval 34"/>
            <p:cNvSpPr/>
            <p:nvPr/>
          </p:nvSpPr>
          <p:spPr>
            <a:xfrm>
              <a:off x="11027664" y="2427732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11192256" y="2403068"/>
              <a:ext cx="546811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7315200" y="2683573"/>
              <a:ext cx="44348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7443216" y="2823692"/>
              <a:ext cx="1280160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order status &amp; delays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8979408" y="2823692"/>
              <a:ext cx="457200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39,706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9692640" y="2823692"/>
              <a:ext cx="402335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7,680</a:t>
              </a:r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10287000" y="2752344"/>
              <a:ext cx="438912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10351008" y="2744055"/>
              <a:ext cx="310896" cy="309187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19.34%</a:t>
              </a:r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10917936" y="2761488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4" name="Oval 43"/>
            <p:cNvSpPr/>
            <p:nvPr/>
          </p:nvSpPr>
          <p:spPr>
            <a:xfrm>
              <a:off x="11027664" y="2848356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11192256" y="2823692"/>
              <a:ext cx="546811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7315200" y="3104197"/>
              <a:ext cx="44348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7315200" y="3108960"/>
              <a:ext cx="4434840" cy="42062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7443216" y="3244316"/>
              <a:ext cx="1280160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Order status / delay in…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8979408" y="3244316"/>
              <a:ext cx="457200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76,911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9692640" y="3244316"/>
              <a:ext cx="402335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13,014</a:t>
              </a:r>
            </a:p>
          </p:txBody>
        </p:sp>
        <p:sp>
          <p:nvSpPr>
            <p:cNvPr id="51" name="Rounded Rectangle 50"/>
            <p:cNvSpPr/>
            <p:nvPr/>
          </p:nvSpPr>
          <p:spPr>
            <a:xfrm>
              <a:off x="10287000" y="3172968"/>
              <a:ext cx="438912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10351008" y="3164679"/>
              <a:ext cx="310896" cy="309187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16.92%</a:t>
              </a:r>
            </a:p>
          </p:txBody>
        </p:sp>
        <p:sp>
          <p:nvSpPr>
            <p:cNvPr id="53" name="Rounded Rectangle 52"/>
            <p:cNvSpPr/>
            <p:nvPr/>
          </p:nvSpPr>
          <p:spPr>
            <a:xfrm>
              <a:off x="10917936" y="3182112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4" name="Oval 53"/>
            <p:cNvSpPr/>
            <p:nvPr/>
          </p:nvSpPr>
          <p:spPr>
            <a:xfrm>
              <a:off x="11027664" y="3268979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11192256" y="3244316"/>
              <a:ext cx="546811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7315200" y="3524821"/>
              <a:ext cx="44348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7443216" y="3664940"/>
              <a:ext cx="1280160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refund status and condi…</a:t>
              </a: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8979408" y="3664940"/>
              <a:ext cx="457200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18,484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9692640" y="3664940"/>
              <a:ext cx="402335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2,901</a:t>
              </a:r>
            </a:p>
          </p:txBody>
        </p:sp>
        <p:sp>
          <p:nvSpPr>
            <p:cNvPr id="60" name="Rounded Rectangle 59"/>
            <p:cNvSpPr/>
            <p:nvPr/>
          </p:nvSpPr>
          <p:spPr>
            <a:xfrm>
              <a:off x="10287000" y="3593591"/>
              <a:ext cx="438912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10351008" y="3585303"/>
              <a:ext cx="310896" cy="309187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15.69%</a:t>
              </a:r>
            </a:p>
          </p:txBody>
        </p:sp>
        <p:sp>
          <p:nvSpPr>
            <p:cNvPr id="62" name="Rounded Rectangle 61"/>
            <p:cNvSpPr/>
            <p:nvPr/>
          </p:nvSpPr>
          <p:spPr>
            <a:xfrm>
              <a:off x="10917936" y="3602736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63" name="Oval 62"/>
            <p:cNvSpPr/>
            <p:nvPr/>
          </p:nvSpPr>
          <p:spPr>
            <a:xfrm>
              <a:off x="11027664" y="3689604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11192256" y="3664940"/>
              <a:ext cx="546811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65" name="Rectangle 64"/>
            <p:cNvSpPr/>
            <p:nvPr/>
          </p:nvSpPr>
          <p:spPr>
            <a:xfrm>
              <a:off x="7315200" y="3945445"/>
              <a:ext cx="44348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7315200" y="4023360"/>
              <a:ext cx="4434840" cy="16658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6B7280"/>
                  </a:solidFill>
                  <a:latin typeface="Inter"/>
                </a:rPr>
                <a:t>Rate = repeats ÷ contacts of that reason. More repeats ≠ higher rate.</a:t>
              </a:r>
            </a:p>
          </p:txBody>
        </p:sp>
      </p:grpSp>
      <p:sp>
        <p:nvSpPr>
          <p:cNvPr id="67" name="TextBox 66"/>
          <p:cNvSpPr txBox="1"/>
          <p:nvPr/>
        </p:nvSpPr>
        <p:spPr>
          <a:xfrm>
            <a:off x="7222447" y="4415746"/>
            <a:ext cx="4434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dirty="0">
                <a:solidFill>
                  <a:srgbClr val="1A1A1A"/>
                </a:solidFill>
                <a:latin typeface="Inter"/>
              </a:rPr>
              <a:t>How this compares with QA and CSAT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0" y="4918091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7552944" y="4667717"/>
            <a:ext cx="4197096" cy="5755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Phantom Compliance (93%–98% QA):</a:t>
            </a:r>
            <a:r>
              <a:rPr lang="en-US" sz="1000" dirty="0"/>
              <a:t> High-recontact reasons consistently achieve near-perfect QA scores (93%–98%), proving that QA rubrics reward procedural compliance while ignoring customer resolution gaps.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7325032" y="5667288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7315200" y="6284473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7517611" y="6097107"/>
            <a:ext cx="4197096" cy="5755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Strategic Diagnostic:</a:t>
            </a:r>
            <a:r>
              <a:rPr lang="en-US" sz="1000" dirty="0"/>
              <a:t> High QA scores mask unresolved customer friction. When an agent follows process without delivering immediate resolution or clear timelines, customer dissatisfaction and repeat contact remain inevitable.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344729" y="4806777"/>
            <a:ext cx="5294671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dirty="0">
                <a:solidFill>
                  <a:srgbClr val="1A1A1A"/>
                </a:solidFill>
                <a:latin typeface="Inter"/>
              </a:rPr>
              <a:t>Where the volume sits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9773" y="5320412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617517" y="5224400"/>
            <a:ext cx="454388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/>
            <a:r>
              <a:rPr lang="en-US" sz="1000" b="1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Single Point Volumetric Driver:</a:t>
            </a:r>
            <a:r>
              <a:rPr lang="en-US" sz="1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 </a:t>
            </a:r>
            <a:r>
              <a:rPr lang="en-US" sz="1000" i="1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"Order status / delay information"</a:t>
            </a:r>
            <a:r>
              <a:rPr lang="en-US" sz="1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 generates </a:t>
            </a:r>
            <a:r>
              <a:rPr lang="en-US" sz="1000" b="1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13,014 repeat cases alone (22.4% of total repeats)</a:t>
            </a:r>
            <a:r>
              <a:rPr lang="en-US" sz="1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 across 76,911 interactions.</a:t>
            </a:r>
            <a:endParaRPr lang="es-CO" sz="1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385393" y="5865451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17517" y="5676169"/>
            <a:ext cx="5804681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Top 3 Concentration (47.0%):</a:t>
            </a:r>
            <a:r>
              <a:rPr lang="en-US" sz="10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Combined with </a:t>
            </a:r>
            <a:r>
              <a:rPr lang="en-US" sz="1000" i="1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"Order status &amp; delays"</a:t>
            </a:r>
            <a:r>
              <a:rPr lang="en-US" sz="10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(7,680) and </a:t>
            </a:r>
            <a:r>
              <a:rPr lang="en-US" sz="1000" i="1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"Disagrees with cancellation charge"</a:t>
            </a:r>
            <a:r>
              <a:rPr lang="en-US" sz="10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(6,595), just 3 reasons account for </a:t>
            </a:r>
            <a:r>
              <a:rPr lang="en-US" sz="1000" b="1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27,289 repeat contacts</a:t>
            </a:r>
            <a:r>
              <a:rPr lang="en-US" sz="10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.</a:t>
            </a:r>
            <a:endParaRPr sz="100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83" name="CuadroTexto 82">
            <a:extLst>
              <a:ext uri="{FF2B5EF4-FFF2-40B4-BE49-F238E27FC236}">
                <a16:creationId xmlns:a16="http://schemas.microsoft.com/office/drawing/2014/main" id="{101E0065-4BCF-22A0-3FD3-15A401152D4D}"/>
              </a:ext>
            </a:extLst>
          </p:cNvPr>
          <p:cNvSpPr txBox="1"/>
          <p:nvPr/>
        </p:nvSpPr>
        <p:spPr>
          <a:xfrm>
            <a:off x="498645" y="6134895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/>
              <a:t>80/20 Rule Validation:</a:t>
            </a:r>
            <a:r>
              <a:rPr lang="en-US" sz="1000" dirty="0"/>
              <a:t> Expanding the scope to </a:t>
            </a:r>
            <a:r>
              <a:rPr lang="en-US" sz="1000" b="1" dirty="0"/>
              <a:t>6 contact reasons accounts for 81.0% of total recontact volume</a:t>
            </a:r>
            <a:r>
              <a:rPr lang="en-US" sz="1000" dirty="0"/>
              <a:t>, defining the exact operational scope needed to restore FCR (First Contact Resolution).</a:t>
            </a:r>
          </a:p>
        </p:txBody>
      </p:sp>
      <p:sp>
        <p:nvSpPr>
          <p:cNvPr id="84" name="Rectangle 76">
            <a:extLst>
              <a:ext uri="{FF2B5EF4-FFF2-40B4-BE49-F238E27FC236}">
                <a16:creationId xmlns:a16="http://schemas.microsoft.com/office/drawing/2014/main" id="{84B710ED-E0DA-9186-EC5D-CB320CFB39F2}"/>
              </a:ext>
            </a:extLst>
          </p:cNvPr>
          <p:cNvSpPr/>
          <p:nvPr/>
        </p:nvSpPr>
        <p:spPr>
          <a:xfrm>
            <a:off x="379773" y="6309347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4">
            <a:extLst>
              <a:ext uri="{FF2B5EF4-FFF2-40B4-BE49-F238E27FC236}">
                <a16:creationId xmlns:a16="http://schemas.microsoft.com/office/drawing/2014/main" id="{FA0FDF96-747E-B8BE-842F-EF64CC9BA6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43904" y="5398154"/>
            <a:ext cx="4270803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CSAT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Collapse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Alignment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High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recontact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directly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mirrors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severe CSAT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failure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—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notably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in 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"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Order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Status"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64.7% CSAT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and 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"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Refund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Status"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67.0% CSAT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89" name="Rectángulo 88">
            <a:extLst>
              <a:ext uri="{FF2B5EF4-FFF2-40B4-BE49-F238E27FC236}">
                <a16:creationId xmlns:a16="http://schemas.microsoft.com/office/drawing/2014/main" id="{D54A2713-6ABB-4017-F158-2C319E731604}"/>
              </a:ext>
            </a:extLst>
          </p:cNvPr>
          <p:cNvSpPr/>
          <p:nvPr/>
        </p:nvSpPr>
        <p:spPr>
          <a:xfrm>
            <a:off x="6774426" y="1265880"/>
            <a:ext cx="5134110" cy="5489041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2148840"/>
            <a:ext cx="27432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400" b="1">
                <a:solidFill>
                  <a:srgbClr val="FF6600"/>
                </a:solidFill>
                <a:latin typeface="Inter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46120"/>
            <a:ext cx="8686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nter"/>
              </a:rPr>
              <a:t>People: where coaching should focus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3931920"/>
            <a:ext cx="914400" cy="32004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4187952"/>
            <a:ext cx="7863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C9CCD1"/>
                </a:solidFill>
                <a:latin typeface="Inter"/>
              </a:rPr>
              <a:t>Which agents sit outside the pack. Which teams carry the coaching load.</a:t>
            </a:r>
          </a:p>
        </p:txBody>
      </p:sp>
      <p:pic>
        <p:nvPicPr>
          <p:cNvPr id="8" name="Picture 7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5806440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14455" y="5806440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23 / 35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Who needs attention: agent quartiles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158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950" b="0" dirty="0">
                <a:solidFill>
                  <a:srgbClr val="9CA3AF"/>
                </a:solidFill>
                <a:latin typeface="Inter"/>
              </a:rPr>
              <a:t>Comparative variance analysis: Metric score-ceiling saturation vs. operational performance dispersion (171 QA-audited / 304 CSAT-evaluated agents).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24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pic>
        <p:nvPicPr>
          <p:cNvPr id="11" name="Picture 10" descr="quarti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27230"/>
            <a:ext cx="6203569" cy="273650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TextBox 11"/>
          <p:cNvSpPr txBox="1"/>
          <p:nvPr/>
        </p:nvSpPr>
        <p:spPr>
          <a:xfrm>
            <a:off x="7872984" y="1041824"/>
            <a:ext cx="484632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050" b="1" dirty="0">
                <a:solidFill>
                  <a:srgbClr val="1A1A1A"/>
                </a:solidFill>
                <a:latin typeface="Inter"/>
              </a:rPr>
              <a:t>High-Liability Outliers: Priority Coaching Matrix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grpSp>
        <p:nvGrpSpPr>
          <p:cNvPr id="70" name="Grupo 69">
            <a:extLst>
              <a:ext uri="{FF2B5EF4-FFF2-40B4-BE49-F238E27FC236}">
                <a16:creationId xmlns:a16="http://schemas.microsoft.com/office/drawing/2014/main" id="{60601FC4-5CE9-FCC7-E0D2-8E7BCDE2DDCF}"/>
              </a:ext>
            </a:extLst>
          </p:cNvPr>
          <p:cNvGrpSpPr/>
          <p:nvPr/>
        </p:nvGrpSpPr>
        <p:grpSpPr>
          <a:xfrm>
            <a:off x="7013448" y="1245040"/>
            <a:ext cx="4206240" cy="2437066"/>
            <a:chOff x="6903720" y="1517904"/>
            <a:chExt cx="4206240" cy="2437066"/>
          </a:xfrm>
        </p:grpSpPr>
        <p:sp>
          <p:nvSpPr>
            <p:cNvPr id="13" name="Rectangle 12"/>
            <p:cNvSpPr/>
            <p:nvPr/>
          </p:nvSpPr>
          <p:spPr>
            <a:xfrm>
              <a:off x="6903720" y="1517904"/>
              <a:ext cx="4206240" cy="329184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031736" y="1599205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Agent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991856" y="1599205"/>
              <a:ext cx="2926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QA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540495" y="1599205"/>
              <a:ext cx="438913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Audits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107424" y="1599205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Team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0067544" y="1599205"/>
              <a:ext cx="9144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Coaching priority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031736" y="1974109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Agent 228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7927848" y="1911095"/>
              <a:ext cx="420623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7991856" y="1974109"/>
              <a:ext cx="2926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36.0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8540496" y="1974109"/>
              <a:ext cx="310896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5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9107424" y="1974109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S13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067544" y="1974109"/>
              <a:ext cx="9144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245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903720" y="2262949"/>
              <a:ext cx="42062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903720" y="2267712"/>
              <a:ext cx="4206240" cy="42062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7031736" y="2394733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Agent 21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7927848" y="2331720"/>
              <a:ext cx="420623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7991856" y="2394733"/>
              <a:ext cx="2926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61.7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8540496" y="2394733"/>
              <a:ext cx="310896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6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9107424" y="2394733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S9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0067544" y="2394733"/>
              <a:ext cx="9144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140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6903720" y="2683573"/>
              <a:ext cx="42062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7031736" y="2815357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Agent 135</a:t>
              </a:r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7927848" y="2752344"/>
              <a:ext cx="420623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7991856" y="2815357"/>
              <a:ext cx="2926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66.7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8540496" y="2815357"/>
              <a:ext cx="310896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6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9107424" y="2815357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S12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10067544" y="2815357"/>
              <a:ext cx="9144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110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6903720" y="3104197"/>
              <a:ext cx="42062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6903720" y="3108960"/>
              <a:ext cx="4206240" cy="42062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7031736" y="3235981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Agent 44</a:t>
              </a:r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7927848" y="3172968"/>
              <a:ext cx="420623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7991856" y="3235981"/>
              <a:ext cx="2926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71.4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8540496" y="3235981"/>
              <a:ext cx="310896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7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9107424" y="3235981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S7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10067544" y="3235981"/>
              <a:ext cx="9144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95</a:t>
              </a: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6903720" y="3524821"/>
              <a:ext cx="42062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7031736" y="3656605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Agent 171</a:t>
              </a:r>
            </a:p>
          </p:txBody>
        </p:sp>
        <p:sp>
          <p:nvSpPr>
            <p:cNvPr id="50" name="Rounded Rectangle 49"/>
            <p:cNvSpPr/>
            <p:nvPr/>
          </p:nvSpPr>
          <p:spPr>
            <a:xfrm>
              <a:off x="7927848" y="3593591"/>
              <a:ext cx="420623" cy="292608"/>
            </a:xfrm>
            <a:prstGeom prst="roundRect">
              <a:avLst>
                <a:gd name="adj" fmla="val 15625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7991856" y="3656605"/>
              <a:ext cx="2926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59E0B"/>
                  </a:solidFill>
                  <a:latin typeface="Inter"/>
                </a:rPr>
                <a:t>80.0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8540496" y="3656605"/>
              <a:ext cx="310896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17</a:t>
              </a: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9107424" y="3656605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S20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10067544" y="3656605"/>
              <a:ext cx="9144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85</a:t>
              </a: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6903720" y="3945445"/>
              <a:ext cx="42062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</p:grpSp>
      <p:sp>
        <p:nvSpPr>
          <p:cNvPr id="56" name="TextBox 55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     ·     Coaching priority = (85 − QA) × audits, summed. Higher = coach this team/agent first. It weights a real sample, not a one-off.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03720" y="4187952"/>
            <a:ext cx="484632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1050" b="1" dirty="0" err="1"/>
              <a:t>Targeted</a:t>
            </a:r>
            <a:r>
              <a:rPr lang="es-CO" sz="1050" b="1" dirty="0"/>
              <a:t> Coaching </a:t>
            </a:r>
            <a:r>
              <a:rPr lang="es-CO" sz="1050" b="1" dirty="0" err="1"/>
              <a:t>Allocation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457200" y="4206240"/>
            <a:ext cx="6327648" cy="2121408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457200" y="4206240"/>
            <a:ext cx="164592" cy="21214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726948" y="4301761"/>
            <a:ext cx="5788152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200" b="1" dirty="0">
                <a:solidFill>
                  <a:srgbClr val="1A1A1A"/>
                </a:solidFill>
                <a:latin typeface="Inter"/>
              </a:rPr>
              <a:t>Metric Ceiling Compression: QA Homogeneity vs. CSAT Dispersion</a:t>
            </a:r>
            <a:endParaRPr sz="120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71" name="Rectangle 1">
            <a:extLst>
              <a:ext uri="{FF2B5EF4-FFF2-40B4-BE49-F238E27FC236}">
                <a16:creationId xmlns:a16="http://schemas.microsoft.com/office/drawing/2014/main" id="{87457F9B-E1AC-5905-60B4-E13466F2AB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4793" y="4698452"/>
            <a:ext cx="5915975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Score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Ceiling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Saturation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(88%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Ceiling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75%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of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floor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(Q1–Q3) scores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between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94.9 and 99.9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QA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driven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rubric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leniency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where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88%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of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Chat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audits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hit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maximum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score (100)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Severe CSAT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Dispersion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(27.1% – 96.9%):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While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QA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appears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uniformly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compliant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CSAT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exposes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massive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execution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gaps.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Q1 (89.3%)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meets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85.0% CSAT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goal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;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Q2, Q3, and Q4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all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fail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target (64.4%–82.1%)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Diagnostic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Invalidation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QA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fails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as a performance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discriminator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Ranking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agents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QA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masks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real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underperformance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that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CSAT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clearly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isolates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sp>
        <p:nvSpPr>
          <p:cNvPr id="73" name="Rectangle 3">
            <a:extLst>
              <a:ext uri="{FF2B5EF4-FFF2-40B4-BE49-F238E27FC236}">
                <a16:creationId xmlns:a16="http://schemas.microsoft.com/office/drawing/2014/main" id="{49295FE6-438A-8D62-7868-8880B304BE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40438" y="4406294"/>
            <a:ext cx="4662359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High-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Concentration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QA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Liability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26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agents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fail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85.0 QA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goal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Concentrating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coaching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top 5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outliers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resolves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55%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of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total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floor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coaching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liability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(led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228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with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priority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score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of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245).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Cohort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Disconnect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(QA vs. CSAT):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QA Q4 (42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agents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82.4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avg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 and CSAT Q4 (76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agents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64.4%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avg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comprise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mostly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different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individuals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proving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compliance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coaching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will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automatically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solve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customer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dissatisfaction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Tenure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Degradation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Risk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(&gt;1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Year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Tenure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Agents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with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&gt;1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year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tenure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represent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worst-performing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cohort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across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both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metrics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—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registering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group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below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QA target (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83.97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 and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lowest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CSAT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average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74.1%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signaling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procedural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drift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burnout.</a:t>
            </a:r>
          </a:p>
        </p:txBody>
      </p:sp>
      <p:sp>
        <p:nvSpPr>
          <p:cNvPr id="75" name="CuadroTexto 74">
            <a:extLst>
              <a:ext uri="{FF2B5EF4-FFF2-40B4-BE49-F238E27FC236}">
                <a16:creationId xmlns:a16="http://schemas.microsoft.com/office/drawing/2014/main" id="{9772475C-47AB-103A-6E22-6EBB3DEFF139}"/>
              </a:ext>
            </a:extLst>
          </p:cNvPr>
          <p:cNvSpPr txBox="1"/>
          <p:nvPr/>
        </p:nvSpPr>
        <p:spPr>
          <a:xfrm>
            <a:off x="7099554" y="3759639"/>
            <a:ext cx="45221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/>
              <a:t>Coaching Priority Formula: (Target 85 – QA </a:t>
            </a:r>
            <a:r>
              <a:rPr lang="en-US" sz="900" dirty="0" err="1"/>
              <a:t>Scor</a:t>
            </a:r>
            <a:r>
              <a:rPr lang="en-US" sz="900" dirty="0"/>
              <a:t>) x Audits. Prioritizes high-volume operational liability </a:t>
            </a:r>
          </a:p>
        </p:txBody>
      </p:sp>
      <p:sp>
        <p:nvSpPr>
          <p:cNvPr id="76" name="Rectángulo 75">
            <a:extLst>
              <a:ext uri="{FF2B5EF4-FFF2-40B4-BE49-F238E27FC236}">
                <a16:creationId xmlns:a16="http://schemas.microsoft.com/office/drawing/2014/main" id="{2E3E2A11-3432-B805-637F-47069B660C84}"/>
              </a:ext>
            </a:extLst>
          </p:cNvPr>
          <p:cNvSpPr/>
          <p:nvPr/>
        </p:nvSpPr>
        <p:spPr>
          <a:xfrm>
            <a:off x="6819014" y="990353"/>
            <a:ext cx="5089522" cy="5442452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Who needs attention: supervisor 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158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950" b="0" dirty="0">
                <a:solidFill>
                  <a:srgbClr val="9CA3AF"/>
                </a:solidFill>
                <a:latin typeface="Inter"/>
              </a:rPr>
              <a:t>Supervisor team matrix (31 supervisors / 20+ audits threshold): Compliance vs. CSAT execution disconnect and localized team risk.</a:t>
            </a:r>
            <a:endParaRPr sz="950" b="0" dirty="0">
              <a:solidFill>
                <a:srgbClr val="9CA3AF"/>
              </a:solidFill>
              <a:latin typeface="Inte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25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pic>
        <p:nvPicPr>
          <p:cNvPr id="11" name="Picture 10" descr="supervisor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16" y="1147572"/>
            <a:ext cx="5293353" cy="3429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TextBox 11"/>
          <p:cNvSpPr txBox="1"/>
          <p:nvPr/>
        </p:nvSpPr>
        <p:spPr>
          <a:xfrm>
            <a:off x="6629400" y="1207008"/>
            <a:ext cx="512064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050" b="1" dirty="0">
                <a:solidFill>
                  <a:srgbClr val="1A1A1A"/>
                </a:solidFill>
                <a:latin typeface="Inter"/>
              </a:rPr>
              <a:t>Supervisor Quadrant Analysis &amp; Structural Team Clustering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grpSp>
        <p:nvGrpSpPr>
          <p:cNvPr id="70" name="Grupo 69">
            <a:extLst>
              <a:ext uri="{FF2B5EF4-FFF2-40B4-BE49-F238E27FC236}">
                <a16:creationId xmlns:a16="http://schemas.microsoft.com/office/drawing/2014/main" id="{A9DBA0FB-CAC2-AFBD-CC5A-C7DC3593A26E}"/>
              </a:ext>
            </a:extLst>
          </p:cNvPr>
          <p:cNvGrpSpPr/>
          <p:nvPr/>
        </p:nvGrpSpPr>
        <p:grpSpPr>
          <a:xfrm>
            <a:off x="6629400" y="1502126"/>
            <a:ext cx="5029200" cy="2452844"/>
            <a:chOff x="6629400" y="1502126"/>
            <a:chExt cx="5029200" cy="2452844"/>
          </a:xfrm>
        </p:grpSpPr>
        <p:sp>
          <p:nvSpPr>
            <p:cNvPr id="13" name="Rectangle 12"/>
            <p:cNvSpPr/>
            <p:nvPr/>
          </p:nvSpPr>
          <p:spPr>
            <a:xfrm>
              <a:off x="6629400" y="1517904"/>
              <a:ext cx="5029200" cy="329184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757416" y="1595036"/>
              <a:ext cx="70408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Team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717536" y="1595036"/>
              <a:ext cx="104241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Below QA 85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015984" y="1595036"/>
              <a:ext cx="384047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Audits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656064" y="1595036"/>
              <a:ext cx="70408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Worst QA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0616184" y="1502126"/>
              <a:ext cx="914400" cy="3607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Coaching priority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757416" y="1969940"/>
              <a:ext cx="70408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A1A1A"/>
                  </a:solidFill>
                  <a:latin typeface="Inter"/>
                </a:rPr>
                <a:t>S13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7717536" y="1969940"/>
              <a:ext cx="104241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3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9015984" y="1969940"/>
              <a:ext cx="384047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22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9592056" y="1911095"/>
              <a:ext cx="83210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9656064" y="1969940"/>
              <a:ext cx="70408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36.0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616184" y="1969940"/>
              <a:ext cx="91440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280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629400" y="2262949"/>
              <a:ext cx="502920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629400" y="2267712"/>
              <a:ext cx="5029200" cy="42062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6757416" y="2390564"/>
              <a:ext cx="70408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A1A1A"/>
                  </a:solidFill>
                  <a:latin typeface="Inter"/>
                </a:rPr>
                <a:t>S9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7717536" y="2390564"/>
              <a:ext cx="104241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3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9015984" y="2390564"/>
              <a:ext cx="384047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16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9592056" y="2331720"/>
              <a:ext cx="83210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9656064" y="2390564"/>
              <a:ext cx="70408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61.7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0616184" y="2390564"/>
              <a:ext cx="91440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220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6629400" y="2683573"/>
              <a:ext cx="502920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6757416" y="2811188"/>
              <a:ext cx="70408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A1A1A"/>
                  </a:solidFill>
                  <a:latin typeface="Inter"/>
                </a:rPr>
                <a:t>S20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7717536" y="2811188"/>
              <a:ext cx="104241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2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9015984" y="2811188"/>
              <a:ext cx="384047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28</a:t>
              </a:r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9592056" y="2752344"/>
              <a:ext cx="83210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9656064" y="2811188"/>
              <a:ext cx="70408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79.1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10616184" y="2811188"/>
              <a:ext cx="91440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150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6629400" y="3104197"/>
              <a:ext cx="502920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6629400" y="3108960"/>
              <a:ext cx="5029200" cy="42062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6757416" y="3231812"/>
              <a:ext cx="70408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A1A1A"/>
                  </a:solidFill>
                  <a:latin typeface="Inter"/>
                </a:rPr>
                <a:t>S7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7717536" y="3231812"/>
              <a:ext cx="104241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4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9015984" y="3231812"/>
              <a:ext cx="384047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23</a:t>
              </a:r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9592056" y="3172968"/>
              <a:ext cx="83210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9656064" y="3231812"/>
              <a:ext cx="70408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71.4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10616184" y="3231812"/>
              <a:ext cx="91440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145</a:t>
              </a: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6629400" y="3524821"/>
              <a:ext cx="502920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6757416" y="3652436"/>
              <a:ext cx="70408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A1A1A"/>
                  </a:solidFill>
                  <a:latin typeface="Inter"/>
                </a:rPr>
                <a:t>S12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7717536" y="3652436"/>
              <a:ext cx="104241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2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9015984" y="3652436"/>
              <a:ext cx="384047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12</a:t>
              </a:r>
            </a:p>
          </p:txBody>
        </p:sp>
        <p:sp>
          <p:nvSpPr>
            <p:cNvPr id="52" name="Rounded Rectangle 51"/>
            <p:cNvSpPr/>
            <p:nvPr/>
          </p:nvSpPr>
          <p:spPr>
            <a:xfrm>
              <a:off x="9592056" y="3593591"/>
              <a:ext cx="83210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9656064" y="3652436"/>
              <a:ext cx="70408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66.7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10616184" y="3652436"/>
              <a:ext cx="91440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120</a:t>
              </a: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6629400" y="3945445"/>
              <a:ext cx="502920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</p:grpSp>
      <p:sp>
        <p:nvSpPr>
          <p:cNvPr id="56" name="TextBox 55"/>
          <p:cNvSpPr txBox="1"/>
          <p:nvPr/>
        </p:nvSpPr>
        <p:spPr>
          <a:xfrm>
            <a:off x="6629400" y="4187952"/>
            <a:ext cx="51206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dirty="0">
                <a:solidFill>
                  <a:srgbClr val="1A1A1A"/>
                </a:solidFill>
                <a:latin typeface="Inter"/>
              </a:rPr>
              <a:t>What the team view shows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98363" y="4835473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6638927" y="5323352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6629400" y="5860193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457200" y="4736592"/>
            <a:ext cx="5989320" cy="1696212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457200" y="4736592"/>
            <a:ext cx="157276" cy="1696212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768096" y="4919472"/>
            <a:ext cx="5422392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200" b="1" dirty="0"/>
              <a:t>Single-Agent Systemic Risk: Critical QA Audit Blindspot (Agent 212)</a:t>
            </a:r>
            <a:endParaRPr sz="11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69" name="Rectangle 1">
            <a:extLst>
              <a:ext uri="{FF2B5EF4-FFF2-40B4-BE49-F238E27FC236}">
                <a16:creationId xmlns:a16="http://schemas.microsoft.com/office/drawing/2014/main" id="{FB8A9891-22CA-D5E8-B786-240794CF91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4476" y="5205573"/>
            <a:ext cx="5700822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Outlier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Impact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(2.7%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Floor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Dissatisfaction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):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Agent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212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recorded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a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27.1% CSAT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across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564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surveys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accumulating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411 detractor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customers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.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This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single individual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accounts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for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2.7%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of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all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dissatisfied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customers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in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the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entire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monthly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operation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QA Audit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Failure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Standard QA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sampling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failed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to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flag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this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agent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a single time,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proving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current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QA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audit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selection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mechanisms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are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completely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disconnected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from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customer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sentiment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.</a:t>
            </a:r>
          </a:p>
        </p:txBody>
      </p:sp>
      <p:sp>
        <p:nvSpPr>
          <p:cNvPr id="71" name="Rectangle 2">
            <a:extLst>
              <a:ext uri="{FF2B5EF4-FFF2-40B4-BE49-F238E27FC236}">
                <a16:creationId xmlns:a16="http://schemas.microsoft.com/office/drawing/2014/main" id="{A66C767C-14F9-AA04-9A04-CBB1F9E51C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02222" y="4657113"/>
            <a:ext cx="5120640" cy="16312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Asymmetric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Pass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Rate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(15 vs. 1):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15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out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of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16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qualified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supervisor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teams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pass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85.0 QA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threshold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yet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only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1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team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(S10)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achieves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85.0% CSAT target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High QA /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Worst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CSAT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Friction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Team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S11):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Supervisor 11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passes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QA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with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90.7 score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yet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generates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worst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CSAT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floor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at 71.0%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across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4,243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surveys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proving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team-level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compliance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management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does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translate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customer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satisfaction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Concentrated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Team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Liability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5 supervisor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teams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account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for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14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of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26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underperforming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agents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(53.8%)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Supervisor 7 has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43%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of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its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ranked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agents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in Q4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indicating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structural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leadership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/coaching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failures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rather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than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isolated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error.</a:t>
            </a:r>
          </a:p>
        </p:txBody>
      </p:sp>
      <p:sp>
        <p:nvSpPr>
          <p:cNvPr id="72" name="Rectángulo 71">
            <a:extLst>
              <a:ext uri="{FF2B5EF4-FFF2-40B4-BE49-F238E27FC236}">
                <a16:creationId xmlns:a16="http://schemas.microsoft.com/office/drawing/2014/main" id="{A3355FD9-D1AB-E0C6-8365-5ACBD2899D9F}"/>
              </a:ext>
            </a:extLst>
          </p:cNvPr>
          <p:cNvSpPr/>
          <p:nvPr/>
        </p:nvSpPr>
        <p:spPr>
          <a:xfrm>
            <a:off x="6505966" y="972014"/>
            <a:ext cx="5416896" cy="5442452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2148840"/>
            <a:ext cx="27432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400" b="1">
                <a:solidFill>
                  <a:srgbClr val="FF6600"/>
                </a:solidFill>
                <a:latin typeface="Inter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46120"/>
            <a:ext cx="8686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nter"/>
              </a:rPr>
              <a:t>Combined analysis and root cause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3931920"/>
            <a:ext cx="914400" cy="32004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4187952"/>
            <a:ext cx="7863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C9CCD1"/>
                </a:solidFill>
                <a:latin typeface="Inter"/>
              </a:rPr>
              <a:t>Where QA, CSAT and recontact miss on the same contact reason. Then why.</a:t>
            </a:r>
          </a:p>
        </p:txBody>
      </p:sp>
      <p:pic>
        <p:nvPicPr>
          <p:cNvPr id="8" name="Picture 7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5806440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14455" y="5806440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26 / 35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upo 133">
            <a:extLst>
              <a:ext uri="{FF2B5EF4-FFF2-40B4-BE49-F238E27FC236}">
                <a16:creationId xmlns:a16="http://schemas.microsoft.com/office/drawing/2014/main" id="{92DD343C-ABA8-5FCF-2466-AA73F06FCCF3}"/>
              </a:ext>
            </a:extLst>
          </p:cNvPr>
          <p:cNvGrpSpPr/>
          <p:nvPr/>
        </p:nvGrpSpPr>
        <p:grpSpPr>
          <a:xfrm>
            <a:off x="7392924" y="4681727"/>
            <a:ext cx="4671480" cy="2025207"/>
            <a:chOff x="2935224" y="4055364"/>
            <a:chExt cx="6903720" cy="2001324"/>
          </a:xfrm>
        </p:grpSpPr>
        <p:sp>
          <p:nvSpPr>
            <p:cNvPr id="132" name="Rectangle 113">
              <a:extLst>
                <a:ext uri="{FF2B5EF4-FFF2-40B4-BE49-F238E27FC236}">
                  <a16:creationId xmlns:a16="http://schemas.microsoft.com/office/drawing/2014/main" id="{BB3286EC-E2EC-D904-0D2F-FE4E2AB2CFB6}"/>
                </a:ext>
              </a:extLst>
            </p:cNvPr>
            <p:cNvSpPr/>
            <p:nvPr/>
          </p:nvSpPr>
          <p:spPr>
            <a:xfrm>
              <a:off x="2935224" y="4055364"/>
              <a:ext cx="6903720" cy="2001324"/>
            </a:xfrm>
            <a:prstGeom prst="rect">
              <a:avLst/>
            </a:prstGeom>
            <a:solidFill>
              <a:srgbClr val="F4F5F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3" name="Rectangle 114">
              <a:extLst>
                <a:ext uri="{FF2B5EF4-FFF2-40B4-BE49-F238E27FC236}">
                  <a16:creationId xmlns:a16="http://schemas.microsoft.com/office/drawing/2014/main" id="{1305A96B-E8C2-1309-A087-AD517D62F581}"/>
                </a:ext>
              </a:extLst>
            </p:cNvPr>
            <p:cNvSpPr/>
            <p:nvPr/>
          </p:nvSpPr>
          <p:spPr>
            <a:xfrm>
              <a:off x="2935224" y="4055364"/>
              <a:ext cx="160020" cy="2001323"/>
            </a:xfrm>
            <a:prstGeom prst="rect">
              <a:avLst/>
            </a:prstGeom>
            <a:solidFill>
              <a:srgbClr val="FF66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Combined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Contact reasons that miss on more than one metric (blended Phone + Chat)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27 / 35</a:t>
            </a:r>
          </a:p>
        </p:txBody>
      </p:sp>
      <p:grpSp>
        <p:nvGrpSpPr>
          <p:cNvPr id="125" name="Grupo 124">
            <a:extLst>
              <a:ext uri="{FF2B5EF4-FFF2-40B4-BE49-F238E27FC236}">
                <a16:creationId xmlns:a16="http://schemas.microsoft.com/office/drawing/2014/main" id="{6ACBDB86-88B3-EB54-78F6-7546C68B4DD5}"/>
              </a:ext>
            </a:extLst>
          </p:cNvPr>
          <p:cNvGrpSpPr/>
          <p:nvPr/>
        </p:nvGrpSpPr>
        <p:grpSpPr>
          <a:xfrm>
            <a:off x="457200" y="1207008"/>
            <a:ext cx="11091672" cy="3132010"/>
            <a:chOff x="457200" y="1207008"/>
            <a:chExt cx="11091672" cy="3132010"/>
          </a:xfrm>
        </p:grpSpPr>
        <p:sp>
          <p:nvSpPr>
            <p:cNvPr id="11" name="Rectangle 10"/>
            <p:cNvSpPr/>
            <p:nvPr/>
          </p:nvSpPr>
          <p:spPr>
            <a:xfrm>
              <a:off x="457200" y="1207008"/>
              <a:ext cx="11091672" cy="384048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85216" y="1311573"/>
              <a:ext cx="26243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Contact reason (CR Lv4)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465576" y="1311573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QA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032503" y="1311573"/>
              <a:ext cx="402334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 dirty="0">
                  <a:solidFill>
                    <a:srgbClr val="FFFFFF"/>
                  </a:solidFill>
                  <a:latin typeface="Inter"/>
                </a:rPr>
                <a:t>Audits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599431" y="1311573"/>
              <a:ext cx="40233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CSAT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257799" y="1311573"/>
              <a:ext cx="58521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Recontact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6099047" y="1218663"/>
              <a:ext cx="658368" cy="3607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Repeat volume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013447" y="1311573"/>
              <a:ext cx="45720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Surveys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726679" y="1311573"/>
              <a:ext cx="17099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Pattern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692640" y="1311573"/>
              <a:ext cx="172821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Priority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585216" y="1732197"/>
              <a:ext cx="26243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A1A1A"/>
                  </a:solidFill>
                  <a:latin typeface="Inter"/>
                </a:rPr>
                <a:t>Order status / delay information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3401568" y="1655064"/>
              <a:ext cx="438912" cy="329184"/>
            </a:xfrm>
            <a:prstGeom prst="roundRect">
              <a:avLst>
                <a:gd name="adj" fmla="val 13888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465576" y="1732197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6A34A"/>
                  </a:solidFill>
                  <a:latin typeface="Inter"/>
                </a:rPr>
                <a:t>95.6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032503" y="1732197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25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4535424" y="1655064"/>
              <a:ext cx="530352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599431" y="1732197"/>
              <a:ext cx="40233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67.8%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5193792" y="1655064"/>
              <a:ext cx="713232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257799" y="1732197"/>
              <a:ext cx="58521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16.92%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099047" y="1732197"/>
              <a:ext cx="65836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13,014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7013447" y="1732197"/>
              <a:ext cx="45720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9,918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7726679" y="1732197"/>
              <a:ext cx="17099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Low CSAT + High Recontact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9692640" y="1682496"/>
              <a:ext cx="1313078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33" name="Oval 32"/>
            <p:cNvSpPr/>
            <p:nvPr/>
          </p:nvSpPr>
          <p:spPr>
            <a:xfrm>
              <a:off x="9802368" y="1769364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9966960" y="1736365"/>
              <a:ext cx="1002182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Act this quarter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457200" y="2043493"/>
              <a:ext cx="1109167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457200" y="2048256"/>
              <a:ext cx="11091672" cy="457200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585216" y="2189397"/>
              <a:ext cx="26243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A1A1A"/>
                  </a:solidFill>
                  <a:latin typeface="Inter"/>
                </a:rPr>
                <a:t>order status &amp; delays</a:t>
              </a:r>
            </a:p>
          </p:txBody>
        </p:sp>
        <p:sp>
          <p:nvSpPr>
            <p:cNvPr id="38" name="Rounded Rectangle 37"/>
            <p:cNvSpPr/>
            <p:nvPr/>
          </p:nvSpPr>
          <p:spPr>
            <a:xfrm>
              <a:off x="3401568" y="2112264"/>
              <a:ext cx="438912" cy="329184"/>
            </a:xfrm>
            <a:prstGeom prst="roundRect">
              <a:avLst>
                <a:gd name="adj" fmla="val 13888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3465576" y="2189397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6A34A"/>
                  </a:solidFill>
                  <a:latin typeface="Inter"/>
                </a:rPr>
                <a:t>97.3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4032503" y="2189397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45</a:t>
              </a:r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4535424" y="2112264"/>
              <a:ext cx="530352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4599431" y="2189397"/>
              <a:ext cx="40233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64.7%</a:t>
              </a:r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5193792" y="2112264"/>
              <a:ext cx="713232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5257799" y="2189397"/>
              <a:ext cx="58521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19.34%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6099047" y="2189397"/>
              <a:ext cx="65836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7,680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7013447" y="2189397"/>
              <a:ext cx="45720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5,096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7726679" y="2189397"/>
              <a:ext cx="17099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Low CSAT + High Recontact</a:t>
              </a:r>
            </a:p>
          </p:txBody>
        </p:sp>
        <p:sp>
          <p:nvSpPr>
            <p:cNvPr id="48" name="Rounded Rectangle 47"/>
            <p:cNvSpPr/>
            <p:nvPr/>
          </p:nvSpPr>
          <p:spPr>
            <a:xfrm>
              <a:off x="9692640" y="2139696"/>
              <a:ext cx="1313078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49" name="Oval 48"/>
            <p:cNvSpPr/>
            <p:nvPr/>
          </p:nvSpPr>
          <p:spPr>
            <a:xfrm>
              <a:off x="9802368" y="2226564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9966960" y="2193565"/>
              <a:ext cx="1002182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Act this quarter</a:t>
              </a: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457200" y="2500693"/>
              <a:ext cx="1109167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585216" y="2646597"/>
              <a:ext cx="26243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A1A1A"/>
                  </a:solidFill>
                  <a:latin typeface="Inter"/>
                </a:rPr>
                <a:t>Disagrees with cancellation charge</a:t>
              </a:r>
            </a:p>
          </p:txBody>
        </p:sp>
        <p:sp>
          <p:nvSpPr>
            <p:cNvPr id="53" name="Rounded Rectangle 52"/>
            <p:cNvSpPr/>
            <p:nvPr/>
          </p:nvSpPr>
          <p:spPr>
            <a:xfrm>
              <a:off x="3401568" y="2569464"/>
              <a:ext cx="438912" cy="329184"/>
            </a:xfrm>
            <a:prstGeom prst="roundRect">
              <a:avLst>
                <a:gd name="adj" fmla="val 13888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3465576" y="2646597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6A34A"/>
                  </a:solidFill>
                  <a:latin typeface="Inter"/>
                </a:rPr>
                <a:t>91.4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4032503" y="2646597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59</a:t>
              </a:r>
            </a:p>
          </p:txBody>
        </p:sp>
        <p:sp>
          <p:nvSpPr>
            <p:cNvPr id="56" name="Rounded Rectangle 55"/>
            <p:cNvSpPr/>
            <p:nvPr/>
          </p:nvSpPr>
          <p:spPr>
            <a:xfrm>
              <a:off x="4535424" y="2569464"/>
              <a:ext cx="530352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4599431" y="2646597"/>
              <a:ext cx="40233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67.4%</a:t>
              </a:r>
            </a:p>
          </p:txBody>
        </p:sp>
        <p:sp>
          <p:nvSpPr>
            <p:cNvPr id="58" name="Rounded Rectangle 57"/>
            <p:cNvSpPr/>
            <p:nvPr/>
          </p:nvSpPr>
          <p:spPr>
            <a:xfrm>
              <a:off x="5193792" y="2569464"/>
              <a:ext cx="713232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5257799" y="2646597"/>
              <a:ext cx="58521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12.96%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6099047" y="2646597"/>
              <a:ext cx="65836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6,599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7013447" y="2646597"/>
              <a:ext cx="45720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5,992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7726679" y="2646597"/>
              <a:ext cx="17099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Low CSAT + High Recontact</a:t>
              </a:r>
            </a:p>
          </p:txBody>
        </p:sp>
        <p:sp>
          <p:nvSpPr>
            <p:cNvPr id="63" name="Rounded Rectangle 62"/>
            <p:cNvSpPr/>
            <p:nvPr/>
          </p:nvSpPr>
          <p:spPr>
            <a:xfrm>
              <a:off x="9692640" y="2596896"/>
              <a:ext cx="1313078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64" name="Oval 63"/>
            <p:cNvSpPr/>
            <p:nvPr/>
          </p:nvSpPr>
          <p:spPr>
            <a:xfrm>
              <a:off x="9802368" y="2683764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9966960" y="2650765"/>
              <a:ext cx="1002182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Act this quarter</a:t>
              </a:r>
            </a:p>
          </p:txBody>
        </p:sp>
        <p:sp>
          <p:nvSpPr>
            <p:cNvPr id="66" name="Rectangle 65"/>
            <p:cNvSpPr/>
            <p:nvPr/>
          </p:nvSpPr>
          <p:spPr>
            <a:xfrm>
              <a:off x="457200" y="2957893"/>
              <a:ext cx="1109167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67" name="Rectangle 66"/>
            <p:cNvSpPr/>
            <p:nvPr/>
          </p:nvSpPr>
          <p:spPr>
            <a:xfrm>
              <a:off x="457200" y="2962656"/>
              <a:ext cx="11091672" cy="457200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585216" y="3103797"/>
              <a:ext cx="26243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A1A1A"/>
                  </a:solidFill>
                  <a:latin typeface="Inter"/>
                </a:rPr>
                <a:t>Refund status and conditions</a:t>
              </a:r>
            </a:p>
          </p:txBody>
        </p:sp>
        <p:sp>
          <p:nvSpPr>
            <p:cNvPr id="69" name="Rounded Rectangle 68"/>
            <p:cNvSpPr/>
            <p:nvPr/>
          </p:nvSpPr>
          <p:spPr>
            <a:xfrm>
              <a:off x="3401568" y="3026664"/>
              <a:ext cx="438912" cy="329184"/>
            </a:xfrm>
            <a:prstGeom prst="roundRect">
              <a:avLst>
                <a:gd name="adj" fmla="val 13888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3465576" y="3103797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6A34A"/>
                  </a:solidFill>
                  <a:latin typeface="Inter"/>
                </a:rPr>
                <a:t>90.6</a:t>
              </a:r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4032503" y="3103797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70</a:t>
              </a:r>
            </a:p>
          </p:txBody>
        </p:sp>
        <p:sp>
          <p:nvSpPr>
            <p:cNvPr id="72" name="Rounded Rectangle 71"/>
            <p:cNvSpPr/>
            <p:nvPr/>
          </p:nvSpPr>
          <p:spPr>
            <a:xfrm>
              <a:off x="4535424" y="3026664"/>
              <a:ext cx="530352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4599431" y="3103797"/>
              <a:ext cx="40233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67.0%</a:t>
              </a:r>
            </a:p>
          </p:txBody>
        </p:sp>
        <p:sp>
          <p:nvSpPr>
            <p:cNvPr id="74" name="Rounded Rectangle 73"/>
            <p:cNvSpPr/>
            <p:nvPr/>
          </p:nvSpPr>
          <p:spPr>
            <a:xfrm>
              <a:off x="5193792" y="3026664"/>
              <a:ext cx="713232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5257799" y="3103797"/>
              <a:ext cx="58521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15.69%</a:t>
              </a:r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6099047" y="3103797"/>
              <a:ext cx="65836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2,901</a:t>
              </a:r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7013447" y="3103797"/>
              <a:ext cx="45720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3,582</a:t>
              </a:r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7726679" y="3103797"/>
              <a:ext cx="17099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Low CSAT + High Recontact</a:t>
              </a:r>
            </a:p>
          </p:txBody>
        </p:sp>
        <p:sp>
          <p:nvSpPr>
            <p:cNvPr id="79" name="Rounded Rectangle 78"/>
            <p:cNvSpPr/>
            <p:nvPr/>
          </p:nvSpPr>
          <p:spPr>
            <a:xfrm>
              <a:off x="9692640" y="3054096"/>
              <a:ext cx="1313078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80" name="Oval 79"/>
            <p:cNvSpPr/>
            <p:nvPr/>
          </p:nvSpPr>
          <p:spPr>
            <a:xfrm>
              <a:off x="9802368" y="3140964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9966960" y="3107965"/>
              <a:ext cx="1002182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Act this quarter</a:t>
              </a:r>
            </a:p>
          </p:txBody>
        </p:sp>
        <p:sp>
          <p:nvSpPr>
            <p:cNvPr id="82" name="Rectangle 81"/>
            <p:cNvSpPr/>
            <p:nvPr/>
          </p:nvSpPr>
          <p:spPr>
            <a:xfrm>
              <a:off x="457200" y="3415093"/>
              <a:ext cx="1109167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585216" y="3560997"/>
              <a:ext cx="26243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A1A1A"/>
                  </a:solidFill>
                  <a:latin typeface="Inter"/>
                </a:rPr>
                <a:t>Cash order blocked (antifraud)</a:t>
              </a:r>
            </a:p>
          </p:txBody>
        </p:sp>
        <p:sp>
          <p:nvSpPr>
            <p:cNvPr id="84" name="Rounded Rectangle 83"/>
            <p:cNvSpPr/>
            <p:nvPr/>
          </p:nvSpPr>
          <p:spPr>
            <a:xfrm>
              <a:off x="3401568" y="3483864"/>
              <a:ext cx="438912" cy="329184"/>
            </a:xfrm>
            <a:prstGeom prst="roundRect">
              <a:avLst>
                <a:gd name="adj" fmla="val 13888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85" name="TextBox 84"/>
            <p:cNvSpPr txBox="1"/>
            <p:nvPr/>
          </p:nvSpPr>
          <p:spPr>
            <a:xfrm>
              <a:off x="3465576" y="3560997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6A34A"/>
                  </a:solidFill>
                  <a:latin typeface="Inter"/>
                </a:rPr>
                <a:t>93.6</a:t>
              </a:r>
            </a:p>
          </p:txBody>
        </p:sp>
        <p:sp>
          <p:nvSpPr>
            <p:cNvPr id="86" name="TextBox 85"/>
            <p:cNvSpPr txBox="1"/>
            <p:nvPr/>
          </p:nvSpPr>
          <p:spPr>
            <a:xfrm>
              <a:off x="4032503" y="3560997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58</a:t>
              </a:r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4599431" y="3560997"/>
              <a:ext cx="40233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n/a</a:t>
              </a:r>
            </a:p>
          </p:txBody>
        </p:sp>
        <p:sp>
          <p:nvSpPr>
            <p:cNvPr id="88" name="Rounded Rectangle 87"/>
            <p:cNvSpPr/>
            <p:nvPr/>
          </p:nvSpPr>
          <p:spPr>
            <a:xfrm>
              <a:off x="5193792" y="3483864"/>
              <a:ext cx="713232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89" name="TextBox 88"/>
            <p:cNvSpPr txBox="1"/>
            <p:nvPr/>
          </p:nvSpPr>
          <p:spPr>
            <a:xfrm>
              <a:off x="5257799" y="3560997"/>
              <a:ext cx="58521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24.40%</a:t>
              </a:r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6099047" y="3560997"/>
              <a:ext cx="65836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1,776</a:t>
              </a:r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7013447" y="3560997"/>
              <a:ext cx="45720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n/a</a:t>
              </a:r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7726679" y="3560997"/>
              <a:ext cx="17099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High Recontact</a:t>
              </a:r>
            </a:p>
          </p:txBody>
        </p:sp>
        <p:sp>
          <p:nvSpPr>
            <p:cNvPr id="93" name="Rounded Rectangle 92"/>
            <p:cNvSpPr/>
            <p:nvPr/>
          </p:nvSpPr>
          <p:spPr>
            <a:xfrm>
              <a:off x="9692640" y="3511296"/>
              <a:ext cx="800785" cy="274320"/>
            </a:xfrm>
            <a:prstGeom prst="roundRect">
              <a:avLst>
                <a:gd name="adj" fmla="val 50000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94" name="Oval 93"/>
            <p:cNvSpPr/>
            <p:nvPr/>
          </p:nvSpPr>
          <p:spPr>
            <a:xfrm>
              <a:off x="9802368" y="3598164"/>
              <a:ext cx="100584" cy="100584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9966960" y="3565165"/>
              <a:ext cx="489889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59E0B"/>
                  </a:solidFill>
                  <a:latin typeface="Inter"/>
                </a:rPr>
                <a:t>Monitor</a:t>
              </a:r>
            </a:p>
          </p:txBody>
        </p:sp>
        <p:sp>
          <p:nvSpPr>
            <p:cNvPr id="96" name="Rectangle 95"/>
            <p:cNvSpPr/>
            <p:nvPr/>
          </p:nvSpPr>
          <p:spPr>
            <a:xfrm>
              <a:off x="457200" y="3872293"/>
              <a:ext cx="1109167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97" name="Rectangle 96"/>
            <p:cNvSpPr/>
            <p:nvPr/>
          </p:nvSpPr>
          <p:spPr>
            <a:xfrm>
              <a:off x="457200" y="3877056"/>
              <a:ext cx="11091672" cy="457200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98" name="TextBox 97"/>
            <p:cNvSpPr txBox="1"/>
            <p:nvPr/>
          </p:nvSpPr>
          <p:spPr>
            <a:xfrm>
              <a:off x="585216" y="4018197"/>
              <a:ext cx="26243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A1A1A"/>
                  </a:solidFill>
                  <a:latin typeface="Inter"/>
                </a:rPr>
                <a:t>After-sales fraud review</a:t>
              </a:r>
            </a:p>
          </p:txBody>
        </p:sp>
        <p:sp>
          <p:nvSpPr>
            <p:cNvPr id="99" name="Rounded Rectangle 98"/>
            <p:cNvSpPr/>
            <p:nvPr/>
          </p:nvSpPr>
          <p:spPr>
            <a:xfrm>
              <a:off x="3401568" y="3941064"/>
              <a:ext cx="438912" cy="329184"/>
            </a:xfrm>
            <a:prstGeom prst="roundRect">
              <a:avLst>
                <a:gd name="adj" fmla="val 13888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100" name="TextBox 99"/>
            <p:cNvSpPr txBox="1"/>
            <p:nvPr/>
          </p:nvSpPr>
          <p:spPr>
            <a:xfrm>
              <a:off x="3465576" y="4018197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6A34A"/>
                  </a:solidFill>
                  <a:latin typeface="Inter"/>
                </a:rPr>
                <a:t>97.4</a:t>
              </a:r>
            </a:p>
          </p:txBody>
        </p:sp>
        <p:sp>
          <p:nvSpPr>
            <p:cNvPr id="101" name="TextBox 100"/>
            <p:cNvSpPr txBox="1"/>
            <p:nvPr/>
          </p:nvSpPr>
          <p:spPr>
            <a:xfrm>
              <a:off x="4032503" y="4018197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118</a:t>
              </a:r>
            </a:p>
          </p:txBody>
        </p:sp>
        <p:sp>
          <p:nvSpPr>
            <p:cNvPr id="102" name="Rounded Rectangle 101"/>
            <p:cNvSpPr/>
            <p:nvPr/>
          </p:nvSpPr>
          <p:spPr>
            <a:xfrm>
              <a:off x="4535424" y="3941064"/>
              <a:ext cx="530352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4599431" y="4018197"/>
              <a:ext cx="40233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6.1%</a:t>
              </a:r>
            </a:p>
          </p:txBody>
        </p:sp>
        <p:sp>
          <p:nvSpPr>
            <p:cNvPr id="104" name="Rounded Rectangle 103"/>
            <p:cNvSpPr/>
            <p:nvPr/>
          </p:nvSpPr>
          <p:spPr>
            <a:xfrm>
              <a:off x="5193792" y="3941064"/>
              <a:ext cx="713232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5257799" y="4018197"/>
              <a:ext cx="58521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28.45%</a:t>
              </a: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6099047" y="4018197"/>
              <a:ext cx="65836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895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7013447" y="4018197"/>
              <a:ext cx="45720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475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7726679" y="4018197"/>
              <a:ext cx="17099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Low CSAT + High Recontact</a:t>
              </a:r>
            </a:p>
          </p:txBody>
        </p:sp>
        <p:sp>
          <p:nvSpPr>
            <p:cNvPr id="109" name="Rounded Rectangle 108"/>
            <p:cNvSpPr/>
            <p:nvPr/>
          </p:nvSpPr>
          <p:spPr>
            <a:xfrm>
              <a:off x="9692640" y="3968496"/>
              <a:ext cx="800785" cy="274320"/>
            </a:xfrm>
            <a:prstGeom prst="roundRect">
              <a:avLst>
                <a:gd name="adj" fmla="val 50000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110" name="Oval 109"/>
            <p:cNvSpPr/>
            <p:nvPr/>
          </p:nvSpPr>
          <p:spPr>
            <a:xfrm>
              <a:off x="9802368" y="4055364"/>
              <a:ext cx="100584" cy="100584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111" name="TextBox 110"/>
            <p:cNvSpPr txBox="1"/>
            <p:nvPr/>
          </p:nvSpPr>
          <p:spPr>
            <a:xfrm>
              <a:off x="9966960" y="4022365"/>
              <a:ext cx="489889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59E0B"/>
                  </a:solidFill>
                  <a:latin typeface="Inter"/>
                </a:rPr>
                <a:t>Monitor</a:t>
              </a:r>
            </a:p>
          </p:txBody>
        </p:sp>
        <p:sp>
          <p:nvSpPr>
            <p:cNvPr id="112" name="Rectangle 111"/>
            <p:cNvSpPr/>
            <p:nvPr/>
          </p:nvSpPr>
          <p:spPr>
            <a:xfrm>
              <a:off x="457200" y="4329493"/>
              <a:ext cx="1109167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</p:grpSp>
      <p:sp>
        <p:nvSpPr>
          <p:cNvPr id="113" name="TextBox 112"/>
          <p:cNvSpPr txBox="1"/>
          <p:nvPr/>
        </p:nvSpPr>
        <p:spPr>
          <a:xfrm>
            <a:off x="457200" y="4425696"/>
            <a:ext cx="1127729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 dirty="0">
                <a:solidFill>
                  <a:srgbClr val="6B7280"/>
                </a:solidFill>
                <a:latin typeface="Inter"/>
              </a:rPr>
              <a:t>QA and CSAT columns are blended Phone + Chat. Refund status QA 90.6 is n=70 (Phone 76.4 n=25 + Chat 98.4 n=45): same contact reason, two casings in the source. Official overall QA still keeps the two attribute lists unmixed.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57200" y="4681727"/>
            <a:ext cx="6903720" cy="2001324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Rectangle 114"/>
          <p:cNvSpPr/>
          <p:nvPr/>
        </p:nvSpPr>
        <p:spPr>
          <a:xfrm>
            <a:off x="457200" y="4681727"/>
            <a:ext cx="160020" cy="200132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768096" y="4864608"/>
            <a:ext cx="633679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dirty="0">
                <a:solidFill>
                  <a:srgbClr val="1A1A1A"/>
                </a:solidFill>
                <a:latin typeface="Inter"/>
              </a:rPr>
              <a:t>The same pattern is visible in a single contact reason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991295" y="4689688"/>
            <a:ext cx="416052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1050" b="1" dirty="0"/>
              <a:t>Auditor </a:t>
            </a:r>
            <a:r>
              <a:rPr lang="es-CO" sz="1050" b="1" dirty="0" err="1"/>
              <a:t>Ownership</a:t>
            </a:r>
            <a:r>
              <a:rPr lang="es-CO" sz="1050" b="1" dirty="0"/>
              <a:t> </a:t>
            </a:r>
            <a:r>
              <a:rPr lang="es-CO" sz="1050" b="1" dirty="0" err="1"/>
              <a:t>Tagging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119" name="Rectangle 118"/>
          <p:cNvSpPr/>
          <p:nvPr/>
        </p:nvSpPr>
        <p:spPr>
          <a:xfrm>
            <a:off x="7530084" y="5136764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ectangle 120"/>
          <p:cNvSpPr/>
          <p:nvPr/>
        </p:nvSpPr>
        <p:spPr>
          <a:xfrm>
            <a:off x="7530084" y="5764896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ectangle 122"/>
          <p:cNvSpPr/>
          <p:nvPr/>
        </p:nvSpPr>
        <p:spPr>
          <a:xfrm>
            <a:off x="7530084" y="6405829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3">
            <a:extLst>
              <a:ext uri="{FF2B5EF4-FFF2-40B4-BE49-F238E27FC236}">
                <a16:creationId xmlns:a16="http://schemas.microsoft.com/office/drawing/2014/main" id="{3FEC9AC8-74B6-DC5F-A8BD-4643A99E3D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9224" y="5275323"/>
            <a:ext cx="6605016" cy="8617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Metric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Disconnect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Generates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97.3 in QA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compliance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while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dropping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64.7% CSAT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and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driving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19.34%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recontact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rate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(7,680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repeat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cases in a single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month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Operational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Bottleneck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Agents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follow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guidelines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flawlessly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but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lack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system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visibility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view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adjust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courier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ETAs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interaction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fully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compliant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for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QA,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yet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unresolved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for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customer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</p:txBody>
      </p:sp>
      <p:sp>
        <p:nvSpPr>
          <p:cNvPr id="129" name="Rectangle 4">
            <a:extLst>
              <a:ext uri="{FF2B5EF4-FFF2-40B4-BE49-F238E27FC236}">
                <a16:creationId xmlns:a16="http://schemas.microsoft.com/office/drawing/2014/main" id="{795292CB-21BA-C1F8-FBF4-0F386C4F62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76420" y="4906769"/>
            <a:ext cx="4160520" cy="17851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Root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-Cause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Attribution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(2.2:1 Ratio):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Auditors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attribute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49.5%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of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dissatisfaction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directly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CX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Process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constraints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compared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just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22.0%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caused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by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agent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execution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error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Policy-Driven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Failures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42.2%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of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cases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are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categorized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as "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not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resolution-based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,"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reflecting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rigid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policies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that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prevent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agents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from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resolving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customer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issues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first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contact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QA Score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Ceiling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Masking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Process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failures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are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artificially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understated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at 17.0%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because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88%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of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Chat QA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audits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hit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score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ceiling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(100)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masking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underlying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systemic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friction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98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MX" sz="1800" b="1" dirty="0" err="1">
                <a:solidFill>
                  <a:srgbClr val="FFFFFF"/>
                </a:solidFill>
                <a:latin typeface="Inter"/>
              </a:rPr>
              <a:t>Reloution</a:t>
            </a:r>
            <a:r>
              <a:rPr lang="es-MX" sz="1800" b="1" dirty="0">
                <a:solidFill>
                  <a:srgbClr val="FFFFFF"/>
                </a:solidFill>
                <a:latin typeface="Inter"/>
              </a:rPr>
              <a:t>/case </a:t>
            </a:r>
            <a:r>
              <a:rPr lang="es-MX" sz="1800" b="1" dirty="0" err="1">
                <a:solidFill>
                  <a:srgbClr val="FFFFFF"/>
                </a:solidFill>
                <a:latin typeface="Inter"/>
              </a:rPr>
              <a:t>closure</a:t>
            </a:r>
            <a:r>
              <a:rPr lang="es-MX" sz="1800" b="1" dirty="0">
                <a:solidFill>
                  <a:srgbClr val="FFFFFF"/>
                </a:solidFill>
                <a:latin typeface="Inter"/>
              </a:rPr>
              <a:t> vs CSAT </a:t>
            </a:r>
            <a:endParaRPr sz="1800" b="1" dirty="0">
              <a:solidFill>
                <a:srgbClr val="FFFFFF"/>
              </a:solidFill>
              <a:latin typeface="Inter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158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950" b="0" dirty="0">
                <a:solidFill>
                  <a:srgbClr val="9CA3AF"/>
                </a:solidFill>
                <a:latin typeface="Inter"/>
              </a:rPr>
              <a:t>correlation analysis across contact reasons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28 / 35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8851" y="1041594"/>
            <a:ext cx="4096511" cy="2322709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6997" y="1035486"/>
            <a:ext cx="184318" cy="2322709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97738" y="1123630"/>
            <a:ext cx="3945164" cy="1999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1200" b="1" dirty="0" err="1"/>
              <a:t>Issue</a:t>
            </a:r>
            <a:r>
              <a:rPr lang="es-CO" sz="1200" b="1" dirty="0"/>
              <a:t> </a:t>
            </a:r>
            <a:r>
              <a:rPr lang="es-CO" sz="1200" b="1" dirty="0" err="1"/>
              <a:t>Resolution</a:t>
            </a:r>
            <a:r>
              <a:rPr lang="es-CO" sz="1200" b="1" dirty="0"/>
              <a:t> </a:t>
            </a:r>
            <a:r>
              <a:rPr lang="es-CO" sz="1200" b="1" dirty="0" err="1"/>
              <a:t>is</a:t>
            </a:r>
            <a:r>
              <a:rPr lang="es-CO" sz="1200" b="1" dirty="0"/>
              <a:t> </a:t>
            </a:r>
            <a:r>
              <a:rPr lang="es-CO" sz="1200" b="1" dirty="0" err="1"/>
              <a:t>the</a:t>
            </a:r>
            <a:r>
              <a:rPr lang="es-CO" sz="1200" b="1" dirty="0"/>
              <a:t> </a:t>
            </a:r>
            <a:r>
              <a:rPr lang="es-CO" sz="1200" b="1" dirty="0" err="1"/>
              <a:t>only</a:t>
            </a:r>
            <a:r>
              <a:rPr lang="es-CO" sz="1200" b="1" dirty="0"/>
              <a:t> </a:t>
            </a:r>
            <a:r>
              <a:rPr lang="es-CO" sz="1200" b="1" dirty="0" err="1"/>
              <a:t>aspect</a:t>
            </a:r>
            <a:r>
              <a:rPr lang="es-CO" sz="1200" b="1" dirty="0"/>
              <a:t> </a:t>
            </a:r>
            <a:r>
              <a:rPr lang="es-CO" sz="1200" b="1" dirty="0" err="1"/>
              <a:t>moving</a:t>
            </a:r>
            <a:r>
              <a:rPr lang="es-CO" sz="1200" b="1" dirty="0"/>
              <a:t> CSAT</a:t>
            </a:r>
            <a:endParaRPr sz="1200" b="1" dirty="0">
              <a:latin typeface="Inter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380219" y="4962150"/>
            <a:ext cx="50749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dirty="0">
                <a:solidFill>
                  <a:srgbClr val="1A1A1A"/>
                </a:solidFill>
                <a:latin typeface="Inter"/>
              </a:rPr>
              <a:t>Reasons with higher closure rates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311639" y="3499463"/>
            <a:ext cx="5212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dirty="0">
                <a:solidFill>
                  <a:srgbClr val="1A1A1A"/>
                </a:solidFill>
                <a:latin typeface="Inter"/>
              </a:rPr>
              <a:t>Reasons with lower closure rates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97738" y="6401998"/>
            <a:ext cx="1127729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dirty="0">
                <a:solidFill>
                  <a:srgbClr val="6B7280"/>
                </a:solidFill>
                <a:latin typeface="Inter"/>
              </a:rPr>
              <a:t>After-sales fraud CSAT 6.1% is 29 satisfied / 475 surveys (432 ones).  One exception remains: “Refund status and conditions” has a 76% closure rate but only 67.0% CSAT on 3,582 surveys, showing that closure alone does not explain every customer outcome.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66700" y="6693399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 dirty="0" err="1">
                <a:solidFill>
                  <a:srgbClr val="9CA3AF"/>
                </a:solidFill>
                <a:latin typeface="Inter"/>
              </a:rPr>
              <a:t>DiDi</a:t>
            </a:r>
            <a:r>
              <a:rPr sz="750" b="0" dirty="0">
                <a:solidFill>
                  <a:srgbClr val="9CA3AF"/>
                </a:solidFill>
                <a:latin typeface="Inter"/>
              </a:rPr>
              <a:t> Global, CX Service Operation</a:t>
            </a:r>
            <a:r>
              <a:rPr lang="es-CO" sz="750" b="0" dirty="0">
                <a:solidFill>
                  <a:srgbClr val="9CA3AF"/>
                </a:solidFill>
                <a:latin typeface="Inter"/>
              </a:rPr>
              <a:t>s</a:t>
            </a:r>
            <a:r>
              <a:rPr sz="750" b="0" dirty="0">
                <a:solidFill>
                  <a:srgbClr val="9CA3AF"/>
                </a:solidFill>
                <a:latin typeface="Inter"/>
              </a:rPr>
              <a:t>   |   Confidential. Internal use only     ·     Audits on this slide = Resolved or Not resolved. After-sales fraud: 115 assessed, 3 Abandoned, 118 in Combined analysis.</a:t>
            </a:r>
          </a:p>
        </p:txBody>
      </p:sp>
      <p:pic>
        <p:nvPicPr>
          <p:cNvPr id="102" name="Imagen 101" descr="Interfaz de usuario gráfica&#10;&#10;Descripción generada automáticamente">
            <a:extLst>
              <a:ext uri="{FF2B5EF4-FFF2-40B4-BE49-F238E27FC236}">
                <a16:creationId xmlns:a16="http://schemas.microsoft.com/office/drawing/2014/main" id="{CE556741-B544-8D74-A779-E1656DA1B3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1882" y="909828"/>
            <a:ext cx="7851426" cy="5549923"/>
          </a:xfrm>
          <a:prstGeom prst="rect">
            <a:avLst/>
          </a:prstGeom>
        </p:spPr>
      </p:pic>
      <p:sp>
        <p:nvSpPr>
          <p:cNvPr id="103" name="Rectangle 3">
            <a:extLst>
              <a:ext uri="{FF2B5EF4-FFF2-40B4-BE49-F238E27FC236}">
                <a16:creationId xmlns:a16="http://schemas.microsoft.com/office/drawing/2014/main" id="{3EE569E8-18F5-F9C3-990B-9ACAD38424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3591" y="1404569"/>
            <a:ext cx="3869637" cy="18928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Strong Resolution Correlation (r = +0.80, R2 = 0.64): Case closure rate explains 64% of all CSAT variance across 35 contact reasons, proving that a customer's outcome is the single greatest determinant of satisfaction.
QA Predictivity Failure (R2 = 0.023): Traditional QA compliance explains less than 2.3% of CSAT variance, demonstrating that agent politeness or script adherence cannot salvage an unfulfilled resolution.
Strategic Pivot: Judge channels on close rate, not QA. Phone closes 9 of 10 assessed; Chat 6 of 10. Do not coach Chat volume for a gap that is 499 process-followed non-closes.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</a:p>
        </p:txBody>
      </p:sp>
      <p:sp>
        <p:nvSpPr>
          <p:cNvPr id="104" name="Rectangle 103"/>
          <p:cNvSpPr/>
          <p:nvPr/>
        </p:nvSpPr>
        <p:spPr>
          <a:xfrm>
            <a:off x="230408" y="3677905"/>
            <a:ext cx="4297680" cy="219456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58424" y="3677905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Inter"/>
              </a:rPr>
              <a:t>Contact reason (Lv4)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711735" y="3677905"/>
            <a:ext cx="25603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Inter"/>
              </a:rPr>
              <a:t>Resolved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223800" y="3677905"/>
            <a:ext cx="237744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Inter"/>
              </a:rPr>
              <a:t>CSAT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717576" y="3677905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Inter"/>
              </a:rPr>
              <a:t>Recontact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449096" y="3677905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Inter"/>
              </a:rPr>
              <a:t>Audits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016023" y="3677905"/>
            <a:ext cx="384047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Inter"/>
              </a:rPr>
              <a:t>Surveys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58424" y="3897361"/>
            <a:ext cx="1097280" cy="2697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20" b="1">
                <a:solidFill>
                  <a:srgbClr val="1A1A1A"/>
                </a:solidFill>
                <a:latin typeface="Inter"/>
              </a:rPr>
              <a:t>After-sales fraud review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1647728" y="3940524"/>
            <a:ext cx="384048" cy="183445"/>
          </a:xfrm>
          <a:prstGeom prst="roundRect">
            <a:avLst>
              <a:gd name="adj" fmla="val 24922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711735" y="3897361"/>
            <a:ext cx="256032" cy="2697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20" b="1">
                <a:solidFill>
                  <a:srgbClr val="E11D2E"/>
                </a:solidFill>
                <a:latin typeface="Inter"/>
              </a:rPr>
              <a:t>38%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2159791" y="3940524"/>
            <a:ext cx="365760" cy="183445"/>
          </a:xfrm>
          <a:prstGeom prst="roundRect">
            <a:avLst>
              <a:gd name="adj" fmla="val 24922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2223800" y="3897361"/>
            <a:ext cx="237744" cy="2697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20" b="1">
                <a:solidFill>
                  <a:srgbClr val="E11D2E"/>
                </a:solidFill>
                <a:latin typeface="Inter"/>
              </a:rPr>
              <a:t>6.1%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2653567" y="3940524"/>
            <a:ext cx="603504" cy="183445"/>
          </a:xfrm>
          <a:prstGeom prst="roundRect">
            <a:avLst>
              <a:gd name="adj" fmla="val 24922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717576" y="3897361"/>
            <a:ext cx="475488" cy="2697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20" b="1">
                <a:solidFill>
                  <a:srgbClr val="E11D2E"/>
                </a:solidFill>
                <a:latin typeface="Inter"/>
              </a:rPr>
              <a:t>28.4%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449096" y="3897361"/>
            <a:ext cx="310896" cy="2697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20" b="0">
                <a:solidFill>
                  <a:srgbClr val="4B5563"/>
                </a:solidFill>
                <a:latin typeface="Inter"/>
              </a:rPr>
              <a:t>115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016023" y="3897361"/>
            <a:ext cx="384047" cy="2697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20" b="0">
                <a:solidFill>
                  <a:srgbClr val="4B5563"/>
                </a:solidFill>
                <a:latin typeface="Inter"/>
              </a:rPr>
              <a:t>475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230408" y="4162371"/>
            <a:ext cx="429768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30408" y="4167134"/>
            <a:ext cx="4297680" cy="269773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58424" y="4167134"/>
            <a:ext cx="1097280" cy="2697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20" b="1">
                <a:solidFill>
                  <a:srgbClr val="1A1A1A"/>
                </a:solidFill>
                <a:latin typeface="Inter"/>
              </a:rPr>
              <a:t>Delivery fee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647728" y="4210297"/>
            <a:ext cx="384048" cy="183445"/>
          </a:xfrm>
          <a:prstGeom prst="roundRect">
            <a:avLst>
              <a:gd name="adj" fmla="val 24922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711735" y="4167134"/>
            <a:ext cx="256032" cy="2697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20" b="1">
                <a:solidFill>
                  <a:srgbClr val="E11D2E"/>
                </a:solidFill>
                <a:latin typeface="Inter"/>
              </a:rPr>
              <a:t>22%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2159791" y="4210297"/>
            <a:ext cx="365760" cy="183445"/>
          </a:xfrm>
          <a:prstGeom prst="roundRect">
            <a:avLst>
              <a:gd name="adj" fmla="val 24922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2223800" y="4167134"/>
            <a:ext cx="237744" cy="2697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20" b="1">
                <a:solidFill>
                  <a:srgbClr val="E11D2E"/>
                </a:solidFill>
                <a:latin typeface="Inter"/>
              </a:rPr>
              <a:t>19.0%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2653567" y="4210297"/>
            <a:ext cx="603504" cy="183445"/>
          </a:xfrm>
          <a:prstGeom prst="roundRect">
            <a:avLst>
              <a:gd name="adj" fmla="val 24922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717576" y="4167134"/>
            <a:ext cx="475488" cy="2697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20" b="1">
                <a:solidFill>
                  <a:srgbClr val="16A34A"/>
                </a:solidFill>
                <a:latin typeface="Inter"/>
              </a:rPr>
              <a:t>2.2%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449096" y="4167134"/>
            <a:ext cx="310896" cy="2697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20" b="0">
                <a:solidFill>
                  <a:srgbClr val="4B5563"/>
                </a:solidFill>
                <a:latin typeface="Inter"/>
              </a:rPr>
              <a:t>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016023" y="4167134"/>
            <a:ext cx="384047" cy="2697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20" b="0">
                <a:solidFill>
                  <a:srgbClr val="4B5563"/>
                </a:solidFill>
                <a:latin typeface="Inter"/>
              </a:rPr>
              <a:t>21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230408" y="4432144"/>
            <a:ext cx="429768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358424" y="4436907"/>
            <a:ext cx="1097280" cy="2697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20" b="1">
                <a:solidFill>
                  <a:srgbClr val="1A1A1A"/>
                </a:solidFill>
                <a:latin typeface="Inter"/>
              </a:rPr>
              <a:t>Paying the courier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647728" y="4480070"/>
            <a:ext cx="384048" cy="183445"/>
          </a:xfrm>
          <a:prstGeom prst="roundRect">
            <a:avLst>
              <a:gd name="adj" fmla="val 24922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711735" y="4436907"/>
            <a:ext cx="256032" cy="2697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20" b="1">
                <a:solidFill>
                  <a:srgbClr val="E11D2E"/>
                </a:solidFill>
                <a:latin typeface="Inter"/>
              </a:rPr>
              <a:t>45%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2159791" y="4480070"/>
            <a:ext cx="365760" cy="183445"/>
          </a:xfrm>
          <a:prstGeom prst="roundRect">
            <a:avLst>
              <a:gd name="adj" fmla="val 24922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2223800" y="4436907"/>
            <a:ext cx="237744" cy="2697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20" b="1">
                <a:solidFill>
                  <a:srgbClr val="E11D2E"/>
                </a:solidFill>
                <a:latin typeface="Inter"/>
              </a:rPr>
              <a:t>30.2%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2653567" y="4480070"/>
            <a:ext cx="603504" cy="183445"/>
          </a:xfrm>
          <a:prstGeom prst="roundRect">
            <a:avLst>
              <a:gd name="adj" fmla="val 24922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2717576" y="4436907"/>
            <a:ext cx="475488" cy="2697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20" b="1">
                <a:solidFill>
                  <a:srgbClr val="16A34A"/>
                </a:solidFill>
                <a:latin typeface="Inter"/>
              </a:rPr>
              <a:t>2.8%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449096" y="4436907"/>
            <a:ext cx="310896" cy="2697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20" b="0">
                <a:solidFill>
                  <a:srgbClr val="4B5563"/>
                </a:solidFill>
                <a:latin typeface="Inter"/>
              </a:rPr>
              <a:t>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016023" y="4436907"/>
            <a:ext cx="384047" cy="2697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20" b="0">
                <a:solidFill>
                  <a:srgbClr val="4B5563"/>
                </a:solidFill>
                <a:latin typeface="Inter"/>
              </a:rPr>
              <a:t>96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230408" y="4701917"/>
            <a:ext cx="429768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230408" y="4706680"/>
            <a:ext cx="4297680" cy="269773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58424" y="4706680"/>
            <a:ext cx="1097280" cy="2697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20" b="1">
                <a:solidFill>
                  <a:srgbClr val="1A1A1A"/>
                </a:solidFill>
                <a:latin typeface="Inter"/>
              </a:rPr>
              <a:t>Modify the order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1647728" y="4749843"/>
            <a:ext cx="384048" cy="183445"/>
          </a:xfrm>
          <a:prstGeom prst="roundRect">
            <a:avLst>
              <a:gd name="adj" fmla="val 24922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711735" y="4706680"/>
            <a:ext cx="256032" cy="2697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20" b="1">
                <a:solidFill>
                  <a:srgbClr val="E11D2E"/>
                </a:solidFill>
                <a:latin typeface="Inter"/>
              </a:rPr>
              <a:t>25%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2159791" y="4749843"/>
            <a:ext cx="365760" cy="183445"/>
          </a:xfrm>
          <a:prstGeom prst="roundRect">
            <a:avLst>
              <a:gd name="adj" fmla="val 24922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2223800" y="4706680"/>
            <a:ext cx="237744" cy="2697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20" b="1">
                <a:solidFill>
                  <a:srgbClr val="E11D2E"/>
                </a:solidFill>
                <a:latin typeface="Inter"/>
              </a:rPr>
              <a:t>34.6%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2653567" y="4749843"/>
            <a:ext cx="603504" cy="183445"/>
          </a:xfrm>
          <a:prstGeom prst="roundRect">
            <a:avLst>
              <a:gd name="adj" fmla="val 24922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717576" y="4706680"/>
            <a:ext cx="475488" cy="2697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20" b="1">
                <a:solidFill>
                  <a:srgbClr val="16A34A"/>
                </a:solidFill>
                <a:latin typeface="Inter"/>
              </a:rPr>
              <a:t>1.7%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449096" y="4706680"/>
            <a:ext cx="310896" cy="2697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20" b="0">
                <a:solidFill>
                  <a:srgbClr val="4B5563"/>
                </a:solidFill>
                <a:latin typeface="Inter"/>
              </a:rPr>
              <a:t>12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016023" y="4706680"/>
            <a:ext cx="384047" cy="2697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20" b="0">
                <a:solidFill>
                  <a:srgbClr val="4B5563"/>
                </a:solidFill>
                <a:latin typeface="Inter"/>
              </a:rPr>
              <a:t>52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30408" y="4971690"/>
            <a:ext cx="429768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79911" y="5140401"/>
            <a:ext cx="4297680" cy="219456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307927" y="5140401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Inter"/>
              </a:rPr>
              <a:t>Contact reason (Lv4)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661238" y="5140401"/>
            <a:ext cx="25603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Inter"/>
              </a:rPr>
              <a:t>Resolved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173303" y="5140401"/>
            <a:ext cx="237744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Inter"/>
              </a:rPr>
              <a:t>CSAT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667079" y="5140401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Inter"/>
              </a:rPr>
              <a:t>Recontact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398599" y="5140401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Inter"/>
              </a:rPr>
              <a:t>Audits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965526" y="5140401"/>
            <a:ext cx="384047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Inter"/>
              </a:rPr>
              <a:t>Surveys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07927" y="5359857"/>
            <a:ext cx="1097280" cy="219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20" b="1">
                <a:solidFill>
                  <a:srgbClr val="1A1A1A"/>
                </a:solidFill>
                <a:latin typeface="Inter"/>
              </a:rPr>
              <a:t>Wrong order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1597231" y="5395015"/>
            <a:ext cx="384048" cy="149423"/>
          </a:xfrm>
          <a:prstGeom prst="roundRect">
            <a:avLst>
              <a:gd name="adj" fmla="val 30597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1661238" y="5359857"/>
            <a:ext cx="256032" cy="219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20" b="1">
                <a:solidFill>
                  <a:srgbClr val="16A34A"/>
                </a:solidFill>
                <a:latin typeface="Inter"/>
              </a:rPr>
              <a:t>90%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2109294" y="5395015"/>
            <a:ext cx="365760" cy="149423"/>
          </a:xfrm>
          <a:prstGeom prst="roundRect">
            <a:avLst>
              <a:gd name="adj" fmla="val 30597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2173303" y="5359857"/>
            <a:ext cx="237744" cy="219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20" b="1">
                <a:solidFill>
                  <a:srgbClr val="16A34A"/>
                </a:solidFill>
                <a:latin typeface="Inter"/>
              </a:rPr>
              <a:t>92.2%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2603070" y="5395015"/>
            <a:ext cx="603504" cy="149423"/>
          </a:xfrm>
          <a:prstGeom prst="roundRect">
            <a:avLst>
              <a:gd name="adj" fmla="val 30597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2667079" y="5359857"/>
            <a:ext cx="475488" cy="219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20" b="1">
                <a:solidFill>
                  <a:srgbClr val="16A34A"/>
                </a:solidFill>
                <a:latin typeface="Inter"/>
              </a:rPr>
              <a:t>2.9%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398599" y="5359857"/>
            <a:ext cx="310896" cy="219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20" b="0">
                <a:solidFill>
                  <a:srgbClr val="4B5563"/>
                </a:solidFill>
                <a:latin typeface="Inter"/>
              </a:rPr>
              <a:t>40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965526" y="5359857"/>
            <a:ext cx="384047" cy="219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20" b="0">
                <a:solidFill>
                  <a:srgbClr val="4B5563"/>
                </a:solidFill>
                <a:latin typeface="Inter"/>
              </a:rPr>
              <a:t>7,359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179911" y="5574835"/>
            <a:ext cx="429768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179911" y="5579597"/>
            <a:ext cx="4297680" cy="21974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07927" y="5579597"/>
            <a:ext cx="1097280" cy="219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20" b="1">
                <a:solidFill>
                  <a:srgbClr val="1A1A1A"/>
                </a:solidFill>
                <a:latin typeface="Inter"/>
              </a:rPr>
              <a:t>Damaged order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1597231" y="5614755"/>
            <a:ext cx="384048" cy="149423"/>
          </a:xfrm>
          <a:prstGeom prst="roundRect">
            <a:avLst>
              <a:gd name="adj" fmla="val 30597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1661238" y="5579597"/>
            <a:ext cx="256032" cy="219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20" b="1">
                <a:solidFill>
                  <a:srgbClr val="16A34A"/>
                </a:solidFill>
                <a:latin typeface="Inter"/>
              </a:rPr>
              <a:t>83%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2109294" y="5614755"/>
            <a:ext cx="365760" cy="149423"/>
          </a:xfrm>
          <a:prstGeom prst="roundRect">
            <a:avLst>
              <a:gd name="adj" fmla="val 30597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2173303" y="5579597"/>
            <a:ext cx="237744" cy="219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20" b="1">
                <a:solidFill>
                  <a:srgbClr val="16A34A"/>
                </a:solidFill>
                <a:latin typeface="Inter"/>
              </a:rPr>
              <a:t>92.1%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2603070" y="5614755"/>
            <a:ext cx="603504" cy="149423"/>
          </a:xfrm>
          <a:prstGeom prst="roundRect">
            <a:avLst>
              <a:gd name="adj" fmla="val 30597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2667079" y="5579597"/>
            <a:ext cx="475488" cy="219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20" b="1">
                <a:solidFill>
                  <a:srgbClr val="16A34A"/>
                </a:solidFill>
                <a:latin typeface="Inter"/>
              </a:rPr>
              <a:t>2.9%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398599" y="5579597"/>
            <a:ext cx="310896" cy="219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20" b="0">
                <a:solidFill>
                  <a:srgbClr val="4B5563"/>
                </a:solidFill>
                <a:latin typeface="Inter"/>
              </a:rPr>
              <a:t>47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3965526" y="5579597"/>
            <a:ext cx="384047" cy="219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20" b="0">
                <a:solidFill>
                  <a:srgbClr val="4B5563"/>
                </a:solidFill>
                <a:latin typeface="Inter"/>
              </a:rPr>
              <a:t>5,962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179911" y="5794575"/>
            <a:ext cx="429768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307927" y="5799338"/>
            <a:ext cx="1097280" cy="219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20" b="1">
                <a:solidFill>
                  <a:srgbClr val="1A1A1A"/>
                </a:solidFill>
                <a:latin typeface="Inter"/>
              </a:rPr>
              <a:t>Inedible order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1597231" y="5834496"/>
            <a:ext cx="384048" cy="149423"/>
          </a:xfrm>
          <a:prstGeom prst="roundRect">
            <a:avLst>
              <a:gd name="adj" fmla="val 30597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1661238" y="5799338"/>
            <a:ext cx="256032" cy="219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20" b="1">
                <a:solidFill>
                  <a:srgbClr val="16A34A"/>
                </a:solidFill>
                <a:latin typeface="Inter"/>
              </a:rPr>
              <a:t>87%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2109294" y="5834496"/>
            <a:ext cx="365760" cy="149423"/>
          </a:xfrm>
          <a:prstGeom prst="roundRect">
            <a:avLst>
              <a:gd name="adj" fmla="val 30597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2173303" y="5799338"/>
            <a:ext cx="237744" cy="219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20" b="1">
                <a:solidFill>
                  <a:srgbClr val="16A34A"/>
                </a:solidFill>
                <a:latin typeface="Inter"/>
              </a:rPr>
              <a:t>91.3%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2603070" y="5834496"/>
            <a:ext cx="603504" cy="149423"/>
          </a:xfrm>
          <a:prstGeom prst="roundRect">
            <a:avLst>
              <a:gd name="adj" fmla="val 30597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2667079" y="5799338"/>
            <a:ext cx="475488" cy="219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20" b="1">
                <a:solidFill>
                  <a:srgbClr val="16A34A"/>
                </a:solidFill>
                <a:latin typeface="Inter"/>
              </a:rPr>
              <a:t>5.2%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3398599" y="5799338"/>
            <a:ext cx="310896" cy="219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20" b="0">
                <a:solidFill>
                  <a:srgbClr val="4B5563"/>
                </a:solidFill>
                <a:latin typeface="Inter"/>
              </a:rPr>
              <a:t>190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3965526" y="5799338"/>
            <a:ext cx="384047" cy="219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20" b="0">
                <a:solidFill>
                  <a:srgbClr val="4B5563"/>
                </a:solidFill>
                <a:latin typeface="Inter"/>
              </a:rPr>
              <a:t>7,685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179911" y="6014316"/>
            <a:ext cx="429768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179911" y="6019078"/>
            <a:ext cx="4297680" cy="21974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307927" y="6019078"/>
            <a:ext cx="1097280" cy="219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20" b="1">
                <a:solidFill>
                  <a:srgbClr val="1A1A1A"/>
                </a:solidFill>
                <a:latin typeface="Inter"/>
              </a:rPr>
              <a:t>Incomplete order</a:t>
            </a:r>
          </a:p>
        </p:txBody>
      </p:sp>
      <p:sp>
        <p:nvSpPr>
          <p:cNvPr id="193" name="Rounded Rectangle 192"/>
          <p:cNvSpPr/>
          <p:nvPr/>
        </p:nvSpPr>
        <p:spPr>
          <a:xfrm>
            <a:off x="1597231" y="6054236"/>
            <a:ext cx="384048" cy="149423"/>
          </a:xfrm>
          <a:prstGeom prst="roundRect">
            <a:avLst>
              <a:gd name="adj" fmla="val 30597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1661238" y="6019078"/>
            <a:ext cx="256032" cy="219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20" b="1">
                <a:solidFill>
                  <a:srgbClr val="16A34A"/>
                </a:solidFill>
                <a:latin typeface="Inter"/>
              </a:rPr>
              <a:t>86%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2109294" y="6054236"/>
            <a:ext cx="365760" cy="149423"/>
          </a:xfrm>
          <a:prstGeom prst="roundRect">
            <a:avLst>
              <a:gd name="adj" fmla="val 30597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2173303" y="6019078"/>
            <a:ext cx="237744" cy="219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20" b="1">
                <a:solidFill>
                  <a:srgbClr val="16A34A"/>
                </a:solidFill>
                <a:latin typeface="Inter"/>
              </a:rPr>
              <a:t>89.4%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2603070" y="6054236"/>
            <a:ext cx="603504" cy="149423"/>
          </a:xfrm>
          <a:prstGeom prst="roundRect">
            <a:avLst>
              <a:gd name="adj" fmla="val 30597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2667079" y="6019078"/>
            <a:ext cx="475488" cy="219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20" b="1">
                <a:solidFill>
                  <a:srgbClr val="16A34A"/>
                </a:solidFill>
                <a:latin typeface="Inter"/>
              </a:rPr>
              <a:t>3.2%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398599" y="6019078"/>
            <a:ext cx="310896" cy="219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20" b="0">
                <a:solidFill>
                  <a:srgbClr val="4B5563"/>
                </a:solidFill>
                <a:latin typeface="Inter"/>
              </a:rPr>
              <a:t>171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3965526" y="6019078"/>
            <a:ext cx="384047" cy="219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20" b="0">
                <a:solidFill>
                  <a:srgbClr val="4B5563"/>
                </a:solidFill>
                <a:latin typeface="Inter"/>
              </a:rPr>
              <a:t>8,227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179911" y="6234056"/>
            <a:ext cx="429768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05">
            <a:extLst>
              <a:ext uri="{FF2B5EF4-FFF2-40B4-BE49-F238E27FC236}">
                <a16:creationId xmlns:a16="http://schemas.microsoft.com/office/drawing/2014/main" id="{19534C0D-F09C-0C47-195B-4D9D929295DE}"/>
              </a:ext>
            </a:extLst>
          </p:cNvPr>
          <p:cNvSpPr/>
          <p:nvPr/>
        </p:nvSpPr>
        <p:spPr>
          <a:xfrm>
            <a:off x="636726" y="4933773"/>
            <a:ext cx="5841492" cy="1535054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5 whys: why we could not close, and what closing actually was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158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950" b="0" dirty="0">
                <a:solidFill>
                  <a:srgbClr val="9CA3AF"/>
                </a:solidFill>
                <a:latin typeface="Inter"/>
              </a:rPr>
              <a:t>Root-cause '5-Whys' auditor diagnostic (2,114 audited cases): Structural policy &amp; tooling barriers in unclosed cases vs. tangible resolution drivers in closed cases.</a:t>
            </a:r>
            <a:endParaRPr sz="950" b="0" dirty="0">
              <a:solidFill>
                <a:srgbClr val="9CA3AF"/>
              </a:solidFill>
              <a:latin typeface="Inte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29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761" y="6551461"/>
            <a:ext cx="11277295" cy="1249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</a:rPr>
              <a:t>DiDi Global, CX Service Operations   |   Confidential. Internal use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977591"/>
            <a:ext cx="5532120" cy="3445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s-CO" sz="1100" b="1" dirty="0" err="1">
                <a:solidFill>
                  <a:srgbClr val="1A1A1A"/>
                </a:solidFill>
              </a:rPr>
              <a:t>Structural</a:t>
            </a:r>
            <a:r>
              <a:rPr lang="es-CO" sz="1100" b="1" dirty="0">
                <a:solidFill>
                  <a:srgbClr val="1A1A1A"/>
                </a:solidFill>
              </a:rPr>
              <a:t> Non-</a:t>
            </a:r>
            <a:r>
              <a:rPr lang="es-CO" sz="1100" b="1" dirty="0" err="1">
                <a:solidFill>
                  <a:srgbClr val="1A1A1A"/>
                </a:solidFill>
              </a:rPr>
              <a:t>Closure</a:t>
            </a:r>
            <a:r>
              <a:rPr lang="es-CO" sz="1100" b="1" dirty="0">
                <a:solidFill>
                  <a:srgbClr val="1A1A1A"/>
                </a:solidFill>
              </a:rPr>
              <a:t> </a:t>
            </a:r>
            <a:r>
              <a:rPr lang="es-CO" sz="1100" b="1" dirty="0" err="1">
                <a:solidFill>
                  <a:srgbClr val="1A1A1A"/>
                </a:solidFill>
              </a:rPr>
              <a:t>Bottlenecks</a:t>
            </a:r>
            <a:r>
              <a:rPr lang="es-CO" sz="1100" b="1" dirty="0">
                <a:solidFill>
                  <a:srgbClr val="1A1A1A"/>
                </a:solidFill>
              </a:rPr>
              <a:t> (n = 699 </a:t>
            </a:r>
            <a:r>
              <a:rPr lang="es-CO" sz="1100" b="1" dirty="0" err="1">
                <a:solidFill>
                  <a:srgbClr val="1A1A1A"/>
                </a:solidFill>
              </a:rPr>
              <a:t>Audits</a:t>
            </a:r>
            <a:r>
              <a:rPr lang="es-CO" sz="1100" b="1" dirty="0">
                <a:solidFill>
                  <a:srgbClr val="1A1A1A"/>
                </a:solidFill>
              </a:rPr>
              <a:t>)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 dirty="0">
                <a:solidFill>
                  <a:srgbClr val="6B7280"/>
                </a:solidFill>
              </a:rPr>
              <a:t>CSAT of these contact reasons is 52.1%. Not those tickets. Audits and surveys do not share a ticket ID.</a:t>
            </a:r>
          </a:p>
        </p:txBody>
      </p:sp>
      <p:grpSp>
        <p:nvGrpSpPr>
          <p:cNvPr id="110" name="Grupo 109">
            <a:extLst>
              <a:ext uri="{FF2B5EF4-FFF2-40B4-BE49-F238E27FC236}">
                <a16:creationId xmlns:a16="http://schemas.microsoft.com/office/drawing/2014/main" id="{F18CF78E-EDE9-A521-F46F-BC3FC76EFFC2}"/>
              </a:ext>
            </a:extLst>
          </p:cNvPr>
          <p:cNvGrpSpPr/>
          <p:nvPr/>
        </p:nvGrpSpPr>
        <p:grpSpPr>
          <a:xfrm>
            <a:off x="683353" y="1328361"/>
            <a:ext cx="5849510" cy="2461023"/>
            <a:chOff x="457200" y="1604497"/>
            <a:chExt cx="5541729" cy="2707089"/>
          </a:xfrm>
        </p:grpSpPr>
        <p:sp>
          <p:nvSpPr>
            <p:cNvPr id="12" name="Rectangle 11"/>
            <p:cNvSpPr/>
            <p:nvPr/>
          </p:nvSpPr>
          <p:spPr>
            <a:xfrm>
              <a:off x="457200" y="1645920"/>
              <a:ext cx="5532120" cy="274320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85216" y="1700630"/>
              <a:ext cx="262432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dirty="0">
                  <a:solidFill>
                    <a:srgbClr val="FFFFFF"/>
                  </a:solidFill>
                </a:rPr>
                <a:t>Why it did not close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465576" y="1700630"/>
              <a:ext cx="521207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FFFFFF"/>
                  </a:solidFill>
                </a:rPr>
                <a:t>Audits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242816" y="1700630"/>
              <a:ext cx="47548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FFFFFF"/>
                  </a:solidFill>
                </a:rPr>
                <a:t>Share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855928" y="1604497"/>
              <a:ext cx="1143001" cy="340101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dirty="0">
                  <a:solidFill>
                    <a:srgbClr val="FFFFFF"/>
                  </a:solidFill>
                </a:rPr>
                <a:t>Of those, followed process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85216" y="1970377"/>
              <a:ext cx="262432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Policy blocked refund / close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3465576" y="1970377"/>
              <a:ext cx="521207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267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242816" y="1970377"/>
              <a:ext cx="47548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38%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974336" y="1970377"/>
              <a:ext cx="88696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215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57200" y="2180653"/>
              <a:ext cx="553212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457200" y="2185416"/>
              <a:ext cx="5532120" cy="265176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85216" y="2235554"/>
              <a:ext cx="262432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No tool — must escalate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3465576" y="2235554"/>
              <a:ext cx="521207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158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4242816" y="2235554"/>
              <a:ext cx="47548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23%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974336" y="2235554"/>
              <a:ext cx="88696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116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457200" y="2445829"/>
              <a:ext cx="553212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85216" y="2500730"/>
              <a:ext cx="262432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Other / unclear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465576" y="2500730"/>
              <a:ext cx="521207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dirty="0">
                  <a:solidFill>
                    <a:srgbClr val="4B5563"/>
                  </a:solidFill>
                </a:rPr>
                <a:t>103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4242816" y="2500730"/>
              <a:ext cx="47548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15%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4974336" y="2500730"/>
              <a:ext cx="88696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77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457200" y="2711005"/>
              <a:ext cx="553212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457200" y="2715768"/>
              <a:ext cx="5532120" cy="265176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585216" y="2765905"/>
              <a:ext cx="262432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No analysis (“No aplica”)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3465576" y="2765905"/>
              <a:ext cx="521207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88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4242816" y="2765905"/>
              <a:ext cx="47548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13%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4974336" y="2765905"/>
              <a:ext cx="88696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63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457200" y="2976181"/>
              <a:ext cx="553212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585216" y="3031082"/>
              <a:ext cx="262432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Fraud named in the text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3465576" y="3031082"/>
              <a:ext cx="521207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25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4242816" y="3031082"/>
              <a:ext cx="47548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4%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4974336" y="3031082"/>
              <a:ext cx="88696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19</a:t>
              </a: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457200" y="3241357"/>
              <a:ext cx="553212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457200" y="3246120"/>
              <a:ext cx="5532120" cy="265176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585216" y="3296258"/>
              <a:ext cx="262432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Courier / store / restaurant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3465576" y="3296258"/>
              <a:ext cx="521207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18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4242816" y="3296258"/>
              <a:ext cx="47548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3%</a:t>
              </a: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4974336" y="3296258"/>
              <a:ext cx="88696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12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457200" y="3506533"/>
              <a:ext cx="553212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585216" y="3561433"/>
              <a:ext cx="262432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Model: no low CSAT to analyse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3465576" y="3561433"/>
              <a:ext cx="521207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14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4242816" y="3561433"/>
              <a:ext cx="47548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2%</a:t>
              </a: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4974336" y="3561433"/>
              <a:ext cx="88696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8</a:t>
              </a:r>
            </a:p>
          </p:txBody>
        </p:sp>
        <p:sp>
          <p:nvSpPr>
            <p:cNvPr id="54" name="Rectangle 53"/>
            <p:cNvSpPr/>
            <p:nvPr/>
          </p:nvSpPr>
          <p:spPr>
            <a:xfrm>
              <a:off x="457200" y="3771709"/>
              <a:ext cx="553212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457200" y="3776472"/>
              <a:ext cx="5532120" cy="265176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585216" y="3826610"/>
              <a:ext cx="262432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Delay / ETA (undercounted)</a:t>
              </a: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3465576" y="3826610"/>
              <a:ext cx="521207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17</a:t>
              </a: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4242816" y="3826610"/>
              <a:ext cx="47548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2%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4974336" y="3826610"/>
              <a:ext cx="88696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12</a:t>
              </a: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457200" y="4036885"/>
              <a:ext cx="553212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585216" y="4091786"/>
              <a:ext cx="262432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Agent missed the process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3465576" y="4091786"/>
              <a:ext cx="521207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9</a:t>
              </a: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4242816" y="4091786"/>
              <a:ext cx="47548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1%</a:t>
              </a:r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4974336" y="4091786"/>
              <a:ext cx="88696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5</a:t>
              </a:r>
            </a:p>
          </p:txBody>
        </p:sp>
        <p:sp>
          <p:nvSpPr>
            <p:cNvPr id="65" name="Rectangle 64"/>
            <p:cNvSpPr/>
            <p:nvPr/>
          </p:nvSpPr>
          <p:spPr>
            <a:xfrm>
              <a:off x="457200" y="4302061"/>
              <a:ext cx="553212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</p:grpSp>
      <p:sp>
        <p:nvSpPr>
          <p:cNvPr id="66" name="TextBox 65"/>
          <p:cNvSpPr txBox="1"/>
          <p:nvPr/>
        </p:nvSpPr>
        <p:spPr>
          <a:xfrm>
            <a:off x="6906736" y="997227"/>
            <a:ext cx="4846320" cy="3445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100" b="1" dirty="0">
                <a:solidFill>
                  <a:srgbClr val="1A1A1A"/>
                </a:solidFill>
              </a:rPr>
              <a:t>Resolution Mechanics (n = 1,415 Audits)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 dirty="0">
                <a:solidFill>
                  <a:srgbClr val="6B7280"/>
                </a:solidFill>
              </a:rPr>
              <a:t>CSAT of these contact reasons is 70.9%. Not those tickets. Audits and surveys do not share a ticket ID.</a:t>
            </a:r>
          </a:p>
        </p:txBody>
      </p:sp>
      <p:grpSp>
        <p:nvGrpSpPr>
          <p:cNvPr id="111" name="Grupo 110">
            <a:extLst>
              <a:ext uri="{FF2B5EF4-FFF2-40B4-BE49-F238E27FC236}">
                <a16:creationId xmlns:a16="http://schemas.microsoft.com/office/drawing/2014/main" id="{C79B5D51-4BDE-BDEC-546C-C252ABF59468}"/>
              </a:ext>
            </a:extLst>
          </p:cNvPr>
          <p:cNvGrpSpPr/>
          <p:nvPr/>
        </p:nvGrpSpPr>
        <p:grpSpPr>
          <a:xfrm>
            <a:off x="6938681" y="1418355"/>
            <a:ext cx="4434840" cy="2135314"/>
            <a:chOff x="6903720" y="1645920"/>
            <a:chExt cx="4434840" cy="2135314"/>
          </a:xfrm>
        </p:grpSpPr>
        <p:sp>
          <p:nvSpPr>
            <p:cNvPr id="67" name="Rectangle 66"/>
            <p:cNvSpPr/>
            <p:nvPr/>
          </p:nvSpPr>
          <p:spPr>
            <a:xfrm>
              <a:off x="6903720" y="1645920"/>
              <a:ext cx="4434840" cy="274320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7031736" y="1699789"/>
              <a:ext cx="26700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</a:rPr>
                <a:t>What closing was</a:t>
              </a: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9957816" y="1699789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</a:rPr>
                <a:t>Audits</a:t>
              </a: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10735056" y="1699789"/>
              <a:ext cx="4754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</a:rPr>
                <a:t>Share</a:t>
              </a:r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7031736" y="1969537"/>
              <a:ext cx="26700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 dirty="0">
                  <a:solidFill>
                    <a:srgbClr val="4B5563"/>
                  </a:solidFill>
                </a:rPr>
                <a:t>Confirmed a refund or compensation</a:t>
              </a:r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9957816" y="1969537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662</a:t>
              </a:r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10735056" y="1969537"/>
              <a:ext cx="4754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47%</a:t>
              </a:r>
            </a:p>
          </p:txBody>
        </p:sp>
        <p:sp>
          <p:nvSpPr>
            <p:cNvPr id="74" name="Rectangle 73"/>
            <p:cNvSpPr/>
            <p:nvPr/>
          </p:nvSpPr>
          <p:spPr>
            <a:xfrm>
              <a:off x="6903720" y="2180653"/>
              <a:ext cx="443483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75" name="Rectangle 74"/>
            <p:cNvSpPr/>
            <p:nvPr/>
          </p:nvSpPr>
          <p:spPr>
            <a:xfrm>
              <a:off x="6903720" y="2185416"/>
              <a:ext cx="4434840" cy="265176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7031736" y="2234713"/>
              <a:ext cx="26700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Explained / confirmed the process</a:t>
              </a:r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9957816" y="2234713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124</a:t>
              </a:r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10735056" y="2234713"/>
              <a:ext cx="4754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9%</a:t>
              </a:r>
            </a:p>
          </p:txBody>
        </p:sp>
        <p:sp>
          <p:nvSpPr>
            <p:cNvPr id="79" name="Rectangle 78"/>
            <p:cNvSpPr/>
            <p:nvPr/>
          </p:nvSpPr>
          <p:spPr>
            <a:xfrm>
              <a:off x="6903720" y="2445829"/>
              <a:ext cx="443483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80" name="TextBox 79"/>
            <p:cNvSpPr txBox="1"/>
            <p:nvPr/>
          </p:nvSpPr>
          <p:spPr>
            <a:xfrm>
              <a:off x="7031736" y="2499889"/>
              <a:ext cx="26700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Used a tool or filed a report</a:t>
              </a:r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9957816" y="2499889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156</a:t>
              </a:r>
            </a:p>
          </p:txBody>
        </p:sp>
        <p:sp>
          <p:nvSpPr>
            <p:cNvPr id="82" name="TextBox 81"/>
            <p:cNvSpPr txBox="1"/>
            <p:nvPr/>
          </p:nvSpPr>
          <p:spPr>
            <a:xfrm>
              <a:off x="10735056" y="2499889"/>
              <a:ext cx="4754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11%</a:t>
              </a:r>
            </a:p>
          </p:txBody>
        </p:sp>
        <p:sp>
          <p:nvSpPr>
            <p:cNvPr id="83" name="Rectangle 82"/>
            <p:cNvSpPr/>
            <p:nvPr/>
          </p:nvSpPr>
          <p:spPr>
            <a:xfrm>
              <a:off x="6903720" y="2711005"/>
              <a:ext cx="443483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84" name="Rectangle 83"/>
            <p:cNvSpPr/>
            <p:nvPr/>
          </p:nvSpPr>
          <p:spPr>
            <a:xfrm>
              <a:off x="6903720" y="2715768"/>
              <a:ext cx="4434840" cy="265176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85" name="TextBox 84"/>
            <p:cNvSpPr txBox="1"/>
            <p:nvPr/>
          </p:nvSpPr>
          <p:spPr>
            <a:xfrm>
              <a:off x="7031736" y="2765065"/>
              <a:ext cx="26700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Other / unclear</a:t>
              </a:r>
            </a:p>
          </p:txBody>
        </p:sp>
        <p:sp>
          <p:nvSpPr>
            <p:cNvPr id="86" name="TextBox 85"/>
            <p:cNvSpPr txBox="1"/>
            <p:nvPr/>
          </p:nvSpPr>
          <p:spPr>
            <a:xfrm>
              <a:off x="9957816" y="2765065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251</a:t>
              </a:r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10735056" y="2765065"/>
              <a:ext cx="4754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18%</a:t>
              </a:r>
            </a:p>
          </p:txBody>
        </p:sp>
        <p:sp>
          <p:nvSpPr>
            <p:cNvPr id="88" name="Rectangle 87"/>
            <p:cNvSpPr/>
            <p:nvPr/>
          </p:nvSpPr>
          <p:spPr>
            <a:xfrm>
              <a:off x="6903720" y="2976181"/>
              <a:ext cx="443483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89" name="TextBox 88"/>
            <p:cNvSpPr txBox="1"/>
            <p:nvPr/>
          </p:nvSpPr>
          <p:spPr>
            <a:xfrm>
              <a:off x="7031736" y="3030241"/>
              <a:ext cx="26700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 dirty="0">
                  <a:solidFill>
                    <a:srgbClr val="4B5563"/>
                  </a:solidFill>
                </a:rPr>
                <a:t>No analysis (“No </a:t>
              </a:r>
              <a:r>
                <a:rPr sz="1000" b="0" dirty="0" err="1">
                  <a:solidFill>
                    <a:srgbClr val="4B5563"/>
                  </a:solidFill>
                </a:rPr>
                <a:t>aplica</a:t>
              </a:r>
              <a:r>
                <a:rPr sz="1000" b="0" dirty="0">
                  <a:solidFill>
                    <a:srgbClr val="4B5563"/>
                  </a:solidFill>
                </a:rPr>
                <a:t>”)</a:t>
              </a:r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9957816" y="3030241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145</a:t>
              </a:r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10735056" y="3030241"/>
              <a:ext cx="4754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10%</a:t>
              </a:r>
            </a:p>
          </p:txBody>
        </p:sp>
        <p:sp>
          <p:nvSpPr>
            <p:cNvPr id="92" name="Rectangle 91"/>
            <p:cNvSpPr/>
            <p:nvPr/>
          </p:nvSpPr>
          <p:spPr>
            <a:xfrm>
              <a:off x="6903720" y="3241357"/>
              <a:ext cx="443483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93" name="Rectangle 92"/>
            <p:cNvSpPr/>
            <p:nvPr/>
          </p:nvSpPr>
          <p:spPr>
            <a:xfrm>
              <a:off x="6903720" y="3246120"/>
              <a:ext cx="4434840" cy="265176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7031736" y="3295417"/>
              <a:ext cx="26700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Cancellation processed</a:t>
              </a:r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9957816" y="3295417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43</a:t>
              </a:r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10735056" y="3295417"/>
              <a:ext cx="4754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3%</a:t>
              </a:r>
            </a:p>
          </p:txBody>
        </p:sp>
        <p:sp>
          <p:nvSpPr>
            <p:cNvPr id="97" name="Rectangle 96"/>
            <p:cNvSpPr/>
            <p:nvPr/>
          </p:nvSpPr>
          <p:spPr>
            <a:xfrm>
              <a:off x="6903720" y="3506533"/>
              <a:ext cx="443483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98" name="TextBox 97"/>
            <p:cNvSpPr txBox="1"/>
            <p:nvPr/>
          </p:nvSpPr>
          <p:spPr>
            <a:xfrm>
              <a:off x="7031736" y="3560593"/>
              <a:ext cx="26700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Model: no low CSAT to analyse</a:t>
              </a:r>
            </a:p>
          </p:txBody>
        </p:sp>
        <p:sp>
          <p:nvSpPr>
            <p:cNvPr id="99" name="TextBox 98"/>
            <p:cNvSpPr txBox="1"/>
            <p:nvPr/>
          </p:nvSpPr>
          <p:spPr>
            <a:xfrm>
              <a:off x="9957816" y="3560593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34</a:t>
              </a:r>
            </a:p>
          </p:txBody>
        </p:sp>
        <p:sp>
          <p:nvSpPr>
            <p:cNvPr id="100" name="TextBox 99"/>
            <p:cNvSpPr txBox="1"/>
            <p:nvPr/>
          </p:nvSpPr>
          <p:spPr>
            <a:xfrm>
              <a:off x="10735056" y="3560593"/>
              <a:ext cx="4754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2%</a:t>
              </a:r>
            </a:p>
          </p:txBody>
        </p:sp>
        <p:sp>
          <p:nvSpPr>
            <p:cNvPr id="101" name="Rectangle 100"/>
            <p:cNvSpPr/>
            <p:nvPr/>
          </p:nvSpPr>
          <p:spPr>
            <a:xfrm>
              <a:off x="6903720" y="3771709"/>
              <a:ext cx="443483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</p:grpSp>
      <p:sp>
        <p:nvSpPr>
          <p:cNvPr id="103" name="Rectangle 102"/>
          <p:cNvSpPr/>
          <p:nvPr/>
        </p:nvSpPr>
        <p:spPr>
          <a:xfrm>
            <a:off x="648850" y="4918228"/>
            <a:ext cx="65298" cy="153501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838504" y="5048203"/>
            <a:ext cx="4965192" cy="1832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dirty="0">
                <a:solidFill>
                  <a:srgbClr val="1A1A1A"/>
                </a:solidFill>
              </a:rPr>
              <a:t>The main blockers are policy and tools, not agent greetings.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701637" y="4909653"/>
            <a:ext cx="5124603" cy="1535054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ectangle 106"/>
          <p:cNvSpPr/>
          <p:nvPr/>
        </p:nvSpPr>
        <p:spPr>
          <a:xfrm>
            <a:off x="6701636" y="4909652"/>
            <a:ext cx="108813" cy="1541761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7012533" y="5092533"/>
            <a:ext cx="4279392" cy="3779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 dirty="0">
                <a:solidFill>
                  <a:srgbClr val="1A1A1A"/>
                </a:solidFill>
              </a:rPr>
              <a:t>When cases are closed, the resolution usually involves a refund, an explanation, or a tool</a:t>
            </a:r>
          </a:p>
        </p:txBody>
      </p:sp>
      <p:sp>
        <p:nvSpPr>
          <p:cNvPr id="112" name="Rectangle 1">
            <a:extLst>
              <a:ext uri="{FF2B5EF4-FFF2-40B4-BE49-F238E27FC236}">
                <a16:creationId xmlns:a16="http://schemas.microsoft.com/office/drawing/2014/main" id="{6716E5B5-95B5-DDF8-2980-30545890B5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7985" y="5609056"/>
            <a:ext cx="4753967" cy="6617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Resolution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Success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Chain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Why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satisfied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?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Agent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confirmed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immediate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order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refund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 </a:t>
            </a:r>
            <a:r>
              <a:rPr kumimoji="0" lang="en-US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&gt;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Why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confirmed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?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Agent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reviewed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order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data and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confirmed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delay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threshold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 &gt; </a:t>
            </a:r>
            <a:r>
              <a:rPr kumimoji="0" lang="es-CO" altLang="es-CO" sz="1000" b="1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Root</a:t>
            </a:r>
            <a:r>
              <a:rPr kumimoji="0" lang="es-CO" altLang="es-CO" sz="10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Cause: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Agent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had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direct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system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authority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and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tool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access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grant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compensation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first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contact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</p:txBody>
      </p:sp>
      <p:sp>
        <p:nvSpPr>
          <p:cNvPr id="113" name="Rectangle 2">
            <a:extLst>
              <a:ext uri="{FF2B5EF4-FFF2-40B4-BE49-F238E27FC236}">
                <a16:creationId xmlns:a16="http://schemas.microsoft.com/office/drawing/2014/main" id="{C582F30A-BE27-CF26-08EC-33DE74CF3D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810" y="5359584"/>
            <a:ext cx="5548784" cy="9694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Policy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Blocker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Chain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Why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dissatisfied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?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Issue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unresolved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 </a:t>
            </a:r>
            <a:r>
              <a:rPr lang="es-CO" altLang="es-CO" sz="1000" dirty="0"/>
              <a:t>&gt;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Why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unresolved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?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Agent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stated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refund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was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impossible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&gt; </a:t>
            </a:r>
            <a:r>
              <a:rPr kumimoji="0" lang="es-CO" altLang="es-CO" sz="1000" b="1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Root</a:t>
            </a:r>
            <a:r>
              <a:rPr kumimoji="0" lang="es-CO" altLang="es-CO" sz="10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Cause: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Restrictive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corporate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policy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blocks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compensation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Tooling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Blocker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Chain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Why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dissatisfied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?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Order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delayed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and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customer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hungry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 &gt;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Why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unresolved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?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Order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delayed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over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2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hours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without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update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&gt; </a:t>
            </a:r>
            <a:r>
              <a:rPr kumimoji="0" lang="es-CO" altLang="es-CO" sz="1000" b="1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Root</a:t>
            </a:r>
            <a:r>
              <a:rPr kumimoji="0" lang="es-CO" altLang="es-CO" sz="10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Cause: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Agent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lacks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ETA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visibility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or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live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dispatch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control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tools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</p:txBody>
      </p:sp>
      <p:sp>
        <p:nvSpPr>
          <p:cNvPr id="114" name="Rectangle 3">
            <a:extLst>
              <a:ext uri="{FF2B5EF4-FFF2-40B4-BE49-F238E27FC236}">
                <a16:creationId xmlns:a16="http://schemas.microsoft.com/office/drawing/2014/main" id="{6FAD980D-F288-803D-699A-CA68BF9861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31" y="3982271"/>
            <a:ext cx="5993132" cy="8617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Policy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&amp;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Tooling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Dominance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(61%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Combined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Policy-blocked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refunds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/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closures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38% / 267 cases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and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Missing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tooling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forcing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escalations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23% / 158 cases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account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for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over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60%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of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all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unclosed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interactions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High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Process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Compliance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(75.4%):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In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527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of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699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unclosed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cases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agents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strictly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adhered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operational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protocols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interaction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remained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unresolved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due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hard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system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boundaries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not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agent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inaction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</p:txBody>
      </p:sp>
      <p:sp>
        <p:nvSpPr>
          <p:cNvPr id="117" name="Rectangle 5">
            <a:extLst>
              <a:ext uri="{FF2B5EF4-FFF2-40B4-BE49-F238E27FC236}">
                <a16:creationId xmlns:a16="http://schemas.microsoft.com/office/drawing/2014/main" id="{4D120312-5388-C454-EE32-1595150973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54719" y="3721254"/>
            <a:ext cx="5171521" cy="11695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Monetary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Remediation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Dominance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(47%):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Direct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financial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resolution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Refund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or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compensation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drives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47%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of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all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successful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closures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(662 cases)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identifying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financial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empowerment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as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single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most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effective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resolution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tool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b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Informational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&amp; Tool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Enablers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(20%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Combined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Tool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usage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/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report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filing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11% / 156 cases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and 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Clear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process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explanations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9% / 124 cases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represent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secondary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pillars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of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successful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case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closure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</p:txBody>
      </p:sp>
      <p:sp>
        <p:nvSpPr>
          <p:cNvPr id="118" name="Rectángulo 117">
            <a:extLst>
              <a:ext uri="{FF2B5EF4-FFF2-40B4-BE49-F238E27FC236}">
                <a16:creationId xmlns:a16="http://schemas.microsoft.com/office/drawing/2014/main" id="{6939EC05-0723-EABE-8DA1-F13DDDC77EBE}"/>
              </a:ext>
            </a:extLst>
          </p:cNvPr>
          <p:cNvSpPr/>
          <p:nvPr/>
        </p:nvSpPr>
        <p:spPr>
          <a:xfrm>
            <a:off x="6647076" y="972013"/>
            <a:ext cx="5275786" cy="5548143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Rectángulo 118">
            <a:extLst>
              <a:ext uri="{FF2B5EF4-FFF2-40B4-BE49-F238E27FC236}">
                <a16:creationId xmlns:a16="http://schemas.microsoft.com/office/drawing/2014/main" id="{3C1F4D68-01D1-2690-C93A-4A2AAB16A6C7}"/>
              </a:ext>
            </a:extLst>
          </p:cNvPr>
          <p:cNvSpPr/>
          <p:nvPr/>
        </p:nvSpPr>
        <p:spPr>
          <a:xfrm>
            <a:off x="539731" y="947476"/>
            <a:ext cx="6009808" cy="5548143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Inter"/>
              </a:rPr>
              <a:t>Why customers contact us again even when QA is green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158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950" b="0" dirty="0">
                <a:solidFill>
                  <a:srgbClr val="9CA3AF"/>
                </a:solidFill>
                <a:latin typeface="Inter"/>
              </a:rPr>
              <a:t>Six-factor Fishbone (Ishikawa) root-cause synthesis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30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pic>
        <p:nvPicPr>
          <p:cNvPr id="11" name="Picture 10" descr="fishb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658" y="1152144"/>
            <a:ext cx="10814378" cy="422452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457200" y="5468112"/>
            <a:ext cx="11277295" cy="960120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7200" y="5468112"/>
            <a:ext cx="38404" cy="96012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68096" y="5522083"/>
            <a:ext cx="10710367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es-CO" sz="1200" b="1" dirty="0"/>
              <a:t>Core </a:t>
            </a:r>
            <a:r>
              <a:rPr lang="es-CO" sz="1200" b="1" dirty="0" err="1"/>
              <a:t>Strategic</a:t>
            </a:r>
            <a:r>
              <a:rPr lang="es-CO" sz="1200" b="1" dirty="0"/>
              <a:t> </a:t>
            </a:r>
            <a:r>
              <a:rPr lang="es-CO" sz="1200" b="1" dirty="0" err="1"/>
              <a:t>Takeaway</a:t>
            </a:r>
            <a:r>
              <a:rPr lang="es-CO" sz="1200" b="1" dirty="0"/>
              <a:t>:</a:t>
            </a:r>
            <a:endParaRPr lang="es-CO" sz="1200" dirty="0"/>
          </a:p>
        </p:txBody>
      </p:sp>
      <p:sp>
        <p:nvSpPr>
          <p:cNvPr id="16" name="Rectangle 1">
            <a:extLst>
              <a:ext uri="{FF2B5EF4-FFF2-40B4-BE49-F238E27FC236}">
                <a16:creationId xmlns:a16="http://schemas.microsoft.com/office/drawing/2014/main" id="{66453233-B4A6-D678-008E-AFA21DD55B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57505" y="4702629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Standard QA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measures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process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execution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(94.14),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while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CSAT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measures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issue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resolution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(79.95%),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resulting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in a complete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metric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disconnect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$R^2 = 0.023$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).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Because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75.4%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of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unclosed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cases (527/699)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strictly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adhered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guidelines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non-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resolution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is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driven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by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policy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and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tooling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boundaries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—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not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frontline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agent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behavior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Operational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priority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must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shift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from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coaching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agent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etiquette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re-engineering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unresolvable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contact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reasons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endParaRPr kumimoji="0" lang="es-CO" altLang="es-CO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What we will do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Connect QA with the customer outcome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31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pic>
        <p:nvPicPr>
          <p:cNvPr id="11" name="Picture 10" descr="flow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841" y="1207008"/>
            <a:ext cx="10460012" cy="2697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4005072"/>
            <a:ext cx="56692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Inter"/>
              </a:rPr>
              <a:t>What changes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384548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4944" y="4288536"/>
            <a:ext cx="543153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4B5563"/>
                </a:solidFill>
                <a:latin typeface="Inter"/>
              </a:rPr>
              <a:t>Report auditor closure next to QA, by channel and contact reason (not FCR). Phone closes 9 of 10 assessed (87.9%); Chat 6 of 10 (63.0%). Green if 70%+ closure and 85%+ CSAT.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847463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94944" y="4751451"/>
            <a:ext cx="543153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4B5563"/>
                </a:solidFill>
                <a:latin typeface="Inter"/>
              </a:rPr>
              <a:t>Assign each improvement to the relevant contact reason. The Dissatisfaction_Owner field only appears in about 4% of audits, so it should not be used as the primary ownership map.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310378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94944" y="5214366"/>
            <a:ext cx="543153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4B5563"/>
                </a:solidFill>
                <a:latin typeface="Inter"/>
              </a:rPr>
              <a:t>This month: correct Pareto defects we already score (Phone time management and complete information; Chat greeting, attitude, availability). That is operational, not a form change.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773293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94944" y="5677280"/>
            <a:ext cx="543153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4B5563"/>
                </a:solidFill>
                <a:latin typeface="Inter"/>
              </a:rPr>
              <a:t>Separately, add Chat correct-information as a critical so the scorecard stops inflating (Chat QA would read 80.14). That does not lift CSAT. Track CSAT on targeted contact reasons.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005072"/>
            <a:ext cx="5257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Inter"/>
              </a:rPr>
              <a:t>How we will know it worked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4315968"/>
            <a:ext cx="5257800" cy="32918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20255" y="4315968"/>
            <a:ext cx="175564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Measure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1936" y="4315968"/>
            <a:ext cx="70408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Today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92056" y="4315968"/>
            <a:ext cx="70408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Target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52176" y="4315968"/>
            <a:ext cx="106984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Horizon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0255" y="4645152"/>
            <a:ext cx="175564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19" b="1">
                <a:solidFill>
                  <a:srgbClr val="1A1A1A"/>
                </a:solidFill>
                <a:latin typeface="Inter"/>
              </a:rPr>
              <a:t>QA vs CSAT (R²)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67928" y="4703673"/>
            <a:ext cx="832104" cy="248716"/>
          </a:xfrm>
          <a:prstGeom prst="roundRect">
            <a:avLst>
              <a:gd name="adj" fmla="val 18382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31936" y="4645152"/>
            <a:ext cx="7040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19" b="1">
                <a:solidFill>
                  <a:srgbClr val="E11D2E"/>
                </a:solidFill>
                <a:latin typeface="Inter"/>
              </a:rPr>
              <a:t>R² 0.02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92056" y="4645152"/>
            <a:ext cx="7040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19" b="0">
                <a:solidFill>
                  <a:srgbClr val="4B5563"/>
                </a:solidFill>
                <a:latin typeface="Inter"/>
              </a:rPr>
              <a:t>R² 0.25 or above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52176" y="4645152"/>
            <a:ext cx="106984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19" b="0">
                <a:solidFill>
                  <a:srgbClr val="4B5563"/>
                </a:solidFill>
                <a:latin typeface="Inter"/>
              </a:rPr>
              <a:t>2 quarters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92240" y="5006149"/>
            <a:ext cx="52578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492240" y="5010912"/>
            <a:ext cx="5257800" cy="36576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20255" y="5010912"/>
            <a:ext cx="175564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19" b="1">
                <a:solidFill>
                  <a:srgbClr val="1A1A1A"/>
                </a:solidFill>
                <a:latin typeface="Inter"/>
              </a:rPr>
              <a:t>Close-rate vs CSAT (R²)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67928" y="5069433"/>
            <a:ext cx="832104" cy="248716"/>
          </a:xfrm>
          <a:prstGeom prst="roundRect">
            <a:avLst>
              <a:gd name="adj" fmla="val 18382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631936" y="5010912"/>
            <a:ext cx="7040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19" b="1">
                <a:solidFill>
                  <a:srgbClr val="16A34A"/>
                </a:solidFill>
                <a:latin typeface="Inter"/>
              </a:rPr>
              <a:t>R² 0.64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92056" y="5010912"/>
            <a:ext cx="7040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19" b="0">
                <a:solidFill>
                  <a:srgbClr val="4B5563"/>
                </a:solidFill>
                <a:latin typeface="Inter"/>
              </a:rPr>
              <a:t>Keep 0.50 or above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52176" y="5010912"/>
            <a:ext cx="106984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19" b="0">
                <a:solidFill>
                  <a:srgbClr val="4B5563"/>
                </a:solidFill>
                <a:latin typeface="Inter"/>
              </a:rPr>
              <a:t>ongoing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92240" y="5371909"/>
            <a:ext cx="52578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20255" y="5376672"/>
            <a:ext cx="175564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19" b="1">
                <a:solidFill>
                  <a:srgbClr val="1A1A1A"/>
                </a:solidFill>
                <a:latin typeface="Inter"/>
              </a:rPr>
              <a:t>CSAT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567928" y="5435193"/>
            <a:ext cx="832104" cy="248716"/>
          </a:xfrm>
          <a:prstGeom prst="roundRect">
            <a:avLst>
              <a:gd name="adj" fmla="val 18382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631936" y="5376672"/>
            <a:ext cx="7040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19" b="1">
                <a:solidFill>
                  <a:srgbClr val="E11D2E"/>
                </a:solidFill>
                <a:latin typeface="Inter"/>
              </a:rPr>
              <a:t>79.95%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92056" y="5376672"/>
            <a:ext cx="7040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19" b="0">
                <a:solidFill>
                  <a:srgbClr val="4B5563"/>
                </a:solidFill>
                <a:latin typeface="Inter"/>
              </a:rPr>
              <a:t>85.0%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52176" y="5376672"/>
            <a:ext cx="106984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19" b="0">
                <a:solidFill>
                  <a:srgbClr val="4B5563"/>
                </a:solidFill>
                <a:latin typeface="Inter"/>
              </a:rPr>
              <a:t>2 quarters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92240" y="5737669"/>
            <a:ext cx="52578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492240" y="5742432"/>
            <a:ext cx="5257800" cy="36576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620255" y="5742432"/>
            <a:ext cx="175564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19" b="1">
                <a:solidFill>
                  <a:srgbClr val="1A1A1A"/>
                </a:solidFill>
                <a:latin typeface="Inter"/>
              </a:rPr>
              <a:t>Recontact (human: Phone + Chat)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567928" y="5800953"/>
            <a:ext cx="832104" cy="248716"/>
          </a:xfrm>
          <a:prstGeom prst="roundRect">
            <a:avLst>
              <a:gd name="adj" fmla="val 18382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631936" y="5742432"/>
            <a:ext cx="7040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19" b="1">
                <a:solidFill>
                  <a:srgbClr val="E11D2E"/>
                </a:solidFill>
                <a:latin typeface="Inter"/>
              </a:rPr>
              <a:t>15.56%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592056" y="5742432"/>
            <a:ext cx="7040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19" b="0">
                <a:solidFill>
                  <a:srgbClr val="4B5563"/>
                </a:solidFill>
                <a:latin typeface="Inter"/>
              </a:rPr>
              <a:t>10.0%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52176" y="5742432"/>
            <a:ext cx="106984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19" b="0">
                <a:solidFill>
                  <a:srgbClr val="4B5563"/>
                </a:solidFill>
                <a:latin typeface="Inter"/>
              </a:rPr>
              <a:t>1 quarter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92240" y="6103429"/>
            <a:ext cx="52578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620255" y="6108192"/>
            <a:ext cx="175564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19" b="1">
                <a:solidFill>
                  <a:srgbClr val="1A1A1A"/>
                </a:solidFill>
                <a:latin typeface="Inter"/>
              </a:rPr>
              <a:t>Auditor close rate (Phone / Chat)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567928" y="6166713"/>
            <a:ext cx="832104" cy="248716"/>
          </a:xfrm>
          <a:prstGeom prst="roundRect">
            <a:avLst>
              <a:gd name="adj" fmla="val 18382"/>
            </a:avLst>
          </a:prstGeom>
          <a:solidFill>
            <a:srgbClr val="F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631936" y="6108192"/>
            <a:ext cx="7040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19" b="1">
                <a:solidFill>
                  <a:srgbClr val="F59E0B"/>
                </a:solidFill>
                <a:latin typeface="Inter"/>
              </a:rPr>
              <a:t>87.9% / 63.0%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92056" y="6108192"/>
            <a:ext cx="7040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19" b="0">
                <a:solidFill>
                  <a:srgbClr val="4B5563"/>
                </a:solidFill>
                <a:latin typeface="Inter"/>
              </a:rPr>
              <a:t>90% / 75%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52176" y="6108192"/>
            <a:ext cx="106984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19" b="0">
                <a:solidFill>
                  <a:srgbClr val="4B5563"/>
                </a:solidFill>
                <a:latin typeface="Inter"/>
              </a:rPr>
              <a:t>1 quarter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92240" y="6469189"/>
            <a:ext cx="52578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2148840"/>
            <a:ext cx="27432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400" b="1">
                <a:solidFill>
                  <a:srgbClr val="FF6600"/>
                </a:solidFill>
                <a:latin typeface="Inter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46120"/>
            <a:ext cx="8686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nter"/>
              </a:rPr>
              <a:t>Action plans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3931920"/>
            <a:ext cx="914400" cy="32004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4187952"/>
            <a:ext cx="7863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C9CCD1"/>
                </a:solidFill>
                <a:latin typeface="Inter"/>
              </a:rPr>
              <a:t>What must change. Who owns it. When it lands.</a:t>
            </a:r>
          </a:p>
        </p:txBody>
      </p:sp>
      <p:pic>
        <p:nvPicPr>
          <p:cNvPr id="8" name="Picture 7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5806440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14455" y="5806440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32 / 35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Action plan by Business 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Delivery is the only line of business in the data. Plans are cut by Business Type.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33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207008"/>
            <a:ext cx="11274552" cy="38404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" y="1207008"/>
            <a:ext cx="111556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Business Type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1207008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1496" y="1207008"/>
            <a:ext cx="27614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What must change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9016" y="1207008"/>
            <a:ext cx="120700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Who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92056" y="1207008"/>
            <a:ext cx="5943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When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42448" y="1207008"/>
            <a:ext cx="11612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Problem severity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" y="1591056"/>
            <a:ext cx="111556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Food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56816" y="1591056"/>
            <a:ext cx="289864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CSAT 80.74% on 46,071 surveys; order-status family is 32.2% of unsatisfied surveys and repeats at 19.34%. Chat closes 6 of 10: ETA, not headcount.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11496" y="1591056"/>
            <a:ext cx="2761487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Add a live courier ETA to the agent console so customers receive a verifiable status.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9016" y="1591056"/>
            <a:ext cx="120700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CX Ops + Product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92056" y="1591056"/>
            <a:ext cx="59436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30 Jun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42448" y="1847088"/>
            <a:ext cx="857707" cy="274320"/>
          </a:xfrm>
          <a:prstGeom prst="roundRect">
            <a:avLst>
              <a:gd name="adj" fmla="val 50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0552176" y="1933955"/>
            <a:ext cx="100584" cy="100584"/>
          </a:xfrm>
          <a:prstGeom prst="ellipse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716768" y="1847088"/>
            <a:ext cx="54681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E11D2E"/>
                </a:solidFill>
                <a:latin typeface="Inter"/>
              </a:rPr>
              <a:t>Critical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372677"/>
            <a:ext cx="1127455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57200" y="2377440"/>
            <a:ext cx="11274552" cy="786384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85216" y="2377440"/>
            <a:ext cx="111556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Full Service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56816" y="2377440"/>
            <a:ext cx="289864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CSAT 79.67%, lowest volume line. Undelivered full-service is QA 68.2 (n=49) and the QA fail-volume leader (37 of 518 fails).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11496" y="2377440"/>
            <a:ext cx="2761487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Give Phone agents limited same-call refund authority for eligible undelivered orders. Phone already closes 9 of 10; this attacks the remaining 1 and the Chat refund pile.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29016" y="2377440"/>
            <a:ext cx="120700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CX Ops + Finance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92056" y="2377440"/>
            <a:ext cx="59436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15 Jul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442448" y="2633472"/>
            <a:ext cx="857707" cy="274320"/>
          </a:xfrm>
          <a:prstGeom prst="roundRect">
            <a:avLst>
              <a:gd name="adj" fmla="val 50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10552176" y="2720340"/>
            <a:ext cx="100584" cy="100584"/>
          </a:xfrm>
          <a:prstGeom prst="ellipse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716768" y="2633472"/>
            <a:ext cx="54681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E11D2E"/>
                </a:solidFill>
                <a:latin typeface="Inter"/>
              </a:rPr>
              <a:t>Critical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159061"/>
            <a:ext cx="1127455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85216" y="3163824"/>
            <a:ext cx="111556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Market Place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56816" y="3163824"/>
            <a:ext cx="289864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CSAT 80.34% on 3,489 surveys; worst Phone QA reason (47.5) but on only 4 audits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11496" y="3163824"/>
            <a:ext cx="2761487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Define a clear merchant-escalation SLA and script for “completed but not received.” Low confidence: run 20+ audits on this reason before committing merchant-side resources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29016" y="3163824"/>
            <a:ext cx="120700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Merchant Ops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92056" y="3163824"/>
            <a:ext cx="59436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15 Jul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442448" y="3419856"/>
            <a:ext cx="630021" cy="274320"/>
          </a:xfrm>
          <a:prstGeom prst="roundRect">
            <a:avLst>
              <a:gd name="adj" fmla="val 50000"/>
            </a:avLst>
          </a:prstGeom>
          <a:solidFill>
            <a:srgbClr val="F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10552176" y="3506724"/>
            <a:ext cx="100584" cy="10058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716768" y="3419856"/>
            <a:ext cx="31912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F59E0B"/>
                </a:solidFill>
                <a:latin typeface="Inter"/>
              </a:rPr>
              <a:t>High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3945445"/>
            <a:ext cx="1127455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457200" y="3950208"/>
            <a:ext cx="11274552" cy="786384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85216" y="3950208"/>
            <a:ext cx="111556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All Business Types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56816" y="3950208"/>
            <a:ext cx="289864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Refund or compensation not received is 18.8% of negative verbatims. Refund status is 7.6% of unsatisfied surveys (1,181).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11496" y="3950208"/>
            <a:ext cx="2761487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Send an automatic notification whenever refund status changes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29016" y="3950208"/>
            <a:ext cx="120700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Product + CX Ops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592056" y="3950208"/>
            <a:ext cx="59436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31 Jul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442448" y="4206240"/>
            <a:ext cx="630021" cy="274320"/>
          </a:xfrm>
          <a:prstGeom prst="roundRect">
            <a:avLst>
              <a:gd name="adj" fmla="val 50000"/>
            </a:avLst>
          </a:prstGeom>
          <a:solidFill>
            <a:srgbClr val="F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10552176" y="4293108"/>
            <a:ext cx="100584" cy="10058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0716768" y="4206240"/>
            <a:ext cx="31912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F59E0B"/>
                </a:solidFill>
                <a:latin typeface="Inter"/>
              </a:rPr>
              <a:t>High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731829"/>
            <a:ext cx="1127455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85216" y="4736592"/>
            <a:ext cx="111556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Data quality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56816" y="4736592"/>
            <a:ext cx="289864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'Other' Business Type holds 558 surveys at 26.5% CSAT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11496" y="4736592"/>
            <a:ext cx="2761487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Fix the CR-to-Business-Type mapping so detractors are correctly classified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29016" y="4736592"/>
            <a:ext cx="120700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CX Analytics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592056" y="4736592"/>
            <a:ext cx="59436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20 Jun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442448" y="4992624"/>
            <a:ext cx="857707" cy="274320"/>
          </a:xfrm>
          <a:prstGeom prst="roundRect">
            <a:avLst>
              <a:gd name="adj" fmla="val 50000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Oval 61"/>
          <p:cNvSpPr/>
          <p:nvPr/>
        </p:nvSpPr>
        <p:spPr>
          <a:xfrm>
            <a:off x="10552176" y="5079492"/>
            <a:ext cx="100584" cy="10058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0716768" y="4992624"/>
            <a:ext cx="54681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16A34A"/>
                </a:solidFill>
                <a:latin typeface="Inter"/>
              </a:rPr>
              <a:t>Moderate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" y="5518213"/>
            <a:ext cx="1127455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57200" y="5760720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Inter"/>
              </a:rPr>
              <a:t>Severity rates how large the gap is. None of these actions has started yet.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60167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1A1A1A"/>
                </a:solidFill>
                <a:latin typeface="Inter"/>
              </a:rPr>
              <a:t>Market Place. </a:t>
            </a:r>
            <a:r>
              <a:rPr sz="900" b="0">
                <a:solidFill>
                  <a:srgbClr val="4B5563"/>
                </a:solidFill>
                <a:latin typeface="Inter"/>
              </a:rPr>
              <a:t>That case rests on a contact reason with only 4 audits, the same low-volume reason flagged as unreliable in the Phone QA section. Validate with more audits before committing resources.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     ·     Owners are role-level; names to be confirmed with CX Leadership at the weekly review.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Action plan by channel, people and governance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Owner, deadline and the severity of the problem behind each 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34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207008"/>
            <a:ext cx="11274552" cy="3657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" y="1207008"/>
            <a:ext cx="9326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Scope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73936" y="1207008"/>
            <a:ext cx="331012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What must change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0096" y="1207008"/>
            <a:ext cx="267004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Why now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6176" y="1207008"/>
            <a:ext cx="111556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Who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37776" y="1207008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When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42448" y="1207008"/>
            <a:ext cx="11612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Problem severity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" y="1572768"/>
            <a:ext cx="9326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Phone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73936" y="1572768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Increase Phone QA coverage to at least 30%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0096" y="1572768"/>
            <a:ext cx="26700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Phone is 14.4% of audits and the only channel below goal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6" y="1572768"/>
            <a:ext cx="111556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QA Lead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37776" y="1572768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13 Jun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42448" y="1664208"/>
            <a:ext cx="857707" cy="274320"/>
          </a:xfrm>
          <a:prstGeom prst="roundRect">
            <a:avLst>
              <a:gd name="adj" fmla="val 50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0552176" y="1751076"/>
            <a:ext cx="100584" cy="100584"/>
          </a:xfrm>
          <a:prstGeom prst="ellipse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716768" y="1664208"/>
            <a:ext cx="54681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E11D2E"/>
                </a:solidFill>
                <a:latin typeface="Inter"/>
              </a:rPr>
              <a:t>Critical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025205"/>
            <a:ext cx="1127455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57200" y="2029968"/>
            <a:ext cx="11274552" cy="45720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85216" y="2029968"/>
            <a:ext cx="9326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Phone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73936" y="2029968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Coach Time Management: system-check script at start; escalate if no data in 2 minutes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0096" y="2029968"/>
            <a:ext cx="26700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64.3% of Phone defects, 133 fails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6176" y="2029968"/>
            <a:ext cx="111556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Supervisors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37776" y="2029968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27 Jun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442448" y="2121408"/>
            <a:ext cx="630021" cy="274320"/>
          </a:xfrm>
          <a:prstGeom prst="roundRect">
            <a:avLst>
              <a:gd name="adj" fmla="val 50000"/>
            </a:avLst>
          </a:prstGeom>
          <a:solidFill>
            <a:srgbClr val="F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10552176" y="2208276"/>
            <a:ext cx="100584" cy="10058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716768" y="2121408"/>
            <a:ext cx="31912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F59E0B"/>
                </a:solidFill>
                <a:latin typeface="Inter"/>
              </a:rPr>
              <a:t>High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2482405"/>
            <a:ext cx="1127455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85216" y="2487168"/>
            <a:ext cx="9326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People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73936" y="2487168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Run weekly coaching for the 42 QA-Q4 agents, starting with the five teams with the highest concentration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40096" y="2487168"/>
            <a:ext cx="26700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26 agents below the QA goal; Supervisor 13 alone carries three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66176" y="2487168"/>
            <a:ext cx="111556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Supervisors + QA Lead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37776" y="2487168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20 Jun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442448" y="2578608"/>
            <a:ext cx="630021" cy="274320"/>
          </a:xfrm>
          <a:prstGeom prst="roundRect">
            <a:avLst>
              <a:gd name="adj" fmla="val 50000"/>
            </a:avLst>
          </a:prstGeom>
          <a:solidFill>
            <a:srgbClr val="F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10552176" y="2665476"/>
            <a:ext cx="100584" cy="10058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716768" y="2578608"/>
            <a:ext cx="31912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F59E0B"/>
                </a:solidFill>
                <a:latin typeface="Inter"/>
              </a:rPr>
              <a:t>High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2939605"/>
            <a:ext cx="1127455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457200" y="2944368"/>
            <a:ext cx="11274552" cy="45720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85216" y="2944368"/>
            <a:ext cx="9326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Live Chat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73936" y="2944368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Add a Chat critical attribute for correct information, aligned with Phone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340096" y="2944368"/>
            <a:ext cx="26700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372 chats did not follow process; 297 still score 100. Current Chat QA: 96.01. Adjusted QA under proposed scoring: 80.14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66176" y="2944368"/>
            <a:ext cx="111556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QA Lead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37776" y="2944368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30 Jun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442448" y="3035808"/>
            <a:ext cx="857707" cy="274320"/>
          </a:xfrm>
          <a:prstGeom prst="roundRect">
            <a:avLst>
              <a:gd name="adj" fmla="val 50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10552176" y="3122676"/>
            <a:ext cx="100584" cy="100584"/>
          </a:xfrm>
          <a:prstGeom prst="ellipse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0716768" y="3035808"/>
            <a:ext cx="54681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E11D2E"/>
                </a:solidFill>
                <a:latin typeface="Inter"/>
              </a:rPr>
              <a:t>Critical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3396805"/>
            <a:ext cx="1127455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85216" y="3401568"/>
            <a:ext cx="9326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Live Chat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773936" y="3401568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Do not add Chat headcount. Chat closes 6 of 10 assessed (63.0%); 499 of 658 unresolved followed process. Order status and refunds will not close with more agents.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340096" y="3401568"/>
            <a:ext cx="26700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Chat abandon 15.6% vs Phone 4.8%. Live Chat generates 67.2% of every repeat contact.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66176" y="3401568"/>
            <a:ext cx="111556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CX Ops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37776" y="3401568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15 Jul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442448" y="3493008"/>
            <a:ext cx="857707" cy="274320"/>
          </a:xfrm>
          <a:prstGeom prst="roundRect">
            <a:avLst>
              <a:gd name="adj" fmla="val 50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Oval 61"/>
          <p:cNvSpPr/>
          <p:nvPr/>
        </p:nvSpPr>
        <p:spPr>
          <a:xfrm>
            <a:off x="10552176" y="3579876"/>
            <a:ext cx="100584" cy="100584"/>
          </a:xfrm>
          <a:prstGeom prst="ellipse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0716768" y="3493008"/>
            <a:ext cx="54681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E11D2E"/>
                </a:solidFill>
                <a:latin typeface="Inter"/>
              </a:rPr>
              <a:t>Critical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" y="3854005"/>
            <a:ext cx="1127455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457200" y="3858768"/>
            <a:ext cx="11274552" cy="45720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585216" y="3858768"/>
            <a:ext cx="9326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QA governance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773936" y="3858768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Report auditor closure weekly by channel (Phone 87.9%, Chat 63.0%) and assign an owner to every unclosed case. Not FCR.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340096" y="3858768"/>
            <a:ext cx="26700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499 Chat and 28 Phone unresolved cases followed process. The field is already on the form (QA 96.87).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66176" y="3858768"/>
            <a:ext cx="111556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QA Lead + CX Head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37776" y="3858768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31 Jul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0442448" y="3950208"/>
            <a:ext cx="857707" cy="274320"/>
          </a:xfrm>
          <a:prstGeom prst="roundRect">
            <a:avLst>
              <a:gd name="adj" fmla="val 50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1"/>
          <p:cNvSpPr/>
          <p:nvPr/>
        </p:nvSpPr>
        <p:spPr>
          <a:xfrm>
            <a:off x="10552176" y="4037076"/>
            <a:ext cx="100584" cy="100584"/>
          </a:xfrm>
          <a:prstGeom prst="ellipse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10716768" y="3950208"/>
            <a:ext cx="54681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E11D2E"/>
                </a:solidFill>
                <a:latin typeface="Inter"/>
              </a:rPr>
              <a:t>Critical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57200" y="4311205"/>
            <a:ext cx="1127455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585216" y="4315968"/>
            <a:ext cx="9326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QA governance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773936" y="4315968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Report QA and recontact weekly by channel, including Phone+Chat vs the official global rate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340096" y="4315968"/>
            <a:ext cx="26700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Blended figures hid a 13-point channel gap and a 10-point recontact gap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66176" y="4315968"/>
            <a:ext cx="111556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CX Analytics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37776" y="4315968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13 Jun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10442448" y="4407408"/>
            <a:ext cx="857707" cy="274320"/>
          </a:xfrm>
          <a:prstGeom prst="roundRect">
            <a:avLst>
              <a:gd name="adj" fmla="val 50000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Oval 80"/>
          <p:cNvSpPr/>
          <p:nvPr/>
        </p:nvSpPr>
        <p:spPr>
          <a:xfrm>
            <a:off x="10552176" y="4494276"/>
            <a:ext cx="100584" cy="10058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10716768" y="4407408"/>
            <a:ext cx="54681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16A34A"/>
                </a:solidFill>
                <a:latin typeface="Inter"/>
              </a:rPr>
              <a:t>Moderate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57200" y="4768405"/>
            <a:ext cx="1127455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ounded Rectangle 83"/>
          <p:cNvSpPr/>
          <p:nvPr/>
        </p:nvSpPr>
        <p:spPr>
          <a:xfrm>
            <a:off x="457200" y="5047488"/>
            <a:ext cx="5074920" cy="1207008"/>
          </a:xfrm>
          <a:prstGeom prst="roundRect">
            <a:avLst>
              <a:gd name="adj" fmla="val 606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676656" y="5193792"/>
            <a:ext cx="463600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1A1A1A"/>
                </a:solidFill>
                <a:latin typeface="Inter"/>
              </a:rPr>
              <a:t>Tagged actions — one action can serve two KPIs. Unique list is on the matrix.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76656" y="5554980"/>
            <a:ext cx="68580" cy="14173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822960" y="5486400"/>
            <a:ext cx="12984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1A1A1A"/>
                </a:solidFill>
                <a:latin typeface="Inter"/>
              </a:rPr>
              <a:t>QA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975104" y="5486400"/>
            <a:ext cx="98755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16A34A"/>
                </a:solidFill>
                <a:latin typeface="Inter"/>
              </a:rPr>
              <a:t>94.14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62656" y="5486400"/>
            <a:ext cx="93268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B5563"/>
                </a:solidFill>
                <a:latin typeface="Inter"/>
              </a:rPr>
              <a:t>8 actions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895344" y="5486400"/>
            <a:ext cx="15087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B5563"/>
                </a:solidFill>
                <a:latin typeface="Inter"/>
              </a:rPr>
              <a:t>QA Lead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76656" y="5801868"/>
            <a:ext cx="68580" cy="141732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822960" y="5733288"/>
            <a:ext cx="12984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1A1A1A"/>
                </a:solidFill>
                <a:latin typeface="Inter"/>
              </a:rPr>
              <a:t>CSAT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975104" y="5733288"/>
            <a:ext cx="98755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E11D2E"/>
                </a:solidFill>
                <a:latin typeface="Inter"/>
              </a:rPr>
              <a:t>79.95%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962656" y="5733288"/>
            <a:ext cx="93268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B5563"/>
                </a:solidFill>
                <a:latin typeface="Inter"/>
              </a:rPr>
              <a:t>6 actions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895344" y="5733288"/>
            <a:ext cx="15087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B5563"/>
                </a:solidFill>
                <a:latin typeface="Inter"/>
              </a:rPr>
              <a:t>CX Ops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76656" y="6048756"/>
            <a:ext cx="68580" cy="1417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822960" y="5980176"/>
            <a:ext cx="12984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1A1A1A"/>
                </a:solidFill>
                <a:latin typeface="Inter"/>
              </a:rPr>
              <a:t>Recontact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975104" y="5980176"/>
            <a:ext cx="98755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59E0B"/>
                </a:solidFill>
                <a:latin typeface="Inter"/>
              </a:rPr>
              <a:t>5.83%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962656" y="5980176"/>
            <a:ext cx="93268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B5563"/>
                </a:solidFill>
                <a:latin typeface="Inter"/>
              </a:rPr>
              <a:t>4 actions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895344" y="5980176"/>
            <a:ext cx="15087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B5563"/>
                </a:solidFill>
                <a:latin typeface="Inter"/>
              </a:rPr>
              <a:t>CX Ops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788152" y="5047488"/>
            <a:ext cx="5946343" cy="1207008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/>
          <p:cNvSpPr/>
          <p:nvPr/>
        </p:nvSpPr>
        <p:spPr>
          <a:xfrm>
            <a:off x="5788152" y="5047488"/>
            <a:ext cx="38404" cy="1207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6099048" y="5230368"/>
            <a:ext cx="537941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Inter"/>
              </a:rPr>
              <a:t>Fix what we measure vs what the customer gets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099048" y="5614416"/>
            <a:ext cx="5379415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00" b="0">
                <a:solidFill>
                  <a:srgbClr val="4B5563"/>
                </a:solidFill>
                <a:latin typeface="Inter"/>
              </a:rPr>
              <a:t>Phone closes 9 of 10 assessed; Chat 6 of 10. Do not staff Chat for that gap: most unresolved chats followed process. ETA and refunds change the outcome. Pareto coaching and the Chat critical change the scorecard. Do not mix those.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The recommendation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Process compliance looks healthy. Customer outcome does not.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35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207008"/>
            <a:ext cx="11277295" cy="2267712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1207008"/>
            <a:ext cx="38404" cy="2267712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68096" y="1389888"/>
            <a:ext cx="1071036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Inter"/>
              </a:rPr>
              <a:t>What this month is telling 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1773936"/>
            <a:ext cx="10710367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300" b="0">
                <a:solidFill>
                  <a:srgbClr val="4B5563"/>
                </a:solidFill>
                <a:latin typeface="Inter"/>
              </a:rPr>
              <a:t>Our operation looks healthy when we measure agent process compliance (QA 94.14), but the customer outcome tells a different story. Blended CSAT is 79.95% against 85% (Phone 86.3%, Chat 77.6%), and human-channel recontact is 15.56%, nearly three times the 5.44% goal. The largest gaps sit in contact reasons where agents cannot close the case: policy, tooling, or no visibility. The priority is not simply more coaching. Measure resolution. Phone closes 9 of 10 assessed contacts; Chat 6 of 10. Correct the scored defects this month. Fix the QA scoring gaps. Give agents a way to close the highest-volume failure reasons.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657600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Inter"/>
              </a:rPr>
              <a:t>Three things to 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968496"/>
            <a:ext cx="364937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8368" y="4133087"/>
            <a:ext cx="324703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Inter"/>
              </a:rPr>
              <a:t>Measure resolution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407408"/>
            <a:ext cx="3247034" cy="1389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>
                <a:solidFill>
                  <a:srgbClr val="4B5563"/>
                </a:solidFill>
                <a:latin typeface="Inter"/>
              </a:rPr>
              <a:t>Put % closed next to QA, by channel and contact reason. Phone closes 9 of 10 assessed (87.9%); Chat 6 of 10 (63.0%). Not FCR. Closure is strongly associated with CSAT. Close-rate vs CSAT: R² 0.64.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71162" y="3968496"/>
            <a:ext cx="364937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472330" y="4133087"/>
            <a:ext cx="324703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Inter"/>
              </a:rPr>
              <a:t>Fix scored defects, then the form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2330" y="4407408"/>
            <a:ext cx="3247034" cy="1389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>
                <a:solidFill>
                  <a:srgbClr val="4B5563"/>
                </a:solidFill>
                <a:latin typeface="Inter"/>
              </a:rPr>
              <a:t>This month: Phone time management and complete information; Chat greeting, attitude, availability. Then close the Chat scoring gap (current 96.01 vs 80.14 if process-fails scored 0). The second number is measurement, not CSAT.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85124" y="3968496"/>
            <a:ext cx="364937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86292" y="4133087"/>
            <a:ext cx="324703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Inter"/>
              </a:rPr>
              <a:t>Let agents close the case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6292" y="4407408"/>
            <a:ext cx="3247034" cy="1389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>
                <a:solidFill>
                  <a:srgbClr val="4B5563"/>
                </a:solidFill>
                <a:latin typeface="Inter"/>
              </a:rPr>
              <a:t>Policy, tools, and visibility on the highest-volume failure reasons. Phone already closes 9 of 10 assessed; Chat leaves 4 of 10 open, mostly after following process. The priority is that constraint, not Chat coaching volume.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263</TotalTime>
  <Words>6994</Words>
  <Application>Microsoft Office PowerPoint</Application>
  <PresentationFormat>Panorámica</PresentationFormat>
  <Paragraphs>993</Paragraphs>
  <Slides>32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32</vt:i4>
      </vt:variant>
    </vt:vector>
  </HeadingPairs>
  <TitlesOfParts>
    <vt:vector size="39" baseType="lpstr">
      <vt:lpstr>Arial</vt:lpstr>
      <vt:lpstr>Calibri</vt:lpstr>
      <vt:lpstr>Google Sans Text</vt:lpstr>
      <vt:lpstr>Inter</vt:lpstr>
      <vt:lpstr>Times New Roman</vt:lpstr>
      <vt:lpstr>Wingdings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subject/>
  <dc:creator/>
  <cp:keywords/>
  <dc:description>generated using python-pptx</dc:description>
  <cp:lastModifiedBy>Santiago Varon</cp:lastModifiedBy>
  <cp:revision>9</cp:revision>
  <dcterms:created xsi:type="dcterms:W3CDTF">2013-01-27T09:14:16Z</dcterms:created>
  <dcterms:modified xsi:type="dcterms:W3CDTF">2026-08-23T08:04:46Z</dcterms:modified>
  <cp:category/>
</cp:coreProperties>
</file>